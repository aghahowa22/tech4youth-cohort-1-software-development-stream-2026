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88d2a54-6bdc-2e99-4c7e-cc3fd51c9981}">
          <p14:sldIdLst>
            <p14:sldId id="256"/>
            <p14:sldId id="257"/>
            <p14:sldId id="258"/>
            <p14:sldId id="259"/>
          </p14:sldIdLst>
        </p14:section>
        <p14:section name="L1 Model" id="{9150fdb9-f710-21d4-700e-286b7119084a}">
          <p14:sldIdLst>
            <p14:sldId id="260"/>
            <p14:sldId id="261"/>
            <p14:sldId id="262"/>
            <p14:sldId id="263"/>
            <p14:sldId id="264"/>
            <p14:sldId id="265"/>
            <p14:sldId id="266"/>
            <p14:sldId id="267"/>
            <p14:sldId id="268"/>
            <p14:sldId id="269"/>
          </p14:sldIdLst>
        </p14:section>
        <p14:section name="L2 Query" id="{630e2752-2f39-52e4-c7af-7e662936af08}">
          <p14:sldIdLst>
            <p14:sldId id="270"/>
            <p14:sldId id="271"/>
            <p14:sldId id="272"/>
            <p14:sldId id="273"/>
            <p14:sldId id="274"/>
            <p14:sldId id="275"/>
            <p14:sldId id="276"/>
            <p14:sldId id="277"/>
            <p14:sldId id="278"/>
          </p14:sldIdLst>
        </p14:section>
        <p14:section name="L3 Safety" id="{c4e7ac8c-3a3e-045e-3705-c0c08a4747f9}">
          <p14:sldIdLst>
            <p14:sldId id="279"/>
            <p14:sldId id="280"/>
            <p14:sldId id="281"/>
            <p14:sldId id="282"/>
          </p14:sldIdLst>
        </p14:section>
        <p14:section name="L4 Performance" id="{021b4ba2-f23f-7d9f-df8a-2efb33ffe2f9}">
          <p14:sldIdLst>
            <p14:sldId id="283"/>
            <p14:sldId id="284"/>
            <p14:sldId id="285"/>
            <p14:sldId id="286"/>
            <p14:sldId id="287"/>
            <p14:sldId id="288"/>
            <p14:sldId id="289"/>
          </p14:sldIdLst>
        </p14:section>
        <p14:section name="Close" id="{6f2787b6-2249-9524-0bdb-ea1e5149f961}">
          <p14:sldIdLst>
            <p14:sldId id="290"/>
            <p14:sldId id="291"/>
            <p14:sldId id="292"/>
            <p14:sldId id="29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we move from APIs that hold data in memory to a real relational database. By the end of the day you will design a schema, query it, protect it with transactions, and prove a query is fast. Everything uses one small shop database, so each idea builds on the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five objectives. Design a normalised schema to 3NF and justify keys and constraints. Write CRUD, joins, aggregates and subqueries and predict how NULLs and GROUP BY change the result. Implement a transaction from Node with COMMIT, ROLLBACK and releasing the client. Generate realistic seed data with generate_series. Diagnose a slow query with EXPLAIN ANALYZE and decide whether an index helps. Point out the colours: they are the four layers we will use all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running example. A user places many orders. An order contains many products and a product appears in many orders, so order_items sits between them as a junction table. A user has at most one profile. Do not explain the design choices yet; each section will unpack one part of this picture. Tell learners the full DDL is on slide 35 and in their handout.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for the whole day. We start by designing data, then learn to use it, then make it safe, then make it fast. Read it top to bottom. The one place it loops is at the end: query plans tell you which index to add, you re-run the plan to prove it worked, and occasionally the plan tells you to rethink the design. We will come back to this map at each layer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layer: modelling. Five sections: relational basics, keys, relationships, constraints and normalisation. The goal is a schema where every fact lives in one place and the database refuses bad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relational database stores data in tables with fixed, typed columns. Rows connect by values, not pointers or nested objects. Where a JS developer nests order.customer, a relational design stores customer_id and looks it up. SQL is declarative: you say what you want, the planner decides how. Mention common types: BIGINT, NUMERIC or integer cents for money, TEXT, BOOLEAN, TIMESTAMPTZ, UUID, JSONB. Two mistakes to flag: use TIMESTAMPTZ not TIMESTAMP, and never store money in FLOAT.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statement belongs to one of four families. DDL defines structure, DML changes data, DQL reads it, TCL groups work into transactions. Keywords are not case-sensitive, and unquoted names fold to lowercase, so avoid quoted mixed-case names like "UserId". When a keyword is misspelled, the error points at the token where parsing failed, not necessarily your real mistake.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primary key uniquely identifies a row: never NULL, one per table, indexed automatically. A foreign key must match an existing key in another table, which stops orphan rows such as an order for a user who does not exist. Also define candidate, natural, surrogate, composite and unique keys briefly. Key warning: Postgres does NOT index foreign key columns automatically. Don't use email as the PK: emails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BIGINT GENERATED ALWAYS AS IDENTITY is small, fast and index-friendly, but sequential, so it leaks volume and can be enumerated. UUID via gen_random_uuid(), built in from PostgreSQL 13, is unguessable and can be generated client-side, but is larger and random inserts spread across the index. Our schema uses UUID for users and identity for orders and products. Either way, authorise every access; an unguessable id is not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One-to-many is most common: the FK lives on the many side, orders.user_id. One-to-one: an FK that is also unique, often the PK itself, as in user_profiles.user_id. Many-to-many cannot be stored in either table; create a junction table with two FKs and usually a composite PK. Analogy: a school attendance register records which student attended which class. The junction can carry facts about the relationship itself, such as quantity and unit_price_cents. Mistake: comma-separated id lists instead of a junction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Referential actions decide what happens to child rows. RESTRICT or NO ACTION, the default, blocks the delete while children exist: right for orders belonging to a user, because order history matters. CASCADE deletes children automatically: right for order items of a deleted order. SET NULL suits optional links. Warning: CASCADE everywhere means one careless DELETE FROM users wipes orders and payments.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constraint is a rule the database enforces on every write, from any app, script or manual fix. App validation can be bypassed by a second service or a bug; constraints cannot. They are also the only reliable fix for races, like two simultaneous signups with the same email: check-then-insert in JS is unsafe; a UNIQUE constraint is not. Handle SQLSTATE codes in Express: 23505 unique, 23503 foreign key, 23502 not null, 23514 check, e.g. return 409 on 23505. Traps: UNIQUE allows multiple NULLs, and CHECK passes on NULL, so pair with NOT NULL.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Normalisation means organising tables so each fact is stored once. It prevents three anomalies. Update: a fact stored in many rows is changed in all but one. Insert: you can't record one fact without another, like a product before anyone orders it. Delete: deleting one fact destroys another, like the last order erasing the customer's address. Most 'different name on two screens' bugs come from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1NF: one atomic value per column, no repeating groups. 2NF: every non-key column depends on the whole key, which only matters for composite keys. 3NF: no non-key column depends on another non-key column. Mnemonic on the slide. Denormalisation is deliberate and measured: caching an order total, or copying unit_price_cents into order_items to preserve the price at purchase time. That snapshot is a fact about that moment, not a normalisation failure. Don't normalise to the extreme, and don't hide core data in JSONB.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layer: using the data. CRUD first, then three ways to extend SELECT: joins, aggregates and subqueries. Watch for the NULL traps; they cause most wrong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INSERT ... RETURNING returns generated values such as id in the same round trip; it also works on UPDATE and DELETE. Upsert with ON CONFLICT ... DO UPDATE, where EXCLUDED is the row you tried to insert; ON CONFLICT DO NOTHING is handy in seeds. NULL means unknown: col = NULL is never true; use IS NULL and COALESCE. Habits: write the WHERE first, list columns instead of SELECT *, prefer keyset pagination over large OFFSET. Driver gotcha: pg returns COUNT and SUM as strings; cast with ::int.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Never concatenate user input into SQL. Send values as parameters; the driver keeps them separate from the SQL text, so they can't change the query. Parameters replace values only, never table or column names; if those must be dynamic, whitelist them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SQL is written SELECT first but evaluated FROM first. This explains common errors: you can't use a SELECT alias in WHERE because WHERE runs before SELECT, and you can't put an aggregate in WHERE because grouping hasn't happened yet. Keep this order in mind for joins and aggregates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join combines rows on a condition, usually fk = pk. INNER keeps only matches. LEFT keeps all left rows and fills NULL where nothing matches, which lets you find users who never ordered: LEFT JOIN orders WHERE o.id IS NULL, the anti-join. RIGHT is a mirror; rewrite it as LEFT. FULL is for reconciliation; CROSS gives every combination; a self join links a table to itself. Doing this in a loop in Node is the N+1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a LEFT JOIN, users with no orders have NULL in every order column. A WHERE filter on o.status throws those NULL rows away, so the query quietly behaves like an INNER JOIN. Put right-side conditions in the ON clause instead. This is exactly knowledge-check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Joining a user to two child tables multiplies rows. Any SUM afterwards is inflated. Fix it by aggregating each branch in its own subquery or CTE first, then joining the already-collapsed results. Also: a missing or wrong ON condition causes a Cartesian explosion, 1,000 × 50,000 = 50 million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Aggregates collapse many rows into one value: COUNT, SUM, AVG, MIN, MAX. GROUP BY aggregates per group. WHERE filters rows before grouping; HAVING filters groups after. Every non-aggregated column must be in GROUP BY. NULL traps: COUNT(*) counts rows but COUNT(col) skips NULLs, so after a LEFT JOIN count o.id to get 0. SUM of no rows is NULL, so wrap in COALESCE. Extras: COUNT(DISTINCT), FILTER (WHERE …), date_trunc. Integer division: 5/2 is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Subqueries come in kinds: scalar (one value), list with IN, existence with EXISTS, derived tables in FROM, and correlated ones that reference the outer query. A CTE, the WITH clause, names a subquery so the query reads top to bottom, and it is the clean fix for row multiplication. Big trap: if a NOT IN subquery returns even one NULL, you get zero rows. Use NOT EXISTS. Subqueries are not automatically slower than joins; choose for clarity, then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layer: safety. Constraints, from Layer 1, are the rules. Transactions are how multi-step work obeys them: all or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transaction is a group of statements that succeed or fail as one unit. Atomic: all or nothing. Consistent: constraints hold before and after. Isolated: others don't see half-finished work. Durable: once committed, it survives a crash. Without it, an error between 'create order' and 'add items' leaves an order with no items. If any statement fails, Postgres marks the transaction aborted until you ROLLBACK. SAVEPOINT lets you roll back part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a pool, each pool.query may use a different connection, so BEGIN and COMMIT may not wrap your statements at all. Check one client out with pool.connect(), run BEGIN, the statements and COMMIT on that client, ROLLBACK in catch, and client.release() in finally. Forgetting release leaks connections until the app hangs. Don't make payment or email calls inside an open transaction. Postgres DDL is transactional, which is why the migration runner can roll back a failed migration cleanly. This is knowledge-check Q4.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Postgres defaults to READ COMMITTED. It does not stop lost updates in read-compute-write flows: both requests read stock = 1 and both sell. Use an atomic UPDATE with a guard, lock the row with SELECT … FOR UPDATE, or use a higher isolation level. SERIALIZABLE needs retries on SQLSTATE 40001. Deadlocks (40P01) happen when two transactions wait on each other; keep transactions short and lock rows in a consistent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layer: performance. Rule one: you can't measure on an empty table. So we generate volume first, then index, then prove it with EXPLAIN.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Seed data fills a database for development and testing; synthetic means generated, not copied from production. generate_series combined with random() fabricates rows in SQL, far faster than looping inserts from Node. setseed makes random repeatable. Generate parents before children. Run ANALYZE afterwards so the planner has fresh statistics. Use example.test domains, never real personal data, never run a seed against production, and make it safe to rerun. Note uniform random() is a simplification; real data is skewed.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index is a separate sorted structure, by default a B-tree, so Postgres can find rows without reading the whole table. It supports equality, ranges, ORDER BY and prefix LIKE. Indexes cost disk space, slow down every write, and need maintenance, so index for the queries you actually run. Index your foreign keys: Postgres doesn't. On a busy production table use CREATE INDEX CONCURRENTLY.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composite index on (a, b) helps queries filtering on a, or a and b, but generally not b alone: the leftmost-prefix rule. Put equality columns first and range or sort columns after. Other variants worth knowing: partial index for a hot subset, expression index such as lower(email), covering index with INCLUDE for index-only scans. GIN, GiST and BRIN for special data, mention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index won't be used when the query returns a large share of rows, when a function wraps the column (use an expression index), with a leading wildcard, with a type mismatch, on a tiny table, or with stale statistics (run ANALYZE). The first and the tiny-table case are the planner being right. This is knowledge-check Q5.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shows the plan; EXPLAIN ANALYZE runs the query and adds real timings; BUFFERS adds page counts. Warning: ANALYZE executes UPDATE and DELETE, so wrap them in BEGIN … ROLLBACK. Read the tree from the most-indented node outward. Cost is in arbitrary units, not milliseconds. Compare estimated and actual rows; big gaps mean stale statistics. Multiply per-loop time by loops. Node types to recognise: Seq Scan, Index Scan, Index Only Scan, Bitmap scans, Nested Loop, Hash Join, Merge Join. In this example the index took 9.9 ms down to 0.05 ms; numbers will differ on your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feedback loop from the map. Reproduce the slow query with realistic data. Run EXPLAIN with ANALYZE and BUFFERS. Find the node with the biggest actual time or estimate error. Look for big seq scans with selective filters, millions of rows removed by filter, sorts spilling to disk, huge loop counts. Change one thing, then re-run to prove it improved. Run each test more than once: the first run may be cold cache.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explain each before revealing. 1: order history must survive, but items mean nothing without their order. 2: price at purchase time is a snapshot, so later price changes don't rewrite history. 3: the composite PK identifies a line and stops the same product being added twice to one order. 4: making the FK the PK enforces one profile per user. Mention the two explicit FK indexes in the DDL; order_items.order_id is covered by the composite PK's leftmost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as pairs, 3 minutes per question, then debrief with the answer key in the handout. Q1: 1NF broken by product_names; customer fields are a transitive dependency; redesign with users, orders, products, order_items. Q2: LEFT JOIN with the status in ON and COUNT(o.id). Q3: one NULL makes NOT IN unknown; use NOT EXISTS. Q4: pool.query on different connections, no ROLLBACK, no release; bonus: no column list and trusting client price. Q5: lower() blocks the plain index; add an expression index, look for an Index Scan, run ANALYZE, and accept a Seq Scan on small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applied scenario. Create the schema in one migration. Seed it. Run EXPLAIN (ANALYZE, BUFFERS) on the user42 orders query and record time and node types. Add the index on (user_id, created_at DESC), run ANALYZE orders, re-run and compare. Write a cancel-order function with pool.connect() that rolls back if the order is already shipped, and test both paths. Finish with a paragraph on what the index bought and what it costs on writes.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first: keys, relationships, 3NF, denormalise only deliberately. Let constraints enforce integrity and handle SQLSTATE codes. Query in sets with parameters; watch NULLs, LEFT JOIN filters and row multiplication. Use transactions with a dedicated client and always release it. Make it fast only once you can measure it, and read the plan instead of guessing. Next lesson, T14, covers data access, migrations, an ORM or query builder, and SQL versus NoSQL.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7F8F4"/>
        </a:solidFill>
      </p:bgPr>
    </p:bg>
    <p:spTree>
      <p:nvGrpSpPr>
        <p:cNvPr id="1" name=""/>
        <p:cNvGrpSpPr/>
        <p:nvPr/>
      </p:nvGrpSpPr>
      <p:grpSpPr>
        <a:xfrm>
          <a:off x="0" y="0"/>
          <a:ext cx="0" cy="0"/>
          <a:chOff x="0" y="0"/>
          <a:chExt cx="0" cy="0"/>
        </a:xfrm>
      </p:grpSpPr>
      <p:sp>
        <p:nvSpPr>
          <p:cNvPr id="2"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900" spc="200" kern="0" dirty="0">
                <a:solidFill>
                  <a:schemeClr val="accent4"/>
                </a:solidFill>
              </a:rPr>
              <a:t>AG SOUTHERN  /  T13 SQL AND RELATIONAL MODELLING</a:t>
            </a:r>
            <a:endParaRPr lang="en-US" sz="900" dirty="0"/>
          </a:p>
        </p:txBody>
      </p:sp>
      <p:sp>
        <p:nvSpPr>
          <p:cNvPr id="3" name="Text 1"/>
          <p:cNvSpPr/>
          <p:nvPr>
            <p:ph idx="101" type="body" hasCustomPrompt="1"/>
          </p:nvPr>
        </p:nvSpPr>
        <p:spPr>
          <a:xfrm>
            <a:off x="1051560" y="384048"/>
            <a:ext cx="9601200" cy="384048"/>
          </a:xfrm>
          <a:prstGeom prst="rect">
            <a:avLst/>
          </a:prstGeom>
          <a:noFill/>
          <a:ln/>
        </p:spPr>
        <p:txBody>
          <a:bodyPr wrap="square" rtlCol="0"/>
          <a:lstStyle>
            <a:lvl1pPr indent="0" marL="0">
              <a:buNone/>
              <a:defRPr lang="en-US" sz="1300" b="1" spc="300" kern="0" dirty="0">
                <a:solidFill>
                  <a:schemeClr val="tx2"/>
                </a:solidFill>
              </a:defRPr>
            </a:lvl1pPr>
          </a:lstStyle>
          <a:p>
            <a:pPr indent="0" marL="0">
              <a:buNone/>
            </a:pPr>
            <a:endParaRPr lang="en-US" sz="1300" dirty="0"/>
          </a:p>
        </p:txBody>
      </p:sp>
      <p:sp>
        <p:nvSpPr>
          <p:cNvPr id="4" name="Text 1"/>
          <p:cNvSpPr/>
          <p:nvPr>
            <p:ph idx="102" type="title" hasCustomPrompt="1"/>
          </p:nvPr>
        </p:nvSpPr>
        <p:spPr>
          <a:xfrm>
            <a:off x="548640" y="841248"/>
            <a:ext cx="11064240" cy="777240"/>
          </a:xfrm>
          <a:prstGeom prst="rect">
            <a:avLst/>
          </a:prstGeom>
          <a:noFill/>
          <a:ln/>
        </p:spPr>
        <p:txBody>
          <a:bodyPr wrap="square" rtlCol="0"/>
          <a:lstStyle>
            <a:lvl1pPr algn="l" indent="0" marL="0">
              <a:buNone/>
              <a:defRPr lang="en-US" sz="3800" b="1" dirty="0">
                <a:solidFill>
                  <a:schemeClr val="tx1"/>
                </a:solidFill>
              </a:defRPr>
            </a:lvl1pPr>
          </a:lstStyle>
          <a:p>
            <a:pPr algn="l" indent="0" marL="0">
              <a:buNone/>
            </a:pPr>
            <a:endParaRPr lang="en-US" sz="3800" dirty="0"/>
          </a:p>
        </p:txBody>
      </p:sp>
      <p:sp>
        <p:nvSpPr>
          <p:cNvPr id="5" name="Text 1"/>
          <p:cNvSpPr/>
          <p:nvPr>
            <p:ph idx="103" type="body" hasCustomPrompt="1"/>
          </p:nvPr>
        </p:nvSpPr>
        <p:spPr>
          <a:xfrm>
            <a:off x="548640" y="1627632"/>
            <a:ext cx="11064240" cy="457200"/>
          </a:xfrm>
          <a:prstGeom prst="rect">
            <a:avLst/>
          </a:prstGeom>
          <a:noFill/>
          <a:ln/>
        </p:spPr>
        <p:txBody>
          <a:bodyPr wrap="square" rtlCol="0"/>
          <a:lstStyle>
            <a:lvl1pPr indent="0" marL="0">
              <a:buNone/>
              <a:defRPr lang="en-US" sz="2000" dirty="0">
                <a:solidFill>
                  <a:schemeClr val="tx2"/>
                </a:solidFill>
              </a:defRPr>
            </a:lvl1pPr>
          </a:lstStyle>
          <a:p>
            <a:pPr indent="0" marL="0">
              <a:buNone/>
            </a:pPr>
            <a:endParaRPr lang="en-US" sz="2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_ORANGE">
    <p:bg>
      <p:bgPr>
        <a:solidFill>
          <a:srgbClr val="FE780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2331720"/>
            <a:ext cx="6400800" cy="365760"/>
          </a:xfrm>
          <a:prstGeom prst="rect">
            <a:avLst/>
          </a:prstGeom>
          <a:noFill/>
          <a:ln/>
        </p:spPr>
        <p:txBody>
          <a:bodyPr wrap="square" rtlCol="0"/>
          <a:lstStyle>
            <a:lvl1pPr indent="0" marL="0">
              <a:buNone/>
              <a:defRPr lang="en-US" sz="1400" b="1" spc="400" kern="0" dirty="0">
                <a:solidFill>
                  <a:schemeClr val="tx1"/>
                </a:solidFill>
              </a:defRPr>
            </a:lvl1pPr>
          </a:lstStyle>
          <a:p>
            <a:pPr indent="0" marL="0">
              <a:buNone/>
            </a:pPr>
            <a:endParaRPr lang="en-US" sz="1400" dirty="0"/>
          </a:p>
        </p:txBody>
      </p:sp>
      <p:sp>
        <p:nvSpPr>
          <p:cNvPr id="3" name="Text 0"/>
          <p:cNvSpPr/>
          <p:nvPr>
            <p:ph idx="101" type="title" hasCustomPrompt="1"/>
          </p:nvPr>
        </p:nvSpPr>
        <p:spPr>
          <a:xfrm>
            <a:off x="731520" y="2697480"/>
            <a:ext cx="7772400" cy="1005840"/>
          </a:xfrm>
          <a:prstGeom prst="rect">
            <a:avLst/>
          </a:prstGeom>
          <a:noFill/>
          <a:ln/>
        </p:spPr>
        <p:txBody>
          <a:bodyPr wrap="square" rtlCol="0"/>
          <a:lstStyle>
            <a:lvl1pPr algn="l" indent="0" marL="0">
              <a:buNone/>
              <a:defRPr lang="en-US" sz="5400" b="1" dirty="0">
                <a:solidFill>
                  <a:schemeClr val="tx1"/>
                </a:solidFill>
              </a:defRPr>
            </a:lvl1pPr>
          </a:lstStyle>
          <a:p>
            <a:pPr algn="l" indent="0" marL="0">
              <a:buNone/>
            </a:pPr>
            <a:endParaRPr lang="en-US" sz="5400" dirty="0"/>
          </a:p>
        </p:txBody>
      </p:sp>
      <p:sp>
        <p:nvSpPr>
          <p:cNvPr id="4" name="Text 0"/>
          <p:cNvSpPr/>
          <p:nvPr>
            <p:ph idx="102" type="body" hasCustomPrompt="1"/>
          </p:nvPr>
        </p:nvSpPr>
        <p:spPr>
          <a:xfrm>
            <a:off x="731520" y="3749040"/>
            <a:ext cx="6400800" cy="822960"/>
          </a:xfrm>
          <a:prstGeom prst="rect">
            <a:avLst/>
          </a:prstGeom>
          <a:noFill/>
          <a:ln/>
        </p:spPr>
        <p:txBody>
          <a:bodyPr wrap="square" rtlCol="0"/>
          <a:lstStyle>
            <a:lvl1pPr indent="0" marL="0">
              <a:buNone/>
              <a:defRPr lang="en-US" sz="2400" dirty="0">
                <a:solidFill>
                  <a:schemeClr val="tx1"/>
                </a:solidFill>
              </a:defRPr>
            </a:lvl1pPr>
          </a:lstStyle>
          <a:p>
            <a:pPr indent="0" marL="0">
              <a:buNone/>
            </a:pPr>
            <a:endParaRPr lang="en-US" sz="2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V_LIME">
    <p:bg>
      <p:bgPr>
        <a:solidFill>
          <a:srgbClr val="9EC42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2331720"/>
            <a:ext cx="6400800" cy="365760"/>
          </a:xfrm>
          <a:prstGeom prst="rect">
            <a:avLst/>
          </a:prstGeom>
          <a:noFill/>
          <a:ln/>
        </p:spPr>
        <p:txBody>
          <a:bodyPr wrap="square" rtlCol="0"/>
          <a:lstStyle>
            <a:lvl1pPr indent="0" marL="0">
              <a:buNone/>
              <a:defRPr lang="en-US" sz="1400" b="1" spc="400" kern="0" dirty="0">
                <a:solidFill>
                  <a:schemeClr val="tx1"/>
                </a:solidFill>
              </a:defRPr>
            </a:lvl1pPr>
          </a:lstStyle>
          <a:p>
            <a:pPr indent="0" marL="0">
              <a:buNone/>
            </a:pPr>
            <a:endParaRPr lang="en-US" sz="1400" dirty="0"/>
          </a:p>
        </p:txBody>
      </p:sp>
      <p:sp>
        <p:nvSpPr>
          <p:cNvPr id="3" name="Text 0"/>
          <p:cNvSpPr/>
          <p:nvPr>
            <p:ph idx="101" type="title" hasCustomPrompt="1"/>
          </p:nvPr>
        </p:nvSpPr>
        <p:spPr>
          <a:xfrm>
            <a:off x="731520" y="2697480"/>
            <a:ext cx="7772400" cy="1005840"/>
          </a:xfrm>
          <a:prstGeom prst="rect">
            <a:avLst/>
          </a:prstGeom>
          <a:noFill/>
          <a:ln/>
        </p:spPr>
        <p:txBody>
          <a:bodyPr wrap="square" rtlCol="0"/>
          <a:lstStyle>
            <a:lvl1pPr algn="l" indent="0" marL="0">
              <a:buNone/>
              <a:defRPr lang="en-US" sz="5400" b="1" dirty="0">
                <a:solidFill>
                  <a:schemeClr val="tx1"/>
                </a:solidFill>
              </a:defRPr>
            </a:lvl1pPr>
          </a:lstStyle>
          <a:p>
            <a:pPr algn="l" indent="0" marL="0">
              <a:buNone/>
            </a:pPr>
            <a:endParaRPr lang="en-US" sz="5400" dirty="0"/>
          </a:p>
        </p:txBody>
      </p:sp>
      <p:sp>
        <p:nvSpPr>
          <p:cNvPr id="4" name="Text 0"/>
          <p:cNvSpPr/>
          <p:nvPr>
            <p:ph idx="102" type="body" hasCustomPrompt="1"/>
          </p:nvPr>
        </p:nvSpPr>
        <p:spPr>
          <a:xfrm>
            <a:off x="731520" y="3749040"/>
            <a:ext cx="6400800" cy="822960"/>
          </a:xfrm>
          <a:prstGeom prst="rect">
            <a:avLst/>
          </a:prstGeom>
          <a:noFill/>
          <a:ln/>
        </p:spPr>
        <p:txBody>
          <a:bodyPr wrap="square" rtlCol="0"/>
          <a:lstStyle>
            <a:lvl1pPr indent="0" marL="0">
              <a:buNone/>
              <a:defRPr lang="en-US" sz="2400" dirty="0">
                <a:solidFill>
                  <a:schemeClr val="tx1"/>
                </a:solidFill>
              </a:defRPr>
            </a:lvl1pPr>
          </a:lstStyle>
          <a:p>
            <a:pPr indent="0" marL="0">
              <a:buNone/>
            </a:pPr>
            <a:endParaRPr lang="en-US" sz="2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IV_CHAR">
    <p:bg>
      <p:bgPr>
        <a:solidFill>
          <a:srgbClr val="2B3034"/>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2331720"/>
            <a:ext cx="6400800" cy="365760"/>
          </a:xfrm>
          <a:prstGeom prst="rect">
            <a:avLst/>
          </a:prstGeom>
          <a:noFill/>
          <a:ln/>
        </p:spPr>
        <p:txBody>
          <a:bodyPr wrap="square" rtlCol="0"/>
          <a:lstStyle>
            <a:lvl1pPr indent="0" marL="0">
              <a:buNone/>
              <a:defRPr lang="en-US" sz="1400" b="1" spc="400" kern="0" dirty="0">
                <a:solidFill>
                  <a:schemeClr val="bg1"/>
                </a:solidFill>
              </a:defRPr>
            </a:lvl1pPr>
          </a:lstStyle>
          <a:p>
            <a:pPr indent="0" marL="0">
              <a:buNone/>
            </a:pPr>
            <a:endParaRPr lang="en-US" sz="1400" dirty="0"/>
          </a:p>
        </p:txBody>
      </p:sp>
      <p:sp>
        <p:nvSpPr>
          <p:cNvPr id="3" name="Text 0"/>
          <p:cNvSpPr/>
          <p:nvPr>
            <p:ph idx="101" type="title" hasCustomPrompt="1"/>
          </p:nvPr>
        </p:nvSpPr>
        <p:spPr>
          <a:xfrm>
            <a:off x="731520" y="2697480"/>
            <a:ext cx="7772400" cy="100584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4" name="Text 0"/>
          <p:cNvSpPr/>
          <p:nvPr>
            <p:ph idx="102" type="body" hasCustomPrompt="1"/>
          </p:nvPr>
        </p:nvSpPr>
        <p:spPr>
          <a:xfrm>
            <a:off x="731520" y="3749040"/>
            <a:ext cx="6400800" cy="822960"/>
          </a:xfrm>
          <a:prstGeom prst="rect">
            <a:avLst/>
          </a:prstGeom>
          <a:noFill/>
          <a:ln/>
        </p:spPr>
        <p:txBody>
          <a:bodyPr wrap="square" rtlCol="0"/>
          <a:lstStyle>
            <a:lvl1pPr indent="0" marL="0">
              <a:buNone/>
              <a:defRPr lang="en-US" sz="2400" dirty="0">
                <a:solidFill>
                  <a:schemeClr val="accent2"/>
                </a:solidFill>
              </a:defRPr>
            </a:lvl1pPr>
          </a:lstStyle>
          <a:p>
            <a:pPr indent="0" marL="0">
              <a:buNone/>
            </a:pPr>
            <a:endParaRPr lang="en-US" sz="2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IV_FOREST">
    <p:bg>
      <p:bgPr>
        <a:solidFill>
          <a:srgbClr val="5E7D1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2331720"/>
            <a:ext cx="6400800" cy="365760"/>
          </a:xfrm>
          <a:prstGeom prst="rect">
            <a:avLst/>
          </a:prstGeom>
          <a:noFill/>
          <a:ln/>
        </p:spPr>
        <p:txBody>
          <a:bodyPr wrap="square" rtlCol="0"/>
          <a:lstStyle>
            <a:lvl1pPr indent="0" marL="0">
              <a:buNone/>
              <a:defRPr lang="en-US" sz="1400" b="1" spc="400" kern="0" dirty="0">
                <a:solidFill>
                  <a:schemeClr val="bg1"/>
                </a:solidFill>
              </a:defRPr>
            </a:lvl1pPr>
          </a:lstStyle>
          <a:p>
            <a:pPr indent="0" marL="0">
              <a:buNone/>
            </a:pPr>
            <a:endParaRPr lang="en-US" sz="1400" dirty="0"/>
          </a:p>
        </p:txBody>
      </p:sp>
      <p:sp>
        <p:nvSpPr>
          <p:cNvPr id="3" name="Text 0"/>
          <p:cNvSpPr/>
          <p:nvPr>
            <p:ph idx="101" type="title" hasCustomPrompt="1"/>
          </p:nvPr>
        </p:nvSpPr>
        <p:spPr>
          <a:xfrm>
            <a:off x="731520" y="2697480"/>
            <a:ext cx="7772400" cy="100584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4" name="Text 0"/>
          <p:cNvSpPr/>
          <p:nvPr>
            <p:ph idx="102" type="body" hasCustomPrompt="1"/>
          </p:nvPr>
        </p:nvSpPr>
        <p:spPr>
          <a:xfrm>
            <a:off x="731520" y="3749040"/>
            <a:ext cx="6400800" cy="822960"/>
          </a:xfrm>
          <a:prstGeom prst="rect">
            <a:avLst/>
          </a:prstGeom>
          <a:noFill/>
          <a:ln/>
        </p:spPr>
        <p:txBody>
          <a:bodyPr wrap="square" rtlCol="0"/>
          <a:lstStyle>
            <a:lvl1pPr indent="0" marL="0">
              <a:buNone/>
              <a:defRPr lang="en-US" sz="2400" dirty="0">
                <a:solidFill>
                  <a:schemeClr val="bg1"/>
                </a:solidFill>
              </a:defRPr>
            </a:lvl1pPr>
          </a:lstStyle>
          <a:p>
            <a:pPr indent="0" marL="0">
              <a:buNone/>
            </a:pPr>
            <a:endParaRPr lang="en-US" sz="2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p:bg>
      <p:bgPr>
        <a:solidFill>
          <a:srgbClr val="FE780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920240"/>
            <a:ext cx="6766560" cy="1828800"/>
          </a:xfrm>
          <a:prstGeom prst="rect">
            <a:avLst/>
          </a:prstGeom>
          <a:noFill/>
          <a:ln/>
        </p:spPr>
        <p:txBody>
          <a:bodyPr wrap="square" rtlCol="0"/>
          <a:lstStyle>
            <a:lvl1pPr algn="l" indent="0" marL="0">
              <a:buNone/>
              <a:defRPr lang="en-US" sz="5600" b="1" dirty="0">
                <a:solidFill>
                  <a:schemeClr val="bg1"/>
                </a:solidFill>
              </a:defRPr>
            </a:lvl1pPr>
          </a:lstStyle>
          <a:p>
            <a:pPr algn="l" indent="0" marL="0">
              <a:buNone/>
            </a:pPr>
            <a:endParaRPr lang="en-US" sz="5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7.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2.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2.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2.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2.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2.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image" Target="../media/image-22-9.png"/><Relationship Id="rId10" Type="http://schemas.openxmlformats.org/officeDocument/2006/relationships/slideLayout" Target="../slideLayouts/slideLayout2.xml"/><Relationship Id="rId11"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2.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5.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2.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2.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slideLayout" Target="../slideLayouts/slideLayout2.xml"/><Relationship Id="rId9"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6.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2.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2.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slideLayout" Target="../slideLayouts/slideLayout2.xml"/><Relationship Id="rId7"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image" Target="../media/image-32-7.png"/><Relationship Id="rId8" Type="http://schemas.openxmlformats.org/officeDocument/2006/relationships/slideLayout" Target="../slideLayouts/slideLayout2.xml"/><Relationship Id="rId9"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image" Target="../media/image-37-7.png"/><Relationship Id="rId8" Type="http://schemas.openxmlformats.org/officeDocument/2006/relationships/slideLayout" Target="../slideLayouts/slideLayout2.xml"/><Relationship Id="rId9"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slideLayout" Target="../slideLayouts/slideLayout2.xml"/><Relationship Id="rId7"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ot-1"/>
          <p:cNvSpPr/>
          <p:nvPr/>
        </p:nvSpPr>
        <p:spPr>
          <a:xfrm>
            <a:off x="7223760" y="-2377440"/>
            <a:ext cx="7498080" cy="7498080"/>
          </a:xfrm>
          <a:prstGeom prst="ellipse">
            <a:avLst/>
          </a:prstGeom>
          <a:solidFill>
            <a:schemeClr val="bg1">
              <a:alpha val="12000"/>
            </a:schemeClr>
          </a:solidFill>
          <a:ln/>
        </p:spPr>
      </p:sp>
      <p:sp>
        <p:nvSpPr>
          <p:cNvPr id="3" name="text-2"/>
          <p:cNvSpPr txBox="1"/>
          <p:nvPr/>
        </p:nvSpPr>
        <p:spPr>
          <a:xfrm>
            <a:off x="640080" y="548640"/>
            <a:ext cx="6400800" cy="320040"/>
          </a:xfrm>
          <a:prstGeom prst="rect">
            <a:avLst/>
          </a:prstGeom>
          <a:noFill/>
          <a:ln/>
        </p:spPr>
        <p:txBody>
          <a:bodyPr wrap="square" lIns="0" tIns="0" rIns="0" bIns="0" rtlCol="0" anchor="ctr"/>
          <a:lstStyle/>
          <a:p>
            <a:pPr algn="l" indent="0" marL="0">
              <a:buNone/>
            </a:pPr>
            <a:r>
              <a:rPr lang="en-US" sz="1200" b="1" spc="400" kern="0" dirty="0">
                <a:solidFill>
                  <a:schemeClr val="tx1"/>
                </a:solidFill>
              </a:rPr>
              <a:t>TECH4YOUTH EDO  ·  SOFTWARE DEVELOPMENT</a:t>
            </a:r>
            <a:endParaRPr lang="en-US" sz="1200" dirty="0"/>
          </a:p>
        </p:txBody>
      </p:sp>
      <p:sp>
        <p:nvSpPr>
          <p:cNvPr id="4" name="Text 0"/>
          <p:cNvSpPr/>
          <p:nvPr>
            <p:ph idx="100" type="title" hasCustomPrompt="1"/>
          </p:nvPr>
        </p:nvSpPr>
        <p:spPr>
          <a:xfrm>
            <a:off x="640080" y="1920240"/>
            <a:ext cx="6766560" cy="1828800"/>
          </a:xfrm>
          <a:prstGeom prst="rect">
            <a:avLst/>
          </a:prstGeom>
          <a:noFill/>
          <a:ln/>
        </p:spPr>
        <p:txBody>
          <a:bodyPr wrap="square" lIns="0" tIns="0" rIns="0" bIns="0" rtlCol="0" anchor="b"/>
          <a:lstStyle/>
          <a:p>
            <a:pPr algn="l" indent="0" marL="0">
              <a:buNone/>
            </a:pPr>
            <a:r>
              <a:rPr lang="en-US" sz="5600" b="1" dirty="0">
                <a:solidFill>
                  <a:schemeClr val="bg1"/>
                </a:solidFill>
              </a:rPr>
              <a:t>SQL &amp; Relational Modelling</a:t>
            </a:r>
            <a:endParaRPr lang="en-US" sz="5600" dirty="0"/>
          </a:p>
        </p:txBody>
      </p:sp>
      <p:sp>
        <p:nvSpPr>
          <p:cNvPr id="5" name="text-3"/>
          <p:cNvSpPr txBox="1"/>
          <p:nvPr/>
        </p:nvSpPr>
        <p:spPr>
          <a:xfrm>
            <a:off x="640080" y="3886200"/>
            <a:ext cx="6400800" cy="457200"/>
          </a:xfrm>
          <a:prstGeom prst="rect">
            <a:avLst/>
          </a:prstGeom>
          <a:noFill/>
          <a:ln/>
        </p:spPr>
        <p:txBody>
          <a:bodyPr wrap="square" lIns="0" tIns="0" rIns="0" bIns="0" rtlCol="0" anchor="ctr"/>
          <a:lstStyle/>
          <a:p>
            <a:pPr algn="l" indent="0" marL="0">
              <a:buNone/>
            </a:pPr>
            <a:r>
              <a:rPr lang="en-US" sz="2200" dirty="0">
                <a:solidFill>
                  <a:schemeClr val="tx1"/>
                </a:solidFill>
              </a:rPr>
              <a:t>PostgreSQL for JavaScript developers</a:t>
            </a:r>
            <a:endParaRPr lang="en-US" sz="2200" dirty="0"/>
          </a:p>
        </p:txBody>
      </p:sp>
      <p:sp>
        <p:nvSpPr>
          <p:cNvPr id="6" name="box-4"/>
          <p:cNvSpPr/>
          <p:nvPr/>
        </p:nvSpPr>
        <p:spPr>
          <a:xfrm>
            <a:off x="640080" y="4572000"/>
            <a:ext cx="3291840" cy="457200"/>
          </a:xfrm>
          <a:prstGeom prst="roundRect">
            <a:avLst>
              <a:gd name="adj" fmla="val 4000"/>
            </a:avLst>
          </a:prstGeom>
          <a:solidFill>
            <a:schemeClr val="accent2"/>
          </a:solidFill>
          <a:ln/>
        </p:spPr>
      </p:sp>
      <p:sp>
        <p:nvSpPr>
          <p:cNvPr id="7" name="text-5"/>
          <p:cNvSpPr txBox="1"/>
          <p:nvPr/>
        </p:nvSpPr>
        <p:spPr>
          <a:xfrm>
            <a:off x="713232" y="4572000"/>
            <a:ext cx="3145536" cy="457200"/>
          </a:xfrm>
          <a:prstGeom prst="rect">
            <a:avLst/>
          </a:prstGeom>
          <a:noFill/>
          <a:ln/>
        </p:spPr>
        <p:txBody>
          <a:bodyPr wrap="square" lIns="0" tIns="0" rIns="0" bIns="0" rtlCol="0" anchor="ctr"/>
          <a:lstStyle/>
          <a:p>
            <a:pPr algn="ctr" indent="0" marL="0">
              <a:buNone/>
            </a:pPr>
            <a:r>
              <a:rPr lang="en-US" sz="1300" b="1" dirty="0">
                <a:solidFill>
                  <a:schemeClr val="tx1"/>
                </a:solidFill>
              </a:rPr>
              <a:t>MODULE 07  ·  LESSON T13</a:t>
            </a:r>
            <a:endParaRPr lang="en-US" sz="1300" dirty="0"/>
          </a:p>
        </p:txBody>
      </p:sp>
      <p:sp>
        <p:nvSpPr>
          <p:cNvPr id="8" name="line-6"/>
          <p:cNvSpPr/>
          <p:nvPr/>
        </p:nvSpPr>
        <p:spPr>
          <a:xfrm>
            <a:off x="9418320" y="2194560"/>
            <a:ext cx="411480" cy="91"/>
          </a:xfrm>
          <a:prstGeom prst="line">
            <a:avLst/>
          </a:prstGeom>
          <a:noFill/>
          <a:ln w="31750">
            <a:solidFill>
              <a:schemeClr val="bg1"/>
            </a:solidFill>
            <a:prstDash val="solid"/>
          </a:ln>
        </p:spPr>
      </p:sp>
      <p:sp>
        <p:nvSpPr>
          <p:cNvPr id="9" name="line-7"/>
          <p:cNvSpPr/>
          <p:nvPr/>
        </p:nvSpPr>
        <p:spPr>
          <a:xfrm>
            <a:off x="10698480" y="2560320"/>
            <a:ext cx="91" cy="868680"/>
          </a:xfrm>
          <a:prstGeom prst="line">
            <a:avLst/>
          </a:prstGeom>
          <a:noFill/>
          <a:ln w="31750">
            <a:solidFill>
              <a:schemeClr val="bg1"/>
            </a:solidFill>
            <a:prstDash val="solid"/>
          </a:ln>
        </p:spPr>
      </p:sp>
      <p:sp>
        <p:nvSpPr>
          <p:cNvPr id="10" name="line-8"/>
          <p:cNvSpPr/>
          <p:nvPr/>
        </p:nvSpPr>
        <p:spPr>
          <a:xfrm>
            <a:off x="9418320" y="3794760"/>
            <a:ext cx="411480" cy="91"/>
          </a:xfrm>
          <a:prstGeom prst="line">
            <a:avLst/>
          </a:prstGeom>
          <a:noFill/>
          <a:ln w="31750">
            <a:solidFill>
              <a:schemeClr val="bg1"/>
            </a:solidFill>
            <a:prstDash val="solid"/>
          </a:ln>
        </p:spPr>
      </p:sp>
      <p:sp>
        <p:nvSpPr>
          <p:cNvPr id="11" name="box-9"/>
          <p:cNvSpPr/>
          <p:nvPr/>
        </p:nvSpPr>
        <p:spPr>
          <a:xfrm>
            <a:off x="7589520" y="1828800"/>
            <a:ext cx="1828800" cy="731520"/>
          </a:xfrm>
          <a:prstGeom prst="roundRect">
            <a:avLst>
              <a:gd name="adj" fmla="val 10000"/>
            </a:avLst>
          </a:prstGeom>
          <a:solidFill>
            <a:schemeClr val="bg1"/>
          </a:solidFill>
          <a:ln w="12700">
            <a:solidFill>
              <a:schemeClr val="bg1"/>
            </a:solidFill>
            <a:prstDash val="solid"/>
          </a:ln>
        </p:spPr>
      </p:sp>
      <p:sp>
        <p:nvSpPr>
          <p:cNvPr id="12" name="dot-10"/>
          <p:cNvSpPr/>
          <p:nvPr/>
        </p:nvSpPr>
        <p:spPr>
          <a:xfrm>
            <a:off x="7726680" y="2011680"/>
            <a:ext cx="365760" cy="365760"/>
          </a:xfrm>
          <a:prstGeom prst="ellipse">
            <a:avLst/>
          </a:prstGeom>
          <a:solidFill>
            <a:schemeClr val="accent1"/>
          </a:solidFill>
          <a:ln/>
        </p:spPr>
      </p:sp>
      <p:sp>
        <p:nvSpPr>
          <p:cNvPr id="13" name="text-11"/>
          <p:cNvSpPr txBox="1"/>
          <p:nvPr/>
        </p:nvSpPr>
        <p:spPr>
          <a:xfrm>
            <a:off x="8183880" y="1828800"/>
            <a:ext cx="1188720" cy="731520"/>
          </a:xfrm>
          <a:prstGeom prst="rect">
            <a:avLst/>
          </a:prstGeom>
          <a:noFill/>
          <a:ln/>
        </p:spPr>
        <p:txBody>
          <a:bodyPr wrap="square" lIns="0" tIns="0" rIns="0" bIns="0" rtlCol="0" anchor="ctr"/>
          <a:lstStyle/>
          <a:p>
            <a:pPr algn="l" indent="0" marL="0">
              <a:buNone/>
            </a:pPr>
            <a:r>
              <a:rPr lang="en-US" sz="1400" b="1" dirty="0">
                <a:solidFill>
                  <a:schemeClr val="tx1"/>
                </a:solidFill>
              </a:rPr>
              <a:t>users</a:t>
            </a:r>
            <a:endParaRPr lang="en-US" sz="1400" dirty="0"/>
          </a:p>
        </p:txBody>
      </p:sp>
      <p:sp>
        <p:nvSpPr>
          <p:cNvPr id="14" name="box-12"/>
          <p:cNvSpPr/>
          <p:nvPr/>
        </p:nvSpPr>
        <p:spPr>
          <a:xfrm>
            <a:off x="9829800" y="1828800"/>
            <a:ext cx="1828800" cy="731520"/>
          </a:xfrm>
          <a:prstGeom prst="roundRect">
            <a:avLst>
              <a:gd name="adj" fmla="val 10000"/>
            </a:avLst>
          </a:prstGeom>
          <a:solidFill>
            <a:schemeClr val="bg1"/>
          </a:solidFill>
          <a:ln w="12700">
            <a:solidFill>
              <a:schemeClr val="bg1"/>
            </a:solidFill>
            <a:prstDash val="solid"/>
          </a:ln>
        </p:spPr>
      </p:sp>
      <p:sp>
        <p:nvSpPr>
          <p:cNvPr id="15" name="dot-13"/>
          <p:cNvSpPr/>
          <p:nvPr/>
        </p:nvSpPr>
        <p:spPr>
          <a:xfrm>
            <a:off x="9966960" y="2011680"/>
            <a:ext cx="365760" cy="365760"/>
          </a:xfrm>
          <a:prstGeom prst="ellipse">
            <a:avLst/>
          </a:prstGeom>
          <a:solidFill>
            <a:schemeClr val="accent1"/>
          </a:solidFill>
          <a:ln/>
        </p:spPr>
      </p:sp>
      <p:sp>
        <p:nvSpPr>
          <p:cNvPr id="16" name="text-14"/>
          <p:cNvSpPr txBox="1"/>
          <p:nvPr/>
        </p:nvSpPr>
        <p:spPr>
          <a:xfrm>
            <a:off x="10424160" y="1828800"/>
            <a:ext cx="1188720" cy="731520"/>
          </a:xfrm>
          <a:prstGeom prst="rect">
            <a:avLst/>
          </a:prstGeom>
          <a:noFill/>
          <a:ln/>
        </p:spPr>
        <p:txBody>
          <a:bodyPr wrap="square" lIns="0" tIns="0" rIns="0" bIns="0" rtlCol="0" anchor="ctr"/>
          <a:lstStyle/>
          <a:p>
            <a:pPr algn="l" indent="0" marL="0">
              <a:buNone/>
            </a:pPr>
            <a:r>
              <a:rPr lang="en-US" sz="1400" b="1" dirty="0">
                <a:solidFill>
                  <a:schemeClr val="tx1"/>
                </a:solidFill>
              </a:rPr>
              <a:t>orders</a:t>
            </a:r>
            <a:endParaRPr lang="en-US" sz="1400" dirty="0"/>
          </a:p>
        </p:txBody>
      </p:sp>
      <p:sp>
        <p:nvSpPr>
          <p:cNvPr id="17" name="box-15"/>
          <p:cNvSpPr/>
          <p:nvPr/>
        </p:nvSpPr>
        <p:spPr>
          <a:xfrm>
            <a:off x="9829800" y="3429000"/>
            <a:ext cx="1828800" cy="731520"/>
          </a:xfrm>
          <a:prstGeom prst="roundRect">
            <a:avLst>
              <a:gd name="adj" fmla="val 10000"/>
            </a:avLst>
          </a:prstGeom>
          <a:solidFill>
            <a:schemeClr val="bg1"/>
          </a:solidFill>
          <a:ln w="12700">
            <a:solidFill>
              <a:schemeClr val="bg1"/>
            </a:solidFill>
            <a:prstDash val="solid"/>
          </a:ln>
        </p:spPr>
      </p:sp>
      <p:sp>
        <p:nvSpPr>
          <p:cNvPr id="18" name="dot-16"/>
          <p:cNvSpPr/>
          <p:nvPr/>
        </p:nvSpPr>
        <p:spPr>
          <a:xfrm>
            <a:off x="9966960" y="3611880"/>
            <a:ext cx="365760" cy="365760"/>
          </a:xfrm>
          <a:prstGeom prst="ellipse">
            <a:avLst/>
          </a:prstGeom>
          <a:solidFill>
            <a:schemeClr val="accent1"/>
          </a:solidFill>
          <a:ln/>
        </p:spPr>
      </p:sp>
      <p:sp>
        <p:nvSpPr>
          <p:cNvPr id="19" name="text-17"/>
          <p:cNvSpPr txBox="1"/>
          <p:nvPr/>
        </p:nvSpPr>
        <p:spPr>
          <a:xfrm>
            <a:off x="10424160" y="3429000"/>
            <a:ext cx="1188720" cy="731520"/>
          </a:xfrm>
          <a:prstGeom prst="rect">
            <a:avLst/>
          </a:prstGeom>
          <a:noFill/>
          <a:ln/>
        </p:spPr>
        <p:txBody>
          <a:bodyPr wrap="square" lIns="0" tIns="0" rIns="0" bIns="0" rtlCol="0" anchor="ctr"/>
          <a:lstStyle/>
          <a:p>
            <a:pPr algn="l" indent="0" marL="0">
              <a:buNone/>
            </a:pPr>
            <a:r>
              <a:rPr lang="en-US" sz="1400" b="1" dirty="0">
                <a:solidFill>
                  <a:schemeClr val="tx1"/>
                </a:solidFill>
              </a:rPr>
              <a:t>order_items</a:t>
            </a:r>
            <a:endParaRPr lang="en-US" sz="1400" dirty="0"/>
          </a:p>
        </p:txBody>
      </p:sp>
      <p:sp>
        <p:nvSpPr>
          <p:cNvPr id="20" name="box-18"/>
          <p:cNvSpPr/>
          <p:nvPr/>
        </p:nvSpPr>
        <p:spPr>
          <a:xfrm>
            <a:off x="7589520" y="3429000"/>
            <a:ext cx="1828800" cy="731520"/>
          </a:xfrm>
          <a:prstGeom prst="roundRect">
            <a:avLst>
              <a:gd name="adj" fmla="val 10000"/>
            </a:avLst>
          </a:prstGeom>
          <a:solidFill>
            <a:schemeClr val="bg1"/>
          </a:solidFill>
          <a:ln w="12700">
            <a:solidFill>
              <a:schemeClr val="bg1"/>
            </a:solidFill>
            <a:prstDash val="solid"/>
          </a:ln>
        </p:spPr>
      </p:sp>
      <p:sp>
        <p:nvSpPr>
          <p:cNvPr id="21" name="dot-19"/>
          <p:cNvSpPr/>
          <p:nvPr/>
        </p:nvSpPr>
        <p:spPr>
          <a:xfrm>
            <a:off x="7726680" y="3611880"/>
            <a:ext cx="365760" cy="365760"/>
          </a:xfrm>
          <a:prstGeom prst="ellipse">
            <a:avLst/>
          </a:prstGeom>
          <a:solidFill>
            <a:schemeClr val="accent1"/>
          </a:solidFill>
          <a:ln/>
        </p:spPr>
      </p:sp>
      <p:sp>
        <p:nvSpPr>
          <p:cNvPr id="22" name="text-20"/>
          <p:cNvSpPr txBox="1"/>
          <p:nvPr/>
        </p:nvSpPr>
        <p:spPr>
          <a:xfrm>
            <a:off x="8183880" y="3429000"/>
            <a:ext cx="1188720" cy="731520"/>
          </a:xfrm>
          <a:prstGeom prst="rect">
            <a:avLst/>
          </a:prstGeom>
          <a:noFill/>
          <a:ln/>
        </p:spPr>
        <p:txBody>
          <a:bodyPr wrap="square" lIns="0" tIns="0" rIns="0" bIns="0" rtlCol="0" anchor="ctr"/>
          <a:lstStyle/>
          <a:p>
            <a:pPr algn="l" indent="0" marL="0">
              <a:buNone/>
            </a:pPr>
            <a:r>
              <a:rPr lang="en-US" sz="1400" b="1" dirty="0">
                <a:solidFill>
                  <a:schemeClr val="tx1"/>
                </a:solidFill>
              </a:rPr>
              <a:t>products</a:t>
            </a:r>
            <a:endParaRPr lang="en-US" sz="1400" dirty="0"/>
          </a:p>
        </p:txBody>
      </p:sp>
      <p:sp>
        <p:nvSpPr>
          <p:cNvPr id="23" name="text-21"/>
          <p:cNvSpPr txBox="1"/>
          <p:nvPr/>
        </p:nvSpPr>
        <p:spPr>
          <a:xfrm>
            <a:off x="640080" y="6217920"/>
            <a:ext cx="5486400" cy="274320"/>
          </a:xfrm>
          <a:prstGeom prst="rect">
            <a:avLst/>
          </a:prstGeom>
          <a:noFill/>
          <a:ln/>
        </p:spPr>
        <p:txBody>
          <a:bodyPr wrap="square" lIns="0" tIns="0" rIns="0" bIns="0" rtlCol="0" anchor="ctr"/>
          <a:lstStyle/>
          <a:p>
            <a:pPr algn="l" indent="0" marL="0">
              <a:buNone/>
            </a:pPr>
            <a:r>
              <a:rPr lang="en-US" sz="1100" dirty="0">
                <a:solidFill>
                  <a:schemeClr val="tx1"/>
                </a:solidFill>
              </a:rPr>
              <a:t>AG Southern Limited  ·  2026 cohort</a:t>
            </a:r>
            <a:endParaRPr lang="en-US" sz="1100" dirty="0"/>
          </a:p>
        </p:txBody>
      </p:sp>
      <p:pic>
        <p:nvPicPr>
          <p:cNvPr id="25" name="Image 0" descr="Table icon">    </p:cNvPr>
          <p:cNvPicPr>
            <a:picLocks noChangeAspect="1"/>
          </p:cNvPicPr>
          <p:nvPr/>
        </p:nvPicPr>
        <p:blipFill>
          <a:blip r:embed="rId1"/>
          <a:stretch>
            <a:fillRect/>
          </a:stretch>
        </p:blipFill>
        <p:spPr>
          <a:xfrm>
            <a:off x="7814462" y="2099462"/>
            <a:ext cx="190195" cy="190195"/>
          </a:xfrm>
          <a:prstGeom prst="rect">
            <a:avLst/>
          </a:prstGeom>
        </p:spPr>
      </p:pic>
      <p:pic>
        <p:nvPicPr>
          <p:cNvPr id="26" name="Image 1" descr="Table icon">    </p:cNvPr>
          <p:cNvPicPr>
            <a:picLocks noChangeAspect="1"/>
          </p:cNvPicPr>
          <p:nvPr/>
        </p:nvPicPr>
        <p:blipFill>
          <a:blip r:embed="rId2"/>
          <a:stretch>
            <a:fillRect/>
          </a:stretch>
        </p:blipFill>
        <p:spPr>
          <a:xfrm>
            <a:off x="10054742" y="2099462"/>
            <a:ext cx="190195" cy="190195"/>
          </a:xfrm>
          <a:prstGeom prst="rect">
            <a:avLst/>
          </a:prstGeom>
        </p:spPr>
      </p:pic>
      <p:pic>
        <p:nvPicPr>
          <p:cNvPr id="27" name="Image 2" descr="Table icon">    </p:cNvPr>
          <p:cNvPicPr>
            <a:picLocks noChangeAspect="1"/>
          </p:cNvPicPr>
          <p:nvPr/>
        </p:nvPicPr>
        <p:blipFill>
          <a:blip r:embed="rId3"/>
          <a:stretch>
            <a:fillRect/>
          </a:stretch>
        </p:blipFill>
        <p:spPr>
          <a:xfrm>
            <a:off x="10054742" y="3699662"/>
            <a:ext cx="190195" cy="190195"/>
          </a:xfrm>
          <a:prstGeom prst="rect">
            <a:avLst/>
          </a:prstGeom>
        </p:spPr>
      </p:pic>
      <p:pic>
        <p:nvPicPr>
          <p:cNvPr id="28" name="Image 3" descr="Table icon">    </p:cNvPr>
          <p:cNvPicPr>
            <a:picLocks noChangeAspect="1"/>
          </p:cNvPicPr>
          <p:nvPr/>
        </p:nvPicPr>
        <p:blipFill>
          <a:blip r:embed="rId4"/>
          <a:stretch>
            <a:fillRect/>
          </a:stretch>
        </p:blipFill>
        <p:spPr>
          <a:xfrm>
            <a:off x="7814462" y="3699662"/>
            <a:ext cx="190195" cy="19019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dot-22"/>
          <p:cNvSpPr/>
          <p:nvPr/>
        </p:nvSpPr>
        <p:spPr>
          <a:xfrm>
            <a:off x="548640" y="384048"/>
            <a:ext cx="384048" cy="384048"/>
          </a:xfrm>
          <a:prstGeom prst="ellipse">
            <a:avLst/>
          </a:prstGeom>
          <a:solidFill>
            <a:schemeClr val="accent1"/>
          </a:solidFill>
          <a:ln/>
        </p:spPr>
      </p:sp>
      <p:sp>
        <p:nvSpPr>
          <p:cNvPr id="3" name="Text 1"/>
          <p:cNvSpPr/>
          <p:nvPr>
            <p:ph idx="101" type="body" hasCustomPrompt="1"/>
          </p:nvPr>
        </p:nvSpPr>
        <p:spPr>
          <a:xfrm>
            <a:off x="1051560" y="384048"/>
            <a:ext cx="9601200" cy="384048"/>
          </a:xfrm>
          <a:prstGeom prst="rect">
            <a:avLst/>
          </a:prstGeom>
          <a:noFill/>
          <a:ln/>
        </p:spPr>
        <p:txBody>
          <a:bodyPr wrap="square" lIns="0" tIns="0" rIns="0" bIns="0" rtlCol="0" anchor="ctr"/>
          <a:lstStyle/>
          <a:p>
            <a:pPr indent="0" marL="0">
              <a:buNone/>
            </a:pPr>
            <a:r>
              <a:rPr lang="en-US" sz="1300" b="1" spc="300" kern="0" dirty="0">
                <a:solidFill>
                  <a:schemeClr val="tx2"/>
                </a:solidFill>
              </a:rPr>
              <a:t>T13  ·  OVERVIEW</a:t>
            </a:r>
            <a:endParaRPr lang="en-US" sz="1300" dirty="0"/>
          </a:p>
        </p:txBody>
      </p:sp>
      <p:sp>
        <p:nvSpPr>
          <p:cNvPr id="4" name="Text 1"/>
          <p:cNvSpPr/>
          <p:nvPr>
            <p:ph idx="102" type="title" hasCustomPrompt="1"/>
          </p:nvPr>
        </p:nvSpPr>
        <p:spPr>
          <a:xfrm>
            <a:off x="548640" y="841248"/>
            <a:ext cx="11064240" cy="777240"/>
          </a:xfrm>
          <a:prstGeom prst="rect">
            <a:avLst/>
          </a:prstGeom>
          <a:noFill/>
          <a:ln/>
        </p:spPr>
        <p:txBody>
          <a:bodyPr wrap="square" lIns="0" tIns="0" rIns="0" bIns="0" rtlCol="0" anchor="ctr"/>
          <a:lstStyle/>
          <a:p>
            <a:pPr algn="l" indent="0" marL="0">
              <a:buNone/>
            </a:pPr>
            <a:r>
              <a:rPr lang="en-US" sz="3800" b="1" dirty="0">
                <a:solidFill>
                  <a:schemeClr val="tx1"/>
                </a:solidFill>
              </a:rPr>
              <a:t>By the end of today, you can…</a:t>
            </a:r>
            <a:endParaRPr lang="en-US" sz="3800" dirty="0"/>
          </a:p>
        </p:txBody>
      </p:sp>
      <p:sp>
        <p:nvSpPr>
          <p:cNvPr id="6" name="box-23"/>
          <p:cNvSpPr/>
          <p:nvPr/>
        </p:nvSpPr>
        <p:spPr>
          <a:xfrm>
            <a:off x="548640" y="2103120"/>
            <a:ext cx="2011680" cy="3931920"/>
          </a:xfrm>
          <a:prstGeom prst="roundRect">
            <a:avLst>
              <a:gd name="adj" fmla="val 3636"/>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7" name="dot-24"/>
          <p:cNvSpPr/>
          <p:nvPr/>
        </p:nvSpPr>
        <p:spPr>
          <a:xfrm>
            <a:off x="1097280" y="2514600"/>
            <a:ext cx="914400" cy="914400"/>
          </a:xfrm>
          <a:prstGeom prst="ellipse">
            <a:avLst/>
          </a:prstGeom>
          <a:solidFill>
            <a:schemeClr val="accent1"/>
          </a:solidFill>
          <a:ln/>
        </p:spPr>
      </p:sp>
      <p:sp>
        <p:nvSpPr>
          <p:cNvPr id="8" name="text-25"/>
          <p:cNvSpPr txBox="1"/>
          <p:nvPr/>
        </p:nvSpPr>
        <p:spPr>
          <a:xfrm>
            <a:off x="640080" y="3703320"/>
            <a:ext cx="1828800" cy="548640"/>
          </a:xfrm>
          <a:prstGeom prst="rect">
            <a:avLst/>
          </a:prstGeom>
          <a:noFill/>
          <a:ln/>
        </p:spPr>
        <p:txBody>
          <a:bodyPr wrap="square" lIns="0" tIns="0" rIns="0" bIns="0" rtlCol="0" anchor="ctr"/>
          <a:lstStyle/>
          <a:p>
            <a:pPr algn="ctr" indent="0" marL="0">
              <a:buNone/>
            </a:pPr>
            <a:r>
              <a:rPr lang="en-US" sz="2400" b="1" dirty="0">
                <a:solidFill>
                  <a:schemeClr val="tx1"/>
                </a:solidFill>
              </a:rPr>
              <a:t>Design</a:t>
            </a:r>
            <a:endParaRPr lang="en-US" sz="2400" dirty="0"/>
          </a:p>
        </p:txBody>
      </p:sp>
      <p:sp>
        <p:nvSpPr>
          <p:cNvPr id="9" name="text-26"/>
          <p:cNvSpPr txBox="1"/>
          <p:nvPr/>
        </p:nvSpPr>
        <p:spPr>
          <a:xfrm>
            <a:off x="731520" y="4297680"/>
            <a:ext cx="1645920" cy="914400"/>
          </a:xfrm>
          <a:prstGeom prst="rect">
            <a:avLst/>
          </a:prstGeom>
          <a:noFill/>
          <a:ln/>
        </p:spPr>
        <p:txBody>
          <a:bodyPr wrap="square" lIns="0" tIns="0" rIns="0" bIns="0" rtlCol="0" anchor="t"/>
          <a:lstStyle/>
          <a:p>
            <a:pPr algn="ctr" indent="0" marL="0">
              <a:buNone/>
            </a:pPr>
            <a:r>
              <a:rPr lang="en-US" sz="1500" dirty="0">
                <a:solidFill>
                  <a:schemeClr val="tx2"/>
                </a:solidFill>
              </a:rPr>
              <a:t>a normalised schema to 3NF</a:t>
            </a:r>
            <a:endParaRPr lang="en-US" sz="1500" dirty="0"/>
          </a:p>
        </p:txBody>
      </p:sp>
      <p:sp>
        <p:nvSpPr>
          <p:cNvPr id="10" name="text-27"/>
          <p:cNvSpPr txBox="1"/>
          <p:nvPr/>
        </p:nvSpPr>
        <p:spPr>
          <a:xfrm>
            <a:off x="640080" y="5532120"/>
            <a:ext cx="1828800" cy="274320"/>
          </a:xfrm>
          <a:prstGeom prst="rect">
            <a:avLst/>
          </a:prstGeom>
          <a:noFill/>
          <a:ln/>
        </p:spPr>
        <p:txBody>
          <a:bodyPr wrap="square" lIns="0" tIns="0" rIns="0" bIns="0" rtlCol="0" anchor="ctr"/>
          <a:lstStyle/>
          <a:p>
            <a:pPr algn="ctr" indent="0" marL="0">
              <a:buNone/>
            </a:pPr>
            <a:r>
              <a:rPr lang="en-US" sz="1000" b="1" spc="200" kern="0" dirty="0">
                <a:solidFill>
                  <a:schemeClr val="accent4"/>
                </a:solidFill>
              </a:rPr>
              <a:t>L1 · MODEL</a:t>
            </a:r>
            <a:endParaRPr lang="en-US" sz="1000" dirty="0"/>
          </a:p>
        </p:txBody>
      </p:sp>
      <p:sp>
        <p:nvSpPr>
          <p:cNvPr id="11" name="box-28"/>
          <p:cNvSpPr/>
          <p:nvPr/>
        </p:nvSpPr>
        <p:spPr>
          <a:xfrm>
            <a:off x="2811780" y="2103120"/>
            <a:ext cx="2011680" cy="3931920"/>
          </a:xfrm>
          <a:prstGeom prst="roundRect">
            <a:avLst>
              <a:gd name="adj" fmla="val 3636"/>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12" name="dot-29"/>
          <p:cNvSpPr/>
          <p:nvPr/>
        </p:nvSpPr>
        <p:spPr>
          <a:xfrm>
            <a:off x="3360420" y="2514600"/>
            <a:ext cx="914400" cy="914400"/>
          </a:xfrm>
          <a:prstGeom prst="ellipse">
            <a:avLst/>
          </a:prstGeom>
          <a:solidFill>
            <a:schemeClr val="accent2"/>
          </a:solidFill>
          <a:ln/>
        </p:spPr>
      </p:sp>
      <p:sp>
        <p:nvSpPr>
          <p:cNvPr id="13" name="text-30"/>
          <p:cNvSpPr txBox="1"/>
          <p:nvPr/>
        </p:nvSpPr>
        <p:spPr>
          <a:xfrm>
            <a:off x="2903220" y="3703320"/>
            <a:ext cx="1828800" cy="548640"/>
          </a:xfrm>
          <a:prstGeom prst="rect">
            <a:avLst/>
          </a:prstGeom>
          <a:noFill/>
          <a:ln/>
        </p:spPr>
        <p:txBody>
          <a:bodyPr wrap="square" lIns="0" tIns="0" rIns="0" bIns="0" rtlCol="0" anchor="ctr"/>
          <a:lstStyle/>
          <a:p>
            <a:pPr algn="ctr" indent="0" marL="0">
              <a:buNone/>
            </a:pPr>
            <a:r>
              <a:rPr lang="en-US" sz="2400" b="1" dirty="0">
                <a:solidFill>
                  <a:schemeClr val="tx1"/>
                </a:solidFill>
              </a:rPr>
              <a:t>Write</a:t>
            </a:r>
            <a:endParaRPr lang="en-US" sz="2400" dirty="0"/>
          </a:p>
        </p:txBody>
      </p:sp>
      <p:sp>
        <p:nvSpPr>
          <p:cNvPr id="14" name="text-31"/>
          <p:cNvSpPr txBox="1"/>
          <p:nvPr/>
        </p:nvSpPr>
        <p:spPr>
          <a:xfrm>
            <a:off x="2994660" y="4297680"/>
            <a:ext cx="1645920" cy="914400"/>
          </a:xfrm>
          <a:prstGeom prst="rect">
            <a:avLst/>
          </a:prstGeom>
          <a:noFill/>
          <a:ln/>
        </p:spPr>
        <p:txBody>
          <a:bodyPr wrap="square" lIns="0" tIns="0" rIns="0" bIns="0" rtlCol="0" anchor="t"/>
          <a:lstStyle/>
          <a:p>
            <a:pPr algn="ctr" indent="0" marL="0">
              <a:buNone/>
            </a:pPr>
            <a:r>
              <a:rPr lang="en-US" sz="1500" dirty="0">
                <a:solidFill>
                  <a:schemeClr val="tx2"/>
                </a:solidFill>
              </a:rPr>
              <a:t>joins, aggregates and subqueries</a:t>
            </a:r>
            <a:endParaRPr lang="en-US" sz="1500" dirty="0"/>
          </a:p>
        </p:txBody>
      </p:sp>
      <p:sp>
        <p:nvSpPr>
          <p:cNvPr id="15" name="text-32"/>
          <p:cNvSpPr txBox="1"/>
          <p:nvPr/>
        </p:nvSpPr>
        <p:spPr>
          <a:xfrm>
            <a:off x="2903220" y="5532120"/>
            <a:ext cx="1828800" cy="274320"/>
          </a:xfrm>
          <a:prstGeom prst="rect">
            <a:avLst/>
          </a:prstGeom>
          <a:noFill/>
          <a:ln/>
        </p:spPr>
        <p:txBody>
          <a:bodyPr wrap="square" lIns="0" tIns="0" rIns="0" bIns="0" rtlCol="0" anchor="ctr"/>
          <a:lstStyle/>
          <a:p>
            <a:pPr algn="ctr" indent="0" marL="0">
              <a:buNone/>
            </a:pPr>
            <a:r>
              <a:rPr lang="en-US" sz="1000" b="1" spc="200" kern="0" dirty="0">
                <a:solidFill>
                  <a:schemeClr val="accent4"/>
                </a:solidFill>
              </a:rPr>
              <a:t>L2 · QUERY</a:t>
            </a:r>
            <a:endParaRPr lang="en-US" sz="1000" dirty="0"/>
          </a:p>
        </p:txBody>
      </p:sp>
      <p:sp>
        <p:nvSpPr>
          <p:cNvPr id="16" name="box-33"/>
          <p:cNvSpPr/>
          <p:nvPr/>
        </p:nvSpPr>
        <p:spPr>
          <a:xfrm>
            <a:off x="5074920" y="2103120"/>
            <a:ext cx="2011680" cy="3931920"/>
          </a:xfrm>
          <a:prstGeom prst="roundRect">
            <a:avLst>
              <a:gd name="adj" fmla="val 3636"/>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17" name="dot-34"/>
          <p:cNvSpPr/>
          <p:nvPr/>
        </p:nvSpPr>
        <p:spPr>
          <a:xfrm>
            <a:off x="5623560" y="2514600"/>
            <a:ext cx="914400" cy="914400"/>
          </a:xfrm>
          <a:prstGeom prst="ellipse">
            <a:avLst/>
          </a:prstGeom>
          <a:solidFill>
            <a:schemeClr val="tx1"/>
          </a:solidFill>
          <a:ln/>
        </p:spPr>
      </p:sp>
      <p:sp>
        <p:nvSpPr>
          <p:cNvPr id="18" name="text-35"/>
          <p:cNvSpPr txBox="1"/>
          <p:nvPr/>
        </p:nvSpPr>
        <p:spPr>
          <a:xfrm>
            <a:off x="5166360" y="3703320"/>
            <a:ext cx="1828800" cy="548640"/>
          </a:xfrm>
          <a:prstGeom prst="rect">
            <a:avLst/>
          </a:prstGeom>
          <a:noFill/>
          <a:ln/>
        </p:spPr>
        <p:txBody>
          <a:bodyPr wrap="square" lIns="0" tIns="0" rIns="0" bIns="0" rtlCol="0" anchor="ctr"/>
          <a:lstStyle/>
          <a:p>
            <a:pPr algn="ctr" indent="0" marL="0">
              <a:buNone/>
            </a:pPr>
            <a:r>
              <a:rPr lang="en-US" sz="2400" b="1" dirty="0">
                <a:solidFill>
                  <a:schemeClr val="tx1"/>
                </a:solidFill>
              </a:rPr>
              <a:t>Implement</a:t>
            </a:r>
            <a:endParaRPr lang="en-US" sz="2400" dirty="0"/>
          </a:p>
        </p:txBody>
      </p:sp>
      <p:sp>
        <p:nvSpPr>
          <p:cNvPr id="19" name="text-36"/>
          <p:cNvSpPr txBox="1"/>
          <p:nvPr/>
        </p:nvSpPr>
        <p:spPr>
          <a:xfrm>
            <a:off x="5257800" y="4297680"/>
            <a:ext cx="1645920" cy="914400"/>
          </a:xfrm>
          <a:prstGeom prst="rect">
            <a:avLst/>
          </a:prstGeom>
          <a:noFill/>
          <a:ln/>
        </p:spPr>
        <p:txBody>
          <a:bodyPr wrap="square" lIns="0" tIns="0" rIns="0" bIns="0" rtlCol="0" anchor="t"/>
          <a:lstStyle/>
          <a:p>
            <a:pPr algn="ctr" indent="0" marL="0">
              <a:buNone/>
            </a:pPr>
            <a:r>
              <a:rPr lang="en-US" sz="1500" dirty="0">
                <a:solidFill>
                  <a:schemeClr val="tx2"/>
                </a:solidFill>
              </a:rPr>
              <a:t>a safe transaction in Node</a:t>
            </a:r>
            <a:endParaRPr lang="en-US" sz="1500" dirty="0"/>
          </a:p>
        </p:txBody>
      </p:sp>
      <p:sp>
        <p:nvSpPr>
          <p:cNvPr id="20" name="text-37"/>
          <p:cNvSpPr txBox="1"/>
          <p:nvPr/>
        </p:nvSpPr>
        <p:spPr>
          <a:xfrm>
            <a:off x="5166360" y="5532120"/>
            <a:ext cx="1828800" cy="274320"/>
          </a:xfrm>
          <a:prstGeom prst="rect">
            <a:avLst/>
          </a:prstGeom>
          <a:noFill/>
          <a:ln/>
        </p:spPr>
        <p:txBody>
          <a:bodyPr wrap="square" lIns="0" tIns="0" rIns="0" bIns="0" rtlCol="0" anchor="ctr"/>
          <a:lstStyle/>
          <a:p>
            <a:pPr algn="ctr" indent="0" marL="0">
              <a:buNone/>
            </a:pPr>
            <a:r>
              <a:rPr lang="en-US" sz="1000" b="1" spc="200" kern="0" dirty="0">
                <a:solidFill>
                  <a:schemeClr val="accent4"/>
                </a:solidFill>
              </a:rPr>
              <a:t>L3 · SAFETY</a:t>
            </a:r>
            <a:endParaRPr lang="en-US" sz="1000" dirty="0"/>
          </a:p>
        </p:txBody>
      </p:sp>
      <p:sp>
        <p:nvSpPr>
          <p:cNvPr id="21" name="box-38"/>
          <p:cNvSpPr/>
          <p:nvPr/>
        </p:nvSpPr>
        <p:spPr>
          <a:xfrm>
            <a:off x="7338060" y="2103120"/>
            <a:ext cx="2011680" cy="3931920"/>
          </a:xfrm>
          <a:prstGeom prst="roundRect">
            <a:avLst>
              <a:gd name="adj" fmla="val 3636"/>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22" name="dot-39"/>
          <p:cNvSpPr/>
          <p:nvPr/>
        </p:nvSpPr>
        <p:spPr>
          <a:xfrm>
            <a:off x="7886700" y="2514600"/>
            <a:ext cx="914400" cy="914400"/>
          </a:xfrm>
          <a:prstGeom prst="ellipse">
            <a:avLst/>
          </a:prstGeom>
          <a:solidFill>
            <a:schemeClr val="accent3"/>
          </a:solidFill>
          <a:ln/>
        </p:spPr>
      </p:sp>
      <p:sp>
        <p:nvSpPr>
          <p:cNvPr id="23" name="text-40"/>
          <p:cNvSpPr txBox="1"/>
          <p:nvPr/>
        </p:nvSpPr>
        <p:spPr>
          <a:xfrm>
            <a:off x="7429500" y="3703320"/>
            <a:ext cx="1828800" cy="548640"/>
          </a:xfrm>
          <a:prstGeom prst="rect">
            <a:avLst/>
          </a:prstGeom>
          <a:noFill/>
          <a:ln/>
        </p:spPr>
        <p:txBody>
          <a:bodyPr wrap="square" lIns="0" tIns="0" rIns="0" bIns="0" rtlCol="0" anchor="ctr"/>
          <a:lstStyle/>
          <a:p>
            <a:pPr algn="ctr" indent="0" marL="0">
              <a:buNone/>
            </a:pPr>
            <a:r>
              <a:rPr lang="en-US" sz="2400" b="1" dirty="0">
                <a:solidFill>
                  <a:schemeClr val="tx1"/>
                </a:solidFill>
              </a:rPr>
              <a:t>Generate</a:t>
            </a:r>
            <a:endParaRPr lang="en-US" sz="2400" dirty="0"/>
          </a:p>
        </p:txBody>
      </p:sp>
      <p:sp>
        <p:nvSpPr>
          <p:cNvPr id="24" name="text-41"/>
          <p:cNvSpPr txBox="1"/>
          <p:nvPr/>
        </p:nvSpPr>
        <p:spPr>
          <a:xfrm>
            <a:off x="7520940" y="4297680"/>
            <a:ext cx="1645920" cy="914400"/>
          </a:xfrm>
          <a:prstGeom prst="rect">
            <a:avLst/>
          </a:prstGeom>
          <a:noFill/>
          <a:ln/>
        </p:spPr>
        <p:txBody>
          <a:bodyPr wrap="square" lIns="0" tIns="0" rIns="0" bIns="0" rtlCol="0" anchor="t"/>
          <a:lstStyle/>
          <a:p>
            <a:pPr algn="ctr" indent="0" marL="0">
              <a:buNone/>
            </a:pPr>
            <a:r>
              <a:rPr lang="en-US" sz="1500" dirty="0">
                <a:solidFill>
                  <a:schemeClr val="tx2"/>
                </a:solidFill>
              </a:rPr>
              <a:t>realistic seed data at volume</a:t>
            </a:r>
            <a:endParaRPr lang="en-US" sz="1500" dirty="0"/>
          </a:p>
        </p:txBody>
      </p:sp>
      <p:sp>
        <p:nvSpPr>
          <p:cNvPr id="25" name="text-42"/>
          <p:cNvSpPr txBox="1"/>
          <p:nvPr/>
        </p:nvSpPr>
        <p:spPr>
          <a:xfrm>
            <a:off x="7429500" y="5532120"/>
            <a:ext cx="1828800" cy="274320"/>
          </a:xfrm>
          <a:prstGeom prst="rect">
            <a:avLst/>
          </a:prstGeom>
          <a:noFill/>
          <a:ln/>
        </p:spPr>
        <p:txBody>
          <a:bodyPr wrap="square" lIns="0" tIns="0" rIns="0" bIns="0" rtlCol="0" anchor="ctr"/>
          <a:lstStyle/>
          <a:p>
            <a:pPr algn="ctr" indent="0" marL="0">
              <a:buNone/>
            </a:pPr>
            <a:r>
              <a:rPr lang="en-US" sz="1000" b="1" spc="200" kern="0" dirty="0">
                <a:solidFill>
                  <a:schemeClr val="accent4"/>
                </a:solidFill>
              </a:rPr>
              <a:t>L4 · PERFORMANCE</a:t>
            </a:r>
            <a:endParaRPr lang="en-US" sz="1000" dirty="0"/>
          </a:p>
        </p:txBody>
      </p:sp>
      <p:sp>
        <p:nvSpPr>
          <p:cNvPr id="26" name="box-43"/>
          <p:cNvSpPr/>
          <p:nvPr/>
        </p:nvSpPr>
        <p:spPr>
          <a:xfrm>
            <a:off x="9601200" y="2103120"/>
            <a:ext cx="2011680" cy="3931920"/>
          </a:xfrm>
          <a:prstGeom prst="roundRect">
            <a:avLst>
              <a:gd name="adj" fmla="val 3636"/>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27" name="dot-44"/>
          <p:cNvSpPr/>
          <p:nvPr/>
        </p:nvSpPr>
        <p:spPr>
          <a:xfrm>
            <a:off x="10149840" y="2514600"/>
            <a:ext cx="914400" cy="914400"/>
          </a:xfrm>
          <a:prstGeom prst="ellipse">
            <a:avLst/>
          </a:prstGeom>
          <a:solidFill>
            <a:schemeClr val="accent3"/>
          </a:solidFill>
          <a:ln/>
        </p:spPr>
      </p:sp>
      <p:sp>
        <p:nvSpPr>
          <p:cNvPr id="28" name="text-45"/>
          <p:cNvSpPr txBox="1"/>
          <p:nvPr/>
        </p:nvSpPr>
        <p:spPr>
          <a:xfrm>
            <a:off x="9692640" y="3703320"/>
            <a:ext cx="1828800" cy="548640"/>
          </a:xfrm>
          <a:prstGeom prst="rect">
            <a:avLst/>
          </a:prstGeom>
          <a:noFill/>
          <a:ln/>
        </p:spPr>
        <p:txBody>
          <a:bodyPr wrap="square" lIns="0" tIns="0" rIns="0" bIns="0" rtlCol="0" anchor="ctr"/>
          <a:lstStyle/>
          <a:p>
            <a:pPr algn="ctr" indent="0" marL="0">
              <a:buNone/>
            </a:pPr>
            <a:r>
              <a:rPr lang="en-US" sz="2400" b="1" dirty="0">
                <a:solidFill>
                  <a:schemeClr val="tx1"/>
                </a:solidFill>
              </a:rPr>
              <a:t>Diagnose</a:t>
            </a:r>
            <a:endParaRPr lang="en-US" sz="2400" dirty="0"/>
          </a:p>
        </p:txBody>
      </p:sp>
      <p:sp>
        <p:nvSpPr>
          <p:cNvPr id="29" name="text-46"/>
          <p:cNvSpPr txBox="1"/>
          <p:nvPr/>
        </p:nvSpPr>
        <p:spPr>
          <a:xfrm>
            <a:off x="9784080" y="4297680"/>
            <a:ext cx="1645920" cy="914400"/>
          </a:xfrm>
          <a:prstGeom prst="rect">
            <a:avLst/>
          </a:prstGeom>
          <a:noFill/>
          <a:ln/>
        </p:spPr>
        <p:txBody>
          <a:bodyPr wrap="square" lIns="0" tIns="0" rIns="0" bIns="0" rtlCol="0" anchor="t"/>
          <a:lstStyle/>
          <a:p>
            <a:pPr algn="ctr" indent="0" marL="0">
              <a:buNone/>
            </a:pPr>
            <a:r>
              <a:rPr lang="en-US" sz="1500" dirty="0">
                <a:solidFill>
                  <a:schemeClr val="tx2"/>
                </a:solidFill>
              </a:rPr>
              <a:t>a slow query with EXPLAIN</a:t>
            </a:r>
            <a:endParaRPr lang="en-US" sz="1500" dirty="0"/>
          </a:p>
        </p:txBody>
      </p:sp>
      <p:sp>
        <p:nvSpPr>
          <p:cNvPr id="30" name="text-47"/>
          <p:cNvSpPr txBox="1"/>
          <p:nvPr/>
        </p:nvSpPr>
        <p:spPr>
          <a:xfrm>
            <a:off x="9692640" y="5532120"/>
            <a:ext cx="1828800" cy="274320"/>
          </a:xfrm>
          <a:prstGeom prst="rect">
            <a:avLst/>
          </a:prstGeom>
          <a:noFill/>
          <a:ln/>
        </p:spPr>
        <p:txBody>
          <a:bodyPr wrap="square" lIns="0" tIns="0" rIns="0" bIns="0" rtlCol="0" anchor="ctr"/>
          <a:lstStyle/>
          <a:p>
            <a:pPr algn="ctr" indent="0" marL="0">
              <a:buNone/>
            </a:pPr>
            <a:r>
              <a:rPr lang="en-US" sz="1000" b="1" spc="200" kern="0" dirty="0">
                <a:solidFill>
                  <a:schemeClr val="accent4"/>
                </a:solidFill>
              </a:rPr>
              <a:t>L4 · PERFORMANCE</a:t>
            </a:r>
            <a:endParaRPr lang="en-US" sz="1000" dirty="0"/>
          </a:p>
        </p:txBody>
      </p:sp>
      <p:pic>
        <p:nvPicPr>
          <p:cNvPr id="31" name="Image 0" descr="Database icon">    </p:cNvPr>
          <p:cNvPicPr>
            <a:picLocks noChangeAspect="1"/>
          </p:cNvPicPr>
          <p:nvPr/>
        </p:nvPicPr>
        <p:blipFill>
          <a:blip r:embed="rId1"/>
          <a:stretch>
            <a:fillRect/>
          </a:stretch>
        </p:blipFill>
        <p:spPr>
          <a:xfrm>
            <a:off x="640080" y="475488"/>
            <a:ext cx="201168" cy="201168"/>
          </a:xfrm>
          <a:prstGeom prst="rect">
            <a:avLst/>
          </a:prstGeom>
        </p:spPr>
      </p:pic>
      <p:pic>
        <p:nvPicPr>
          <p:cNvPr id="32" name="Image 1" descr="DraftingCompass icon">    </p:cNvPr>
          <p:cNvPicPr>
            <a:picLocks noChangeAspect="1"/>
          </p:cNvPicPr>
          <p:nvPr/>
        </p:nvPicPr>
        <p:blipFill>
          <a:blip r:embed="rId2"/>
          <a:stretch>
            <a:fillRect/>
          </a:stretch>
        </p:blipFill>
        <p:spPr>
          <a:xfrm>
            <a:off x="1316736" y="2734056"/>
            <a:ext cx="475488" cy="475488"/>
          </a:xfrm>
          <a:prstGeom prst="rect">
            <a:avLst/>
          </a:prstGeom>
        </p:spPr>
      </p:pic>
      <p:pic>
        <p:nvPicPr>
          <p:cNvPr id="33" name="Image 2" descr="Search icon">    </p:cNvPr>
          <p:cNvPicPr>
            <a:picLocks noChangeAspect="1"/>
          </p:cNvPicPr>
          <p:nvPr/>
        </p:nvPicPr>
        <p:blipFill>
          <a:blip r:embed="rId3"/>
          <a:stretch>
            <a:fillRect/>
          </a:stretch>
        </p:blipFill>
        <p:spPr>
          <a:xfrm>
            <a:off x="3579876" y="2734056"/>
            <a:ext cx="475488" cy="475488"/>
          </a:xfrm>
          <a:prstGeom prst="rect">
            <a:avLst/>
          </a:prstGeom>
        </p:spPr>
      </p:pic>
      <p:pic>
        <p:nvPicPr>
          <p:cNvPr id="34" name="Image 3" descr="ShieldAlt icon">    </p:cNvPr>
          <p:cNvPicPr>
            <a:picLocks noChangeAspect="1"/>
          </p:cNvPicPr>
          <p:nvPr/>
        </p:nvPicPr>
        <p:blipFill>
          <a:blip r:embed="rId4"/>
          <a:stretch>
            <a:fillRect/>
          </a:stretch>
        </p:blipFill>
        <p:spPr>
          <a:xfrm>
            <a:off x="5843016" y="2734056"/>
            <a:ext cx="475488" cy="475488"/>
          </a:xfrm>
          <a:prstGeom prst="rect">
            <a:avLst/>
          </a:prstGeom>
        </p:spPr>
      </p:pic>
      <p:pic>
        <p:nvPicPr>
          <p:cNvPr id="35" name="Image 4" descr="Seedling icon">    </p:cNvPr>
          <p:cNvPicPr>
            <a:picLocks noChangeAspect="1"/>
          </p:cNvPicPr>
          <p:nvPr/>
        </p:nvPicPr>
        <p:blipFill>
          <a:blip r:embed="rId5"/>
          <a:stretch>
            <a:fillRect/>
          </a:stretch>
        </p:blipFill>
        <p:spPr>
          <a:xfrm>
            <a:off x="8106156" y="2734056"/>
            <a:ext cx="475488" cy="475488"/>
          </a:xfrm>
          <a:prstGeom prst="rect">
            <a:avLst/>
          </a:prstGeom>
        </p:spPr>
      </p:pic>
      <p:pic>
        <p:nvPicPr>
          <p:cNvPr id="36" name="Image 5" descr="TachometerAlt icon">    </p:cNvPr>
          <p:cNvPicPr>
            <a:picLocks noChangeAspect="1"/>
          </p:cNvPicPr>
          <p:nvPr/>
        </p:nvPicPr>
        <p:blipFill>
          <a:blip r:embed="rId6"/>
          <a:stretch>
            <a:fillRect/>
          </a:stretch>
        </p:blipFill>
        <p:spPr>
          <a:xfrm>
            <a:off x="10369296" y="2734056"/>
            <a:ext cx="475488" cy="475488"/>
          </a:xfrm>
          <a:prstGeom prst="rect">
            <a:avLst/>
          </a:prstGeom>
        </p:spPr>
      </p:pic>
      <p:sp>
        <p:nvSpPr>
          <p:cNvPr id="37" name="Text 1"/>
          <p:cNvSpPr/>
          <p:nvPr>
            <p:ph idx="103" type="body" hasCustomPrompt="1"/>
          </p:nvPr>
        </p:nvSpPr>
        <p:spPr>
          <a:xfrm>
            <a:off x="548640" y="1627632"/>
            <a:ext cx="11064240" cy="457200"/>
          </a:xfrm>
          <a:prstGeom prst="rect">
            <a:avLst/>
          </a:prstGeom>
          <a:noFill/>
          <a:ln/>
        </p:spPr>
        <p:txBody>
          <a:bodyPr wrap="square" lIns="0" tIns="0" rIns="0" bIns="0" rtlCol="0" anchor="t"/>
          <a:lstStyle/>
          <a:p>
            <a:pPr indent="0" marL="0">
              <a:buNone/>
            </a:pPr>
            <a:endParaRPr lang="en-US" sz="2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dot-48"/>
          <p:cNvSpPr/>
          <p:nvPr/>
        </p:nvSpPr>
        <p:spPr>
          <a:xfrm>
            <a:off x="548640" y="384048"/>
            <a:ext cx="384048" cy="384048"/>
          </a:xfrm>
          <a:prstGeom prst="ellipse">
            <a:avLst/>
          </a:prstGeom>
          <a:solidFill>
            <a:schemeClr val="accent1"/>
          </a:solidFill>
          <a:ln/>
        </p:spPr>
      </p:sp>
      <p:sp>
        <p:nvSpPr>
          <p:cNvPr id="3" name="Text 1"/>
          <p:cNvSpPr/>
          <p:nvPr>
            <p:ph idx="101" type="body" hasCustomPrompt="1"/>
          </p:nvPr>
        </p:nvSpPr>
        <p:spPr>
          <a:xfrm>
            <a:off x="1051560" y="384048"/>
            <a:ext cx="9601200" cy="384048"/>
          </a:xfrm>
          <a:prstGeom prst="rect">
            <a:avLst/>
          </a:prstGeom>
          <a:noFill/>
          <a:ln/>
        </p:spPr>
        <p:txBody>
          <a:bodyPr wrap="square" lIns="0" tIns="0" rIns="0" bIns="0" rtlCol="0" anchor="ctr"/>
          <a:lstStyle/>
          <a:p>
            <a:pPr indent="0" marL="0">
              <a:buNone/>
            </a:pPr>
            <a:r>
              <a:rPr lang="en-US" sz="1300" b="1" spc="300" kern="0" dirty="0">
                <a:solidFill>
                  <a:schemeClr val="tx2"/>
                </a:solidFill>
              </a:rPr>
              <a:t>T13  ·  OVERVIEW</a:t>
            </a:r>
            <a:endParaRPr lang="en-US" sz="1300" dirty="0"/>
          </a:p>
        </p:txBody>
      </p:sp>
      <p:sp>
        <p:nvSpPr>
          <p:cNvPr id="4" name="Text 1"/>
          <p:cNvSpPr/>
          <p:nvPr>
            <p:ph idx="102" type="title" hasCustomPrompt="1"/>
          </p:nvPr>
        </p:nvSpPr>
        <p:spPr>
          <a:xfrm>
            <a:off x="548640" y="841248"/>
            <a:ext cx="11064240" cy="777240"/>
          </a:xfrm>
          <a:prstGeom prst="rect">
            <a:avLst/>
          </a:prstGeom>
          <a:noFill/>
          <a:ln/>
        </p:spPr>
        <p:txBody>
          <a:bodyPr wrap="square" lIns="0" tIns="0" rIns="0" bIns="0" rtlCol="0" anchor="ctr"/>
          <a:lstStyle/>
          <a:p>
            <a:pPr algn="l" indent="0" marL="0">
              <a:buNone/>
            </a:pPr>
            <a:r>
              <a:rPr lang="en-US" sz="3800" b="1" dirty="0">
                <a:solidFill>
                  <a:schemeClr val="tx1"/>
                </a:solidFill>
              </a:rPr>
              <a:t>One shop. Five tables. All day.</a:t>
            </a:r>
            <a:endParaRPr lang="en-US" sz="3800" dirty="0"/>
          </a:p>
        </p:txBody>
      </p:sp>
      <p:sp>
        <p:nvSpPr>
          <p:cNvPr id="5" name="Text 1"/>
          <p:cNvSpPr/>
          <p:nvPr>
            <p:ph idx="103" type="body" hasCustomPrompt="1"/>
          </p:nvPr>
        </p:nvSpPr>
        <p:spPr>
          <a:xfrm>
            <a:off x="548640" y="1627632"/>
            <a:ext cx="11064240" cy="457200"/>
          </a:xfrm>
          <a:prstGeom prst="rect">
            <a:avLst/>
          </a:prstGeom>
          <a:noFill/>
          <a:ln/>
        </p:spPr>
        <p:txBody>
          <a:bodyPr wrap="square" lIns="0" tIns="0" rIns="0" bIns="0" rtlCol="0" anchor="t"/>
          <a:lstStyle/>
          <a:p>
            <a:pPr indent="0" marL="0">
              <a:buNone/>
            </a:pPr>
            <a:r>
              <a:rPr lang="en-US" sz="2000" dirty="0">
                <a:solidFill>
                  <a:schemeClr val="tx2"/>
                </a:solidFill>
              </a:rPr>
              <a:t>users → orders → order_items ← products   ·   users — user_profiles (1:1)</a:t>
            </a:r>
            <a:endParaRPr lang="en-US" sz="2000" dirty="0"/>
          </a:p>
        </p:txBody>
      </p:sp>
      <p:sp>
        <p:nvSpPr>
          <p:cNvPr id="7" name="box-49"/>
          <p:cNvSpPr/>
          <p:nvPr/>
        </p:nvSpPr>
        <p:spPr>
          <a:xfrm>
            <a:off x="548640" y="2377440"/>
            <a:ext cx="2148840" cy="1545336"/>
          </a:xfrm>
          <a:prstGeom prst="roundRect">
            <a:avLst>
              <a:gd name="adj" fmla="val 4734"/>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8" name="box-50"/>
          <p:cNvSpPr/>
          <p:nvPr/>
        </p:nvSpPr>
        <p:spPr>
          <a:xfrm>
            <a:off x="548640" y="2377440"/>
            <a:ext cx="2148840" cy="457200"/>
          </a:xfrm>
          <a:prstGeom prst="roundRect">
            <a:avLst>
              <a:gd name="adj" fmla="val 16000"/>
            </a:avLst>
          </a:prstGeom>
          <a:solidFill>
            <a:schemeClr val="accent1">
              <a:alpha val="15000"/>
            </a:schemeClr>
          </a:solidFill>
          <a:ln/>
        </p:spPr>
      </p:sp>
      <p:sp>
        <p:nvSpPr>
          <p:cNvPr id="9" name="text-51"/>
          <p:cNvSpPr txBox="1"/>
          <p:nvPr/>
        </p:nvSpPr>
        <p:spPr>
          <a:xfrm>
            <a:off x="713232" y="2377440"/>
            <a:ext cx="1874520" cy="457200"/>
          </a:xfrm>
          <a:prstGeom prst="rect">
            <a:avLst/>
          </a:prstGeom>
          <a:noFill/>
          <a:ln/>
        </p:spPr>
        <p:txBody>
          <a:bodyPr wrap="square" lIns="0" tIns="0" rIns="0" bIns="0" rtlCol="0" anchor="ctr"/>
          <a:lstStyle/>
          <a:p>
            <a:pPr algn="l" indent="0" marL="0">
              <a:buNone/>
            </a:pPr>
            <a:r>
              <a:rPr lang="en-US" sz="1600" b="1" dirty="0">
                <a:solidFill>
                  <a:schemeClr val="tx1"/>
                </a:solidFill>
              </a:rPr>
              <a:t>users</a:t>
            </a:r>
            <a:endParaRPr lang="en-US" sz="1600" dirty="0"/>
          </a:p>
        </p:txBody>
      </p:sp>
      <p:sp>
        <p:nvSpPr>
          <p:cNvPr id="10" name="field-52"/>
          <p:cNvSpPr txBox="1"/>
          <p:nvPr/>
        </p:nvSpPr>
        <p:spPr>
          <a:xfrm>
            <a:off x="713232" y="2907792"/>
            <a:ext cx="1874520" cy="310896"/>
          </a:xfrm>
          <a:prstGeom prst="rect">
            <a:avLst/>
          </a:prstGeom>
          <a:noFill/>
          <a:ln/>
        </p:spPr>
        <p:txBody>
          <a:bodyPr wrap="square" lIns="0" tIns="0" rIns="0" bIns="0" rtlCol="0" anchor="ctr"/>
          <a:lstStyle/>
          <a:p>
            <a:pPr indent="0" marL="0">
              <a:buNone/>
            </a:pPr>
            <a:r>
              <a:rPr lang="en-US" sz="1300" dirty="0">
                <a:solidFill>
                  <a:schemeClr val="tx1"/>
                </a:solidFill>
                <a:latin typeface="Roboto Mono" pitchFamily="34" charset="0"/>
                <a:ea typeface="Roboto Mono" pitchFamily="34" charset="-122"/>
                <a:cs typeface="Roboto Mono" pitchFamily="34" charset="-120"/>
              </a:rPr>
              <a:t>id  </a:t>
            </a:r>
            <a:pPr indent="0" marL="0">
              <a:buNone/>
            </a:pPr>
            <a:r>
              <a:rPr lang="en-US" sz="1300" b="1" dirty="0">
                <a:solidFill>
                  <a:schemeClr val="accent6"/>
                </a:solidFill>
                <a:latin typeface="Roboto Mono" pitchFamily="34" charset="0"/>
                <a:ea typeface="Roboto Mono" pitchFamily="34" charset="-122"/>
                <a:cs typeface="Roboto Mono" pitchFamily="34" charset="-120"/>
              </a:rPr>
              <a:t>PK</a:t>
            </a:r>
            <a:endParaRPr lang="en-US" sz="1300" dirty="0"/>
          </a:p>
        </p:txBody>
      </p:sp>
      <p:sp>
        <p:nvSpPr>
          <p:cNvPr id="11" name="field-53"/>
          <p:cNvSpPr txBox="1"/>
          <p:nvPr/>
        </p:nvSpPr>
        <p:spPr>
          <a:xfrm>
            <a:off x="713232" y="3255264"/>
            <a:ext cx="1874520" cy="310896"/>
          </a:xfrm>
          <a:prstGeom prst="rect">
            <a:avLst/>
          </a:prstGeom>
          <a:noFill/>
          <a:ln/>
        </p:spPr>
        <p:txBody>
          <a:bodyPr wrap="square" lIns="0" tIns="0" rIns="0" bIns="0" rtlCol="0" anchor="ctr"/>
          <a:lstStyle/>
          <a:p>
            <a:pPr indent="0" marL="0">
              <a:buNone/>
            </a:pPr>
            <a:r>
              <a:rPr lang="en-US" sz="1300" dirty="0">
                <a:solidFill>
                  <a:schemeClr val="tx1"/>
                </a:solidFill>
                <a:latin typeface="Roboto Mono" pitchFamily="34" charset="0"/>
                <a:ea typeface="Roboto Mono" pitchFamily="34" charset="-122"/>
                <a:cs typeface="Roboto Mono" pitchFamily="34" charset="-120"/>
              </a:rPr>
              <a:t>email  </a:t>
            </a:r>
            <a:pPr indent="0" marL="0">
              <a:buNone/>
            </a:pPr>
            <a:r>
              <a:rPr lang="en-US" sz="1300" b="1" dirty="0">
                <a:solidFill>
                  <a:schemeClr val="accent6"/>
                </a:solidFill>
                <a:latin typeface="Roboto Mono" pitchFamily="34" charset="0"/>
                <a:ea typeface="Roboto Mono" pitchFamily="34" charset="-122"/>
                <a:cs typeface="Roboto Mono" pitchFamily="34" charset="-120"/>
              </a:rPr>
              <a:t>UNIQUE</a:t>
            </a:r>
            <a:endParaRPr lang="en-US" sz="1300" dirty="0"/>
          </a:p>
        </p:txBody>
      </p:sp>
      <p:sp>
        <p:nvSpPr>
          <p:cNvPr id="12" name="field-54"/>
          <p:cNvSpPr txBox="1"/>
          <p:nvPr/>
        </p:nvSpPr>
        <p:spPr>
          <a:xfrm>
            <a:off x="713232" y="3602736"/>
            <a:ext cx="1874520" cy="310896"/>
          </a:xfrm>
          <a:prstGeom prst="rect">
            <a:avLst/>
          </a:prstGeom>
          <a:noFill/>
          <a:ln/>
        </p:spPr>
        <p:txBody>
          <a:bodyPr wrap="square" lIns="0" tIns="0" rIns="0" bIns="0" rtlCol="0" anchor="ctr"/>
          <a:lstStyle/>
          <a:p>
            <a:pPr indent="0" marL="0">
              <a:buNone/>
            </a:pPr>
            <a:r>
              <a:rPr lang="en-US" sz="1300" dirty="0">
                <a:solidFill>
                  <a:schemeClr val="tx1"/>
                </a:solidFill>
                <a:latin typeface="Roboto Mono" pitchFamily="34" charset="0"/>
                <a:ea typeface="Roboto Mono" pitchFamily="34" charset="-122"/>
                <a:cs typeface="Roboto Mono" pitchFamily="34" charset="-120"/>
              </a:rPr>
              <a:t>role  </a:t>
            </a:r>
            <a:endParaRPr lang="en-US" sz="1300" dirty="0"/>
          </a:p>
        </p:txBody>
      </p:sp>
      <p:sp>
        <p:nvSpPr>
          <p:cNvPr id="13" name="box-55"/>
          <p:cNvSpPr/>
          <p:nvPr/>
        </p:nvSpPr>
        <p:spPr>
          <a:xfrm>
            <a:off x="3520440" y="2377440"/>
            <a:ext cx="2148840" cy="1545336"/>
          </a:xfrm>
          <a:prstGeom prst="roundRect">
            <a:avLst>
              <a:gd name="adj" fmla="val 4734"/>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14" name="box-56"/>
          <p:cNvSpPr/>
          <p:nvPr/>
        </p:nvSpPr>
        <p:spPr>
          <a:xfrm>
            <a:off x="3520440" y="2377440"/>
            <a:ext cx="2148840" cy="457200"/>
          </a:xfrm>
          <a:prstGeom prst="roundRect">
            <a:avLst>
              <a:gd name="adj" fmla="val 16000"/>
            </a:avLst>
          </a:prstGeom>
          <a:solidFill>
            <a:schemeClr val="accent1">
              <a:alpha val="15000"/>
            </a:schemeClr>
          </a:solidFill>
          <a:ln/>
        </p:spPr>
      </p:sp>
      <p:sp>
        <p:nvSpPr>
          <p:cNvPr id="15" name="text-57"/>
          <p:cNvSpPr txBox="1"/>
          <p:nvPr/>
        </p:nvSpPr>
        <p:spPr>
          <a:xfrm>
            <a:off x="3685032" y="2377440"/>
            <a:ext cx="1874520" cy="457200"/>
          </a:xfrm>
          <a:prstGeom prst="rect">
            <a:avLst/>
          </a:prstGeom>
          <a:noFill/>
          <a:ln/>
        </p:spPr>
        <p:txBody>
          <a:bodyPr wrap="square" lIns="0" tIns="0" rIns="0" bIns="0" rtlCol="0" anchor="ctr"/>
          <a:lstStyle/>
          <a:p>
            <a:pPr algn="l" indent="0" marL="0">
              <a:buNone/>
            </a:pPr>
            <a:r>
              <a:rPr lang="en-US" sz="1600" b="1" dirty="0">
                <a:solidFill>
                  <a:schemeClr val="tx1"/>
                </a:solidFill>
              </a:rPr>
              <a:t>orders</a:t>
            </a:r>
            <a:endParaRPr lang="en-US" sz="1600" dirty="0"/>
          </a:p>
        </p:txBody>
      </p:sp>
      <p:sp>
        <p:nvSpPr>
          <p:cNvPr id="16" name="field-58"/>
          <p:cNvSpPr txBox="1"/>
          <p:nvPr/>
        </p:nvSpPr>
        <p:spPr>
          <a:xfrm>
            <a:off x="3685032" y="2907792"/>
            <a:ext cx="1874520" cy="310896"/>
          </a:xfrm>
          <a:prstGeom prst="rect">
            <a:avLst/>
          </a:prstGeom>
          <a:noFill/>
          <a:ln/>
        </p:spPr>
        <p:txBody>
          <a:bodyPr wrap="square" lIns="0" tIns="0" rIns="0" bIns="0" rtlCol="0" anchor="ctr"/>
          <a:lstStyle/>
          <a:p>
            <a:pPr indent="0" marL="0">
              <a:buNone/>
            </a:pPr>
            <a:r>
              <a:rPr lang="en-US" sz="1300" dirty="0">
                <a:solidFill>
                  <a:schemeClr val="tx1"/>
                </a:solidFill>
                <a:latin typeface="Roboto Mono" pitchFamily="34" charset="0"/>
                <a:ea typeface="Roboto Mono" pitchFamily="34" charset="-122"/>
                <a:cs typeface="Roboto Mono" pitchFamily="34" charset="-120"/>
              </a:rPr>
              <a:t>id  </a:t>
            </a:r>
            <a:pPr indent="0" marL="0">
              <a:buNone/>
            </a:pPr>
            <a:r>
              <a:rPr lang="en-US" sz="1300" b="1" dirty="0">
                <a:solidFill>
                  <a:schemeClr val="accent6"/>
                </a:solidFill>
                <a:latin typeface="Roboto Mono" pitchFamily="34" charset="0"/>
                <a:ea typeface="Roboto Mono" pitchFamily="34" charset="-122"/>
                <a:cs typeface="Roboto Mono" pitchFamily="34" charset="-120"/>
              </a:rPr>
              <a:t>PK</a:t>
            </a:r>
            <a:endParaRPr lang="en-US" sz="1300" dirty="0"/>
          </a:p>
        </p:txBody>
      </p:sp>
      <p:sp>
        <p:nvSpPr>
          <p:cNvPr id="17" name="field-59"/>
          <p:cNvSpPr txBox="1"/>
          <p:nvPr/>
        </p:nvSpPr>
        <p:spPr>
          <a:xfrm>
            <a:off x="3685032" y="3255264"/>
            <a:ext cx="1874520" cy="310896"/>
          </a:xfrm>
          <a:prstGeom prst="rect">
            <a:avLst/>
          </a:prstGeom>
          <a:noFill/>
          <a:ln/>
        </p:spPr>
        <p:txBody>
          <a:bodyPr wrap="square" lIns="0" tIns="0" rIns="0" bIns="0" rtlCol="0" anchor="ctr"/>
          <a:lstStyle/>
          <a:p>
            <a:pPr indent="0" marL="0">
              <a:buNone/>
            </a:pPr>
            <a:r>
              <a:rPr lang="en-US" sz="1300" dirty="0">
                <a:solidFill>
                  <a:schemeClr val="tx1"/>
                </a:solidFill>
                <a:latin typeface="Roboto Mono" pitchFamily="34" charset="0"/>
                <a:ea typeface="Roboto Mono" pitchFamily="34" charset="-122"/>
                <a:cs typeface="Roboto Mono" pitchFamily="34" charset="-120"/>
              </a:rPr>
              <a:t>user_id  </a:t>
            </a:r>
            <a:pPr indent="0" marL="0">
              <a:buNone/>
            </a:pPr>
            <a:r>
              <a:rPr lang="en-US" sz="1300" b="1" dirty="0">
                <a:solidFill>
                  <a:schemeClr val="accent6"/>
                </a:solidFill>
                <a:latin typeface="Roboto Mono" pitchFamily="34" charset="0"/>
                <a:ea typeface="Roboto Mono" pitchFamily="34" charset="-122"/>
                <a:cs typeface="Roboto Mono" pitchFamily="34" charset="-120"/>
              </a:rPr>
              <a:t>FK</a:t>
            </a:r>
            <a:endParaRPr lang="en-US" sz="1300" dirty="0"/>
          </a:p>
        </p:txBody>
      </p:sp>
      <p:sp>
        <p:nvSpPr>
          <p:cNvPr id="18" name="field-60"/>
          <p:cNvSpPr txBox="1"/>
          <p:nvPr/>
        </p:nvSpPr>
        <p:spPr>
          <a:xfrm>
            <a:off x="3685032" y="3602736"/>
            <a:ext cx="1874520" cy="310896"/>
          </a:xfrm>
          <a:prstGeom prst="rect">
            <a:avLst/>
          </a:prstGeom>
          <a:noFill/>
          <a:ln/>
        </p:spPr>
        <p:txBody>
          <a:bodyPr wrap="square" lIns="0" tIns="0" rIns="0" bIns="0" rtlCol="0" anchor="ctr"/>
          <a:lstStyle/>
          <a:p>
            <a:pPr indent="0" marL="0">
              <a:buNone/>
            </a:pPr>
            <a:r>
              <a:rPr lang="en-US" sz="1300" dirty="0">
                <a:solidFill>
                  <a:schemeClr val="tx1"/>
                </a:solidFill>
                <a:latin typeface="Roboto Mono" pitchFamily="34" charset="0"/>
                <a:ea typeface="Roboto Mono" pitchFamily="34" charset="-122"/>
                <a:cs typeface="Roboto Mono" pitchFamily="34" charset="-120"/>
              </a:rPr>
              <a:t>status  </a:t>
            </a:r>
            <a:endParaRPr lang="en-US" sz="1300" dirty="0"/>
          </a:p>
        </p:txBody>
      </p:sp>
      <p:sp>
        <p:nvSpPr>
          <p:cNvPr id="19" name="box-61"/>
          <p:cNvSpPr/>
          <p:nvPr/>
        </p:nvSpPr>
        <p:spPr>
          <a:xfrm>
            <a:off x="6492240" y="2377440"/>
            <a:ext cx="2148840" cy="1545336"/>
          </a:xfrm>
          <a:prstGeom prst="roundRect">
            <a:avLst>
              <a:gd name="adj" fmla="val 4734"/>
            </a:avLst>
          </a:prstGeom>
          <a:solidFill>
            <a:schemeClr val="bg1"/>
          </a:solidFill>
          <a:ln w="31750">
            <a:solidFill>
              <a:schemeClr val="accent1"/>
            </a:solidFill>
            <a:prstDash val="solid"/>
          </a:ln>
          <a:effectLst>
            <a:outerShdw sx="100000" sy="100000" kx="0" ky="0" algn="bl" rotWithShape="0" blurRad="101600" dist="25400" dir="5400000">
              <a:srgbClr val="000000">
                <a:alpha val="8000"/>
              </a:srgbClr>
            </a:outerShdw>
          </a:effectLst>
        </p:spPr>
      </p:sp>
      <p:sp>
        <p:nvSpPr>
          <p:cNvPr id="20" name="box-62"/>
          <p:cNvSpPr/>
          <p:nvPr/>
        </p:nvSpPr>
        <p:spPr>
          <a:xfrm>
            <a:off x="6492240" y="2377440"/>
            <a:ext cx="2148840" cy="457200"/>
          </a:xfrm>
          <a:prstGeom prst="roundRect">
            <a:avLst>
              <a:gd name="adj" fmla="val 16000"/>
            </a:avLst>
          </a:prstGeom>
          <a:solidFill>
            <a:schemeClr val="accent1">
              <a:alpha val="15000"/>
            </a:schemeClr>
          </a:solidFill>
          <a:ln/>
        </p:spPr>
      </p:sp>
      <p:sp>
        <p:nvSpPr>
          <p:cNvPr id="21" name="text-63"/>
          <p:cNvSpPr txBox="1"/>
          <p:nvPr/>
        </p:nvSpPr>
        <p:spPr>
          <a:xfrm>
            <a:off x="6656832" y="2377440"/>
            <a:ext cx="1874520" cy="457200"/>
          </a:xfrm>
          <a:prstGeom prst="rect">
            <a:avLst/>
          </a:prstGeom>
          <a:noFill/>
          <a:ln/>
        </p:spPr>
        <p:txBody>
          <a:bodyPr wrap="square" lIns="0" tIns="0" rIns="0" bIns="0" rtlCol="0" anchor="ctr"/>
          <a:lstStyle/>
          <a:p>
            <a:pPr algn="l" indent="0" marL="0">
              <a:buNone/>
            </a:pPr>
            <a:r>
              <a:rPr lang="en-US" sz="1600" b="1" dirty="0">
                <a:solidFill>
                  <a:schemeClr val="tx1"/>
                </a:solidFill>
              </a:rPr>
              <a:t>order_items</a:t>
            </a:r>
            <a:endParaRPr lang="en-US" sz="1600" dirty="0"/>
          </a:p>
        </p:txBody>
      </p:sp>
      <p:sp>
        <p:nvSpPr>
          <p:cNvPr id="22" name="field-64"/>
          <p:cNvSpPr txBox="1"/>
          <p:nvPr/>
        </p:nvSpPr>
        <p:spPr>
          <a:xfrm>
            <a:off x="6656832" y="2907792"/>
            <a:ext cx="1874520" cy="310896"/>
          </a:xfrm>
          <a:prstGeom prst="rect">
            <a:avLst/>
          </a:prstGeom>
          <a:noFill/>
          <a:ln/>
        </p:spPr>
        <p:txBody>
          <a:bodyPr wrap="square" lIns="0" tIns="0" rIns="0" bIns="0" rtlCol="0" anchor="ctr"/>
          <a:lstStyle/>
          <a:p>
            <a:pPr indent="0" marL="0">
              <a:buNone/>
            </a:pPr>
            <a:r>
              <a:rPr lang="en-US" sz="1300" dirty="0">
                <a:solidFill>
                  <a:schemeClr val="tx1"/>
                </a:solidFill>
                <a:latin typeface="Roboto Mono" pitchFamily="34" charset="0"/>
                <a:ea typeface="Roboto Mono" pitchFamily="34" charset="-122"/>
                <a:cs typeface="Roboto Mono" pitchFamily="34" charset="-120"/>
              </a:rPr>
              <a:t>order_id  </a:t>
            </a:r>
            <a:pPr indent="0" marL="0">
              <a:buNone/>
            </a:pPr>
            <a:r>
              <a:rPr lang="en-US" sz="1300" b="1" dirty="0">
                <a:solidFill>
                  <a:schemeClr val="accent6"/>
                </a:solidFill>
                <a:latin typeface="Roboto Mono" pitchFamily="34" charset="0"/>
                <a:ea typeface="Roboto Mono" pitchFamily="34" charset="-122"/>
                <a:cs typeface="Roboto Mono" pitchFamily="34" charset="-120"/>
              </a:rPr>
              <a:t>PK·FK</a:t>
            </a:r>
            <a:endParaRPr lang="en-US" sz="1300" dirty="0"/>
          </a:p>
        </p:txBody>
      </p:sp>
      <p:sp>
        <p:nvSpPr>
          <p:cNvPr id="23" name="field-65"/>
          <p:cNvSpPr txBox="1"/>
          <p:nvPr/>
        </p:nvSpPr>
        <p:spPr>
          <a:xfrm>
            <a:off x="6656832" y="3255264"/>
            <a:ext cx="1874520" cy="310896"/>
          </a:xfrm>
          <a:prstGeom prst="rect">
            <a:avLst/>
          </a:prstGeom>
          <a:noFill/>
          <a:ln/>
        </p:spPr>
        <p:txBody>
          <a:bodyPr wrap="square" lIns="0" tIns="0" rIns="0" bIns="0" rtlCol="0" anchor="ctr"/>
          <a:lstStyle/>
          <a:p>
            <a:pPr indent="0" marL="0">
              <a:buNone/>
            </a:pPr>
            <a:r>
              <a:rPr lang="en-US" sz="1300" dirty="0">
                <a:solidFill>
                  <a:schemeClr val="tx1"/>
                </a:solidFill>
                <a:latin typeface="Roboto Mono" pitchFamily="34" charset="0"/>
                <a:ea typeface="Roboto Mono" pitchFamily="34" charset="-122"/>
                <a:cs typeface="Roboto Mono" pitchFamily="34" charset="-120"/>
              </a:rPr>
              <a:t>product_id  </a:t>
            </a:r>
            <a:pPr indent="0" marL="0">
              <a:buNone/>
            </a:pPr>
            <a:r>
              <a:rPr lang="en-US" sz="1300" b="1" dirty="0">
                <a:solidFill>
                  <a:schemeClr val="accent6"/>
                </a:solidFill>
                <a:latin typeface="Roboto Mono" pitchFamily="34" charset="0"/>
                <a:ea typeface="Roboto Mono" pitchFamily="34" charset="-122"/>
                <a:cs typeface="Roboto Mono" pitchFamily="34" charset="-120"/>
              </a:rPr>
              <a:t>PK·FK</a:t>
            </a:r>
            <a:endParaRPr lang="en-US" sz="1300" dirty="0"/>
          </a:p>
        </p:txBody>
      </p:sp>
      <p:sp>
        <p:nvSpPr>
          <p:cNvPr id="24" name="field-66"/>
          <p:cNvSpPr txBox="1"/>
          <p:nvPr/>
        </p:nvSpPr>
        <p:spPr>
          <a:xfrm>
            <a:off x="6656832" y="3602736"/>
            <a:ext cx="1874520" cy="310896"/>
          </a:xfrm>
          <a:prstGeom prst="rect">
            <a:avLst/>
          </a:prstGeom>
          <a:noFill/>
          <a:ln/>
        </p:spPr>
        <p:txBody>
          <a:bodyPr wrap="square" lIns="0" tIns="0" rIns="0" bIns="0" rtlCol="0" anchor="ctr"/>
          <a:lstStyle/>
          <a:p>
            <a:pPr indent="0" marL="0">
              <a:buNone/>
            </a:pPr>
            <a:r>
              <a:rPr lang="en-US" sz="1300" dirty="0">
                <a:solidFill>
                  <a:schemeClr val="tx1"/>
                </a:solidFill>
                <a:latin typeface="Roboto Mono" pitchFamily="34" charset="0"/>
                <a:ea typeface="Roboto Mono" pitchFamily="34" charset="-122"/>
                <a:cs typeface="Roboto Mono" pitchFamily="34" charset="-120"/>
              </a:rPr>
              <a:t>unit_price_cents  </a:t>
            </a:r>
            <a:endParaRPr lang="en-US" sz="1300" dirty="0"/>
          </a:p>
        </p:txBody>
      </p:sp>
      <p:sp>
        <p:nvSpPr>
          <p:cNvPr id="25" name="box-67"/>
          <p:cNvSpPr/>
          <p:nvPr/>
        </p:nvSpPr>
        <p:spPr>
          <a:xfrm>
            <a:off x="9464040" y="2377440"/>
            <a:ext cx="2148840" cy="1545336"/>
          </a:xfrm>
          <a:prstGeom prst="roundRect">
            <a:avLst>
              <a:gd name="adj" fmla="val 4734"/>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26" name="box-68"/>
          <p:cNvSpPr/>
          <p:nvPr/>
        </p:nvSpPr>
        <p:spPr>
          <a:xfrm>
            <a:off x="9464040" y="2377440"/>
            <a:ext cx="2148840" cy="457200"/>
          </a:xfrm>
          <a:prstGeom prst="roundRect">
            <a:avLst>
              <a:gd name="adj" fmla="val 16000"/>
            </a:avLst>
          </a:prstGeom>
          <a:solidFill>
            <a:schemeClr val="accent1">
              <a:alpha val="15000"/>
            </a:schemeClr>
          </a:solidFill>
          <a:ln/>
        </p:spPr>
      </p:sp>
      <p:sp>
        <p:nvSpPr>
          <p:cNvPr id="27" name="text-69"/>
          <p:cNvSpPr txBox="1"/>
          <p:nvPr/>
        </p:nvSpPr>
        <p:spPr>
          <a:xfrm>
            <a:off x="9628632" y="2377440"/>
            <a:ext cx="1874520" cy="457200"/>
          </a:xfrm>
          <a:prstGeom prst="rect">
            <a:avLst/>
          </a:prstGeom>
          <a:noFill/>
          <a:ln/>
        </p:spPr>
        <p:txBody>
          <a:bodyPr wrap="square" lIns="0" tIns="0" rIns="0" bIns="0" rtlCol="0" anchor="ctr"/>
          <a:lstStyle/>
          <a:p>
            <a:pPr algn="l" indent="0" marL="0">
              <a:buNone/>
            </a:pPr>
            <a:r>
              <a:rPr lang="en-US" sz="1600" b="1" dirty="0">
                <a:solidFill>
                  <a:schemeClr val="tx1"/>
                </a:solidFill>
              </a:rPr>
              <a:t>products</a:t>
            </a:r>
            <a:endParaRPr lang="en-US" sz="1600" dirty="0"/>
          </a:p>
        </p:txBody>
      </p:sp>
      <p:sp>
        <p:nvSpPr>
          <p:cNvPr id="28" name="field-70"/>
          <p:cNvSpPr txBox="1"/>
          <p:nvPr/>
        </p:nvSpPr>
        <p:spPr>
          <a:xfrm>
            <a:off x="9628632" y="2907792"/>
            <a:ext cx="1874520" cy="310896"/>
          </a:xfrm>
          <a:prstGeom prst="rect">
            <a:avLst/>
          </a:prstGeom>
          <a:noFill/>
          <a:ln/>
        </p:spPr>
        <p:txBody>
          <a:bodyPr wrap="square" lIns="0" tIns="0" rIns="0" bIns="0" rtlCol="0" anchor="ctr"/>
          <a:lstStyle/>
          <a:p>
            <a:pPr indent="0" marL="0">
              <a:buNone/>
            </a:pPr>
            <a:r>
              <a:rPr lang="en-US" sz="1300" dirty="0">
                <a:solidFill>
                  <a:schemeClr val="tx1"/>
                </a:solidFill>
                <a:latin typeface="Roboto Mono" pitchFamily="34" charset="0"/>
                <a:ea typeface="Roboto Mono" pitchFamily="34" charset="-122"/>
                <a:cs typeface="Roboto Mono" pitchFamily="34" charset="-120"/>
              </a:rPr>
              <a:t>id  </a:t>
            </a:r>
            <a:pPr indent="0" marL="0">
              <a:buNone/>
            </a:pPr>
            <a:r>
              <a:rPr lang="en-US" sz="1300" b="1" dirty="0">
                <a:solidFill>
                  <a:schemeClr val="accent6"/>
                </a:solidFill>
                <a:latin typeface="Roboto Mono" pitchFamily="34" charset="0"/>
                <a:ea typeface="Roboto Mono" pitchFamily="34" charset="-122"/>
                <a:cs typeface="Roboto Mono" pitchFamily="34" charset="-120"/>
              </a:rPr>
              <a:t>PK</a:t>
            </a:r>
            <a:endParaRPr lang="en-US" sz="1300" dirty="0"/>
          </a:p>
        </p:txBody>
      </p:sp>
      <p:sp>
        <p:nvSpPr>
          <p:cNvPr id="29" name="field-71"/>
          <p:cNvSpPr txBox="1"/>
          <p:nvPr/>
        </p:nvSpPr>
        <p:spPr>
          <a:xfrm>
            <a:off x="9628632" y="3255264"/>
            <a:ext cx="1874520" cy="310896"/>
          </a:xfrm>
          <a:prstGeom prst="rect">
            <a:avLst/>
          </a:prstGeom>
          <a:noFill/>
          <a:ln/>
        </p:spPr>
        <p:txBody>
          <a:bodyPr wrap="square" lIns="0" tIns="0" rIns="0" bIns="0" rtlCol="0" anchor="ctr"/>
          <a:lstStyle/>
          <a:p>
            <a:pPr indent="0" marL="0">
              <a:buNone/>
            </a:pPr>
            <a:r>
              <a:rPr lang="en-US" sz="1300" dirty="0">
                <a:solidFill>
                  <a:schemeClr val="tx1"/>
                </a:solidFill>
                <a:latin typeface="Roboto Mono" pitchFamily="34" charset="0"/>
                <a:ea typeface="Roboto Mono" pitchFamily="34" charset="-122"/>
                <a:cs typeface="Roboto Mono" pitchFamily="34" charset="-120"/>
              </a:rPr>
              <a:t>name  </a:t>
            </a:r>
            <a:endParaRPr lang="en-US" sz="1300" dirty="0"/>
          </a:p>
        </p:txBody>
      </p:sp>
      <p:sp>
        <p:nvSpPr>
          <p:cNvPr id="30" name="field-72"/>
          <p:cNvSpPr txBox="1"/>
          <p:nvPr/>
        </p:nvSpPr>
        <p:spPr>
          <a:xfrm>
            <a:off x="9628632" y="3602736"/>
            <a:ext cx="1874520" cy="310896"/>
          </a:xfrm>
          <a:prstGeom prst="rect">
            <a:avLst/>
          </a:prstGeom>
          <a:noFill/>
          <a:ln/>
        </p:spPr>
        <p:txBody>
          <a:bodyPr wrap="square" lIns="0" tIns="0" rIns="0" bIns="0" rtlCol="0" anchor="ctr"/>
          <a:lstStyle/>
          <a:p>
            <a:pPr indent="0" marL="0">
              <a:buNone/>
            </a:pPr>
            <a:r>
              <a:rPr lang="en-US" sz="1300" dirty="0">
                <a:solidFill>
                  <a:schemeClr val="tx1"/>
                </a:solidFill>
                <a:latin typeface="Roboto Mono" pitchFamily="34" charset="0"/>
                <a:ea typeface="Roboto Mono" pitchFamily="34" charset="-122"/>
                <a:cs typeface="Roboto Mono" pitchFamily="34" charset="-120"/>
              </a:rPr>
              <a:t>price_cents  </a:t>
            </a:r>
            <a:endParaRPr lang="en-US" sz="1300" dirty="0"/>
          </a:p>
        </p:txBody>
      </p:sp>
      <p:sp>
        <p:nvSpPr>
          <p:cNvPr id="31" name="box-73"/>
          <p:cNvSpPr/>
          <p:nvPr/>
        </p:nvSpPr>
        <p:spPr>
          <a:xfrm>
            <a:off x="548640" y="4617720"/>
            <a:ext cx="2148840" cy="1197864"/>
          </a:xfrm>
          <a:prstGeom prst="roundRect">
            <a:avLst>
              <a:gd name="adj" fmla="val 6107"/>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32" name="box-74"/>
          <p:cNvSpPr/>
          <p:nvPr/>
        </p:nvSpPr>
        <p:spPr>
          <a:xfrm>
            <a:off x="548640" y="4617720"/>
            <a:ext cx="2148840" cy="457200"/>
          </a:xfrm>
          <a:prstGeom prst="roundRect">
            <a:avLst>
              <a:gd name="adj" fmla="val 16000"/>
            </a:avLst>
          </a:prstGeom>
          <a:solidFill>
            <a:schemeClr val="accent1">
              <a:alpha val="15000"/>
            </a:schemeClr>
          </a:solidFill>
          <a:ln/>
        </p:spPr>
      </p:sp>
      <p:sp>
        <p:nvSpPr>
          <p:cNvPr id="33" name="text-75"/>
          <p:cNvSpPr txBox="1"/>
          <p:nvPr/>
        </p:nvSpPr>
        <p:spPr>
          <a:xfrm>
            <a:off x="713232" y="4617720"/>
            <a:ext cx="1874520" cy="457200"/>
          </a:xfrm>
          <a:prstGeom prst="rect">
            <a:avLst/>
          </a:prstGeom>
          <a:noFill/>
          <a:ln/>
        </p:spPr>
        <p:txBody>
          <a:bodyPr wrap="square" lIns="0" tIns="0" rIns="0" bIns="0" rtlCol="0" anchor="ctr"/>
          <a:lstStyle/>
          <a:p>
            <a:pPr algn="l" indent="0" marL="0">
              <a:buNone/>
            </a:pPr>
            <a:r>
              <a:rPr lang="en-US" sz="1600" b="1" dirty="0">
                <a:solidFill>
                  <a:schemeClr val="tx1"/>
                </a:solidFill>
              </a:rPr>
              <a:t>user_profiles</a:t>
            </a:r>
            <a:endParaRPr lang="en-US" sz="1600" dirty="0"/>
          </a:p>
        </p:txBody>
      </p:sp>
      <p:sp>
        <p:nvSpPr>
          <p:cNvPr id="34" name="field-76"/>
          <p:cNvSpPr txBox="1"/>
          <p:nvPr/>
        </p:nvSpPr>
        <p:spPr>
          <a:xfrm>
            <a:off x="713232" y="5148072"/>
            <a:ext cx="1874520" cy="310896"/>
          </a:xfrm>
          <a:prstGeom prst="rect">
            <a:avLst/>
          </a:prstGeom>
          <a:noFill/>
          <a:ln/>
        </p:spPr>
        <p:txBody>
          <a:bodyPr wrap="square" lIns="0" tIns="0" rIns="0" bIns="0" rtlCol="0" anchor="ctr"/>
          <a:lstStyle/>
          <a:p>
            <a:pPr indent="0" marL="0">
              <a:buNone/>
            </a:pPr>
            <a:r>
              <a:rPr lang="en-US" sz="1300" dirty="0">
                <a:solidFill>
                  <a:schemeClr val="tx1"/>
                </a:solidFill>
                <a:latin typeface="Roboto Mono" pitchFamily="34" charset="0"/>
                <a:ea typeface="Roboto Mono" pitchFamily="34" charset="-122"/>
                <a:cs typeface="Roboto Mono" pitchFamily="34" charset="-120"/>
              </a:rPr>
              <a:t>user_id  </a:t>
            </a:r>
            <a:pPr indent="0" marL="0">
              <a:buNone/>
            </a:pPr>
            <a:r>
              <a:rPr lang="en-US" sz="1300" b="1" dirty="0">
                <a:solidFill>
                  <a:schemeClr val="accent6"/>
                </a:solidFill>
                <a:latin typeface="Roboto Mono" pitchFamily="34" charset="0"/>
                <a:ea typeface="Roboto Mono" pitchFamily="34" charset="-122"/>
                <a:cs typeface="Roboto Mono" pitchFamily="34" charset="-120"/>
              </a:rPr>
              <a:t>PK·FK</a:t>
            </a:r>
            <a:endParaRPr lang="en-US" sz="1300" dirty="0"/>
          </a:p>
        </p:txBody>
      </p:sp>
      <p:sp>
        <p:nvSpPr>
          <p:cNvPr id="35" name="field-77"/>
          <p:cNvSpPr txBox="1"/>
          <p:nvPr/>
        </p:nvSpPr>
        <p:spPr>
          <a:xfrm>
            <a:off x="713232" y="5495544"/>
            <a:ext cx="1874520" cy="310896"/>
          </a:xfrm>
          <a:prstGeom prst="rect">
            <a:avLst/>
          </a:prstGeom>
          <a:noFill/>
          <a:ln/>
        </p:spPr>
        <p:txBody>
          <a:bodyPr wrap="square" lIns="0" tIns="0" rIns="0" bIns="0" rtlCol="0" anchor="ctr"/>
          <a:lstStyle/>
          <a:p>
            <a:pPr indent="0" marL="0">
              <a:buNone/>
            </a:pPr>
            <a:r>
              <a:rPr lang="en-US" sz="1300" dirty="0">
                <a:solidFill>
                  <a:schemeClr val="tx1"/>
                </a:solidFill>
                <a:latin typeface="Roboto Mono" pitchFamily="34" charset="0"/>
                <a:ea typeface="Roboto Mono" pitchFamily="34" charset="-122"/>
                <a:cs typeface="Roboto Mono" pitchFamily="34" charset="-120"/>
              </a:rPr>
              <a:t>full_name  </a:t>
            </a:r>
            <a:endParaRPr lang="en-US" sz="1300" dirty="0"/>
          </a:p>
        </p:txBody>
      </p:sp>
      <p:sp>
        <p:nvSpPr>
          <p:cNvPr id="36" name="line-78"/>
          <p:cNvSpPr/>
          <p:nvPr/>
        </p:nvSpPr>
        <p:spPr>
          <a:xfrm>
            <a:off x="2697480" y="3246120"/>
            <a:ext cx="822960" cy="91"/>
          </a:xfrm>
          <a:prstGeom prst="line">
            <a:avLst/>
          </a:prstGeom>
          <a:noFill/>
          <a:ln w="25400">
            <a:solidFill>
              <a:schemeClr val="tx2"/>
            </a:solidFill>
            <a:prstDash val="solid"/>
          </a:ln>
        </p:spPr>
      </p:sp>
      <p:sp>
        <p:nvSpPr>
          <p:cNvPr id="37" name="text-79"/>
          <p:cNvSpPr txBox="1"/>
          <p:nvPr/>
        </p:nvSpPr>
        <p:spPr>
          <a:xfrm>
            <a:off x="2743200" y="2862072"/>
            <a:ext cx="365760" cy="329184"/>
          </a:xfrm>
          <a:prstGeom prst="rect">
            <a:avLst/>
          </a:prstGeom>
          <a:noFill/>
          <a:ln/>
        </p:spPr>
        <p:txBody>
          <a:bodyPr wrap="square" lIns="0" tIns="0" rIns="0" bIns="0" rtlCol="0" anchor="ctr"/>
          <a:lstStyle/>
          <a:p>
            <a:pPr algn="l" indent="0" marL="0">
              <a:buNone/>
            </a:pPr>
            <a:r>
              <a:rPr lang="en-US" sz="1800" b="1" dirty="0">
                <a:solidFill>
                  <a:schemeClr val="accent6"/>
                </a:solidFill>
              </a:rPr>
              <a:t>1</a:t>
            </a:r>
            <a:endParaRPr lang="en-US" sz="1800" dirty="0"/>
          </a:p>
        </p:txBody>
      </p:sp>
      <p:sp>
        <p:nvSpPr>
          <p:cNvPr id="38" name="text-80"/>
          <p:cNvSpPr txBox="1"/>
          <p:nvPr/>
        </p:nvSpPr>
        <p:spPr>
          <a:xfrm>
            <a:off x="3108960" y="2862072"/>
            <a:ext cx="365760" cy="329184"/>
          </a:xfrm>
          <a:prstGeom prst="rect">
            <a:avLst/>
          </a:prstGeom>
          <a:noFill/>
          <a:ln/>
        </p:spPr>
        <p:txBody>
          <a:bodyPr wrap="square" lIns="0" tIns="0" rIns="0" bIns="0" rtlCol="0" anchor="ctr"/>
          <a:lstStyle/>
          <a:p>
            <a:pPr algn="r" indent="0" marL="0">
              <a:buNone/>
            </a:pPr>
            <a:r>
              <a:rPr lang="en-US" sz="1800" b="1" dirty="0">
                <a:solidFill>
                  <a:schemeClr val="accent6"/>
                </a:solidFill>
              </a:rPr>
              <a:t>N</a:t>
            </a:r>
            <a:endParaRPr lang="en-US" sz="1800" dirty="0"/>
          </a:p>
        </p:txBody>
      </p:sp>
      <p:sp>
        <p:nvSpPr>
          <p:cNvPr id="39" name="line-81"/>
          <p:cNvSpPr/>
          <p:nvPr/>
        </p:nvSpPr>
        <p:spPr>
          <a:xfrm>
            <a:off x="5669280" y="3246120"/>
            <a:ext cx="822960" cy="91"/>
          </a:xfrm>
          <a:prstGeom prst="line">
            <a:avLst/>
          </a:prstGeom>
          <a:noFill/>
          <a:ln w="25400">
            <a:solidFill>
              <a:schemeClr val="tx2"/>
            </a:solidFill>
            <a:prstDash val="solid"/>
          </a:ln>
        </p:spPr>
      </p:sp>
      <p:sp>
        <p:nvSpPr>
          <p:cNvPr id="40" name="text-82"/>
          <p:cNvSpPr txBox="1"/>
          <p:nvPr/>
        </p:nvSpPr>
        <p:spPr>
          <a:xfrm>
            <a:off x="5715000" y="2862072"/>
            <a:ext cx="365760" cy="329184"/>
          </a:xfrm>
          <a:prstGeom prst="rect">
            <a:avLst/>
          </a:prstGeom>
          <a:noFill/>
          <a:ln/>
        </p:spPr>
        <p:txBody>
          <a:bodyPr wrap="square" lIns="0" tIns="0" rIns="0" bIns="0" rtlCol="0" anchor="ctr"/>
          <a:lstStyle/>
          <a:p>
            <a:pPr algn="l" indent="0" marL="0">
              <a:buNone/>
            </a:pPr>
            <a:r>
              <a:rPr lang="en-US" sz="1800" b="1" dirty="0">
                <a:solidFill>
                  <a:schemeClr val="accent6"/>
                </a:solidFill>
              </a:rPr>
              <a:t>1</a:t>
            </a:r>
            <a:endParaRPr lang="en-US" sz="1800" dirty="0"/>
          </a:p>
        </p:txBody>
      </p:sp>
      <p:sp>
        <p:nvSpPr>
          <p:cNvPr id="41" name="text-83"/>
          <p:cNvSpPr txBox="1"/>
          <p:nvPr/>
        </p:nvSpPr>
        <p:spPr>
          <a:xfrm>
            <a:off x="6080760" y="2862072"/>
            <a:ext cx="365760" cy="329184"/>
          </a:xfrm>
          <a:prstGeom prst="rect">
            <a:avLst/>
          </a:prstGeom>
          <a:noFill/>
          <a:ln/>
        </p:spPr>
        <p:txBody>
          <a:bodyPr wrap="square" lIns="0" tIns="0" rIns="0" bIns="0" rtlCol="0" anchor="ctr"/>
          <a:lstStyle/>
          <a:p>
            <a:pPr algn="r" indent="0" marL="0">
              <a:buNone/>
            </a:pPr>
            <a:r>
              <a:rPr lang="en-US" sz="1800" b="1" dirty="0">
                <a:solidFill>
                  <a:schemeClr val="accent6"/>
                </a:solidFill>
              </a:rPr>
              <a:t>N</a:t>
            </a:r>
            <a:endParaRPr lang="en-US" sz="1800" dirty="0"/>
          </a:p>
        </p:txBody>
      </p:sp>
      <p:sp>
        <p:nvSpPr>
          <p:cNvPr id="42" name="line-84"/>
          <p:cNvSpPr/>
          <p:nvPr/>
        </p:nvSpPr>
        <p:spPr>
          <a:xfrm>
            <a:off x="8641080" y="3246120"/>
            <a:ext cx="822960" cy="91"/>
          </a:xfrm>
          <a:prstGeom prst="line">
            <a:avLst/>
          </a:prstGeom>
          <a:noFill/>
          <a:ln w="25400">
            <a:solidFill>
              <a:schemeClr val="tx2"/>
            </a:solidFill>
            <a:prstDash val="solid"/>
          </a:ln>
        </p:spPr>
      </p:sp>
      <p:sp>
        <p:nvSpPr>
          <p:cNvPr id="43" name="text-85"/>
          <p:cNvSpPr txBox="1"/>
          <p:nvPr/>
        </p:nvSpPr>
        <p:spPr>
          <a:xfrm>
            <a:off x="8686800" y="2862072"/>
            <a:ext cx="365760" cy="329184"/>
          </a:xfrm>
          <a:prstGeom prst="rect">
            <a:avLst/>
          </a:prstGeom>
          <a:noFill/>
          <a:ln/>
        </p:spPr>
        <p:txBody>
          <a:bodyPr wrap="square" lIns="0" tIns="0" rIns="0" bIns="0" rtlCol="0" anchor="ctr"/>
          <a:lstStyle/>
          <a:p>
            <a:pPr algn="l" indent="0" marL="0">
              <a:buNone/>
            </a:pPr>
            <a:r>
              <a:rPr lang="en-US" sz="1800" b="1" dirty="0">
                <a:solidFill>
                  <a:schemeClr val="accent6"/>
                </a:solidFill>
              </a:rPr>
              <a:t>N</a:t>
            </a:r>
            <a:endParaRPr lang="en-US" sz="1800" dirty="0"/>
          </a:p>
        </p:txBody>
      </p:sp>
      <p:sp>
        <p:nvSpPr>
          <p:cNvPr id="44" name="text-86"/>
          <p:cNvSpPr txBox="1"/>
          <p:nvPr/>
        </p:nvSpPr>
        <p:spPr>
          <a:xfrm>
            <a:off x="9052560" y="2862072"/>
            <a:ext cx="365760" cy="329184"/>
          </a:xfrm>
          <a:prstGeom prst="rect">
            <a:avLst/>
          </a:prstGeom>
          <a:noFill/>
          <a:ln/>
        </p:spPr>
        <p:txBody>
          <a:bodyPr wrap="square" lIns="0" tIns="0" rIns="0" bIns="0" rtlCol="0" anchor="ctr"/>
          <a:lstStyle/>
          <a:p>
            <a:pPr algn="r" indent="0" marL="0">
              <a:buNone/>
            </a:pPr>
            <a:r>
              <a:rPr lang="en-US" sz="1800" b="1" dirty="0">
                <a:solidFill>
                  <a:schemeClr val="accent6"/>
                </a:solidFill>
              </a:rPr>
              <a:t>1</a:t>
            </a:r>
            <a:endParaRPr lang="en-US" sz="1800" dirty="0"/>
          </a:p>
        </p:txBody>
      </p:sp>
      <p:sp>
        <p:nvSpPr>
          <p:cNvPr id="45" name="line-87"/>
          <p:cNvSpPr/>
          <p:nvPr/>
        </p:nvSpPr>
        <p:spPr>
          <a:xfrm>
            <a:off x="1623060" y="3922776"/>
            <a:ext cx="91" cy="694944"/>
          </a:xfrm>
          <a:prstGeom prst="line">
            <a:avLst/>
          </a:prstGeom>
          <a:noFill/>
          <a:ln w="25400">
            <a:solidFill>
              <a:schemeClr val="tx2"/>
            </a:solidFill>
            <a:prstDash val="solid"/>
          </a:ln>
        </p:spPr>
      </p:sp>
      <p:sp>
        <p:nvSpPr>
          <p:cNvPr id="46" name="text-88"/>
          <p:cNvSpPr txBox="1"/>
          <p:nvPr/>
        </p:nvSpPr>
        <p:spPr>
          <a:xfrm>
            <a:off x="1719072" y="3950208"/>
            <a:ext cx="274320" cy="274320"/>
          </a:xfrm>
          <a:prstGeom prst="rect">
            <a:avLst/>
          </a:prstGeom>
          <a:noFill/>
          <a:ln/>
        </p:spPr>
        <p:txBody>
          <a:bodyPr wrap="square" lIns="0" tIns="0" rIns="0" bIns="0" rtlCol="0" anchor="ctr"/>
          <a:lstStyle/>
          <a:p>
            <a:pPr algn="l" indent="0" marL="0">
              <a:buNone/>
            </a:pPr>
            <a:r>
              <a:rPr lang="en-US" sz="1800" b="1" dirty="0">
                <a:solidFill>
                  <a:schemeClr val="accent6"/>
                </a:solidFill>
              </a:rPr>
              <a:t>1</a:t>
            </a:r>
            <a:endParaRPr lang="en-US" sz="1800" dirty="0"/>
          </a:p>
        </p:txBody>
      </p:sp>
      <p:sp>
        <p:nvSpPr>
          <p:cNvPr id="47" name="text-89"/>
          <p:cNvSpPr txBox="1"/>
          <p:nvPr/>
        </p:nvSpPr>
        <p:spPr>
          <a:xfrm>
            <a:off x="1719072" y="4315968"/>
            <a:ext cx="274320" cy="274320"/>
          </a:xfrm>
          <a:prstGeom prst="rect">
            <a:avLst/>
          </a:prstGeom>
          <a:noFill/>
          <a:ln/>
        </p:spPr>
        <p:txBody>
          <a:bodyPr wrap="square" lIns="0" tIns="0" rIns="0" bIns="0" rtlCol="0" anchor="ctr"/>
          <a:lstStyle/>
          <a:p>
            <a:pPr algn="l" indent="0" marL="0">
              <a:buNone/>
            </a:pPr>
            <a:r>
              <a:rPr lang="en-US" sz="1800" b="1" dirty="0">
                <a:solidFill>
                  <a:schemeClr val="accent6"/>
                </a:solidFill>
              </a:rPr>
              <a:t>1</a:t>
            </a:r>
            <a:endParaRPr lang="en-US" sz="1800" dirty="0"/>
          </a:p>
        </p:txBody>
      </p:sp>
      <p:sp>
        <p:nvSpPr>
          <p:cNvPr id="48" name="box-90"/>
          <p:cNvSpPr/>
          <p:nvPr/>
        </p:nvSpPr>
        <p:spPr>
          <a:xfrm>
            <a:off x="6035040" y="4114800"/>
            <a:ext cx="2377440" cy="384048"/>
          </a:xfrm>
          <a:prstGeom prst="roundRect">
            <a:avLst>
              <a:gd name="adj" fmla="val 28571"/>
            </a:avLst>
          </a:prstGeom>
          <a:solidFill>
            <a:schemeClr val="accent1">
              <a:alpha val="20000"/>
            </a:schemeClr>
          </a:solidFill>
          <a:ln/>
        </p:spPr>
      </p:sp>
      <p:sp>
        <p:nvSpPr>
          <p:cNvPr id="49" name="text-91"/>
          <p:cNvSpPr txBox="1"/>
          <p:nvPr/>
        </p:nvSpPr>
        <p:spPr>
          <a:xfrm>
            <a:off x="6108192" y="4114800"/>
            <a:ext cx="2231136" cy="384048"/>
          </a:xfrm>
          <a:prstGeom prst="rect">
            <a:avLst/>
          </a:prstGeom>
          <a:noFill/>
          <a:ln/>
        </p:spPr>
        <p:txBody>
          <a:bodyPr wrap="square" lIns="0" tIns="0" rIns="0" bIns="0" rtlCol="0" anchor="ctr"/>
          <a:lstStyle/>
          <a:p>
            <a:pPr algn="ctr" indent="0" marL="0">
              <a:buNone/>
            </a:pPr>
            <a:r>
              <a:rPr lang="en-US" sz="1300" b="1" dirty="0">
                <a:solidFill>
                  <a:schemeClr val="tx1"/>
                </a:solidFill>
              </a:rPr>
              <a:t>junction table</a:t>
            </a:r>
            <a:endParaRPr lang="en-US" sz="1300" dirty="0"/>
          </a:p>
        </p:txBody>
      </p:sp>
      <p:sp>
        <p:nvSpPr>
          <p:cNvPr id="50" name="text-92"/>
          <p:cNvSpPr txBox="1"/>
          <p:nvPr/>
        </p:nvSpPr>
        <p:spPr>
          <a:xfrm>
            <a:off x="3383280" y="5074920"/>
            <a:ext cx="8229600" cy="548640"/>
          </a:xfrm>
          <a:prstGeom prst="rect">
            <a:avLst/>
          </a:prstGeom>
          <a:noFill/>
          <a:ln/>
        </p:spPr>
        <p:txBody>
          <a:bodyPr wrap="square" lIns="0" tIns="0" rIns="0" bIns="0" rtlCol="0" anchor="ctr"/>
          <a:lstStyle/>
          <a:p>
            <a:pPr algn="l" indent="0" marL="0">
              <a:buNone/>
            </a:pPr>
            <a:r>
              <a:rPr lang="en-US" sz="1400" dirty="0">
                <a:solidFill>
                  <a:schemeClr val="tx2"/>
                </a:solidFill>
              </a:rPr>
              <a:t>1 user → many orders  ·  1 order → many products (via order_items)  ·  1 user → 1 profile</a:t>
            </a:r>
            <a:endParaRPr lang="en-US" sz="1400" dirty="0"/>
          </a:p>
        </p:txBody>
      </p:sp>
      <p:pic>
        <p:nvPicPr>
          <p:cNvPr id="51" name="Image 0" descr="Database icon">    </p:cNvPr>
          <p:cNvPicPr>
            <a:picLocks noChangeAspect="1"/>
          </p:cNvPicPr>
          <p:nvPr/>
        </p:nvPicPr>
        <p:blipFill>
          <a:blip r:embed="rId1"/>
          <a:stretch>
            <a:fillRect/>
          </a:stretch>
        </p:blipFill>
        <p:spPr>
          <a:xfrm>
            <a:off x="640080" y="475488"/>
            <a:ext cx="201168" cy="201168"/>
          </a:xfrm>
          <a:prstGeom prst="rect">
            <a:avLst/>
          </a:prstGeom>
        </p:spPr>
      </p:pic>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dot-93"/>
          <p:cNvSpPr/>
          <p:nvPr/>
        </p:nvSpPr>
        <p:spPr>
          <a:xfrm>
            <a:off x="548640" y="384048"/>
            <a:ext cx="384048" cy="384048"/>
          </a:xfrm>
          <a:prstGeom prst="ellipse">
            <a:avLst/>
          </a:prstGeom>
          <a:solidFill>
            <a:schemeClr val="accent1"/>
          </a:solidFill>
          <a:ln/>
        </p:spPr>
      </p:sp>
      <p:sp>
        <p:nvSpPr>
          <p:cNvPr id="3" name="Text 1"/>
          <p:cNvSpPr/>
          <p:nvPr>
            <p:ph idx="101" type="body" hasCustomPrompt="1"/>
          </p:nvPr>
        </p:nvSpPr>
        <p:spPr>
          <a:xfrm>
            <a:off x="1051560" y="384048"/>
            <a:ext cx="9601200" cy="384048"/>
          </a:xfrm>
          <a:prstGeom prst="rect">
            <a:avLst/>
          </a:prstGeom>
          <a:noFill/>
          <a:ln/>
        </p:spPr>
        <p:txBody>
          <a:bodyPr wrap="square" lIns="0" tIns="0" rIns="0" bIns="0" rtlCol="0" anchor="ctr"/>
          <a:lstStyle/>
          <a:p>
            <a:pPr indent="0" marL="0">
              <a:buNone/>
            </a:pPr>
            <a:r>
              <a:rPr lang="en-US" sz="1300" b="1" spc="300" kern="0" dirty="0">
                <a:solidFill>
                  <a:schemeClr val="tx2"/>
                </a:solidFill>
              </a:rPr>
              <a:t>T13  ·  OVERVIEW</a:t>
            </a:r>
            <a:endParaRPr lang="en-US" sz="1300" dirty="0"/>
          </a:p>
        </p:txBody>
      </p:sp>
      <p:sp>
        <p:nvSpPr>
          <p:cNvPr id="4" name="Text 1"/>
          <p:cNvSpPr/>
          <p:nvPr>
            <p:ph idx="102" type="title" hasCustomPrompt="1"/>
          </p:nvPr>
        </p:nvSpPr>
        <p:spPr>
          <a:xfrm>
            <a:off x="548640" y="841248"/>
            <a:ext cx="11064240" cy="777240"/>
          </a:xfrm>
          <a:prstGeom prst="rect">
            <a:avLst/>
          </a:prstGeom>
          <a:noFill/>
          <a:ln/>
        </p:spPr>
        <p:txBody>
          <a:bodyPr wrap="square" lIns="0" tIns="0" rIns="0" bIns="0" rtlCol="0" anchor="ctr"/>
          <a:lstStyle/>
          <a:p>
            <a:pPr algn="l" indent="0" marL="0">
              <a:buNone/>
            </a:pPr>
            <a:r>
              <a:rPr lang="en-US" sz="3800" b="1" dirty="0">
                <a:solidFill>
                  <a:schemeClr val="tx1"/>
                </a:solidFill>
              </a:rPr>
              <a:t>Design → Use → Protect → Speed up</a:t>
            </a:r>
            <a:endParaRPr lang="en-US" sz="3800" dirty="0"/>
          </a:p>
        </p:txBody>
      </p:sp>
      <p:sp>
        <p:nvSpPr>
          <p:cNvPr id="6" name="box-94"/>
          <p:cNvSpPr/>
          <p:nvPr/>
        </p:nvSpPr>
        <p:spPr>
          <a:xfrm>
            <a:off x="548640" y="1737360"/>
            <a:ext cx="10561320" cy="868680"/>
          </a:xfrm>
          <a:prstGeom prst="roundRect">
            <a:avLst>
              <a:gd name="adj" fmla="val 8421"/>
            </a:avLst>
          </a:prstGeom>
          <a:solidFill>
            <a:schemeClr val="accent1">
              <a:alpha val="16000"/>
            </a:schemeClr>
          </a:solidFill>
          <a:ln/>
        </p:spPr>
      </p:sp>
      <p:sp>
        <p:nvSpPr>
          <p:cNvPr id="7" name="dot-95"/>
          <p:cNvSpPr/>
          <p:nvPr/>
        </p:nvSpPr>
        <p:spPr>
          <a:xfrm>
            <a:off x="8732520" y="1819656"/>
            <a:ext cx="164592" cy="164592"/>
          </a:xfrm>
          <a:prstGeom prst="ellipse">
            <a:avLst/>
          </a:prstGeom>
          <a:solidFill>
            <a:schemeClr val="accent1"/>
          </a:solidFill>
          <a:ln/>
        </p:spPr>
      </p:sp>
      <p:sp>
        <p:nvSpPr>
          <p:cNvPr id="8" name="text-96"/>
          <p:cNvSpPr txBox="1"/>
          <p:nvPr/>
        </p:nvSpPr>
        <p:spPr>
          <a:xfrm>
            <a:off x="8961120" y="1773936"/>
            <a:ext cx="2057400" cy="256032"/>
          </a:xfrm>
          <a:prstGeom prst="rect">
            <a:avLst/>
          </a:prstGeom>
          <a:noFill/>
          <a:ln/>
        </p:spPr>
        <p:txBody>
          <a:bodyPr wrap="square" lIns="0" tIns="0" rIns="0" bIns="0" rtlCol="0" anchor="ctr"/>
          <a:lstStyle/>
          <a:p>
            <a:pPr algn="r" indent="0" marL="0">
              <a:buNone/>
            </a:pPr>
            <a:r>
              <a:rPr lang="en-US" sz="1100" b="1" spc="200" kern="0" dirty="0">
                <a:solidFill>
                  <a:schemeClr val="tx1"/>
                </a:solidFill>
              </a:rPr>
              <a:t>L1  ·  MODEL</a:t>
            </a:r>
            <a:endParaRPr lang="en-US" sz="1100" dirty="0"/>
          </a:p>
        </p:txBody>
      </p:sp>
      <p:sp>
        <p:nvSpPr>
          <p:cNvPr id="9" name="box-97"/>
          <p:cNvSpPr/>
          <p:nvPr/>
        </p:nvSpPr>
        <p:spPr>
          <a:xfrm>
            <a:off x="548640" y="2697480"/>
            <a:ext cx="10561320" cy="1188720"/>
          </a:xfrm>
          <a:prstGeom prst="roundRect">
            <a:avLst>
              <a:gd name="adj" fmla="val 6154"/>
            </a:avLst>
          </a:prstGeom>
          <a:solidFill>
            <a:schemeClr val="accent2">
              <a:alpha val="16000"/>
            </a:schemeClr>
          </a:solidFill>
          <a:ln/>
        </p:spPr>
      </p:sp>
      <p:sp>
        <p:nvSpPr>
          <p:cNvPr id="10" name="dot-98"/>
          <p:cNvSpPr/>
          <p:nvPr/>
        </p:nvSpPr>
        <p:spPr>
          <a:xfrm>
            <a:off x="8732520" y="2779776"/>
            <a:ext cx="164592" cy="164592"/>
          </a:xfrm>
          <a:prstGeom prst="ellipse">
            <a:avLst/>
          </a:prstGeom>
          <a:solidFill>
            <a:schemeClr val="accent2"/>
          </a:solidFill>
          <a:ln/>
        </p:spPr>
      </p:sp>
      <p:sp>
        <p:nvSpPr>
          <p:cNvPr id="11" name="text-99"/>
          <p:cNvSpPr txBox="1"/>
          <p:nvPr/>
        </p:nvSpPr>
        <p:spPr>
          <a:xfrm>
            <a:off x="8961120" y="2734056"/>
            <a:ext cx="2057400" cy="256032"/>
          </a:xfrm>
          <a:prstGeom prst="rect">
            <a:avLst/>
          </a:prstGeom>
          <a:noFill/>
          <a:ln/>
        </p:spPr>
        <p:txBody>
          <a:bodyPr wrap="square" lIns="0" tIns="0" rIns="0" bIns="0" rtlCol="0" anchor="ctr"/>
          <a:lstStyle/>
          <a:p>
            <a:pPr algn="r" indent="0" marL="0">
              <a:buNone/>
            </a:pPr>
            <a:r>
              <a:rPr lang="en-US" sz="1100" b="1" spc="200" kern="0" dirty="0">
                <a:solidFill>
                  <a:schemeClr val="tx1"/>
                </a:solidFill>
              </a:rPr>
              <a:t>L2  ·  QUERY</a:t>
            </a:r>
            <a:endParaRPr lang="en-US" sz="1100" dirty="0"/>
          </a:p>
        </p:txBody>
      </p:sp>
      <p:sp>
        <p:nvSpPr>
          <p:cNvPr id="12" name="box-100"/>
          <p:cNvSpPr/>
          <p:nvPr/>
        </p:nvSpPr>
        <p:spPr>
          <a:xfrm>
            <a:off x="548640" y="3977640"/>
            <a:ext cx="10561320" cy="868680"/>
          </a:xfrm>
          <a:prstGeom prst="roundRect">
            <a:avLst>
              <a:gd name="adj" fmla="val 8421"/>
            </a:avLst>
          </a:prstGeom>
          <a:solidFill>
            <a:schemeClr val="tx1">
              <a:alpha val="10000"/>
            </a:schemeClr>
          </a:solidFill>
          <a:ln/>
        </p:spPr>
      </p:sp>
      <p:sp>
        <p:nvSpPr>
          <p:cNvPr id="13" name="dot-101"/>
          <p:cNvSpPr/>
          <p:nvPr/>
        </p:nvSpPr>
        <p:spPr>
          <a:xfrm>
            <a:off x="8732520" y="4059936"/>
            <a:ext cx="164592" cy="164592"/>
          </a:xfrm>
          <a:prstGeom prst="ellipse">
            <a:avLst/>
          </a:prstGeom>
          <a:solidFill>
            <a:schemeClr val="tx1"/>
          </a:solidFill>
          <a:ln/>
        </p:spPr>
      </p:sp>
      <p:sp>
        <p:nvSpPr>
          <p:cNvPr id="14" name="text-102"/>
          <p:cNvSpPr txBox="1"/>
          <p:nvPr/>
        </p:nvSpPr>
        <p:spPr>
          <a:xfrm>
            <a:off x="8961120" y="4014216"/>
            <a:ext cx="2057400" cy="256032"/>
          </a:xfrm>
          <a:prstGeom prst="rect">
            <a:avLst/>
          </a:prstGeom>
          <a:noFill/>
          <a:ln/>
        </p:spPr>
        <p:txBody>
          <a:bodyPr wrap="square" lIns="0" tIns="0" rIns="0" bIns="0" rtlCol="0" anchor="ctr"/>
          <a:lstStyle/>
          <a:p>
            <a:pPr algn="r" indent="0" marL="0">
              <a:buNone/>
            </a:pPr>
            <a:r>
              <a:rPr lang="en-US" sz="1100" b="1" spc="200" kern="0" dirty="0">
                <a:solidFill>
                  <a:schemeClr val="tx1"/>
                </a:solidFill>
              </a:rPr>
              <a:t>L3  ·  SAFETY</a:t>
            </a:r>
            <a:endParaRPr lang="en-US" sz="1100" dirty="0"/>
          </a:p>
        </p:txBody>
      </p:sp>
      <p:sp>
        <p:nvSpPr>
          <p:cNvPr id="15" name="box-103"/>
          <p:cNvSpPr/>
          <p:nvPr/>
        </p:nvSpPr>
        <p:spPr>
          <a:xfrm>
            <a:off x="548640" y="4937760"/>
            <a:ext cx="10561320" cy="868680"/>
          </a:xfrm>
          <a:prstGeom prst="roundRect">
            <a:avLst>
              <a:gd name="adj" fmla="val 8421"/>
            </a:avLst>
          </a:prstGeom>
          <a:solidFill>
            <a:schemeClr val="accent3">
              <a:alpha val="16000"/>
            </a:schemeClr>
          </a:solidFill>
          <a:ln/>
        </p:spPr>
      </p:sp>
      <p:sp>
        <p:nvSpPr>
          <p:cNvPr id="16" name="dot-104"/>
          <p:cNvSpPr/>
          <p:nvPr/>
        </p:nvSpPr>
        <p:spPr>
          <a:xfrm>
            <a:off x="8732520" y="5020056"/>
            <a:ext cx="164592" cy="164592"/>
          </a:xfrm>
          <a:prstGeom prst="ellipse">
            <a:avLst/>
          </a:prstGeom>
          <a:solidFill>
            <a:schemeClr val="accent3"/>
          </a:solidFill>
          <a:ln/>
        </p:spPr>
      </p:sp>
      <p:sp>
        <p:nvSpPr>
          <p:cNvPr id="17" name="text-105"/>
          <p:cNvSpPr txBox="1"/>
          <p:nvPr/>
        </p:nvSpPr>
        <p:spPr>
          <a:xfrm>
            <a:off x="8961120" y="4974336"/>
            <a:ext cx="2057400" cy="256032"/>
          </a:xfrm>
          <a:prstGeom prst="rect">
            <a:avLst/>
          </a:prstGeom>
          <a:noFill/>
          <a:ln/>
        </p:spPr>
        <p:txBody>
          <a:bodyPr wrap="square" lIns="0" tIns="0" rIns="0" bIns="0" rtlCol="0" anchor="ctr"/>
          <a:lstStyle/>
          <a:p>
            <a:pPr algn="r" indent="0" marL="0">
              <a:buNone/>
            </a:pPr>
            <a:r>
              <a:rPr lang="en-US" sz="1100" b="1" spc="200" kern="0" dirty="0">
                <a:solidFill>
                  <a:schemeClr val="tx1"/>
                </a:solidFill>
              </a:rPr>
              <a:t>L4  ·  PERFORMANCE</a:t>
            </a:r>
            <a:endParaRPr lang="en-US" sz="1100" dirty="0"/>
          </a:p>
        </p:txBody>
      </p:sp>
      <p:sp>
        <p:nvSpPr>
          <p:cNvPr id="18" name="box-106"/>
          <p:cNvSpPr/>
          <p:nvPr/>
        </p:nvSpPr>
        <p:spPr>
          <a:xfrm>
            <a:off x="731520" y="1984248"/>
            <a:ext cx="1965960" cy="566928"/>
          </a:xfrm>
          <a:prstGeom prst="roundRect">
            <a:avLst>
              <a:gd name="adj" fmla="val 12903"/>
            </a:avLst>
          </a:prstGeom>
          <a:solidFill>
            <a:schemeClr val="bg1"/>
          </a:solidFill>
          <a:ln w="12700">
            <a:solidFill>
              <a:schemeClr val="accent4"/>
            </a:solidFill>
            <a:prstDash val="solid"/>
          </a:ln>
        </p:spPr>
      </p:sp>
      <p:sp>
        <p:nvSpPr>
          <p:cNvPr id="19" name="text-107"/>
          <p:cNvSpPr txBox="1"/>
          <p:nvPr/>
        </p:nvSpPr>
        <p:spPr>
          <a:xfrm>
            <a:off x="841248" y="2029968"/>
            <a:ext cx="1783080" cy="219456"/>
          </a:xfrm>
          <a:prstGeom prst="rect">
            <a:avLst/>
          </a:prstGeom>
          <a:noFill/>
          <a:ln/>
        </p:spPr>
        <p:txBody>
          <a:bodyPr wrap="square" lIns="0" tIns="0" rIns="0" bIns="0" rtlCol="0" anchor="ctr"/>
          <a:lstStyle/>
          <a:p>
            <a:pPr algn="l" indent="0" marL="0">
              <a:buNone/>
            </a:pPr>
            <a:r>
              <a:rPr lang="en-US" sz="1100" dirty="0">
                <a:solidFill>
                  <a:schemeClr val="accent4"/>
                </a:solidFill>
              </a:rPr>
              <a:t>3.1</a:t>
            </a:r>
            <a:endParaRPr lang="en-US" sz="1100" dirty="0"/>
          </a:p>
        </p:txBody>
      </p:sp>
      <p:sp>
        <p:nvSpPr>
          <p:cNvPr id="20" name="text-108"/>
          <p:cNvSpPr txBox="1"/>
          <p:nvPr/>
        </p:nvSpPr>
        <p:spPr>
          <a:xfrm>
            <a:off x="841248" y="2231136"/>
            <a:ext cx="1783080" cy="274320"/>
          </a:xfrm>
          <a:prstGeom prst="rect">
            <a:avLst/>
          </a:prstGeom>
          <a:noFill/>
          <a:ln/>
        </p:spPr>
        <p:txBody>
          <a:bodyPr wrap="square" lIns="0" tIns="0" rIns="0" bIns="0" rtlCol="0" anchor="ctr"/>
          <a:lstStyle/>
          <a:p>
            <a:pPr algn="l" indent="0" marL="0">
              <a:buNone/>
            </a:pPr>
            <a:r>
              <a:rPr lang="en-US" sz="1400" b="1" dirty="0">
                <a:solidFill>
                  <a:schemeClr val="tx1"/>
                </a:solidFill>
              </a:rPr>
              <a:t>Relational basics</a:t>
            </a:r>
            <a:endParaRPr lang="en-US" sz="1400" dirty="0"/>
          </a:p>
        </p:txBody>
      </p:sp>
      <p:sp>
        <p:nvSpPr>
          <p:cNvPr id="21" name="box-109"/>
          <p:cNvSpPr/>
          <p:nvPr/>
        </p:nvSpPr>
        <p:spPr>
          <a:xfrm>
            <a:off x="3017520" y="1984248"/>
            <a:ext cx="1737360" cy="566928"/>
          </a:xfrm>
          <a:prstGeom prst="roundRect">
            <a:avLst>
              <a:gd name="adj" fmla="val 12903"/>
            </a:avLst>
          </a:prstGeom>
          <a:solidFill>
            <a:schemeClr val="bg1"/>
          </a:solidFill>
          <a:ln w="12700">
            <a:solidFill>
              <a:schemeClr val="accent4"/>
            </a:solidFill>
            <a:prstDash val="solid"/>
          </a:ln>
        </p:spPr>
      </p:sp>
      <p:sp>
        <p:nvSpPr>
          <p:cNvPr id="22" name="text-110"/>
          <p:cNvSpPr txBox="1"/>
          <p:nvPr/>
        </p:nvSpPr>
        <p:spPr>
          <a:xfrm>
            <a:off x="3127248" y="2029968"/>
            <a:ext cx="1554480" cy="219456"/>
          </a:xfrm>
          <a:prstGeom prst="rect">
            <a:avLst/>
          </a:prstGeom>
          <a:noFill/>
          <a:ln/>
        </p:spPr>
        <p:txBody>
          <a:bodyPr wrap="square" lIns="0" tIns="0" rIns="0" bIns="0" rtlCol="0" anchor="ctr"/>
          <a:lstStyle/>
          <a:p>
            <a:pPr algn="l" indent="0" marL="0">
              <a:buNone/>
            </a:pPr>
            <a:r>
              <a:rPr lang="en-US" sz="1100" dirty="0">
                <a:solidFill>
                  <a:schemeClr val="accent4"/>
                </a:solidFill>
              </a:rPr>
              <a:t>3.2</a:t>
            </a:r>
            <a:endParaRPr lang="en-US" sz="1100" dirty="0"/>
          </a:p>
        </p:txBody>
      </p:sp>
      <p:sp>
        <p:nvSpPr>
          <p:cNvPr id="23" name="text-111"/>
          <p:cNvSpPr txBox="1"/>
          <p:nvPr/>
        </p:nvSpPr>
        <p:spPr>
          <a:xfrm>
            <a:off x="3127248" y="2231136"/>
            <a:ext cx="1554480" cy="274320"/>
          </a:xfrm>
          <a:prstGeom prst="rect">
            <a:avLst/>
          </a:prstGeom>
          <a:noFill/>
          <a:ln/>
        </p:spPr>
        <p:txBody>
          <a:bodyPr wrap="square" lIns="0" tIns="0" rIns="0" bIns="0" rtlCol="0" anchor="ctr"/>
          <a:lstStyle/>
          <a:p>
            <a:pPr algn="l" indent="0" marL="0">
              <a:buNone/>
            </a:pPr>
            <a:r>
              <a:rPr lang="en-US" sz="1400" b="1" dirty="0">
                <a:solidFill>
                  <a:schemeClr val="tx1"/>
                </a:solidFill>
              </a:rPr>
              <a:t>Entities &amp; keys</a:t>
            </a:r>
            <a:endParaRPr lang="en-US" sz="1400" dirty="0"/>
          </a:p>
        </p:txBody>
      </p:sp>
      <p:sp>
        <p:nvSpPr>
          <p:cNvPr id="24" name="box-112"/>
          <p:cNvSpPr/>
          <p:nvPr/>
        </p:nvSpPr>
        <p:spPr>
          <a:xfrm>
            <a:off x="5074920" y="1984248"/>
            <a:ext cx="1737360" cy="566928"/>
          </a:xfrm>
          <a:prstGeom prst="roundRect">
            <a:avLst>
              <a:gd name="adj" fmla="val 12903"/>
            </a:avLst>
          </a:prstGeom>
          <a:solidFill>
            <a:schemeClr val="bg1"/>
          </a:solidFill>
          <a:ln w="12700">
            <a:solidFill>
              <a:schemeClr val="accent4"/>
            </a:solidFill>
            <a:prstDash val="solid"/>
          </a:ln>
        </p:spPr>
      </p:sp>
      <p:sp>
        <p:nvSpPr>
          <p:cNvPr id="25" name="text-113"/>
          <p:cNvSpPr txBox="1"/>
          <p:nvPr/>
        </p:nvSpPr>
        <p:spPr>
          <a:xfrm>
            <a:off x="5184648" y="2029968"/>
            <a:ext cx="1554480" cy="219456"/>
          </a:xfrm>
          <a:prstGeom prst="rect">
            <a:avLst/>
          </a:prstGeom>
          <a:noFill/>
          <a:ln/>
        </p:spPr>
        <p:txBody>
          <a:bodyPr wrap="square" lIns="0" tIns="0" rIns="0" bIns="0" rtlCol="0" anchor="ctr"/>
          <a:lstStyle/>
          <a:p>
            <a:pPr algn="l" indent="0" marL="0">
              <a:buNone/>
            </a:pPr>
            <a:r>
              <a:rPr lang="en-US" sz="1100" dirty="0">
                <a:solidFill>
                  <a:schemeClr val="accent4"/>
                </a:solidFill>
              </a:rPr>
              <a:t>3.3</a:t>
            </a:r>
            <a:endParaRPr lang="en-US" sz="1100" dirty="0"/>
          </a:p>
        </p:txBody>
      </p:sp>
      <p:sp>
        <p:nvSpPr>
          <p:cNvPr id="26" name="text-114"/>
          <p:cNvSpPr txBox="1"/>
          <p:nvPr/>
        </p:nvSpPr>
        <p:spPr>
          <a:xfrm>
            <a:off x="5184648" y="2231136"/>
            <a:ext cx="1554480" cy="274320"/>
          </a:xfrm>
          <a:prstGeom prst="rect">
            <a:avLst/>
          </a:prstGeom>
          <a:noFill/>
          <a:ln/>
        </p:spPr>
        <p:txBody>
          <a:bodyPr wrap="square" lIns="0" tIns="0" rIns="0" bIns="0" rtlCol="0" anchor="ctr"/>
          <a:lstStyle/>
          <a:p>
            <a:pPr algn="l" indent="0" marL="0">
              <a:buNone/>
            </a:pPr>
            <a:r>
              <a:rPr lang="en-US" sz="1400" b="1" dirty="0">
                <a:solidFill>
                  <a:schemeClr val="tx1"/>
                </a:solidFill>
              </a:rPr>
              <a:t>Relationships</a:t>
            </a:r>
            <a:endParaRPr lang="en-US" sz="1400" dirty="0"/>
          </a:p>
        </p:txBody>
      </p:sp>
      <p:sp>
        <p:nvSpPr>
          <p:cNvPr id="27" name="box-115"/>
          <p:cNvSpPr/>
          <p:nvPr/>
        </p:nvSpPr>
        <p:spPr>
          <a:xfrm>
            <a:off x="7132320" y="1984248"/>
            <a:ext cx="1737360" cy="566928"/>
          </a:xfrm>
          <a:prstGeom prst="roundRect">
            <a:avLst>
              <a:gd name="adj" fmla="val 12903"/>
            </a:avLst>
          </a:prstGeom>
          <a:solidFill>
            <a:schemeClr val="bg1"/>
          </a:solidFill>
          <a:ln w="12700">
            <a:solidFill>
              <a:schemeClr val="accent4"/>
            </a:solidFill>
            <a:prstDash val="solid"/>
          </a:ln>
        </p:spPr>
      </p:sp>
      <p:sp>
        <p:nvSpPr>
          <p:cNvPr id="28" name="text-116"/>
          <p:cNvSpPr txBox="1"/>
          <p:nvPr/>
        </p:nvSpPr>
        <p:spPr>
          <a:xfrm>
            <a:off x="7242048" y="2029968"/>
            <a:ext cx="1554480" cy="219456"/>
          </a:xfrm>
          <a:prstGeom prst="rect">
            <a:avLst/>
          </a:prstGeom>
          <a:noFill/>
          <a:ln/>
        </p:spPr>
        <p:txBody>
          <a:bodyPr wrap="square" lIns="0" tIns="0" rIns="0" bIns="0" rtlCol="0" anchor="ctr"/>
          <a:lstStyle/>
          <a:p>
            <a:pPr algn="l" indent="0" marL="0">
              <a:buNone/>
            </a:pPr>
            <a:r>
              <a:rPr lang="en-US" sz="1100" dirty="0">
                <a:solidFill>
                  <a:schemeClr val="accent4"/>
                </a:solidFill>
              </a:rPr>
              <a:t>3.4</a:t>
            </a:r>
            <a:endParaRPr lang="en-US" sz="1100" dirty="0"/>
          </a:p>
        </p:txBody>
      </p:sp>
      <p:sp>
        <p:nvSpPr>
          <p:cNvPr id="29" name="text-117"/>
          <p:cNvSpPr txBox="1"/>
          <p:nvPr/>
        </p:nvSpPr>
        <p:spPr>
          <a:xfrm>
            <a:off x="7242048" y="2231136"/>
            <a:ext cx="1554480" cy="274320"/>
          </a:xfrm>
          <a:prstGeom prst="rect">
            <a:avLst/>
          </a:prstGeom>
          <a:noFill/>
          <a:ln/>
        </p:spPr>
        <p:txBody>
          <a:bodyPr wrap="square" lIns="0" tIns="0" rIns="0" bIns="0" rtlCol="0" anchor="ctr"/>
          <a:lstStyle/>
          <a:p>
            <a:pPr algn="l" indent="0" marL="0">
              <a:buNone/>
            </a:pPr>
            <a:r>
              <a:rPr lang="en-US" sz="1400" b="1" dirty="0">
                <a:solidFill>
                  <a:schemeClr val="tx1"/>
                </a:solidFill>
              </a:rPr>
              <a:t>Constraints</a:t>
            </a:r>
            <a:endParaRPr lang="en-US" sz="1400" dirty="0"/>
          </a:p>
        </p:txBody>
      </p:sp>
      <p:sp>
        <p:nvSpPr>
          <p:cNvPr id="30" name="box-118"/>
          <p:cNvSpPr/>
          <p:nvPr/>
        </p:nvSpPr>
        <p:spPr>
          <a:xfrm>
            <a:off x="9189720" y="1984248"/>
            <a:ext cx="1737360" cy="566928"/>
          </a:xfrm>
          <a:prstGeom prst="roundRect">
            <a:avLst>
              <a:gd name="adj" fmla="val 12903"/>
            </a:avLst>
          </a:prstGeom>
          <a:solidFill>
            <a:schemeClr val="bg1"/>
          </a:solidFill>
          <a:ln w="25400">
            <a:solidFill>
              <a:schemeClr val="accent1"/>
            </a:solidFill>
            <a:prstDash val="solid"/>
          </a:ln>
        </p:spPr>
      </p:sp>
      <p:sp>
        <p:nvSpPr>
          <p:cNvPr id="31" name="text-119"/>
          <p:cNvSpPr txBox="1"/>
          <p:nvPr/>
        </p:nvSpPr>
        <p:spPr>
          <a:xfrm>
            <a:off x="9299448" y="2029968"/>
            <a:ext cx="1554480" cy="219456"/>
          </a:xfrm>
          <a:prstGeom prst="rect">
            <a:avLst/>
          </a:prstGeom>
          <a:noFill/>
          <a:ln/>
        </p:spPr>
        <p:txBody>
          <a:bodyPr wrap="square" lIns="0" tIns="0" rIns="0" bIns="0" rtlCol="0" anchor="ctr"/>
          <a:lstStyle/>
          <a:p>
            <a:pPr algn="l" indent="0" marL="0">
              <a:buNone/>
            </a:pPr>
            <a:r>
              <a:rPr lang="en-US" sz="1100" dirty="0">
                <a:solidFill>
                  <a:schemeClr val="accent4"/>
                </a:solidFill>
              </a:rPr>
              <a:t>3.5</a:t>
            </a:r>
            <a:endParaRPr lang="en-US" sz="1100" dirty="0"/>
          </a:p>
        </p:txBody>
      </p:sp>
      <p:sp>
        <p:nvSpPr>
          <p:cNvPr id="32" name="text-120"/>
          <p:cNvSpPr txBox="1"/>
          <p:nvPr/>
        </p:nvSpPr>
        <p:spPr>
          <a:xfrm>
            <a:off x="9299448" y="2231136"/>
            <a:ext cx="1554480" cy="274320"/>
          </a:xfrm>
          <a:prstGeom prst="rect">
            <a:avLst/>
          </a:prstGeom>
          <a:noFill/>
          <a:ln/>
        </p:spPr>
        <p:txBody>
          <a:bodyPr wrap="square" lIns="0" tIns="0" rIns="0" bIns="0" rtlCol="0" anchor="ctr"/>
          <a:lstStyle/>
          <a:p>
            <a:pPr algn="l" indent="0" marL="0">
              <a:buNone/>
            </a:pPr>
            <a:r>
              <a:rPr lang="en-US" sz="1400" b="1" dirty="0">
                <a:solidFill>
                  <a:schemeClr val="tx1"/>
                </a:solidFill>
              </a:rPr>
              <a:t>Normalisation</a:t>
            </a:r>
            <a:endParaRPr lang="en-US" sz="1400" dirty="0"/>
          </a:p>
        </p:txBody>
      </p:sp>
      <p:sp>
        <p:nvSpPr>
          <p:cNvPr id="33" name="line-121"/>
          <p:cNvSpPr/>
          <p:nvPr/>
        </p:nvSpPr>
        <p:spPr>
          <a:xfrm>
            <a:off x="2697480" y="2267712"/>
            <a:ext cx="320040" cy="91"/>
          </a:xfrm>
          <a:prstGeom prst="line">
            <a:avLst/>
          </a:prstGeom>
          <a:noFill/>
          <a:ln w="19050">
            <a:solidFill>
              <a:schemeClr val="tx2"/>
            </a:solidFill>
            <a:prstDash val="solid"/>
            <a:tailEnd type="triangle"/>
          </a:ln>
        </p:spPr>
      </p:sp>
      <p:sp>
        <p:nvSpPr>
          <p:cNvPr id="34" name="line-122"/>
          <p:cNvSpPr/>
          <p:nvPr/>
        </p:nvSpPr>
        <p:spPr>
          <a:xfrm>
            <a:off x="4754880" y="2267712"/>
            <a:ext cx="320040" cy="91"/>
          </a:xfrm>
          <a:prstGeom prst="line">
            <a:avLst/>
          </a:prstGeom>
          <a:noFill/>
          <a:ln w="19050">
            <a:solidFill>
              <a:schemeClr val="tx2"/>
            </a:solidFill>
            <a:prstDash val="solid"/>
            <a:tailEnd type="triangle"/>
          </a:ln>
        </p:spPr>
      </p:sp>
      <p:sp>
        <p:nvSpPr>
          <p:cNvPr id="35" name="line-123"/>
          <p:cNvSpPr/>
          <p:nvPr/>
        </p:nvSpPr>
        <p:spPr>
          <a:xfrm>
            <a:off x="6812280" y="2267712"/>
            <a:ext cx="320040" cy="91"/>
          </a:xfrm>
          <a:prstGeom prst="line">
            <a:avLst/>
          </a:prstGeom>
          <a:noFill/>
          <a:ln w="19050">
            <a:solidFill>
              <a:schemeClr val="tx2"/>
            </a:solidFill>
            <a:prstDash val="solid"/>
            <a:tailEnd type="triangle"/>
          </a:ln>
        </p:spPr>
      </p:sp>
      <p:sp>
        <p:nvSpPr>
          <p:cNvPr id="36" name="line-124"/>
          <p:cNvSpPr/>
          <p:nvPr/>
        </p:nvSpPr>
        <p:spPr>
          <a:xfrm>
            <a:off x="8869680" y="2267712"/>
            <a:ext cx="320040" cy="91"/>
          </a:xfrm>
          <a:prstGeom prst="line">
            <a:avLst/>
          </a:prstGeom>
          <a:noFill/>
          <a:ln w="19050">
            <a:solidFill>
              <a:schemeClr val="tx2"/>
            </a:solidFill>
            <a:prstDash val="solid"/>
            <a:tailEnd type="triangle"/>
          </a:ln>
        </p:spPr>
      </p:sp>
      <p:sp>
        <p:nvSpPr>
          <p:cNvPr id="37" name="box-125"/>
          <p:cNvSpPr/>
          <p:nvPr/>
        </p:nvSpPr>
        <p:spPr>
          <a:xfrm>
            <a:off x="731520" y="3200400"/>
            <a:ext cx="1463040" cy="566928"/>
          </a:xfrm>
          <a:prstGeom prst="roundRect">
            <a:avLst>
              <a:gd name="adj" fmla="val 12903"/>
            </a:avLst>
          </a:prstGeom>
          <a:solidFill>
            <a:schemeClr val="bg1"/>
          </a:solidFill>
          <a:ln w="12700">
            <a:solidFill>
              <a:schemeClr val="accent4"/>
            </a:solidFill>
            <a:prstDash val="solid"/>
          </a:ln>
        </p:spPr>
      </p:sp>
      <p:sp>
        <p:nvSpPr>
          <p:cNvPr id="38" name="text-126"/>
          <p:cNvSpPr txBox="1"/>
          <p:nvPr/>
        </p:nvSpPr>
        <p:spPr>
          <a:xfrm>
            <a:off x="841248" y="3246120"/>
            <a:ext cx="1280160" cy="219456"/>
          </a:xfrm>
          <a:prstGeom prst="rect">
            <a:avLst/>
          </a:prstGeom>
          <a:noFill/>
          <a:ln/>
        </p:spPr>
        <p:txBody>
          <a:bodyPr wrap="square" lIns="0" tIns="0" rIns="0" bIns="0" rtlCol="0" anchor="ctr"/>
          <a:lstStyle/>
          <a:p>
            <a:pPr algn="l" indent="0" marL="0">
              <a:buNone/>
            </a:pPr>
            <a:r>
              <a:rPr lang="en-US" sz="1100" dirty="0">
                <a:solidFill>
                  <a:schemeClr val="accent4"/>
                </a:solidFill>
              </a:rPr>
              <a:t>3.6</a:t>
            </a:r>
            <a:endParaRPr lang="en-US" sz="1100" dirty="0"/>
          </a:p>
        </p:txBody>
      </p:sp>
      <p:sp>
        <p:nvSpPr>
          <p:cNvPr id="39" name="text-127"/>
          <p:cNvSpPr txBox="1"/>
          <p:nvPr/>
        </p:nvSpPr>
        <p:spPr>
          <a:xfrm>
            <a:off x="841248" y="3447288"/>
            <a:ext cx="1280160" cy="274320"/>
          </a:xfrm>
          <a:prstGeom prst="rect">
            <a:avLst/>
          </a:prstGeom>
          <a:noFill/>
          <a:ln/>
        </p:spPr>
        <p:txBody>
          <a:bodyPr wrap="square" lIns="0" tIns="0" rIns="0" bIns="0" rtlCol="0" anchor="ctr"/>
          <a:lstStyle/>
          <a:p>
            <a:pPr algn="l" indent="0" marL="0">
              <a:buNone/>
            </a:pPr>
            <a:r>
              <a:rPr lang="en-US" sz="1400" b="1" dirty="0">
                <a:solidFill>
                  <a:schemeClr val="tx1"/>
                </a:solidFill>
              </a:rPr>
              <a:t>CRUD</a:t>
            </a:r>
            <a:endParaRPr lang="en-US" sz="1400" dirty="0"/>
          </a:p>
        </p:txBody>
      </p:sp>
      <p:sp>
        <p:nvSpPr>
          <p:cNvPr id="40" name="box-128"/>
          <p:cNvSpPr/>
          <p:nvPr/>
        </p:nvSpPr>
        <p:spPr>
          <a:xfrm>
            <a:off x="2514600" y="2971800"/>
            <a:ext cx="8412480" cy="841248"/>
          </a:xfrm>
          <a:prstGeom prst="roundRect">
            <a:avLst>
              <a:gd name="adj" fmla="val 8696"/>
            </a:avLst>
          </a:prstGeom>
          <a:ln w="12700">
            <a:solidFill>
              <a:schemeClr val="accent4"/>
            </a:solidFill>
            <a:prstDash val="dash"/>
          </a:ln>
        </p:spPr>
      </p:sp>
      <p:sp>
        <p:nvSpPr>
          <p:cNvPr id="41" name="text-129"/>
          <p:cNvSpPr txBox="1"/>
          <p:nvPr/>
        </p:nvSpPr>
        <p:spPr>
          <a:xfrm>
            <a:off x="2697480" y="2971800"/>
            <a:ext cx="3657600" cy="228600"/>
          </a:xfrm>
          <a:prstGeom prst="rect">
            <a:avLst/>
          </a:prstGeom>
          <a:noFill/>
          <a:ln/>
        </p:spPr>
        <p:txBody>
          <a:bodyPr wrap="square" lIns="0" tIns="0" rIns="0" bIns="0" rtlCol="0" anchor="ctr"/>
          <a:lstStyle/>
          <a:p>
            <a:pPr algn="l" indent="0" marL="0">
              <a:buNone/>
            </a:pPr>
            <a:r>
              <a:rPr lang="en-US" sz="1100" dirty="0">
                <a:solidFill>
                  <a:schemeClr val="tx2"/>
                </a:solidFill>
              </a:rPr>
              <a:t>three ways to extend SELECT</a:t>
            </a:r>
            <a:endParaRPr lang="en-US" sz="1100" dirty="0"/>
          </a:p>
        </p:txBody>
      </p:sp>
      <p:sp>
        <p:nvSpPr>
          <p:cNvPr id="42" name="box-130"/>
          <p:cNvSpPr/>
          <p:nvPr/>
        </p:nvSpPr>
        <p:spPr>
          <a:xfrm>
            <a:off x="2697480" y="3200400"/>
            <a:ext cx="2496312" cy="566928"/>
          </a:xfrm>
          <a:prstGeom prst="roundRect">
            <a:avLst>
              <a:gd name="adj" fmla="val 12903"/>
            </a:avLst>
          </a:prstGeom>
          <a:solidFill>
            <a:schemeClr val="bg1"/>
          </a:solidFill>
          <a:ln w="12700">
            <a:solidFill>
              <a:schemeClr val="accent4"/>
            </a:solidFill>
            <a:prstDash val="solid"/>
          </a:ln>
        </p:spPr>
      </p:sp>
      <p:sp>
        <p:nvSpPr>
          <p:cNvPr id="43" name="text-131"/>
          <p:cNvSpPr txBox="1"/>
          <p:nvPr/>
        </p:nvSpPr>
        <p:spPr>
          <a:xfrm>
            <a:off x="2807208" y="3246120"/>
            <a:ext cx="2313432" cy="219456"/>
          </a:xfrm>
          <a:prstGeom prst="rect">
            <a:avLst/>
          </a:prstGeom>
          <a:noFill/>
          <a:ln/>
        </p:spPr>
        <p:txBody>
          <a:bodyPr wrap="square" lIns="0" tIns="0" rIns="0" bIns="0" rtlCol="0" anchor="ctr"/>
          <a:lstStyle/>
          <a:p>
            <a:pPr algn="l" indent="0" marL="0">
              <a:buNone/>
            </a:pPr>
            <a:r>
              <a:rPr lang="en-US" sz="1100" dirty="0">
                <a:solidFill>
                  <a:schemeClr val="accent4"/>
                </a:solidFill>
              </a:rPr>
              <a:t>3.7</a:t>
            </a:r>
            <a:endParaRPr lang="en-US" sz="1100" dirty="0"/>
          </a:p>
        </p:txBody>
      </p:sp>
      <p:sp>
        <p:nvSpPr>
          <p:cNvPr id="44" name="text-132"/>
          <p:cNvSpPr txBox="1"/>
          <p:nvPr/>
        </p:nvSpPr>
        <p:spPr>
          <a:xfrm>
            <a:off x="2807208" y="3447288"/>
            <a:ext cx="2313432" cy="274320"/>
          </a:xfrm>
          <a:prstGeom prst="rect">
            <a:avLst/>
          </a:prstGeom>
          <a:noFill/>
          <a:ln/>
        </p:spPr>
        <p:txBody>
          <a:bodyPr wrap="square" lIns="0" tIns="0" rIns="0" bIns="0" rtlCol="0" anchor="ctr"/>
          <a:lstStyle/>
          <a:p>
            <a:pPr algn="l" indent="0" marL="0">
              <a:buNone/>
            </a:pPr>
            <a:r>
              <a:rPr lang="en-US" sz="1400" b="1" dirty="0">
                <a:solidFill>
                  <a:schemeClr val="tx1"/>
                </a:solidFill>
              </a:rPr>
              <a:t>Joins</a:t>
            </a:r>
            <a:endParaRPr lang="en-US" sz="1400" dirty="0"/>
          </a:p>
        </p:txBody>
      </p:sp>
      <p:sp>
        <p:nvSpPr>
          <p:cNvPr id="45" name="box-133"/>
          <p:cNvSpPr/>
          <p:nvPr/>
        </p:nvSpPr>
        <p:spPr>
          <a:xfrm>
            <a:off x="5468112" y="3200400"/>
            <a:ext cx="2496312" cy="566928"/>
          </a:xfrm>
          <a:prstGeom prst="roundRect">
            <a:avLst>
              <a:gd name="adj" fmla="val 12903"/>
            </a:avLst>
          </a:prstGeom>
          <a:solidFill>
            <a:schemeClr val="bg1"/>
          </a:solidFill>
          <a:ln w="12700">
            <a:solidFill>
              <a:schemeClr val="accent4"/>
            </a:solidFill>
            <a:prstDash val="solid"/>
          </a:ln>
        </p:spPr>
      </p:sp>
      <p:sp>
        <p:nvSpPr>
          <p:cNvPr id="46" name="text-134"/>
          <p:cNvSpPr txBox="1"/>
          <p:nvPr/>
        </p:nvSpPr>
        <p:spPr>
          <a:xfrm>
            <a:off x="5577840" y="3246120"/>
            <a:ext cx="2313432" cy="219456"/>
          </a:xfrm>
          <a:prstGeom prst="rect">
            <a:avLst/>
          </a:prstGeom>
          <a:noFill/>
          <a:ln/>
        </p:spPr>
        <p:txBody>
          <a:bodyPr wrap="square" lIns="0" tIns="0" rIns="0" bIns="0" rtlCol="0" anchor="ctr"/>
          <a:lstStyle/>
          <a:p>
            <a:pPr algn="l" indent="0" marL="0">
              <a:buNone/>
            </a:pPr>
            <a:r>
              <a:rPr lang="en-US" sz="1100" dirty="0">
                <a:solidFill>
                  <a:schemeClr val="accent4"/>
                </a:solidFill>
              </a:rPr>
              <a:t>3.8</a:t>
            </a:r>
            <a:endParaRPr lang="en-US" sz="1100" dirty="0"/>
          </a:p>
        </p:txBody>
      </p:sp>
      <p:sp>
        <p:nvSpPr>
          <p:cNvPr id="47" name="text-135"/>
          <p:cNvSpPr txBox="1"/>
          <p:nvPr/>
        </p:nvSpPr>
        <p:spPr>
          <a:xfrm>
            <a:off x="5577840" y="3447288"/>
            <a:ext cx="2313432" cy="274320"/>
          </a:xfrm>
          <a:prstGeom prst="rect">
            <a:avLst/>
          </a:prstGeom>
          <a:noFill/>
          <a:ln/>
        </p:spPr>
        <p:txBody>
          <a:bodyPr wrap="square" lIns="0" tIns="0" rIns="0" bIns="0" rtlCol="0" anchor="ctr"/>
          <a:lstStyle/>
          <a:p>
            <a:pPr algn="l" indent="0" marL="0">
              <a:buNone/>
            </a:pPr>
            <a:r>
              <a:rPr lang="en-US" sz="1400" b="1" dirty="0">
                <a:solidFill>
                  <a:schemeClr val="tx1"/>
                </a:solidFill>
              </a:rPr>
              <a:t>Aggregates</a:t>
            </a:r>
            <a:endParaRPr lang="en-US" sz="1400" dirty="0"/>
          </a:p>
        </p:txBody>
      </p:sp>
      <p:sp>
        <p:nvSpPr>
          <p:cNvPr id="48" name="box-136"/>
          <p:cNvSpPr/>
          <p:nvPr/>
        </p:nvSpPr>
        <p:spPr>
          <a:xfrm>
            <a:off x="8238744" y="3200400"/>
            <a:ext cx="2496312" cy="566928"/>
          </a:xfrm>
          <a:prstGeom prst="roundRect">
            <a:avLst>
              <a:gd name="adj" fmla="val 12903"/>
            </a:avLst>
          </a:prstGeom>
          <a:solidFill>
            <a:schemeClr val="bg1"/>
          </a:solidFill>
          <a:ln w="12700">
            <a:solidFill>
              <a:schemeClr val="accent4"/>
            </a:solidFill>
            <a:prstDash val="solid"/>
          </a:ln>
        </p:spPr>
      </p:sp>
      <p:sp>
        <p:nvSpPr>
          <p:cNvPr id="49" name="text-137"/>
          <p:cNvSpPr txBox="1"/>
          <p:nvPr/>
        </p:nvSpPr>
        <p:spPr>
          <a:xfrm>
            <a:off x="8348472" y="3246120"/>
            <a:ext cx="2313432" cy="219456"/>
          </a:xfrm>
          <a:prstGeom prst="rect">
            <a:avLst/>
          </a:prstGeom>
          <a:noFill/>
          <a:ln/>
        </p:spPr>
        <p:txBody>
          <a:bodyPr wrap="square" lIns="0" tIns="0" rIns="0" bIns="0" rtlCol="0" anchor="ctr"/>
          <a:lstStyle/>
          <a:p>
            <a:pPr algn="l" indent="0" marL="0">
              <a:buNone/>
            </a:pPr>
            <a:r>
              <a:rPr lang="en-US" sz="1100" dirty="0">
                <a:solidFill>
                  <a:schemeClr val="accent4"/>
                </a:solidFill>
              </a:rPr>
              <a:t>3.9</a:t>
            </a:r>
            <a:endParaRPr lang="en-US" sz="1100" dirty="0"/>
          </a:p>
        </p:txBody>
      </p:sp>
      <p:sp>
        <p:nvSpPr>
          <p:cNvPr id="50" name="text-138"/>
          <p:cNvSpPr txBox="1"/>
          <p:nvPr/>
        </p:nvSpPr>
        <p:spPr>
          <a:xfrm>
            <a:off x="8348472" y="3447288"/>
            <a:ext cx="2313432" cy="274320"/>
          </a:xfrm>
          <a:prstGeom prst="rect">
            <a:avLst/>
          </a:prstGeom>
          <a:noFill/>
          <a:ln/>
        </p:spPr>
        <p:txBody>
          <a:bodyPr wrap="square" lIns="0" tIns="0" rIns="0" bIns="0" rtlCol="0" anchor="ctr"/>
          <a:lstStyle/>
          <a:p>
            <a:pPr algn="l" indent="0" marL="0">
              <a:buNone/>
            </a:pPr>
            <a:r>
              <a:rPr lang="en-US" sz="1400" b="1" dirty="0">
                <a:solidFill>
                  <a:schemeClr val="tx1"/>
                </a:solidFill>
              </a:rPr>
              <a:t>Subqueries &amp; CTEs</a:t>
            </a:r>
            <a:endParaRPr lang="en-US" sz="1400" dirty="0"/>
          </a:p>
        </p:txBody>
      </p:sp>
      <p:sp>
        <p:nvSpPr>
          <p:cNvPr id="51" name="line-139"/>
          <p:cNvSpPr/>
          <p:nvPr/>
        </p:nvSpPr>
        <p:spPr>
          <a:xfrm>
            <a:off x="10058400" y="2551176"/>
            <a:ext cx="91" cy="100584"/>
          </a:xfrm>
          <a:prstGeom prst="line">
            <a:avLst/>
          </a:prstGeom>
          <a:noFill/>
          <a:ln w="19050">
            <a:solidFill>
              <a:schemeClr val="tx2"/>
            </a:solidFill>
            <a:prstDash val="solid"/>
          </a:ln>
        </p:spPr>
      </p:sp>
      <p:sp>
        <p:nvSpPr>
          <p:cNvPr id="52" name="line-140"/>
          <p:cNvSpPr/>
          <p:nvPr/>
        </p:nvSpPr>
        <p:spPr>
          <a:xfrm flipH="1">
            <a:off x="1463040" y="2651760"/>
            <a:ext cx="8595360" cy="91"/>
          </a:xfrm>
          <a:prstGeom prst="line">
            <a:avLst/>
          </a:prstGeom>
          <a:noFill/>
          <a:ln w="19050">
            <a:solidFill>
              <a:schemeClr val="tx2"/>
            </a:solidFill>
            <a:prstDash val="solid"/>
          </a:ln>
        </p:spPr>
      </p:sp>
      <p:sp>
        <p:nvSpPr>
          <p:cNvPr id="53" name="line-141"/>
          <p:cNvSpPr/>
          <p:nvPr/>
        </p:nvSpPr>
        <p:spPr>
          <a:xfrm>
            <a:off x="1463040" y="2651760"/>
            <a:ext cx="91" cy="548640"/>
          </a:xfrm>
          <a:prstGeom prst="line">
            <a:avLst/>
          </a:prstGeom>
          <a:noFill/>
          <a:ln w="19050">
            <a:solidFill>
              <a:schemeClr val="tx2"/>
            </a:solidFill>
            <a:prstDash val="solid"/>
            <a:tailEnd type="triangle"/>
          </a:ln>
        </p:spPr>
      </p:sp>
      <p:sp>
        <p:nvSpPr>
          <p:cNvPr id="54" name="line-142"/>
          <p:cNvSpPr/>
          <p:nvPr/>
        </p:nvSpPr>
        <p:spPr>
          <a:xfrm>
            <a:off x="2194560" y="3483864"/>
            <a:ext cx="320040" cy="91"/>
          </a:xfrm>
          <a:prstGeom prst="line">
            <a:avLst/>
          </a:prstGeom>
          <a:noFill/>
          <a:ln w="19050">
            <a:solidFill>
              <a:schemeClr val="tx2"/>
            </a:solidFill>
            <a:prstDash val="solid"/>
            <a:tailEnd type="triangle"/>
          </a:ln>
        </p:spPr>
      </p:sp>
      <p:sp>
        <p:nvSpPr>
          <p:cNvPr id="55" name="box-143"/>
          <p:cNvSpPr/>
          <p:nvPr/>
        </p:nvSpPr>
        <p:spPr>
          <a:xfrm>
            <a:off x="731520" y="4224528"/>
            <a:ext cx="2377440" cy="566928"/>
          </a:xfrm>
          <a:prstGeom prst="roundRect">
            <a:avLst>
              <a:gd name="adj" fmla="val 12903"/>
            </a:avLst>
          </a:prstGeom>
          <a:ln w="12700">
            <a:solidFill>
              <a:schemeClr val="accent4"/>
            </a:solidFill>
            <a:prstDash val="dash"/>
          </a:ln>
        </p:spPr>
      </p:sp>
      <p:sp>
        <p:nvSpPr>
          <p:cNvPr id="56" name="text-144"/>
          <p:cNvSpPr txBox="1"/>
          <p:nvPr/>
        </p:nvSpPr>
        <p:spPr>
          <a:xfrm>
            <a:off x="841248" y="4270248"/>
            <a:ext cx="2194560" cy="219456"/>
          </a:xfrm>
          <a:prstGeom prst="rect">
            <a:avLst/>
          </a:prstGeom>
          <a:noFill/>
          <a:ln/>
        </p:spPr>
        <p:txBody>
          <a:bodyPr wrap="square" lIns="0" tIns="0" rIns="0" bIns="0" rtlCol="0" anchor="ctr"/>
          <a:lstStyle/>
          <a:p>
            <a:pPr algn="l" indent="0" marL="0">
              <a:buNone/>
            </a:pPr>
            <a:r>
              <a:rPr lang="en-US" sz="1100" dirty="0">
                <a:solidFill>
                  <a:schemeClr val="accent4"/>
                </a:solidFill>
              </a:rPr>
              <a:t>from L1 · 3.4</a:t>
            </a:r>
            <a:endParaRPr lang="en-US" sz="1100" dirty="0"/>
          </a:p>
        </p:txBody>
      </p:sp>
      <p:sp>
        <p:nvSpPr>
          <p:cNvPr id="57" name="text-145"/>
          <p:cNvSpPr txBox="1"/>
          <p:nvPr/>
        </p:nvSpPr>
        <p:spPr>
          <a:xfrm>
            <a:off x="841248" y="4471416"/>
            <a:ext cx="2194560" cy="274320"/>
          </a:xfrm>
          <a:prstGeom prst="rect">
            <a:avLst/>
          </a:prstGeom>
          <a:noFill/>
          <a:ln/>
        </p:spPr>
        <p:txBody>
          <a:bodyPr wrap="square" lIns="0" tIns="0" rIns="0" bIns="0" rtlCol="0" anchor="ctr"/>
          <a:lstStyle/>
          <a:p>
            <a:pPr algn="l" indent="0" marL="0">
              <a:buNone/>
            </a:pPr>
            <a:r>
              <a:rPr lang="en-US" sz="1400" b="1" dirty="0">
                <a:solidFill>
                  <a:schemeClr val="tx1"/>
                </a:solidFill>
              </a:rPr>
              <a:t>Constraints = rules</a:t>
            </a:r>
            <a:endParaRPr lang="en-US" sz="1400" dirty="0"/>
          </a:p>
        </p:txBody>
      </p:sp>
      <p:sp>
        <p:nvSpPr>
          <p:cNvPr id="58" name="box-146"/>
          <p:cNvSpPr/>
          <p:nvPr/>
        </p:nvSpPr>
        <p:spPr>
          <a:xfrm>
            <a:off x="3520440" y="4224528"/>
            <a:ext cx="2926080" cy="566928"/>
          </a:xfrm>
          <a:prstGeom prst="roundRect">
            <a:avLst>
              <a:gd name="adj" fmla="val 12903"/>
            </a:avLst>
          </a:prstGeom>
          <a:solidFill>
            <a:schemeClr val="bg1"/>
          </a:solidFill>
          <a:ln w="25400">
            <a:solidFill>
              <a:schemeClr val="tx1"/>
            </a:solidFill>
            <a:prstDash val="solid"/>
          </a:ln>
        </p:spPr>
      </p:sp>
      <p:sp>
        <p:nvSpPr>
          <p:cNvPr id="59" name="text-147"/>
          <p:cNvSpPr txBox="1"/>
          <p:nvPr/>
        </p:nvSpPr>
        <p:spPr>
          <a:xfrm>
            <a:off x="3630168" y="4270248"/>
            <a:ext cx="2743200" cy="219456"/>
          </a:xfrm>
          <a:prstGeom prst="rect">
            <a:avLst/>
          </a:prstGeom>
          <a:noFill/>
          <a:ln/>
        </p:spPr>
        <p:txBody>
          <a:bodyPr wrap="square" lIns="0" tIns="0" rIns="0" bIns="0" rtlCol="0" anchor="ctr"/>
          <a:lstStyle/>
          <a:p>
            <a:pPr algn="l" indent="0" marL="0">
              <a:buNone/>
            </a:pPr>
            <a:r>
              <a:rPr lang="en-US" sz="1100" dirty="0">
                <a:solidFill>
                  <a:schemeClr val="accent4"/>
                </a:solidFill>
              </a:rPr>
              <a:t>3.10</a:t>
            </a:r>
            <a:endParaRPr lang="en-US" sz="1100" dirty="0"/>
          </a:p>
        </p:txBody>
      </p:sp>
      <p:sp>
        <p:nvSpPr>
          <p:cNvPr id="60" name="text-148"/>
          <p:cNvSpPr txBox="1"/>
          <p:nvPr/>
        </p:nvSpPr>
        <p:spPr>
          <a:xfrm>
            <a:off x="3630168" y="4471416"/>
            <a:ext cx="2743200" cy="274320"/>
          </a:xfrm>
          <a:prstGeom prst="rect">
            <a:avLst/>
          </a:prstGeom>
          <a:noFill/>
          <a:ln/>
        </p:spPr>
        <p:txBody>
          <a:bodyPr wrap="square" lIns="0" tIns="0" rIns="0" bIns="0" rtlCol="0" anchor="ctr"/>
          <a:lstStyle/>
          <a:p>
            <a:pPr algn="l" indent="0" marL="0">
              <a:buNone/>
            </a:pPr>
            <a:r>
              <a:rPr lang="en-US" sz="1400" b="1" dirty="0">
                <a:solidFill>
                  <a:schemeClr val="tx1"/>
                </a:solidFill>
              </a:rPr>
              <a:t>Transactions &amp; rollback</a:t>
            </a:r>
            <a:endParaRPr lang="en-US" sz="1400" dirty="0"/>
          </a:p>
        </p:txBody>
      </p:sp>
      <p:sp>
        <p:nvSpPr>
          <p:cNvPr id="61" name="line-149"/>
          <p:cNvSpPr/>
          <p:nvPr/>
        </p:nvSpPr>
        <p:spPr>
          <a:xfrm>
            <a:off x="4983480" y="3813048"/>
            <a:ext cx="91" cy="411480"/>
          </a:xfrm>
          <a:prstGeom prst="line">
            <a:avLst/>
          </a:prstGeom>
          <a:noFill/>
          <a:ln w="19050">
            <a:solidFill>
              <a:schemeClr val="tx2"/>
            </a:solidFill>
            <a:prstDash val="solid"/>
            <a:tailEnd type="triangle"/>
          </a:ln>
        </p:spPr>
      </p:sp>
      <p:sp>
        <p:nvSpPr>
          <p:cNvPr id="62" name="line-150"/>
          <p:cNvSpPr/>
          <p:nvPr/>
        </p:nvSpPr>
        <p:spPr>
          <a:xfrm>
            <a:off x="3108960" y="4507992"/>
            <a:ext cx="411480" cy="91"/>
          </a:xfrm>
          <a:prstGeom prst="line">
            <a:avLst/>
          </a:prstGeom>
          <a:noFill/>
          <a:ln w="19050">
            <a:solidFill>
              <a:schemeClr val="tx2"/>
            </a:solidFill>
            <a:prstDash val="solid"/>
            <a:tailEnd type="triangle"/>
          </a:ln>
        </p:spPr>
      </p:sp>
      <p:sp>
        <p:nvSpPr>
          <p:cNvPr id="63" name="box-151"/>
          <p:cNvSpPr/>
          <p:nvPr/>
        </p:nvSpPr>
        <p:spPr>
          <a:xfrm>
            <a:off x="731520" y="5184648"/>
            <a:ext cx="2377440" cy="566928"/>
          </a:xfrm>
          <a:prstGeom prst="roundRect">
            <a:avLst>
              <a:gd name="adj" fmla="val 12903"/>
            </a:avLst>
          </a:prstGeom>
          <a:solidFill>
            <a:schemeClr val="bg1"/>
          </a:solidFill>
          <a:ln w="12700">
            <a:solidFill>
              <a:schemeClr val="accent4"/>
            </a:solidFill>
            <a:prstDash val="solid"/>
          </a:ln>
        </p:spPr>
      </p:sp>
      <p:sp>
        <p:nvSpPr>
          <p:cNvPr id="64" name="text-152"/>
          <p:cNvSpPr txBox="1"/>
          <p:nvPr/>
        </p:nvSpPr>
        <p:spPr>
          <a:xfrm>
            <a:off x="841248" y="5230368"/>
            <a:ext cx="2194560" cy="219456"/>
          </a:xfrm>
          <a:prstGeom prst="rect">
            <a:avLst/>
          </a:prstGeom>
          <a:noFill/>
          <a:ln/>
        </p:spPr>
        <p:txBody>
          <a:bodyPr wrap="square" lIns="0" tIns="0" rIns="0" bIns="0" rtlCol="0" anchor="ctr"/>
          <a:lstStyle/>
          <a:p>
            <a:pPr algn="l" indent="0" marL="0">
              <a:buNone/>
            </a:pPr>
            <a:r>
              <a:rPr lang="en-US" sz="1100" dirty="0">
                <a:solidFill>
                  <a:schemeClr val="accent4"/>
                </a:solidFill>
              </a:rPr>
              <a:t>3.11</a:t>
            </a:r>
            <a:endParaRPr lang="en-US" sz="1100" dirty="0"/>
          </a:p>
        </p:txBody>
      </p:sp>
      <p:sp>
        <p:nvSpPr>
          <p:cNvPr id="65" name="text-153"/>
          <p:cNvSpPr txBox="1"/>
          <p:nvPr/>
        </p:nvSpPr>
        <p:spPr>
          <a:xfrm>
            <a:off x="841248" y="5431536"/>
            <a:ext cx="2194560" cy="274320"/>
          </a:xfrm>
          <a:prstGeom prst="rect">
            <a:avLst/>
          </a:prstGeom>
          <a:noFill/>
          <a:ln/>
        </p:spPr>
        <p:txBody>
          <a:bodyPr wrap="square" lIns="0" tIns="0" rIns="0" bIns="0" rtlCol="0" anchor="ctr"/>
          <a:lstStyle/>
          <a:p>
            <a:pPr algn="l" indent="0" marL="0">
              <a:buNone/>
            </a:pPr>
            <a:r>
              <a:rPr lang="en-US" sz="1400" b="1" dirty="0">
                <a:solidFill>
                  <a:schemeClr val="tx1"/>
                </a:solidFill>
              </a:rPr>
              <a:t>Seed data</a:t>
            </a:r>
            <a:endParaRPr lang="en-US" sz="1400" dirty="0"/>
          </a:p>
        </p:txBody>
      </p:sp>
      <p:sp>
        <p:nvSpPr>
          <p:cNvPr id="66" name="box-154"/>
          <p:cNvSpPr/>
          <p:nvPr/>
        </p:nvSpPr>
        <p:spPr>
          <a:xfrm>
            <a:off x="3520440" y="5184648"/>
            <a:ext cx="2377440" cy="566928"/>
          </a:xfrm>
          <a:prstGeom prst="roundRect">
            <a:avLst>
              <a:gd name="adj" fmla="val 12903"/>
            </a:avLst>
          </a:prstGeom>
          <a:solidFill>
            <a:schemeClr val="bg1"/>
          </a:solidFill>
          <a:ln w="12700">
            <a:solidFill>
              <a:schemeClr val="accent4"/>
            </a:solidFill>
            <a:prstDash val="solid"/>
          </a:ln>
        </p:spPr>
      </p:sp>
      <p:sp>
        <p:nvSpPr>
          <p:cNvPr id="67" name="text-155"/>
          <p:cNvSpPr txBox="1"/>
          <p:nvPr/>
        </p:nvSpPr>
        <p:spPr>
          <a:xfrm>
            <a:off x="3630168" y="5230368"/>
            <a:ext cx="2194560" cy="219456"/>
          </a:xfrm>
          <a:prstGeom prst="rect">
            <a:avLst/>
          </a:prstGeom>
          <a:noFill/>
          <a:ln/>
        </p:spPr>
        <p:txBody>
          <a:bodyPr wrap="square" lIns="0" tIns="0" rIns="0" bIns="0" rtlCol="0" anchor="ctr"/>
          <a:lstStyle/>
          <a:p>
            <a:pPr algn="l" indent="0" marL="0">
              <a:buNone/>
            </a:pPr>
            <a:r>
              <a:rPr lang="en-US" sz="1100" dirty="0">
                <a:solidFill>
                  <a:schemeClr val="accent4"/>
                </a:solidFill>
              </a:rPr>
              <a:t>3.12</a:t>
            </a:r>
            <a:endParaRPr lang="en-US" sz="1100" dirty="0"/>
          </a:p>
        </p:txBody>
      </p:sp>
      <p:sp>
        <p:nvSpPr>
          <p:cNvPr id="68" name="text-156"/>
          <p:cNvSpPr txBox="1"/>
          <p:nvPr/>
        </p:nvSpPr>
        <p:spPr>
          <a:xfrm>
            <a:off x="3630168" y="5431536"/>
            <a:ext cx="2194560" cy="274320"/>
          </a:xfrm>
          <a:prstGeom prst="rect">
            <a:avLst/>
          </a:prstGeom>
          <a:noFill/>
          <a:ln/>
        </p:spPr>
        <p:txBody>
          <a:bodyPr wrap="square" lIns="0" tIns="0" rIns="0" bIns="0" rtlCol="0" anchor="ctr"/>
          <a:lstStyle/>
          <a:p>
            <a:pPr algn="l" indent="0" marL="0">
              <a:buNone/>
            </a:pPr>
            <a:r>
              <a:rPr lang="en-US" sz="1400" b="1" dirty="0">
                <a:solidFill>
                  <a:schemeClr val="tx1"/>
                </a:solidFill>
              </a:rPr>
              <a:t>Indexes</a:t>
            </a:r>
            <a:endParaRPr lang="en-US" sz="1400" dirty="0"/>
          </a:p>
        </p:txBody>
      </p:sp>
      <p:sp>
        <p:nvSpPr>
          <p:cNvPr id="69" name="box-157"/>
          <p:cNvSpPr/>
          <p:nvPr/>
        </p:nvSpPr>
        <p:spPr>
          <a:xfrm>
            <a:off x="6309360" y="5184648"/>
            <a:ext cx="2651760" cy="566928"/>
          </a:xfrm>
          <a:prstGeom prst="roundRect">
            <a:avLst>
              <a:gd name="adj" fmla="val 12903"/>
            </a:avLst>
          </a:prstGeom>
          <a:solidFill>
            <a:schemeClr val="bg1"/>
          </a:solidFill>
          <a:ln w="25400">
            <a:solidFill>
              <a:schemeClr val="accent3"/>
            </a:solidFill>
            <a:prstDash val="solid"/>
          </a:ln>
        </p:spPr>
      </p:sp>
      <p:sp>
        <p:nvSpPr>
          <p:cNvPr id="70" name="text-158"/>
          <p:cNvSpPr txBox="1"/>
          <p:nvPr/>
        </p:nvSpPr>
        <p:spPr>
          <a:xfrm>
            <a:off x="6419088" y="5230368"/>
            <a:ext cx="2468880" cy="219456"/>
          </a:xfrm>
          <a:prstGeom prst="rect">
            <a:avLst/>
          </a:prstGeom>
          <a:noFill/>
          <a:ln/>
        </p:spPr>
        <p:txBody>
          <a:bodyPr wrap="square" lIns="0" tIns="0" rIns="0" bIns="0" rtlCol="0" anchor="ctr"/>
          <a:lstStyle/>
          <a:p>
            <a:pPr algn="l" indent="0" marL="0">
              <a:buNone/>
            </a:pPr>
            <a:r>
              <a:rPr lang="en-US" sz="1100" dirty="0">
                <a:solidFill>
                  <a:schemeClr val="accent4"/>
                </a:solidFill>
              </a:rPr>
              <a:t>3.13</a:t>
            </a:r>
            <a:endParaRPr lang="en-US" sz="1100" dirty="0"/>
          </a:p>
        </p:txBody>
      </p:sp>
      <p:sp>
        <p:nvSpPr>
          <p:cNvPr id="71" name="text-159"/>
          <p:cNvSpPr txBox="1"/>
          <p:nvPr/>
        </p:nvSpPr>
        <p:spPr>
          <a:xfrm>
            <a:off x="6419088" y="5431536"/>
            <a:ext cx="2468880" cy="274320"/>
          </a:xfrm>
          <a:prstGeom prst="rect">
            <a:avLst/>
          </a:prstGeom>
          <a:noFill/>
          <a:ln/>
        </p:spPr>
        <p:txBody>
          <a:bodyPr wrap="square" lIns="0" tIns="0" rIns="0" bIns="0" rtlCol="0" anchor="ctr"/>
          <a:lstStyle/>
          <a:p>
            <a:pPr algn="l" indent="0" marL="0">
              <a:buNone/>
            </a:pPr>
            <a:r>
              <a:rPr lang="en-US" sz="1400" b="1" dirty="0">
                <a:solidFill>
                  <a:schemeClr val="tx1"/>
                </a:solidFill>
              </a:rPr>
              <a:t>Query plans · EXPLAIN</a:t>
            </a:r>
            <a:endParaRPr lang="en-US" sz="1400" dirty="0"/>
          </a:p>
        </p:txBody>
      </p:sp>
      <p:sp>
        <p:nvSpPr>
          <p:cNvPr id="72" name="line-160"/>
          <p:cNvSpPr/>
          <p:nvPr/>
        </p:nvSpPr>
        <p:spPr>
          <a:xfrm>
            <a:off x="4983480" y="4791456"/>
            <a:ext cx="91" cy="100584"/>
          </a:xfrm>
          <a:prstGeom prst="line">
            <a:avLst/>
          </a:prstGeom>
          <a:noFill/>
          <a:ln w="19050">
            <a:solidFill>
              <a:schemeClr val="tx2"/>
            </a:solidFill>
            <a:prstDash val="solid"/>
          </a:ln>
        </p:spPr>
      </p:sp>
      <p:sp>
        <p:nvSpPr>
          <p:cNvPr id="73" name="line-161"/>
          <p:cNvSpPr/>
          <p:nvPr/>
        </p:nvSpPr>
        <p:spPr>
          <a:xfrm flipH="1">
            <a:off x="1920240" y="4892040"/>
            <a:ext cx="3063240" cy="91"/>
          </a:xfrm>
          <a:prstGeom prst="line">
            <a:avLst/>
          </a:prstGeom>
          <a:noFill/>
          <a:ln w="19050">
            <a:solidFill>
              <a:schemeClr val="tx2"/>
            </a:solidFill>
            <a:prstDash val="solid"/>
          </a:ln>
        </p:spPr>
      </p:sp>
      <p:sp>
        <p:nvSpPr>
          <p:cNvPr id="74" name="line-162"/>
          <p:cNvSpPr/>
          <p:nvPr/>
        </p:nvSpPr>
        <p:spPr>
          <a:xfrm>
            <a:off x="1920240" y="4892040"/>
            <a:ext cx="91" cy="292608"/>
          </a:xfrm>
          <a:prstGeom prst="line">
            <a:avLst/>
          </a:prstGeom>
          <a:noFill/>
          <a:ln w="19050">
            <a:solidFill>
              <a:schemeClr val="tx2"/>
            </a:solidFill>
            <a:prstDash val="solid"/>
            <a:tailEnd type="triangle"/>
          </a:ln>
        </p:spPr>
      </p:sp>
      <p:sp>
        <p:nvSpPr>
          <p:cNvPr id="75" name="line-163"/>
          <p:cNvSpPr/>
          <p:nvPr/>
        </p:nvSpPr>
        <p:spPr>
          <a:xfrm>
            <a:off x="3108960" y="5468112"/>
            <a:ext cx="411480" cy="91"/>
          </a:xfrm>
          <a:prstGeom prst="line">
            <a:avLst/>
          </a:prstGeom>
          <a:noFill/>
          <a:ln w="19050">
            <a:solidFill>
              <a:schemeClr val="tx2"/>
            </a:solidFill>
            <a:prstDash val="solid"/>
            <a:tailEnd type="triangle"/>
          </a:ln>
        </p:spPr>
      </p:sp>
      <p:sp>
        <p:nvSpPr>
          <p:cNvPr id="76" name="line-164"/>
          <p:cNvSpPr/>
          <p:nvPr/>
        </p:nvSpPr>
        <p:spPr>
          <a:xfrm>
            <a:off x="5897880" y="5468112"/>
            <a:ext cx="411480" cy="91"/>
          </a:xfrm>
          <a:prstGeom prst="line">
            <a:avLst/>
          </a:prstGeom>
          <a:noFill/>
          <a:ln w="19050">
            <a:solidFill>
              <a:schemeClr val="tx2"/>
            </a:solidFill>
            <a:prstDash val="solid"/>
            <a:tailEnd type="triangle"/>
          </a:ln>
        </p:spPr>
      </p:sp>
      <p:sp>
        <p:nvSpPr>
          <p:cNvPr id="77" name="line-165"/>
          <p:cNvSpPr/>
          <p:nvPr/>
        </p:nvSpPr>
        <p:spPr>
          <a:xfrm>
            <a:off x="7635240" y="5751576"/>
            <a:ext cx="91" cy="265176"/>
          </a:xfrm>
          <a:prstGeom prst="line">
            <a:avLst/>
          </a:prstGeom>
          <a:noFill/>
          <a:ln w="25400">
            <a:solidFill>
              <a:schemeClr val="accent1"/>
            </a:solidFill>
            <a:prstDash val="dash"/>
          </a:ln>
        </p:spPr>
      </p:sp>
      <p:sp>
        <p:nvSpPr>
          <p:cNvPr id="78" name="line-166"/>
          <p:cNvSpPr/>
          <p:nvPr/>
        </p:nvSpPr>
        <p:spPr>
          <a:xfrm flipH="1">
            <a:off x="4709160" y="6016752"/>
            <a:ext cx="2926080" cy="91"/>
          </a:xfrm>
          <a:prstGeom prst="line">
            <a:avLst/>
          </a:prstGeom>
          <a:noFill/>
          <a:ln w="25400">
            <a:solidFill>
              <a:schemeClr val="accent1"/>
            </a:solidFill>
            <a:prstDash val="dash"/>
          </a:ln>
        </p:spPr>
      </p:sp>
      <p:sp>
        <p:nvSpPr>
          <p:cNvPr id="79" name="line-167"/>
          <p:cNvSpPr/>
          <p:nvPr/>
        </p:nvSpPr>
        <p:spPr>
          <a:xfrm flipV="1">
            <a:off x="4709160" y="5751576"/>
            <a:ext cx="91" cy="265176"/>
          </a:xfrm>
          <a:prstGeom prst="line">
            <a:avLst/>
          </a:prstGeom>
          <a:noFill/>
          <a:ln w="25400">
            <a:solidFill>
              <a:schemeClr val="accent1"/>
            </a:solidFill>
            <a:prstDash val="dash"/>
            <a:tailEnd type="triangle"/>
          </a:ln>
        </p:spPr>
      </p:sp>
      <p:sp>
        <p:nvSpPr>
          <p:cNvPr id="80" name="line-168"/>
          <p:cNvSpPr/>
          <p:nvPr/>
        </p:nvSpPr>
        <p:spPr>
          <a:xfrm>
            <a:off x="8961120" y="5468112"/>
            <a:ext cx="2423160" cy="91"/>
          </a:xfrm>
          <a:prstGeom prst="line">
            <a:avLst/>
          </a:prstGeom>
          <a:noFill/>
          <a:ln w="25400">
            <a:solidFill>
              <a:schemeClr val="accent1"/>
            </a:solidFill>
            <a:prstDash val="dash"/>
          </a:ln>
        </p:spPr>
      </p:sp>
      <p:sp>
        <p:nvSpPr>
          <p:cNvPr id="81" name="line-169"/>
          <p:cNvSpPr/>
          <p:nvPr/>
        </p:nvSpPr>
        <p:spPr>
          <a:xfrm flipV="1">
            <a:off x="11384280" y="2267712"/>
            <a:ext cx="91" cy="3200400"/>
          </a:xfrm>
          <a:prstGeom prst="line">
            <a:avLst/>
          </a:prstGeom>
          <a:noFill/>
          <a:ln w="25400">
            <a:solidFill>
              <a:schemeClr val="accent1"/>
            </a:solidFill>
            <a:prstDash val="dash"/>
          </a:ln>
        </p:spPr>
      </p:sp>
      <p:sp>
        <p:nvSpPr>
          <p:cNvPr id="82" name="line-170"/>
          <p:cNvSpPr/>
          <p:nvPr/>
        </p:nvSpPr>
        <p:spPr>
          <a:xfrm flipH="1">
            <a:off x="10927080" y="2267712"/>
            <a:ext cx="457200" cy="91"/>
          </a:xfrm>
          <a:prstGeom prst="line">
            <a:avLst/>
          </a:prstGeom>
          <a:noFill/>
          <a:ln w="25400">
            <a:solidFill>
              <a:schemeClr val="accent1"/>
            </a:solidFill>
            <a:prstDash val="dash"/>
            <a:tailEnd type="triangle"/>
          </a:ln>
        </p:spPr>
      </p:sp>
      <p:sp>
        <p:nvSpPr>
          <p:cNvPr id="83" name="text-171"/>
          <p:cNvSpPr txBox="1"/>
          <p:nvPr/>
        </p:nvSpPr>
        <p:spPr>
          <a:xfrm>
            <a:off x="4846320" y="6053328"/>
            <a:ext cx="2651760" cy="256032"/>
          </a:xfrm>
          <a:prstGeom prst="rect">
            <a:avLst/>
          </a:prstGeom>
          <a:noFill/>
          <a:ln/>
        </p:spPr>
        <p:txBody>
          <a:bodyPr wrap="square" lIns="0" tIns="0" rIns="0" bIns="0" rtlCol="0" anchor="ctr"/>
          <a:lstStyle/>
          <a:p>
            <a:pPr algn="ctr" indent="0" marL="0">
              <a:buNone/>
            </a:pPr>
            <a:r>
              <a:rPr lang="en-US" sz="1200" dirty="0">
                <a:solidFill>
                  <a:schemeClr val="tx2"/>
                </a:solidFill>
              </a:rPr>
              <a:t>re-run EXPLAIN to confirm</a:t>
            </a:r>
            <a:endParaRPr lang="en-US" sz="1200" dirty="0"/>
          </a:p>
        </p:txBody>
      </p:sp>
      <p:sp>
        <p:nvSpPr>
          <p:cNvPr id="84" name="text-172"/>
          <p:cNvSpPr txBox="1"/>
          <p:nvPr/>
        </p:nvSpPr>
        <p:spPr>
          <a:xfrm>
            <a:off x="9052560" y="5513832"/>
            <a:ext cx="2240280" cy="256032"/>
          </a:xfrm>
          <a:prstGeom prst="rect">
            <a:avLst/>
          </a:prstGeom>
          <a:noFill/>
          <a:ln/>
        </p:spPr>
        <p:txBody>
          <a:bodyPr wrap="square" lIns="0" tIns="0" rIns="0" bIns="0" rtlCol="0" anchor="ctr"/>
          <a:lstStyle/>
          <a:p>
            <a:pPr algn="ctr" indent="0" marL="0">
              <a:buNone/>
            </a:pPr>
            <a:r>
              <a:rPr lang="en-US" sz="1200" dirty="0">
                <a:solidFill>
                  <a:schemeClr val="tx2"/>
                </a:solidFill>
              </a:rPr>
              <a:t>rarely: rethink the design</a:t>
            </a:r>
            <a:endParaRPr lang="en-US" sz="1200" dirty="0"/>
          </a:p>
        </p:txBody>
      </p:sp>
      <p:pic>
        <p:nvPicPr>
          <p:cNvPr id="85" name="Image 0" descr="Database icon">    </p:cNvPr>
          <p:cNvPicPr>
            <a:picLocks noChangeAspect="1"/>
          </p:cNvPicPr>
          <p:nvPr/>
        </p:nvPicPr>
        <p:blipFill>
          <a:blip r:embed="rId1"/>
          <a:stretch>
            <a:fillRect/>
          </a:stretch>
        </p:blipFill>
        <p:spPr>
          <a:xfrm>
            <a:off x="640080" y="475488"/>
            <a:ext cx="201168" cy="201168"/>
          </a:xfrm>
          <a:prstGeom prst="rect">
            <a:avLst/>
          </a:prstGeom>
        </p:spPr>
      </p:pic>
      <p:sp>
        <p:nvSpPr>
          <p:cNvPr id="86" name="Text 1"/>
          <p:cNvSpPr/>
          <p:nvPr>
            <p:ph idx="103" type="body" hasCustomPrompt="1"/>
          </p:nvPr>
        </p:nvSpPr>
        <p:spPr>
          <a:xfrm>
            <a:off x="548640" y="1627632"/>
            <a:ext cx="11064240" cy="457200"/>
          </a:xfrm>
          <a:prstGeom prst="rect">
            <a:avLst/>
          </a:prstGeom>
          <a:noFill/>
          <a:ln/>
        </p:spPr>
        <p:txBody>
          <a:bodyPr wrap="square" lIns="0" tIns="0" rIns="0" bIns="0" rtlCol="0" anchor="t"/>
          <a:lstStyle/>
          <a:p>
            <a:pPr indent="0" marL="0">
              <a:buNone/>
            </a:pPr>
            <a:endParaRPr lang="en-US" sz="2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731520" y="2331720"/>
            <a:ext cx="6400800" cy="365760"/>
          </a:xfrm>
          <a:prstGeom prst="rect">
            <a:avLst/>
          </a:prstGeom>
          <a:noFill/>
          <a:ln/>
        </p:spPr>
        <p:txBody>
          <a:bodyPr wrap="square" lIns="0" tIns="0" rIns="0" bIns="0" rtlCol="0"/>
          <a:lstStyle/>
          <a:p>
            <a:pPr indent="0" marL="0">
              <a:buNone/>
            </a:pPr>
            <a:r>
              <a:rPr lang="en-US" sz="1400" b="1" spc="400" kern="0" dirty="0">
                <a:solidFill>
                  <a:schemeClr val="tx1"/>
                </a:solidFill>
              </a:rPr>
              <a:t>LAYER 1 OF 4</a:t>
            </a:r>
            <a:endParaRPr lang="en-US" sz="1400" dirty="0"/>
          </a:p>
        </p:txBody>
      </p:sp>
      <p:sp>
        <p:nvSpPr>
          <p:cNvPr id="3" name="Text 0"/>
          <p:cNvSpPr/>
          <p:nvPr>
            <p:ph idx="101" type="title" hasCustomPrompt="1"/>
          </p:nvPr>
        </p:nvSpPr>
        <p:spPr>
          <a:xfrm>
            <a:off x="731520" y="2697480"/>
            <a:ext cx="7772400" cy="1005840"/>
          </a:xfrm>
          <a:prstGeom prst="rect">
            <a:avLst/>
          </a:prstGeom>
          <a:noFill/>
          <a:ln/>
        </p:spPr>
        <p:txBody>
          <a:bodyPr wrap="square" lIns="0" tIns="0" rIns="0" bIns="0" rtlCol="0" anchor="ctr"/>
          <a:lstStyle/>
          <a:p>
            <a:pPr algn="l" indent="0" marL="0">
              <a:buNone/>
            </a:pPr>
            <a:r>
              <a:rPr lang="en-US" sz="5400" b="1" dirty="0">
                <a:solidFill>
                  <a:schemeClr val="tx1"/>
                </a:solidFill>
              </a:rPr>
              <a:t>Model</a:t>
            </a:r>
            <a:endParaRPr lang="en-US" sz="5400" dirty="0"/>
          </a:p>
        </p:txBody>
      </p:sp>
      <p:sp>
        <p:nvSpPr>
          <p:cNvPr id="4" name="Text 0"/>
          <p:cNvSpPr/>
          <p:nvPr>
            <p:ph idx="102" type="body" hasCustomPrompt="1"/>
          </p:nvPr>
        </p:nvSpPr>
        <p:spPr>
          <a:xfrm>
            <a:off x="731520" y="3749040"/>
            <a:ext cx="6400800" cy="822960"/>
          </a:xfrm>
          <a:prstGeom prst="rect">
            <a:avLst/>
          </a:prstGeom>
          <a:noFill/>
          <a:ln/>
        </p:spPr>
        <p:txBody>
          <a:bodyPr wrap="square" lIns="0" tIns="0" rIns="0" bIns="0" rtlCol="0" anchor="t"/>
          <a:lstStyle/>
          <a:p>
            <a:pPr indent="0" marL="0">
              <a:buNone/>
            </a:pPr>
            <a:r>
              <a:rPr lang="en-US" sz="2400" dirty="0">
                <a:solidFill>
                  <a:schemeClr val="tx1"/>
                </a:solidFill>
              </a:rPr>
              <a:t>What are the things, and how do they relate?</a:t>
            </a:r>
            <a:endParaRPr lang="en-US" sz="2400" dirty="0"/>
          </a:p>
        </p:txBody>
      </p:sp>
      <p:sp>
        <p:nvSpPr>
          <p:cNvPr id="5" name="text-173"/>
          <p:cNvSpPr txBox="1"/>
          <p:nvPr/>
        </p:nvSpPr>
        <p:spPr>
          <a:xfrm>
            <a:off x="731520" y="4892040"/>
            <a:ext cx="5486400" cy="320040"/>
          </a:xfrm>
          <a:prstGeom prst="rect">
            <a:avLst/>
          </a:prstGeom>
          <a:noFill/>
          <a:ln/>
        </p:spPr>
        <p:txBody>
          <a:bodyPr wrap="square" lIns="0" tIns="0" rIns="0" bIns="0" rtlCol="0" anchor="ctr"/>
          <a:lstStyle/>
          <a:p>
            <a:pPr algn="l" indent="0" marL="0">
              <a:buNone/>
            </a:pPr>
            <a:r>
              <a:rPr lang="en-US" sz="1400" b="1" spc="200" kern="0" dirty="0">
                <a:solidFill>
                  <a:schemeClr val="tx1"/>
                </a:solidFill>
              </a:rPr>
              <a:t>SECTIONS 3.1 – 3.5</a:t>
            </a:r>
            <a:endParaRPr lang="en-US" sz="1400" dirty="0"/>
          </a:p>
        </p:txBody>
      </p:sp>
      <p:sp>
        <p:nvSpPr>
          <p:cNvPr id="6" name="box-174"/>
          <p:cNvSpPr/>
          <p:nvPr/>
        </p:nvSpPr>
        <p:spPr>
          <a:xfrm>
            <a:off x="7315200" y="4114800"/>
            <a:ext cx="4013302" cy="330098"/>
          </a:xfrm>
          <a:prstGeom prst="roundRect">
            <a:avLst>
              <a:gd name="adj" fmla="val 11080"/>
            </a:avLst>
          </a:prstGeom>
          <a:solidFill>
            <a:schemeClr val="bg1"/>
          </a:solidFill>
          <a:ln/>
        </p:spPr>
      </p:sp>
      <p:sp>
        <p:nvSpPr>
          <p:cNvPr id="7" name="box-175"/>
          <p:cNvSpPr/>
          <p:nvPr/>
        </p:nvSpPr>
        <p:spPr>
          <a:xfrm>
            <a:off x="7315200" y="4479646"/>
            <a:ext cx="4013302" cy="451714"/>
          </a:xfrm>
          <a:prstGeom prst="roundRect">
            <a:avLst>
              <a:gd name="adj" fmla="val 8097"/>
            </a:avLst>
          </a:prstGeom>
          <a:solidFill>
            <a:schemeClr val="bg1">
              <a:alpha val="35000"/>
            </a:schemeClr>
          </a:solidFill>
          <a:ln/>
        </p:spPr>
      </p:sp>
      <p:sp>
        <p:nvSpPr>
          <p:cNvPr id="8" name="box-176"/>
          <p:cNvSpPr/>
          <p:nvPr/>
        </p:nvSpPr>
        <p:spPr>
          <a:xfrm>
            <a:off x="7315200" y="4966106"/>
            <a:ext cx="4013302" cy="330098"/>
          </a:xfrm>
          <a:prstGeom prst="roundRect">
            <a:avLst>
              <a:gd name="adj" fmla="val 11080"/>
            </a:avLst>
          </a:prstGeom>
          <a:solidFill>
            <a:schemeClr val="bg1">
              <a:alpha val="35000"/>
            </a:schemeClr>
          </a:solidFill>
          <a:ln/>
        </p:spPr>
      </p:sp>
      <p:sp>
        <p:nvSpPr>
          <p:cNvPr id="9" name="box-177"/>
          <p:cNvSpPr/>
          <p:nvPr/>
        </p:nvSpPr>
        <p:spPr>
          <a:xfrm>
            <a:off x="7315200" y="5330952"/>
            <a:ext cx="4013302" cy="330098"/>
          </a:xfrm>
          <a:prstGeom prst="roundRect">
            <a:avLst>
              <a:gd name="adj" fmla="val 11080"/>
            </a:avLst>
          </a:prstGeom>
          <a:solidFill>
            <a:schemeClr val="bg1">
              <a:alpha val="35000"/>
            </a:schemeClr>
          </a:solidFill>
          <a:ln/>
        </p:spPr>
      </p:sp>
      <p:sp>
        <p:nvSpPr>
          <p:cNvPr id="10" name="box-178"/>
          <p:cNvSpPr/>
          <p:nvPr/>
        </p:nvSpPr>
        <p:spPr>
          <a:xfrm>
            <a:off x="7384694" y="4208617"/>
            <a:ext cx="747065" cy="215433"/>
          </a:xfrm>
          <a:prstGeom prst="roundRect">
            <a:avLst>
              <a:gd name="adj" fmla="val 12733"/>
            </a:avLst>
          </a:prstGeom>
          <a:solidFill>
            <a:schemeClr val="tx1">
              <a:alpha val="80000"/>
            </a:schemeClr>
          </a:solidFill>
          <a:ln/>
        </p:spPr>
      </p:sp>
      <p:sp>
        <p:nvSpPr>
          <p:cNvPr id="11" name="box-179"/>
          <p:cNvSpPr/>
          <p:nvPr/>
        </p:nvSpPr>
        <p:spPr>
          <a:xfrm>
            <a:off x="8253374" y="4208617"/>
            <a:ext cx="660197" cy="215433"/>
          </a:xfrm>
          <a:prstGeom prst="roundRect">
            <a:avLst>
              <a:gd name="adj" fmla="val 12733"/>
            </a:avLst>
          </a:prstGeom>
          <a:solidFill>
            <a:schemeClr val="tx1">
              <a:alpha val="80000"/>
            </a:schemeClr>
          </a:solidFill>
          <a:ln/>
        </p:spPr>
      </p:sp>
      <p:sp>
        <p:nvSpPr>
          <p:cNvPr id="12" name="box-180"/>
          <p:cNvSpPr/>
          <p:nvPr/>
        </p:nvSpPr>
        <p:spPr>
          <a:xfrm>
            <a:off x="9035186" y="4208617"/>
            <a:ext cx="660197" cy="215433"/>
          </a:xfrm>
          <a:prstGeom prst="roundRect">
            <a:avLst>
              <a:gd name="adj" fmla="val 12733"/>
            </a:avLst>
          </a:prstGeom>
          <a:solidFill>
            <a:schemeClr val="tx1">
              <a:alpha val="80000"/>
            </a:schemeClr>
          </a:solidFill>
          <a:ln/>
        </p:spPr>
      </p:sp>
      <p:sp>
        <p:nvSpPr>
          <p:cNvPr id="13" name="box-181"/>
          <p:cNvSpPr/>
          <p:nvPr/>
        </p:nvSpPr>
        <p:spPr>
          <a:xfrm>
            <a:off x="9816998" y="4208617"/>
            <a:ext cx="660197" cy="215433"/>
          </a:xfrm>
          <a:prstGeom prst="roundRect">
            <a:avLst>
              <a:gd name="adj" fmla="val 12733"/>
            </a:avLst>
          </a:prstGeom>
          <a:solidFill>
            <a:schemeClr val="tx1">
              <a:alpha val="80000"/>
            </a:schemeClr>
          </a:solidFill>
          <a:ln/>
        </p:spPr>
      </p:sp>
      <p:sp>
        <p:nvSpPr>
          <p:cNvPr id="14" name="box-182"/>
          <p:cNvSpPr/>
          <p:nvPr/>
        </p:nvSpPr>
        <p:spPr>
          <a:xfrm>
            <a:off x="10598810" y="4208617"/>
            <a:ext cx="660197" cy="215433"/>
          </a:xfrm>
          <a:prstGeom prst="roundRect">
            <a:avLst>
              <a:gd name="adj" fmla="val 12733"/>
            </a:avLst>
          </a:prstGeom>
          <a:solidFill>
            <a:schemeClr val="tx1">
              <a:alpha val="80000"/>
            </a:schemeClr>
          </a:solidFill>
          <a:ln/>
        </p:spPr>
      </p:sp>
      <p:sp>
        <p:nvSpPr>
          <p:cNvPr id="15" name="line-183"/>
          <p:cNvSpPr/>
          <p:nvPr/>
        </p:nvSpPr>
        <p:spPr>
          <a:xfrm>
            <a:off x="8131759" y="4316334"/>
            <a:ext cx="121615" cy="91"/>
          </a:xfrm>
          <a:prstGeom prst="line">
            <a:avLst/>
          </a:prstGeom>
          <a:noFill/>
          <a:ln w="9525">
            <a:solidFill>
              <a:schemeClr val="tx1"/>
            </a:solidFill>
            <a:prstDash val="solid"/>
          </a:ln>
        </p:spPr>
      </p:sp>
      <p:sp>
        <p:nvSpPr>
          <p:cNvPr id="16" name="line-184"/>
          <p:cNvSpPr/>
          <p:nvPr/>
        </p:nvSpPr>
        <p:spPr>
          <a:xfrm>
            <a:off x="8913571" y="4316334"/>
            <a:ext cx="121615" cy="91"/>
          </a:xfrm>
          <a:prstGeom prst="line">
            <a:avLst/>
          </a:prstGeom>
          <a:noFill/>
          <a:ln w="9525">
            <a:solidFill>
              <a:schemeClr val="tx1"/>
            </a:solidFill>
            <a:prstDash val="solid"/>
          </a:ln>
        </p:spPr>
      </p:sp>
      <p:sp>
        <p:nvSpPr>
          <p:cNvPr id="17" name="line-185"/>
          <p:cNvSpPr/>
          <p:nvPr/>
        </p:nvSpPr>
        <p:spPr>
          <a:xfrm>
            <a:off x="9695383" y="4316334"/>
            <a:ext cx="121615" cy="91"/>
          </a:xfrm>
          <a:prstGeom prst="line">
            <a:avLst/>
          </a:prstGeom>
          <a:noFill/>
          <a:ln w="9525">
            <a:solidFill>
              <a:schemeClr val="tx1"/>
            </a:solidFill>
            <a:prstDash val="solid"/>
          </a:ln>
        </p:spPr>
      </p:sp>
      <p:sp>
        <p:nvSpPr>
          <p:cNvPr id="18" name="line-186"/>
          <p:cNvSpPr/>
          <p:nvPr/>
        </p:nvSpPr>
        <p:spPr>
          <a:xfrm>
            <a:off x="10477195" y="4316334"/>
            <a:ext cx="121615" cy="91"/>
          </a:xfrm>
          <a:prstGeom prst="line">
            <a:avLst/>
          </a:prstGeom>
          <a:noFill/>
          <a:ln w="9525">
            <a:solidFill>
              <a:schemeClr val="tx1"/>
            </a:solidFill>
            <a:prstDash val="solid"/>
          </a:ln>
        </p:spPr>
      </p:sp>
      <p:sp>
        <p:nvSpPr>
          <p:cNvPr id="19" name="box-187"/>
          <p:cNvSpPr/>
          <p:nvPr/>
        </p:nvSpPr>
        <p:spPr>
          <a:xfrm>
            <a:off x="7384694" y="4670755"/>
            <a:ext cx="555955" cy="215433"/>
          </a:xfrm>
          <a:prstGeom prst="roundRect">
            <a:avLst>
              <a:gd name="adj" fmla="val 12733"/>
            </a:avLst>
          </a:prstGeom>
          <a:solidFill>
            <a:schemeClr val="tx1">
              <a:alpha val="80000"/>
            </a:schemeClr>
          </a:solidFill>
          <a:ln/>
        </p:spPr>
      </p:sp>
      <p:sp>
        <p:nvSpPr>
          <p:cNvPr id="20" name="box-188"/>
          <p:cNvSpPr/>
          <p:nvPr/>
        </p:nvSpPr>
        <p:spPr>
          <a:xfrm>
            <a:off x="8062265" y="4583887"/>
            <a:ext cx="3196742" cy="319674"/>
          </a:xfrm>
          <a:prstGeom prst="roundRect">
            <a:avLst>
              <a:gd name="adj" fmla="val 8581"/>
            </a:avLst>
          </a:prstGeom>
          <a:ln w="6350">
            <a:solidFill>
              <a:schemeClr val="tx1"/>
            </a:solidFill>
            <a:prstDash val="dash"/>
          </a:ln>
        </p:spPr>
      </p:sp>
      <p:sp>
        <p:nvSpPr>
          <p:cNvPr id="21" name="box-189"/>
          <p:cNvSpPr/>
          <p:nvPr/>
        </p:nvSpPr>
        <p:spPr>
          <a:xfrm>
            <a:off x="8131759" y="4670755"/>
            <a:ext cx="948599" cy="215433"/>
          </a:xfrm>
          <a:prstGeom prst="roundRect">
            <a:avLst>
              <a:gd name="adj" fmla="val 12733"/>
            </a:avLst>
          </a:prstGeom>
          <a:solidFill>
            <a:schemeClr val="tx1">
              <a:alpha val="80000"/>
            </a:schemeClr>
          </a:solidFill>
          <a:ln/>
        </p:spPr>
      </p:sp>
      <p:sp>
        <p:nvSpPr>
          <p:cNvPr id="22" name="box-190"/>
          <p:cNvSpPr/>
          <p:nvPr/>
        </p:nvSpPr>
        <p:spPr>
          <a:xfrm>
            <a:off x="9184599" y="4670755"/>
            <a:ext cx="948599" cy="215433"/>
          </a:xfrm>
          <a:prstGeom prst="roundRect">
            <a:avLst>
              <a:gd name="adj" fmla="val 12733"/>
            </a:avLst>
          </a:prstGeom>
          <a:solidFill>
            <a:schemeClr val="tx1">
              <a:alpha val="80000"/>
            </a:schemeClr>
          </a:solidFill>
          <a:ln/>
        </p:spPr>
      </p:sp>
      <p:sp>
        <p:nvSpPr>
          <p:cNvPr id="23" name="box-191"/>
          <p:cNvSpPr/>
          <p:nvPr/>
        </p:nvSpPr>
        <p:spPr>
          <a:xfrm>
            <a:off x="10237440" y="4670755"/>
            <a:ext cx="948599" cy="215433"/>
          </a:xfrm>
          <a:prstGeom prst="roundRect">
            <a:avLst>
              <a:gd name="adj" fmla="val 12733"/>
            </a:avLst>
          </a:prstGeom>
          <a:solidFill>
            <a:schemeClr val="tx1">
              <a:alpha val="80000"/>
            </a:schemeClr>
          </a:solidFill>
          <a:ln/>
        </p:spPr>
      </p:sp>
      <p:sp>
        <p:nvSpPr>
          <p:cNvPr id="24" name="line-192"/>
          <p:cNvSpPr/>
          <p:nvPr/>
        </p:nvSpPr>
        <p:spPr>
          <a:xfrm>
            <a:off x="10928909" y="4424050"/>
            <a:ext cx="91" cy="38222"/>
          </a:xfrm>
          <a:prstGeom prst="line">
            <a:avLst/>
          </a:prstGeom>
          <a:noFill/>
          <a:ln w="9525">
            <a:solidFill>
              <a:schemeClr val="tx1"/>
            </a:solidFill>
            <a:prstDash val="solid"/>
          </a:ln>
        </p:spPr>
      </p:sp>
      <p:sp>
        <p:nvSpPr>
          <p:cNvPr id="25" name="line-193"/>
          <p:cNvSpPr/>
          <p:nvPr/>
        </p:nvSpPr>
        <p:spPr>
          <a:xfrm flipH="1">
            <a:off x="7662672" y="4462272"/>
            <a:ext cx="3266237" cy="91"/>
          </a:xfrm>
          <a:prstGeom prst="line">
            <a:avLst/>
          </a:prstGeom>
          <a:noFill/>
          <a:ln w="9525">
            <a:solidFill>
              <a:schemeClr val="tx1"/>
            </a:solidFill>
            <a:prstDash val="solid"/>
          </a:ln>
        </p:spPr>
      </p:sp>
      <p:sp>
        <p:nvSpPr>
          <p:cNvPr id="26" name="line-194"/>
          <p:cNvSpPr/>
          <p:nvPr/>
        </p:nvSpPr>
        <p:spPr>
          <a:xfrm>
            <a:off x="7662672" y="4462272"/>
            <a:ext cx="91" cy="208483"/>
          </a:xfrm>
          <a:prstGeom prst="line">
            <a:avLst/>
          </a:prstGeom>
          <a:noFill/>
          <a:ln w="9525">
            <a:solidFill>
              <a:schemeClr val="tx1"/>
            </a:solidFill>
            <a:prstDash val="solid"/>
          </a:ln>
        </p:spPr>
      </p:sp>
      <p:sp>
        <p:nvSpPr>
          <p:cNvPr id="27" name="line-195"/>
          <p:cNvSpPr/>
          <p:nvPr/>
        </p:nvSpPr>
        <p:spPr>
          <a:xfrm>
            <a:off x="7940650" y="4778472"/>
            <a:ext cx="121615" cy="91"/>
          </a:xfrm>
          <a:prstGeom prst="line">
            <a:avLst/>
          </a:prstGeom>
          <a:noFill/>
          <a:ln w="9525">
            <a:solidFill>
              <a:schemeClr val="tx1"/>
            </a:solidFill>
            <a:prstDash val="solid"/>
          </a:ln>
        </p:spPr>
      </p:sp>
      <p:sp>
        <p:nvSpPr>
          <p:cNvPr id="28" name="box-196"/>
          <p:cNvSpPr/>
          <p:nvPr/>
        </p:nvSpPr>
        <p:spPr>
          <a:xfrm>
            <a:off x="7384694" y="5059924"/>
            <a:ext cx="903427" cy="215433"/>
          </a:xfrm>
          <a:prstGeom prst="roundRect">
            <a:avLst>
              <a:gd name="adj" fmla="val 12733"/>
            </a:avLst>
          </a:prstGeom>
          <a:solidFill>
            <a:schemeClr val="tx1">
              <a:alpha val="80000"/>
            </a:schemeClr>
          </a:solidFill>
          <a:ln/>
        </p:spPr>
      </p:sp>
      <p:sp>
        <p:nvSpPr>
          <p:cNvPr id="29" name="box-197"/>
          <p:cNvSpPr/>
          <p:nvPr/>
        </p:nvSpPr>
        <p:spPr>
          <a:xfrm>
            <a:off x="8444484" y="5059924"/>
            <a:ext cx="1111910" cy="215433"/>
          </a:xfrm>
          <a:prstGeom prst="roundRect">
            <a:avLst>
              <a:gd name="adj" fmla="val 12733"/>
            </a:avLst>
          </a:prstGeom>
          <a:solidFill>
            <a:schemeClr val="tx1">
              <a:alpha val="80000"/>
            </a:schemeClr>
          </a:solidFill>
          <a:ln/>
        </p:spPr>
      </p:sp>
      <p:sp>
        <p:nvSpPr>
          <p:cNvPr id="30" name="line-198"/>
          <p:cNvSpPr/>
          <p:nvPr/>
        </p:nvSpPr>
        <p:spPr>
          <a:xfrm>
            <a:off x="9000439" y="4903561"/>
            <a:ext cx="91" cy="156362"/>
          </a:xfrm>
          <a:prstGeom prst="line">
            <a:avLst/>
          </a:prstGeom>
          <a:noFill/>
          <a:ln w="9525">
            <a:solidFill>
              <a:schemeClr val="tx1"/>
            </a:solidFill>
            <a:prstDash val="solid"/>
          </a:ln>
        </p:spPr>
      </p:sp>
      <p:sp>
        <p:nvSpPr>
          <p:cNvPr id="31" name="line-199"/>
          <p:cNvSpPr/>
          <p:nvPr/>
        </p:nvSpPr>
        <p:spPr>
          <a:xfrm>
            <a:off x="8288122" y="5167640"/>
            <a:ext cx="156362" cy="91"/>
          </a:xfrm>
          <a:prstGeom prst="line">
            <a:avLst/>
          </a:prstGeom>
          <a:noFill/>
          <a:ln w="9525">
            <a:solidFill>
              <a:schemeClr val="tx1"/>
            </a:solidFill>
            <a:prstDash val="solid"/>
          </a:ln>
        </p:spPr>
      </p:sp>
      <p:sp>
        <p:nvSpPr>
          <p:cNvPr id="32" name="box-200"/>
          <p:cNvSpPr/>
          <p:nvPr/>
        </p:nvSpPr>
        <p:spPr>
          <a:xfrm>
            <a:off x="7384694" y="5424769"/>
            <a:ext cx="903427" cy="215433"/>
          </a:xfrm>
          <a:prstGeom prst="roundRect">
            <a:avLst>
              <a:gd name="adj" fmla="val 12733"/>
            </a:avLst>
          </a:prstGeom>
          <a:solidFill>
            <a:schemeClr val="tx1">
              <a:alpha val="80000"/>
            </a:schemeClr>
          </a:solidFill>
          <a:ln/>
        </p:spPr>
      </p:sp>
      <p:sp>
        <p:nvSpPr>
          <p:cNvPr id="33" name="box-201"/>
          <p:cNvSpPr/>
          <p:nvPr/>
        </p:nvSpPr>
        <p:spPr>
          <a:xfrm>
            <a:off x="8444484" y="5424769"/>
            <a:ext cx="903427" cy="215433"/>
          </a:xfrm>
          <a:prstGeom prst="roundRect">
            <a:avLst>
              <a:gd name="adj" fmla="val 12733"/>
            </a:avLst>
          </a:prstGeom>
          <a:solidFill>
            <a:schemeClr val="tx1">
              <a:alpha val="80000"/>
            </a:schemeClr>
          </a:solidFill>
          <a:ln/>
        </p:spPr>
      </p:sp>
      <p:sp>
        <p:nvSpPr>
          <p:cNvPr id="34" name="box-202"/>
          <p:cNvSpPr/>
          <p:nvPr/>
        </p:nvSpPr>
        <p:spPr>
          <a:xfrm>
            <a:off x="9504274" y="5424769"/>
            <a:ext cx="1007669" cy="215433"/>
          </a:xfrm>
          <a:prstGeom prst="roundRect">
            <a:avLst>
              <a:gd name="adj" fmla="val 12733"/>
            </a:avLst>
          </a:prstGeom>
          <a:solidFill>
            <a:schemeClr val="tx1">
              <a:alpha val="80000"/>
            </a:schemeClr>
          </a:solidFill>
          <a:ln/>
        </p:spPr>
      </p:sp>
      <p:sp>
        <p:nvSpPr>
          <p:cNvPr id="35" name="line-203"/>
          <p:cNvSpPr/>
          <p:nvPr/>
        </p:nvSpPr>
        <p:spPr>
          <a:xfrm>
            <a:off x="9000439" y="5275356"/>
            <a:ext cx="91" cy="38222"/>
          </a:xfrm>
          <a:prstGeom prst="line">
            <a:avLst/>
          </a:prstGeom>
          <a:noFill/>
          <a:ln w="9525">
            <a:solidFill>
              <a:schemeClr val="tx1"/>
            </a:solidFill>
            <a:prstDash val="solid"/>
          </a:ln>
        </p:spPr>
      </p:sp>
      <p:sp>
        <p:nvSpPr>
          <p:cNvPr id="36" name="line-204"/>
          <p:cNvSpPr/>
          <p:nvPr/>
        </p:nvSpPr>
        <p:spPr>
          <a:xfrm flipH="1">
            <a:off x="7836408" y="5313578"/>
            <a:ext cx="1164031" cy="91"/>
          </a:xfrm>
          <a:prstGeom prst="line">
            <a:avLst/>
          </a:prstGeom>
          <a:noFill/>
          <a:ln w="9525">
            <a:solidFill>
              <a:schemeClr val="tx1"/>
            </a:solidFill>
            <a:prstDash val="solid"/>
          </a:ln>
        </p:spPr>
      </p:sp>
      <p:sp>
        <p:nvSpPr>
          <p:cNvPr id="37" name="line-205"/>
          <p:cNvSpPr/>
          <p:nvPr/>
        </p:nvSpPr>
        <p:spPr>
          <a:xfrm>
            <a:off x="7836408" y="5313578"/>
            <a:ext cx="91" cy="111191"/>
          </a:xfrm>
          <a:prstGeom prst="line">
            <a:avLst/>
          </a:prstGeom>
          <a:noFill/>
          <a:ln w="9525">
            <a:solidFill>
              <a:schemeClr val="tx1"/>
            </a:solidFill>
            <a:prstDash val="solid"/>
          </a:ln>
        </p:spPr>
      </p:sp>
      <p:sp>
        <p:nvSpPr>
          <p:cNvPr id="38" name="line-206"/>
          <p:cNvSpPr/>
          <p:nvPr/>
        </p:nvSpPr>
        <p:spPr>
          <a:xfrm>
            <a:off x="8288122" y="5532486"/>
            <a:ext cx="156362" cy="91"/>
          </a:xfrm>
          <a:prstGeom prst="line">
            <a:avLst/>
          </a:prstGeom>
          <a:noFill/>
          <a:ln w="9525">
            <a:solidFill>
              <a:schemeClr val="tx1"/>
            </a:solidFill>
            <a:prstDash val="solid"/>
          </a:ln>
        </p:spPr>
      </p:sp>
      <p:sp>
        <p:nvSpPr>
          <p:cNvPr id="39" name="line-207"/>
          <p:cNvSpPr/>
          <p:nvPr/>
        </p:nvSpPr>
        <p:spPr>
          <a:xfrm>
            <a:off x="9347911" y="5532486"/>
            <a:ext cx="156362" cy="91"/>
          </a:xfrm>
          <a:prstGeom prst="line">
            <a:avLst/>
          </a:prstGeom>
          <a:noFill/>
          <a:ln w="9525">
            <a:solidFill>
              <a:schemeClr val="tx1"/>
            </a:solidFill>
            <a:prstDash val="solid"/>
          </a:ln>
        </p:spPr>
      </p:sp>
      <p:sp>
        <p:nvSpPr>
          <p:cNvPr id="40" name="line-208"/>
          <p:cNvSpPr/>
          <p:nvPr/>
        </p:nvSpPr>
        <p:spPr>
          <a:xfrm>
            <a:off x="10008108" y="5640202"/>
            <a:ext cx="91" cy="100767"/>
          </a:xfrm>
          <a:prstGeom prst="line">
            <a:avLst/>
          </a:prstGeom>
          <a:noFill/>
          <a:ln w="9525">
            <a:solidFill>
              <a:schemeClr val="accent1"/>
            </a:solidFill>
            <a:prstDash val="dash"/>
          </a:ln>
        </p:spPr>
      </p:sp>
      <p:sp>
        <p:nvSpPr>
          <p:cNvPr id="41" name="line-209"/>
          <p:cNvSpPr/>
          <p:nvPr/>
        </p:nvSpPr>
        <p:spPr>
          <a:xfrm flipH="1">
            <a:off x="8896198" y="5740969"/>
            <a:ext cx="1111910" cy="91"/>
          </a:xfrm>
          <a:prstGeom prst="line">
            <a:avLst/>
          </a:prstGeom>
          <a:noFill/>
          <a:ln w="9525">
            <a:solidFill>
              <a:schemeClr val="accent1"/>
            </a:solidFill>
            <a:prstDash val="dash"/>
          </a:ln>
        </p:spPr>
      </p:sp>
      <p:sp>
        <p:nvSpPr>
          <p:cNvPr id="42" name="line-210"/>
          <p:cNvSpPr/>
          <p:nvPr/>
        </p:nvSpPr>
        <p:spPr>
          <a:xfrm flipV="1">
            <a:off x="8896198" y="5640202"/>
            <a:ext cx="91" cy="100767"/>
          </a:xfrm>
          <a:prstGeom prst="line">
            <a:avLst/>
          </a:prstGeom>
          <a:noFill/>
          <a:ln w="9525">
            <a:solidFill>
              <a:schemeClr val="accent1"/>
            </a:solidFill>
            <a:prstDash val="dash"/>
          </a:ln>
        </p:spPr>
      </p:sp>
      <p:sp>
        <p:nvSpPr>
          <p:cNvPr id="43" name="line-211"/>
          <p:cNvSpPr/>
          <p:nvPr/>
        </p:nvSpPr>
        <p:spPr>
          <a:xfrm>
            <a:off x="10511942" y="5532486"/>
            <a:ext cx="920801" cy="91"/>
          </a:xfrm>
          <a:prstGeom prst="line">
            <a:avLst/>
          </a:prstGeom>
          <a:noFill/>
          <a:ln w="9525">
            <a:solidFill>
              <a:schemeClr val="accent1"/>
            </a:solidFill>
            <a:prstDash val="dash"/>
          </a:ln>
        </p:spPr>
      </p:sp>
      <p:sp>
        <p:nvSpPr>
          <p:cNvPr id="44" name="line-212"/>
          <p:cNvSpPr/>
          <p:nvPr/>
        </p:nvSpPr>
        <p:spPr>
          <a:xfrm flipV="1">
            <a:off x="11432743" y="4316334"/>
            <a:ext cx="91" cy="1216152"/>
          </a:xfrm>
          <a:prstGeom prst="line">
            <a:avLst/>
          </a:prstGeom>
          <a:noFill/>
          <a:ln w="9525">
            <a:solidFill>
              <a:schemeClr val="accent1"/>
            </a:solidFill>
            <a:prstDash val="dash"/>
          </a:ln>
        </p:spPr>
      </p:sp>
      <p:sp>
        <p:nvSpPr>
          <p:cNvPr id="45" name="line-213"/>
          <p:cNvSpPr/>
          <p:nvPr/>
        </p:nvSpPr>
        <p:spPr>
          <a:xfrm flipH="1">
            <a:off x="11259007" y="4316334"/>
            <a:ext cx="173736" cy="91"/>
          </a:xfrm>
          <a:prstGeom prst="line">
            <a:avLst/>
          </a:prstGeom>
          <a:noFill/>
          <a:ln w="9525">
            <a:solidFill>
              <a:schemeClr val="accent1"/>
            </a:solidFill>
            <a:prstDash val="dash"/>
          </a:ln>
        </p:spPr>
      </p:sp>
      <p:sp>
        <p:nvSpPr>
          <p:cNvPr id="46" name="text-214"/>
          <p:cNvSpPr txBox="1"/>
          <p:nvPr/>
        </p:nvSpPr>
        <p:spPr>
          <a:xfrm>
            <a:off x="7315200" y="3703320"/>
            <a:ext cx="4206240" cy="274320"/>
          </a:xfrm>
          <a:prstGeom prst="rect">
            <a:avLst/>
          </a:prstGeom>
          <a:noFill/>
          <a:ln/>
        </p:spPr>
        <p:txBody>
          <a:bodyPr wrap="square" lIns="0" tIns="0" rIns="0" bIns="0" rtlCol="0" anchor="ctr"/>
          <a:lstStyle/>
          <a:p>
            <a:pPr algn="r" indent="0" marL="0">
              <a:buNone/>
            </a:pPr>
            <a:r>
              <a:rPr lang="en-US" sz="1100" b="1" spc="200" kern="0" dirty="0">
                <a:solidFill>
                  <a:schemeClr val="tx1"/>
                </a:solidFill>
              </a:rPr>
              <a:t>you are here</a:t>
            </a:r>
            <a:endParaRPr lang="en-US" sz="1100" dirty="0"/>
          </a:p>
        </p:txBody>
      </p:sp>
      <p:pic>
        <p:nvPicPr>
          <p:cNvPr id="48" name="Image 0" descr="DraftingCompass icon">    </p:cNvPr>
          <p:cNvPicPr>
            <a:picLocks noChangeAspect="1"/>
          </p:cNvPicPr>
          <p:nvPr/>
        </p:nvPicPr>
        <p:blipFill>
          <a:blip r:embed="rId1"/>
          <a:stretch>
            <a:fillRect/>
          </a:stretch>
        </p:blipFill>
        <p:spPr>
          <a:xfrm>
            <a:off x="731520" y="914400"/>
            <a:ext cx="1143000" cy="1143000"/>
          </a:xfrm>
          <a:prstGeom prst="rect">
            <a:avLst/>
          </a:prstGeom>
        </p:spPr>
      </p:pic>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dot-215"/>
          <p:cNvSpPr/>
          <p:nvPr/>
        </p:nvSpPr>
        <p:spPr>
          <a:xfrm>
            <a:off x="548640" y="384048"/>
            <a:ext cx="384048" cy="384048"/>
          </a:xfrm>
          <a:prstGeom prst="ellipse">
            <a:avLst/>
          </a:prstGeom>
          <a:solidFill>
            <a:schemeClr val="accent1"/>
          </a:solidFill>
          <a:ln/>
        </p:spPr>
      </p:sp>
      <p:sp>
        <p:nvSpPr>
          <p:cNvPr id="3" name="Text 1"/>
          <p:cNvSpPr/>
          <p:nvPr>
            <p:ph idx="101" type="body" hasCustomPrompt="1"/>
          </p:nvPr>
        </p:nvSpPr>
        <p:spPr>
          <a:xfrm>
            <a:off x="1051560" y="384048"/>
            <a:ext cx="9601200" cy="384048"/>
          </a:xfrm>
          <a:prstGeom prst="rect">
            <a:avLst/>
          </a:prstGeom>
          <a:noFill/>
          <a:ln/>
        </p:spPr>
        <p:txBody>
          <a:bodyPr wrap="square" lIns="0" tIns="0" rIns="0" bIns="0" rtlCol="0" anchor="ctr"/>
          <a:lstStyle/>
          <a:p>
            <a:pPr indent="0" marL="0">
              <a:buNone/>
            </a:pPr>
            <a:r>
              <a:rPr lang="en-US" sz="1300" b="1" spc="300" kern="0" dirty="0">
                <a:solidFill>
                  <a:schemeClr val="tx2"/>
                </a:solidFill>
              </a:rPr>
              <a:t>L1  ·  MODEL  ·  3.1 RELATIONAL BASICS</a:t>
            </a:r>
            <a:endParaRPr lang="en-US" sz="1300" dirty="0"/>
          </a:p>
        </p:txBody>
      </p:sp>
      <p:sp>
        <p:nvSpPr>
          <p:cNvPr id="4" name="Text 1"/>
          <p:cNvSpPr/>
          <p:nvPr>
            <p:ph idx="102" type="title" hasCustomPrompt="1"/>
          </p:nvPr>
        </p:nvSpPr>
        <p:spPr>
          <a:xfrm>
            <a:off x="548640" y="841248"/>
            <a:ext cx="11064240" cy="777240"/>
          </a:xfrm>
          <a:prstGeom prst="rect">
            <a:avLst/>
          </a:prstGeom>
          <a:noFill/>
          <a:ln/>
        </p:spPr>
        <p:txBody>
          <a:bodyPr wrap="square" lIns="0" tIns="0" rIns="0" bIns="0" rtlCol="0" anchor="ctr"/>
          <a:lstStyle/>
          <a:p>
            <a:pPr algn="l" indent="0" marL="0">
              <a:buNone/>
            </a:pPr>
            <a:r>
              <a:rPr lang="en-US" sz="3800" b="1" dirty="0">
                <a:solidFill>
                  <a:schemeClr val="tx1"/>
                </a:solidFill>
              </a:rPr>
              <a:t>A table is a strict array of objects</a:t>
            </a:r>
            <a:endParaRPr lang="en-US" sz="3800" dirty="0"/>
          </a:p>
        </p:txBody>
      </p:sp>
      <p:sp>
        <p:nvSpPr>
          <p:cNvPr id="5" name="Text 1"/>
          <p:cNvSpPr/>
          <p:nvPr>
            <p:ph idx="103" type="body" hasCustomPrompt="1"/>
          </p:nvPr>
        </p:nvSpPr>
        <p:spPr>
          <a:xfrm>
            <a:off x="548640" y="1627632"/>
            <a:ext cx="11064240" cy="457200"/>
          </a:xfrm>
          <a:prstGeom prst="rect">
            <a:avLst/>
          </a:prstGeom>
          <a:noFill/>
          <a:ln/>
        </p:spPr>
        <p:txBody>
          <a:bodyPr wrap="square" lIns="0" tIns="0" rIns="0" bIns="0" rtlCol="0" anchor="t"/>
          <a:lstStyle/>
          <a:p>
            <a:pPr indent="0" marL="0">
              <a:buNone/>
            </a:pPr>
            <a:r>
              <a:rPr lang="en-US" sz="2000" dirty="0">
                <a:solidFill>
                  <a:schemeClr val="tx2"/>
                </a:solidFill>
              </a:rPr>
              <a:t>Same keys. Same types. Linked by values, not nesting.</a:t>
            </a:r>
            <a:endParaRPr lang="en-US" sz="2000" dirty="0"/>
          </a:p>
        </p:txBody>
      </p:sp>
      <p:sp>
        <p:nvSpPr>
          <p:cNvPr id="7" name="box-216"/>
          <p:cNvSpPr/>
          <p:nvPr/>
        </p:nvSpPr>
        <p:spPr>
          <a:xfrm>
            <a:off x="548640" y="2331720"/>
            <a:ext cx="4754880" cy="3291840"/>
          </a:xfrm>
          <a:prstGeom prst="roundRect">
            <a:avLst>
              <a:gd name="adj" fmla="val 2778"/>
            </a:avLst>
          </a:prstGeom>
          <a:solidFill>
            <a:schemeClr val="tx1"/>
          </a:solidFill>
          <a:ln/>
        </p:spPr>
      </p:sp>
      <p:sp>
        <p:nvSpPr>
          <p:cNvPr id="8" name="code-217"/>
          <p:cNvSpPr txBox="1"/>
          <p:nvPr/>
        </p:nvSpPr>
        <p:spPr>
          <a:xfrm>
            <a:off x="822960" y="2514600"/>
            <a:ext cx="4206240" cy="2926080"/>
          </a:xfrm>
          <a:prstGeom prst="rect">
            <a:avLst/>
          </a:prstGeom>
          <a:noFill/>
          <a:ln/>
        </p:spPr>
        <p:txBody>
          <a:bodyPr wrap="square" lIns="0" tIns="0" rIns="0" bIns="0" rtlCol="0" anchor="ctr"/>
          <a:lstStyle/>
          <a:p>
            <a:pPr indent="0" marL="0">
              <a:lnSpc>
                <a:spcPct val="125000"/>
              </a:lnSpc>
              <a:buNone/>
            </a:pPr>
            <a:r>
              <a:rPr lang="en-US" sz="1800" dirty="0">
                <a:solidFill>
                  <a:srgbClr val="E4E6E3"/>
                </a:solidFill>
                <a:latin typeface="Roboto Mono" pitchFamily="34" charset="0"/>
                <a:ea typeface="Roboto Mono" pitchFamily="34" charset="-122"/>
                <a:cs typeface="Roboto Mono" pitchFamily="34" charset="-120"/>
              </a:rPr>
              <a:t>const order = {</a:t>
            </a:r>
            <a:endParaRPr lang="en-US" sz="1800" dirty="0"/>
          </a:p>
          <a:p>
            <a:pPr indent="0" marL="0">
              <a:lnSpc>
                <a:spcPct val="125000"/>
              </a:lnSpc>
              <a:buNone/>
            </a:pPr>
            <a:r>
              <a:rPr lang="en-US" sz="1800" dirty="0">
                <a:solidFill>
                  <a:srgbClr val="E4E6E3"/>
                </a:solidFill>
                <a:latin typeface="Roboto Mono" pitchFamily="34" charset="0"/>
                <a:ea typeface="Roboto Mono" pitchFamily="34" charset="-122"/>
                <a:cs typeface="Roboto Mono" pitchFamily="34" charset="-120"/>
              </a:rPr>
              <a:t>  id: 101,</a:t>
            </a:r>
            <a:endParaRPr lang="en-US" sz="1800" dirty="0"/>
          </a:p>
          <a:p>
            <a:pPr indent="0" marL="0">
              <a:lnSpc>
                <a:spcPct val="125000"/>
              </a:lnSpc>
              <a:buNone/>
            </a:pPr>
            <a:r>
              <a:rPr lang="en-US" sz="1800" dirty="0">
                <a:solidFill>
                  <a:srgbClr val="E4E6E3"/>
                </a:solidFill>
                <a:latin typeface="Roboto Mono" pitchFamily="34" charset="0"/>
                <a:ea typeface="Roboto Mono" pitchFamily="34" charset="-122"/>
                <a:cs typeface="Roboto Mono" pitchFamily="34" charset="-120"/>
              </a:rPr>
              <a:t>  customer: {</a:t>
            </a:r>
            <a:endParaRPr lang="en-US" sz="1800" dirty="0"/>
          </a:p>
          <a:p>
            <a:pPr indent="0" marL="0">
              <a:lnSpc>
                <a:spcPct val="125000"/>
              </a:lnSpc>
              <a:buNone/>
            </a:pPr>
            <a:r>
              <a:rPr lang="en-US" sz="1800" dirty="0">
                <a:solidFill>
                  <a:srgbClr val="E4E6E3"/>
                </a:solidFill>
                <a:latin typeface="Roboto Mono" pitchFamily="34" charset="0"/>
                <a:ea typeface="Roboto Mono" pitchFamily="34" charset="-122"/>
                <a:cs typeface="Roboto Mono" pitchFamily="34" charset="-120"/>
              </a:rPr>
              <a:t>    id: 7,</a:t>
            </a:r>
            <a:endParaRPr lang="en-US" sz="1800" dirty="0"/>
          </a:p>
          <a:p>
            <a:pPr indent="0" marL="0">
              <a:lnSpc>
                <a:spcPct val="125000"/>
              </a:lnSpc>
              <a:buNone/>
            </a:pPr>
            <a:r>
              <a:rPr lang="en-US" sz="1800" dirty="0">
                <a:solidFill>
                  <a:srgbClr val="E4E6E3"/>
                </a:solidFill>
                <a:latin typeface="Roboto Mono" pitchFamily="34" charset="0"/>
                <a:ea typeface="Roboto Mono" pitchFamily="34" charset="-122"/>
                <a:cs typeface="Roboto Mono" pitchFamily="34" charset="-120"/>
              </a:rPr>
              <a:t>    name: 'Ada'</a:t>
            </a:r>
            <a:endParaRPr lang="en-US" sz="1800" dirty="0"/>
          </a:p>
          <a:p>
            <a:pPr indent="0" marL="0">
              <a:lnSpc>
                <a:spcPct val="125000"/>
              </a:lnSpc>
              <a:buNone/>
            </a:pPr>
            <a:r>
              <a:rPr lang="en-US" sz="1800" dirty="0">
                <a:solidFill>
                  <a:srgbClr val="E4E6E3"/>
                </a:solidFill>
                <a:latin typeface="Roboto Mono" pitchFamily="34" charset="0"/>
                <a:ea typeface="Roboto Mono" pitchFamily="34" charset="-122"/>
                <a:cs typeface="Roboto Mono" pitchFamily="34" charset="-120"/>
              </a:rPr>
              <a:t>  }</a:t>
            </a:r>
            <a:endParaRPr lang="en-US" sz="1800" dirty="0"/>
          </a:p>
          <a:p>
            <a:pPr indent="0" marL="0">
              <a:lnSpc>
                <a:spcPct val="125000"/>
              </a:lnSpc>
              <a:buNone/>
            </a:pPr>
            <a:r>
              <a:rPr lang="en-US" sz="1800" dirty="0">
                <a:solidFill>
                  <a:srgbClr val="E4E6E3"/>
                </a:solidFill>
                <a:latin typeface="Roboto Mono" pitchFamily="34" charset="0"/>
                <a:ea typeface="Roboto Mono" pitchFamily="34" charset="-122"/>
                <a:cs typeface="Roboto Mono" pitchFamily="34" charset="-120"/>
              </a:rPr>
              <a:t>};</a:t>
            </a:r>
            <a:endParaRPr lang="en-US" sz="1800" dirty="0"/>
          </a:p>
        </p:txBody>
      </p:sp>
      <p:sp>
        <p:nvSpPr>
          <p:cNvPr id="9" name="dot-218"/>
          <p:cNvSpPr/>
          <p:nvPr/>
        </p:nvSpPr>
        <p:spPr>
          <a:xfrm>
            <a:off x="4983480" y="2148840"/>
            <a:ext cx="457200" cy="457200"/>
          </a:xfrm>
          <a:prstGeom prst="ellipse">
            <a:avLst/>
          </a:prstGeom>
          <a:solidFill>
            <a:schemeClr val="accent1"/>
          </a:solidFill>
          <a:ln/>
        </p:spPr>
      </p:sp>
      <p:sp>
        <p:nvSpPr>
          <p:cNvPr id="10" name="text-219"/>
          <p:cNvSpPr txBox="1"/>
          <p:nvPr/>
        </p:nvSpPr>
        <p:spPr>
          <a:xfrm>
            <a:off x="548640" y="5715000"/>
            <a:ext cx="4754880" cy="365760"/>
          </a:xfrm>
          <a:prstGeom prst="rect">
            <a:avLst/>
          </a:prstGeom>
          <a:noFill/>
          <a:ln/>
        </p:spPr>
        <p:txBody>
          <a:bodyPr wrap="square" lIns="0" tIns="0" rIns="0" bIns="0" rtlCol="0" anchor="ctr"/>
          <a:lstStyle/>
          <a:p>
            <a:pPr algn="ctr" indent="0" marL="0">
              <a:buNone/>
            </a:pPr>
            <a:r>
              <a:rPr lang="en-US" sz="1500" b="1" dirty="0">
                <a:solidFill>
                  <a:schemeClr val="tx2"/>
                </a:solidFill>
              </a:rPr>
              <a:t>nested object</a:t>
            </a:r>
            <a:endParaRPr lang="en-US" sz="1500" dirty="0"/>
          </a:p>
        </p:txBody>
      </p:sp>
      <p:sp>
        <p:nvSpPr>
          <p:cNvPr id="11" name="arrow-220"/>
          <p:cNvSpPr/>
          <p:nvPr/>
        </p:nvSpPr>
        <p:spPr>
          <a:xfrm>
            <a:off x="5532120" y="3703320"/>
            <a:ext cx="640080" cy="548640"/>
          </a:xfrm>
          <a:prstGeom prst="rightArrow">
            <a:avLst/>
          </a:prstGeom>
          <a:solidFill>
            <a:schemeClr val="accent5"/>
          </a:solidFill>
          <a:ln/>
        </p:spPr>
      </p:sp>
      <p:sp>
        <p:nvSpPr>
          <p:cNvPr id="12" name="text-221"/>
          <p:cNvSpPr txBox="1"/>
          <p:nvPr/>
        </p:nvSpPr>
        <p:spPr>
          <a:xfrm>
            <a:off x="6400800" y="2377440"/>
            <a:ext cx="2377440" cy="365760"/>
          </a:xfrm>
          <a:prstGeom prst="rect">
            <a:avLst/>
          </a:prstGeom>
          <a:noFill/>
          <a:ln/>
        </p:spPr>
        <p:txBody>
          <a:bodyPr wrap="square" lIns="0" tIns="0" rIns="0" bIns="0" rtlCol="0" anchor="ctr"/>
          <a:lstStyle/>
          <a:p>
            <a:pPr algn="l" indent="0" marL="0">
              <a:buNone/>
            </a:pPr>
            <a:r>
              <a:rPr lang="en-US" sz="1500" b="1" dirty="0">
                <a:solidFill>
                  <a:schemeClr val="tx1"/>
                </a:solidFill>
              </a:rPr>
              <a:t>orders</a:t>
            </a:r>
            <a:endParaRPr lang="en-US" sz="1500" dirty="0"/>
          </a:p>
        </p:txBody>
      </p:sp>
      <p:sp>
        <p:nvSpPr>
          <p:cNvPr id="13" name="text-222"/>
          <p:cNvSpPr txBox="1"/>
          <p:nvPr/>
        </p:nvSpPr>
        <p:spPr>
          <a:xfrm>
            <a:off x="9464040" y="2377440"/>
            <a:ext cx="2103120" cy="365760"/>
          </a:xfrm>
          <a:prstGeom prst="rect">
            <a:avLst/>
          </a:prstGeom>
          <a:noFill/>
          <a:ln/>
        </p:spPr>
        <p:txBody>
          <a:bodyPr wrap="square" lIns="0" tIns="0" rIns="0" bIns="0" rtlCol="0" anchor="ctr"/>
          <a:lstStyle/>
          <a:p>
            <a:pPr algn="l" indent="0" marL="0">
              <a:buNone/>
            </a:pPr>
            <a:r>
              <a:rPr lang="en-US" sz="1500" b="1" dirty="0">
                <a:solidFill>
                  <a:schemeClr val="tx1"/>
                </a:solidFill>
              </a:rPr>
              <a:t>customers</a:t>
            </a:r>
            <a:endParaRPr lang="en-US" sz="1500" dirty="0"/>
          </a:p>
        </p:txBody>
      </p:sp>
      <p:sp>
        <p:nvSpPr>
          <p:cNvPr id="14" name="box-223"/>
          <p:cNvSpPr/>
          <p:nvPr/>
        </p:nvSpPr>
        <p:spPr>
          <a:xfrm>
            <a:off x="6400800" y="2788920"/>
            <a:ext cx="914400" cy="411480"/>
          </a:xfrm>
          <a:prstGeom prst="rect">
            <a:avLst>
              <a:gd name="adj" fmla="val 17778"/>
            </a:avLst>
          </a:prstGeom>
          <a:solidFill>
            <a:schemeClr val="tx1"/>
          </a:solidFill>
          <a:ln w="9525">
            <a:solidFill>
              <a:schemeClr val="accent5"/>
            </a:solidFill>
            <a:prstDash val="solid"/>
          </a:ln>
        </p:spPr>
      </p:sp>
      <p:sp>
        <p:nvSpPr>
          <p:cNvPr id="15" name="text-224"/>
          <p:cNvSpPr txBox="1"/>
          <p:nvPr/>
        </p:nvSpPr>
        <p:spPr>
          <a:xfrm>
            <a:off x="6492240" y="2788920"/>
            <a:ext cx="731520" cy="411480"/>
          </a:xfrm>
          <a:prstGeom prst="rect">
            <a:avLst/>
          </a:prstGeom>
          <a:noFill/>
          <a:ln/>
        </p:spPr>
        <p:txBody>
          <a:bodyPr wrap="square" lIns="0" tIns="0" rIns="0" bIns="0" rtlCol="0" anchor="ctr"/>
          <a:lstStyle/>
          <a:p>
            <a:pPr algn="l" indent="0" marL="0">
              <a:buNone/>
            </a:pPr>
            <a:r>
              <a:rPr lang="en-US" sz="1400" b="1" dirty="0">
                <a:solidFill>
                  <a:schemeClr val="bg1"/>
                </a:solidFill>
              </a:rPr>
              <a:t>id</a:t>
            </a:r>
            <a:endParaRPr lang="en-US" sz="1400" dirty="0"/>
          </a:p>
        </p:txBody>
      </p:sp>
      <p:sp>
        <p:nvSpPr>
          <p:cNvPr id="16" name="box-225"/>
          <p:cNvSpPr/>
          <p:nvPr/>
        </p:nvSpPr>
        <p:spPr>
          <a:xfrm>
            <a:off x="7315200" y="2788920"/>
            <a:ext cx="1463040" cy="411480"/>
          </a:xfrm>
          <a:prstGeom prst="rect">
            <a:avLst>
              <a:gd name="adj" fmla="val 17778"/>
            </a:avLst>
          </a:prstGeom>
          <a:solidFill>
            <a:schemeClr val="tx1"/>
          </a:solidFill>
          <a:ln w="9525">
            <a:solidFill>
              <a:schemeClr val="accent5"/>
            </a:solidFill>
            <a:prstDash val="solid"/>
          </a:ln>
        </p:spPr>
      </p:sp>
      <p:sp>
        <p:nvSpPr>
          <p:cNvPr id="17" name="text-226"/>
          <p:cNvSpPr txBox="1"/>
          <p:nvPr/>
        </p:nvSpPr>
        <p:spPr>
          <a:xfrm>
            <a:off x="7406640" y="2788920"/>
            <a:ext cx="1280160" cy="411480"/>
          </a:xfrm>
          <a:prstGeom prst="rect">
            <a:avLst/>
          </a:prstGeom>
          <a:noFill/>
          <a:ln/>
        </p:spPr>
        <p:txBody>
          <a:bodyPr wrap="square" lIns="0" tIns="0" rIns="0" bIns="0" rtlCol="0" anchor="ctr"/>
          <a:lstStyle/>
          <a:p>
            <a:pPr algn="l" indent="0" marL="0">
              <a:buNone/>
            </a:pPr>
            <a:r>
              <a:rPr lang="en-US" sz="1400" b="1" dirty="0">
                <a:solidFill>
                  <a:schemeClr val="bg1"/>
                </a:solidFill>
              </a:rPr>
              <a:t>customer_id</a:t>
            </a:r>
            <a:endParaRPr lang="en-US" sz="1400" dirty="0"/>
          </a:p>
        </p:txBody>
      </p:sp>
      <p:sp>
        <p:nvSpPr>
          <p:cNvPr id="18" name="box-227"/>
          <p:cNvSpPr/>
          <p:nvPr/>
        </p:nvSpPr>
        <p:spPr>
          <a:xfrm>
            <a:off x="6400800" y="3200400"/>
            <a:ext cx="914400" cy="411480"/>
          </a:xfrm>
          <a:prstGeom prst="rect">
            <a:avLst>
              <a:gd name="adj" fmla="val 17778"/>
            </a:avLst>
          </a:prstGeom>
          <a:solidFill>
            <a:schemeClr val="bg1"/>
          </a:solidFill>
          <a:ln w="9525">
            <a:solidFill>
              <a:schemeClr val="accent5"/>
            </a:solidFill>
            <a:prstDash val="solid"/>
          </a:ln>
        </p:spPr>
      </p:sp>
      <p:sp>
        <p:nvSpPr>
          <p:cNvPr id="19" name="text-228"/>
          <p:cNvSpPr txBox="1"/>
          <p:nvPr/>
        </p:nvSpPr>
        <p:spPr>
          <a:xfrm>
            <a:off x="6492240" y="3200400"/>
            <a:ext cx="731520" cy="411480"/>
          </a:xfrm>
          <a:prstGeom prst="rect">
            <a:avLst/>
          </a:prstGeom>
          <a:noFill/>
          <a:ln/>
        </p:spPr>
        <p:txBody>
          <a:bodyPr wrap="square" lIns="0" tIns="0" rIns="0" bIns="0" rtlCol="0" anchor="ctr"/>
          <a:lstStyle/>
          <a:p>
            <a:pPr algn="l" indent="0" marL="0">
              <a:buNone/>
            </a:pPr>
            <a:r>
              <a:rPr lang="en-US" sz="1400" dirty="0">
                <a:solidFill>
                  <a:schemeClr val="tx1"/>
                </a:solidFill>
                <a:latin typeface="Roboto Mono" pitchFamily="34" charset="0"/>
                <a:ea typeface="Roboto Mono" pitchFamily="34" charset="-122"/>
                <a:cs typeface="Roboto Mono" pitchFamily="34" charset="-120"/>
              </a:rPr>
              <a:t>101</a:t>
            </a:r>
            <a:endParaRPr lang="en-US" sz="1400" dirty="0"/>
          </a:p>
        </p:txBody>
      </p:sp>
      <p:sp>
        <p:nvSpPr>
          <p:cNvPr id="20" name="box-229"/>
          <p:cNvSpPr/>
          <p:nvPr/>
        </p:nvSpPr>
        <p:spPr>
          <a:xfrm>
            <a:off x="7315200" y="3200400"/>
            <a:ext cx="1463040" cy="411480"/>
          </a:xfrm>
          <a:prstGeom prst="rect">
            <a:avLst>
              <a:gd name="adj" fmla="val 17778"/>
            </a:avLst>
          </a:prstGeom>
          <a:solidFill>
            <a:schemeClr val="accent2">
              <a:alpha val="30000"/>
            </a:schemeClr>
          </a:solidFill>
          <a:ln w="9525">
            <a:solidFill>
              <a:schemeClr val="accent5"/>
            </a:solidFill>
            <a:prstDash val="solid"/>
          </a:ln>
        </p:spPr>
      </p:sp>
      <p:sp>
        <p:nvSpPr>
          <p:cNvPr id="21" name="text-230"/>
          <p:cNvSpPr txBox="1"/>
          <p:nvPr/>
        </p:nvSpPr>
        <p:spPr>
          <a:xfrm>
            <a:off x="7406640" y="3200400"/>
            <a:ext cx="1280160" cy="411480"/>
          </a:xfrm>
          <a:prstGeom prst="rect">
            <a:avLst/>
          </a:prstGeom>
          <a:noFill/>
          <a:ln/>
        </p:spPr>
        <p:txBody>
          <a:bodyPr wrap="square" lIns="0" tIns="0" rIns="0" bIns="0" rtlCol="0" anchor="ctr"/>
          <a:lstStyle/>
          <a:p>
            <a:pPr algn="l" indent="0" marL="0">
              <a:buNone/>
            </a:pPr>
            <a:r>
              <a:rPr lang="en-US" sz="1400" dirty="0">
                <a:solidFill>
                  <a:schemeClr val="tx1"/>
                </a:solidFill>
                <a:latin typeface="Roboto Mono" pitchFamily="34" charset="0"/>
                <a:ea typeface="Roboto Mono" pitchFamily="34" charset="-122"/>
                <a:cs typeface="Roboto Mono" pitchFamily="34" charset="-120"/>
              </a:rPr>
              <a:t>7</a:t>
            </a:r>
            <a:endParaRPr lang="en-US" sz="1400" dirty="0"/>
          </a:p>
        </p:txBody>
      </p:sp>
      <p:sp>
        <p:nvSpPr>
          <p:cNvPr id="22" name="box-231"/>
          <p:cNvSpPr/>
          <p:nvPr/>
        </p:nvSpPr>
        <p:spPr>
          <a:xfrm>
            <a:off x="6400800" y="3611880"/>
            <a:ext cx="914400" cy="411480"/>
          </a:xfrm>
          <a:prstGeom prst="rect">
            <a:avLst>
              <a:gd name="adj" fmla="val 17778"/>
            </a:avLst>
          </a:prstGeom>
          <a:solidFill>
            <a:schemeClr val="bg1"/>
          </a:solidFill>
          <a:ln w="9525">
            <a:solidFill>
              <a:schemeClr val="accent5"/>
            </a:solidFill>
            <a:prstDash val="solid"/>
          </a:ln>
        </p:spPr>
      </p:sp>
      <p:sp>
        <p:nvSpPr>
          <p:cNvPr id="23" name="text-232"/>
          <p:cNvSpPr txBox="1"/>
          <p:nvPr/>
        </p:nvSpPr>
        <p:spPr>
          <a:xfrm>
            <a:off x="6492240" y="3611880"/>
            <a:ext cx="731520" cy="411480"/>
          </a:xfrm>
          <a:prstGeom prst="rect">
            <a:avLst/>
          </a:prstGeom>
          <a:noFill/>
          <a:ln/>
        </p:spPr>
        <p:txBody>
          <a:bodyPr wrap="square" lIns="0" tIns="0" rIns="0" bIns="0" rtlCol="0" anchor="ctr"/>
          <a:lstStyle/>
          <a:p>
            <a:pPr algn="l" indent="0" marL="0">
              <a:buNone/>
            </a:pPr>
            <a:r>
              <a:rPr lang="en-US" sz="1400" dirty="0">
                <a:solidFill>
                  <a:schemeClr val="tx1"/>
                </a:solidFill>
                <a:latin typeface="Roboto Mono" pitchFamily="34" charset="0"/>
                <a:ea typeface="Roboto Mono" pitchFamily="34" charset="-122"/>
                <a:cs typeface="Roboto Mono" pitchFamily="34" charset="-120"/>
              </a:rPr>
              <a:t>102</a:t>
            </a:r>
            <a:endParaRPr lang="en-US" sz="1400" dirty="0"/>
          </a:p>
        </p:txBody>
      </p:sp>
      <p:sp>
        <p:nvSpPr>
          <p:cNvPr id="24" name="box-233"/>
          <p:cNvSpPr/>
          <p:nvPr/>
        </p:nvSpPr>
        <p:spPr>
          <a:xfrm>
            <a:off x="7315200" y="3611880"/>
            <a:ext cx="1463040" cy="411480"/>
          </a:xfrm>
          <a:prstGeom prst="rect">
            <a:avLst>
              <a:gd name="adj" fmla="val 17778"/>
            </a:avLst>
          </a:prstGeom>
          <a:solidFill>
            <a:schemeClr val="accent2">
              <a:alpha val="30000"/>
            </a:schemeClr>
          </a:solidFill>
          <a:ln w="9525">
            <a:solidFill>
              <a:schemeClr val="accent5"/>
            </a:solidFill>
            <a:prstDash val="solid"/>
          </a:ln>
        </p:spPr>
      </p:sp>
      <p:sp>
        <p:nvSpPr>
          <p:cNvPr id="25" name="text-234"/>
          <p:cNvSpPr txBox="1"/>
          <p:nvPr/>
        </p:nvSpPr>
        <p:spPr>
          <a:xfrm>
            <a:off x="7406640" y="3611880"/>
            <a:ext cx="1280160" cy="411480"/>
          </a:xfrm>
          <a:prstGeom prst="rect">
            <a:avLst/>
          </a:prstGeom>
          <a:noFill/>
          <a:ln/>
        </p:spPr>
        <p:txBody>
          <a:bodyPr wrap="square" lIns="0" tIns="0" rIns="0" bIns="0" rtlCol="0" anchor="ctr"/>
          <a:lstStyle/>
          <a:p>
            <a:pPr algn="l" indent="0" marL="0">
              <a:buNone/>
            </a:pPr>
            <a:r>
              <a:rPr lang="en-US" sz="1400" dirty="0">
                <a:solidFill>
                  <a:schemeClr val="tx1"/>
                </a:solidFill>
                <a:latin typeface="Roboto Mono" pitchFamily="34" charset="0"/>
                <a:ea typeface="Roboto Mono" pitchFamily="34" charset="-122"/>
                <a:cs typeface="Roboto Mono" pitchFamily="34" charset="-120"/>
              </a:rPr>
              <a:t>7</a:t>
            </a:r>
            <a:endParaRPr lang="en-US" sz="1400" dirty="0"/>
          </a:p>
        </p:txBody>
      </p:sp>
      <p:sp>
        <p:nvSpPr>
          <p:cNvPr id="26" name="box-235"/>
          <p:cNvSpPr/>
          <p:nvPr/>
        </p:nvSpPr>
        <p:spPr>
          <a:xfrm>
            <a:off x="6400800" y="4023360"/>
            <a:ext cx="914400" cy="411480"/>
          </a:xfrm>
          <a:prstGeom prst="rect">
            <a:avLst>
              <a:gd name="adj" fmla="val 17778"/>
            </a:avLst>
          </a:prstGeom>
          <a:solidFill>
            <a:schemeClr val="bg1"/>
          </a:solidFill>
          <a:ln w="9525">
            <a:solidFill>
              <a:schemeClr val="accent5"/>
            </a:solidFill>
            <a:prstDash val="solid"/>
          </a:ln>
        </p:spPr>
      </p:sp>
      <p:sp>
        <p:nvSpPr>
          <p:cNvPr id="27" name="text-236"/>
          <p:cNvSpPr txBox="1"/>
          <p:nvPr/>
        </p:nvSpPr>
        <p:spPr>
          <a:xfrm>
            <a:off x="6492240" y="4023360"/>
            <a:ext cx="731520" cy="411480"/>
          </a:xfrm>
          <a:prstGeom prst="rect">
            <a:avLst/>
          </a:prstGeom>
          <a:noFill/>
          <a:ln/>
        </p:spPr>
        <p:txBody>
          <a:bodyPr wrap="square" lIns="0" tIns="0" rIns="0" bIns="0" rtlCol="0" anchor="ctr"/>
          <a:lstStyle/>
          <a:p>
            <a:pPr algn="l" indent="0" marL="0">
              <a:buNone/>
            </a:pPr>
            <a:r>
              <a:rPr lang="en-US" sz="1400" dirty="0">
                <a:solidFill>
                  <a:schemeClr val="tx1"/>
                </a:solidFill>
                <a:latin typeface="Roboto Mono" pitchFamily="34" charset="0"/>
                <a:ea typeface="Roboto Mono" pitchFamily="34" charset="-122"/>
                <a:cs typeface="Roboto Mono" pitchFamily="34" charset="-120"/>
              </a:rPr>
              <a:t>103</a:t>
            </a:r>
            <a:endParaRPr lang="en-US" sz="1400" dirty="0"/>
          </a:p>
        </p:txBody>
      </p:sp>
      <p:sp>
        <p:nvSpPr>
          <p:cNvPr id="28" name="box-237"/>
          <p:cNvSpPr/>
          <p:nvPr/>
        </p:nvSpPr>
        <p:spPr>
          <a:xfrm>
            <a:off x="7315200" y="4023360"/>
            <a:ext cx="1463040" cy="411480"/>
          </a:xfrm>
          <a:prstGeom prst="rect">
            <a:avLst>
              <a:gd name="adj" fmla="val 17778"/>
            </a:avLst>
          </a:prstGeom>
          <a:solidFill>
            <a:schemeClr val="bg1"/>
          </a:solidFill>
          <a:ln w="9525">
            <a:solidFill>
              <a:schemeClr val="accent5"/>
            </a:solidFill>
            <a:prstDash val="solid"/>
          </a:ln>
        </p:spPr>
      </p:sp>
      <p:sp>
        <p:nvSpPr>
          <p:cNvPr id="29" name="text-238"/>
          <p:cNvSpPr txBox="1"/>
          <p:nvPr/>
        </p:nvSpPr>
        <p:spPr>
          <a:xfrm>
            <a:off x="7406640" y="4023360"/>
            <a:ext cx="1280160" cy="411480"/>
          </a:xfrm>
          <a:prstGeom prst="rect">
            <a:avLst/>
          </a:prstGeom>
          <a:noFill/>
          <a:ln/>
        </p:spPr>
        <p:txBody>
          <a:bodyPr wrap="square" lIns="0" tIns="0" rIns="0" bIns="0" rtlCol="0" anchor="ctr"/>
          <a:lstStyle/>
          <a:p>
            <a:pPr algn="l" indent="0" marL="0">
              <a:buNone/>
            </a:pPr>
            <a:r>
              <a:rPr lang="en-US" sz="1400" dirty="0">
                <a:solidFill>
                  <a:schemeClr val="tx1"/>
                </a:solidFill>
                <a:latin typeface="Roboto Mono" pitchFamily="34" charset="0"/>
                <a:ea typeface="Roboto Mono" pitchFamily="34" charset="-122"/>
                <a:cs typeface="Roboto Mono" pitchFamily="34" charset="-120"/>
              </a:rPr>
              <a:t>9</a:t>
            </a:r>
            <a:endParaRPr lang="en-US" sz="1400" dirty="0"/>
          </a:p>
        </p:txBody>
      </p:sp>
      <p:sp>
        <p:nvSpPr>
          <p:cNvPr id="30" name="box-239"/>
          <p:cNvSpPr/>
          <p:nvPr/>
        </p:nvSpPr>
        <p:spPr>
          <a:xfrm>
            <a:off x="9464040" y="2788920"/>
            <a:ext cx="731520" cy="411480"/>
          </a:xfrm>
          <a:prstGeom prst="rect">
            <a:avLst>
              <a:gd name="adj" fmla="val 17778"/>
            </a:avLst>
          </a:prstGeom>
          <a:solidFill>
            <a:schemeClr val="tx1"/>
          </a:solidFill>
          <a:ln w="9525">
            <a:solidFill>
              <a:schemeClr val="accent5"/>
            </a:solidFill>
            <a:prstDash val="solid"/>
          </a:ln>
        </p:spPr>
      </p:sp>
      <p:sp>
        <p:nvSpPr>
          <p:cNvPr id="31" name="text-240"/>
          <p:cNvSpPr txBox="1"/>
          <p:nvPr/>
        </p:nvSpPr>
        <p:spPr>
          <a:xfrm>
            <a:off x="9555480" y="2788920"/>
            <a:ext cx="548640" cy="411480"/>
          </a:xfrm>
          <a:prstGeom prst="rect">
            <a:avLst/>
          </a:prstGeom>
          <a:noFill/>
          <a:ln/>
        </p:spPr>
        <p:txBody>
          <a:bodyPr wrap="square" lIns="0" tIns="0" rIns="0" bIns="0" rtlCol="0" anchor="ctr"/>
          <a:lstStyle/>
          <a:p>
            <a:pPr algn="l" indent="0" marL="0">
              <a:buNone/>
            </a:pPr>
            <a:r>
              <a:rPr lang="en-US" sz="1400" b="1" dirty="0">
                <a:solidFill>
                  <a:schemeClr val="bg1"/>
                </a:solidFill>
              </a:rPr>
              <a:t>id</a:t>
            </a:r>
            <a:endParaRPr lang="en-US" sz="1400" dirty="0"/>
          </a:p>
        </p:txBody>
      </p:sp>
      <p:sp>
        <p:nvSpPr>
          <p:cNvPr id="32" name="box-241"/>
          <p:cNvSpPr/>
          <p:nvPr/>
        </p:nvSpPr>
        <p:spPr>
          <a:xfrm>
            <a:off x="10195560" y="2788920"/>
            <a:ext cx="1371600" cy="411480"/>
          </a:xfrm>
          <a:prstGeom prst="rect">
            <a:avLst>
              <a:gd name="adj" fmla="val 17778"/>
            </a:avLst>
          </a:prstGeom>
          <a:solidFill>
            <a:schemeClr val="tx1"/>
          </a:solidFill>
          <a:ln w="9525">
            <a:solidFill>
              <a:schemeClr val="accent5"/>
            </a:solidFill>
            <a:prstDash val="solid"/>
          </a:ln>
        </p:spPr>
      </p:sp>
      <p:sp>
        <p:nvSpPr>
          <p:cNvPr id="33" name="text-242"/>
          <p:cNvSpPr txBox="1"/>
          <p:nvPr/>
        </p:nvSpPr>
        <p:spPr>
          <a:xfrm>
            <a:off x="10287000" y="2788920"/>
            <a:ext cx="1188720" cy="411480"/>
          </a:xfrm>
          <a:prstGeom prst="rect">
            <a:avLst/>
          </a:prstGeom>
          <a:noFill/>
          <a:ln/>
        </p:spPr>
        <p:txBody>
          <a:bodyPr wrap="square" lIns="0" tIns="0" rIns="0" bIns="0" rtlCol="0" anchor="ctr"/>
          <a:lstStyle/>
          <a:p>
            <a:pPr algn="l" indent="0" marL="0">
              <a:buNone/>
            </a:pPr>
            <a:r>
              <a:rPr lang="en-US" sz="1400" b="1" dirty="0">
                <a:solidFill>
                  <a:schemeClr val="bg1"/>
                </a:solidFill>
              </a:rPr>
              <a:t>name</a:t>
            </a:r>
            <a:endParaRPr lang="en-US" sz="1400" dirty="0"/>
          </a:p>
        </p:txBody>
      </p:sp>
      <p:sp>
        <p:nvSpPr>
          <p:cNvPr id="34" name="box-243"/>
          <p:cNvSpPr/>
          <p:nvPr/>
        </p:nvSpPr>
        <p:spPr>
          <a:xfrm>
            <a:off x="9464040" y="3200400"/>
            <a:ext cx="731520" cy="411480"/>
          </a:xfrm>
          <a:prstGeom prst="rect">
            <a:avLst>
              <a:gd name="adj" fmla="val 17778"/>
            </a:avLst>
          </a:prstGeom>
          <a:solidFill>
            <a:schemeClr val="accent2">
              <a:alpha val="30000"/>
            </a:schemeClr>
          </a:solidFill>
          <a:ln w="9525">
            <a:solidFill>
              <a:schemeClr val="accent5"/>
            </a:solidFill>
            <a:prstDash val="solid"/>
          </a:ln>
        </p:spPr>
      </p:sp>
      <p:sp>
        <p:nvSpPr>
          <p:cNvPr id="35" name="text-244"/>
          <p:cNvSpPr txBox="1"/>
          <p:nvPr/>
        </p:nvSpPr>
        <p:spPr>
          <a:xfrm>
            <a:off x="9555480" y="3200400"/>
            <a:ext cx="548640" cy="411480"/>
          </a:xfrm>
          <a:prstGeom prst="rect">
            <a:avLst/>
          </a:prstGeom>
          <a:noFill/>
          <a:ln/>
        </p:spPr>
        <p:txBody>
          <a:bodyPr wrap="square" lIns="0" tIns="0" rIns="0" bIns="0" rtlCol="0" anchor="ctr"/>
          <a:lstStyle/>
          <a:p>
            <a:pPr algn="l" indent="0" marL="0">
              <a:buNone/>
            </a:pPr>
            <a:r>
              <a:rPr lang="en-US" sz="1400" dirty="0">
                <a:solidFill>
                  <a:schemeClr val="tx1"/>
                </a:solidFill>
                <a:latin typeface="Roboto Mono" pitchFamily="34" charset="0"/>
                <a:ea typeface="Roboto Mono" pitchFamily="34" charset="-122"/>
                <a:cs typeface="Roboto Mono" pitchFamily="34" charset="-120"/>
              </a:rPr>
              <a:t>7</a:t>
            </a:r>
            <a:endParaRPr lang="en-US" sz="1400" dirty="0"/>
          </a:p>
        </p:txBody>
      </p:sp>
      <p:sp>
        <p:nvSpPr>
          <p:cNvPr id="36" name="box-245"/>
          <p:cNvSpPr/>
          <p:nvPr/>
        </p:nvSpPr>
        <p:spPr>
          <a:xfrm>
            <a:off x="10195560" y="3200400"/>
            <a:ext cx="1371600" cy="411480"/>
          </a:xfrm>
          <a:prstGeom prst="rect">
            <a:avLst>
              <a:gd name="adj" fmla="val 17778"/>
            </a:avLst>
          </a:prstGeom>
          <a:solidFill>
            <a:schemeClr val="bg1"/>
          </a:solidFill>
          <a:ln w="9525">
            <a:solidFill>
              <a:schemeClr val="accent5"/>
            </a:solidFill>
            <a:prstDash val="solid"/>
          </a:ln>
        </p:spPr>
      </p:sp>
      <p:sp>
        <p:nvSpPr>
          <p:cNvPr id="37" name="text-246"/>
          <p:cNvSpPr txBox="1"/>
          <p:nvPr/>
        </p:nvSpPr>
        <p:spPr>
          <a:xfrm>
            <a:off x="10287000" y="3200400"/>
            <a:ext cx="1188720" cy="411480"/>
          </a:xfrm>
          <a:prstGeom prst="rect">
            <a:avLst/>
          </a:prstGeom>
          <a:noFill/>
          <a:ln/>
        </p:spPr>
        <p:txBody>
          <a:bodyPr wrap="square" lIns="0" tIns="0" rIns="0" bIns="0" rtlCol="0" anchor="ctr"/>
          <a:lstStyle/>
          <a:p>
            <a:pPr algn="l" indent="0" marL="0">
              <a:buNone/>
            </a:pPr>
            <a:r>
              <a:rPr lang="en-US" sz="1400" dirty="0">
                <a:solidFill>
                  <a:schemeClr val="tx1"/>
                </a:solidFill>
                <a:latin typeface="Roboto Mono" pitchFamily="34" charset="0"/>
                <a:ea typeface="Roboto Mono" pitchFamily="34" charset="-122"/>
                <a:cs typeface="Roboto Mono" pitchFamily="34" charset="-120"/>
              </a:rPr>
              <a:t>Ada</a:t>
            </a:r>
            <a:endParaRPr lang="en-US" sz="1400" dirty="0"/>
          </a:p>
        </p:txBody>
      </p:sp>
      <p:sp>
        <p:nvSpPr>
          <p:cNvPr id="38" name="box-247"/>
          <p:cNvSpPr/>
          <p:nvPr/>
        </p:nvSpPr>
        <p:spPr>
          <a:xfrm>
            <a:off x="9464040" y="3611880"/>
            <a:ext cx="731520" cy="411480"/>
          </a:xfrm>
          <a:prstGeom prst="rect">
            <a:avLst>
              <a:gd name="adj" fmla="val 17778"/>
            </a:avLst>
          </a:prstGeom>
          <a:solidFill>
            <a:schemeClr val="bg1"/>
          </a:solidFill>
          <a:ln w="9525">
            <a:solidFill>
              <a:schemeClr val="accent5"/>
            </a:solidFill>
            <a:prstDash val="solid"/>
          </a:ln>
        </p:spPr>
      </p:sp>
      <p:sp>
        <p:nvSpPr>
          <p:cNvPr id="39" name="text-248"/>
          <p:cNvSpPr txBox="1"/>
          <p:nvPr/>
        </p:nvSpPr>
        <p:spPr>
          <a:xfrm>
            <a:off x="9555480" y="3611880"/>
            <a:ext cx="548640" cy="411480"/>
          </a:xfrm>
          <a:prstGeom prst="rect">
            <a:avLst/>
          </a:prstGeom>
          <a:noFill/>
          <a:ln/>
        </p:spPr>
        <p:txBody>
          <a:bodyPr wrap="square" lIns="0" tIns="0" rIns="0" bIns="0" rtlCol="0" anchor="ctr"/>
          <a:lstStyle/>
          <a:p>
            <a:pPr algn="l" indent="0" marL="0">
              <a:buNone/>
            </a:pPr>
            <a:r>
              <a:rPr lang="en-US" sz="1400" dirty="0">
                <a:solidFill>
                  <a:schemeClr val="tx1"/>
                </a:solidFill>
                <a:latin typeface="Roboto Mono" pitchFamily="34" charset="0"/>
                <a:ea typeface="Roboto Mono" pitchFamily="34" charset="-122"/>
                <a:cs typeface="Roboto Mono" pitchFamily="34" charset="-120"/>
              </a:rPr>
              <a:t>9</a:t>
            </a:r>
            <a:endParaRPr lang="en-US" sz="1400" dirty="0"/>
          </a:p>
        </p:txBody>
      </p:sp>
      <p:sp>
        <p:nvSpPr>
          <p:cNvPr id="40" name="box-249"/>
          <p:cNvSpPr/>
          <p:nvPr/>
        </p:nvSpPr>
        <p:spPr>
          <a:xfrm>
            <a:off x="10195560" y="3611880"/>
            <a:ext cx="1371600" cy="411480"/>
          </a:xfrm>
          <a:prstGeom prst="rect">
            <a:avLst>
              <a:gd name="adj" fmla="val 17778"/>
            </a:avLst>
          </a:prstGeom>
          <a:solidFill>
            <a:schemeClr val="bg1"/>
          </a:solidFill>
          <a:ln w="9525">
            <a:solidFill>
              <a:schemeClr val="accent5"/>
            </a:solidFill>
            <a:prstDash val="solid"/>
          </a:ln>
        </p:spPr>
      </p:sp>
      <p:sp>
        <p:nvSpPr>
          <p:cNvPr id="41" name="text-250"/>
          <p:cNvSpPr txBox="1"/>
          <p:nvPr/>
        </p:nvSpPr>
        <p:spPr>
          <a:xfrm>
            <a:off x="10287000" y="3611880"/>
            <a:ext cx="1188720" cy="411480"/>
          </a:xfrm>
          <a:prstGeom prst="rect">
            <a:avLst/>
          </a:prstGeom>
          <a:noFill/>
          <a:ln/>
        </p:spPr>
        <p:txBody>
          <a:bodyPr wrap="square" lIns="0" tIns="0" rIns="0" bIns="0" rtlCol="0" anchor="ctr"/>
          <a:lstStyle/>
          <a:p>
            <a:pPr algn="l" indent="0" marL="0">
              <a:buNone/>
            </a:pPr>
            <a:r>
              <a:rPr lang="en-US" sz="1400" dirty="0">
                <a:solidFill>
                  <a:schemeClr val="tx1"/>
                </a:solidFill>
                <a:latin typeface="Roboto Mono" pitchFamily="34" charset="0"/>
                <a:ea typeface="Roboto Mono" pitchFamily="34" charset="-122"/>
                <a:cs typeface="Roboto Mono" pitchFamily="34" charset="-120"/>
              </a:rPr>
              <a:t>Tunde</a:t>
            </a:r>
            <a:endParaRPr lang="en-US" sz="1400" dirty="0"/>
          </a:p>
        </p:txBody>
      </p:sp>
      <p:sp>
        <p:nvSpPr>
          <p:cNvPr id="42" name="line-251"/>
          <p:cNvSpPr/>
          <p:nvPr/>
        </p:nvSpPr>
        <p:spPr>
          <a:xfrm>
            <a:off x="8778240" y="3406140"/>
            <a:ext cx="685800" cy="91"/>
          </a:xfrm>
          <a:prstGeom prst="line">
            <a:avLst/>
          </a:prstGeom>
          <a:noFill/>
          <a:ln w="31750">
            <a:solidFill>
              <a:schemeClr val="accent3"/>
            </a:solidFill>
            <a:prstDash val="solid"/>
            <a:tailEnd type="triangle"/>
          </a:ln>
        </p:spPr>
      </p:sp>
      <p:sp>
        <p:nvSpPr>
          <p:cNvPr id="43" name="dot-252"/>
          <p:cNvSpPr/>
          <p:nvPr/>
        </p:nvSpPr>
        <p:spPr>
          <a:xfrm>
            <a:off x="11109960" y="2148840"/>
            <a:ext cx="457200" cy="457200"/>
          </a:xfrm>
          <a:prstGeom prst="ellipse">
            <a:avLst/>
          </a:prstGeom>
          <a:solidFill>
            <a:schemeClr val="accent2"/>
          </a:solidFill>
          <a:ln/>
        </p:spPr>
      </p:sp>
      <p:sp>
        <p:nvSpPr>
          <p:cNvPr id="44" name="text-253"/>
          <p:cNvSpPr txBox="1"/>
          <p:nvPr/>
        </p:nvSpPr>
        <p:spPr>
          <a:xfrm>
            <a:off x="6400800" y="5715000"/>
            <a:ext cx="5212080" cy="365760"/>
          </a:xfrm>
          <a:prstGeom prst="rect">
            <a:avLst/>
          </a:prstGeom>
          <a:noFill/>
          <a:ln/>
        </p:spPr>
        <p:txBody>
          <a:bodyPr wrap="square" lIns="0" tIns="0" rIns="0" bIns="0" rtlCol="0" anchor="ctr"/>
          <a:lstStyle/>
          <a:p>
            <a:pPr algn="ctr" indent="0" marL="0">
              <a:buNone/>
            </a:pPr>
            <a:r>
              <a:rPr lang="en-US" sz="1500" b="1" dirty="0">
                <a:solidFill>
                  <a:schemeClr val="tx2"/>
                </a:solidFill>
              </a:rPr>
              <a:t>values link rows</a:t>
            </a:r>
            <a:endParaRPr lang="en-US" sz="1500" dirty="0"/>
          </a:p>
        </p:txBody>
      </p:sp>
      <p:pic>
        <p:nvPicPr>
          <p:cNvPr id="45" name="Image 0" descr="DraftingCompass icon">    </p:cNvPr>
          <p:cNvPicPr>
            <a:picLocks noChangeAspect="1"/>
          </p:cNvPicPr>
          <p:nvPr/>
        </p:nvPicPr>
        <p:blipFill>
          <a:blip r:embed="rId1"/>
          <a:stretch>
            <a:fillRect/>
          </a:stretch>
        </p:blipFill>
        <p:spPr>
          <a:xfrm>
            <a:off x="640812" y="476220"/>
            <a:ext cx="199705" cy="199705"/>
          </a:xfrm>
          <a:prstGeom prst="rect">
            <a:avLst/>
          </a:prstGeom>
        </p:spPr>
      </p:pic>
      <p:pic>
        <p:nvPicPr>
          <p:cNvPr id="46" name="Image 1" descr="Times icon">    </p:cNvPr>
          <p:cNvPicPr>
            <a:picLocks noChangeAspect="1"/>
          </p:cNvPicPr>
          <p:nvPr/>
        </p:nvPicPr>
        <p:blipFill>
          <a:blip r:embed="rId2"/>
          <a:stretch>
            <a:fillRect/>
          </a:stretch>
        </p:blipFill>
        <p:spPr>
          <a:xfrm>
            <a:off x="5093208" y="2258568"/>
            <a:ext cx="237744" cy="237744"/>
          </a:xfrm>
          <a:prstGeom prst="rect">
            <a:avLst/>
          </a:prstGeom>
        </p:spPr>
      </p:pic>
      <p:pic>
        <p:nvPicPr>
          <p:cNvPr id="47" name="Image 2" descr="Check icon">    </p:cNvPr>
          <p:cNvPicPr>
            <a:picLocks noChangeAspect="1"/>
          </p:cNvPicPr>
          <p:nvPr/>
        </p:nvPicPr>
        <p:blipFill>
          <a:blip r:embed="rId3"/>
          <a:stretch>
            <a:fillRect/>
          </a:stretch>
        </p:blipFill>
        <p:spPr>
          <a:xfrm>
            <a:off x="11219688" y="2258568"/>
            <a:ext cx="237744" cy="237744"/>
          </a:xfrm>
          <a:prstGeom prst="rect">
            <a:avLst/>
          </a:prstGeom>
        </p:spPr>
      </p:pic>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dot-254"/>
          <p:cNvSpPr/>
          <p:nvPr/>
        </p:nvSpPr>
        <p:spPr>
          <a:xfrm>
            <a:off x="548640" y="384048"/>
            <a:ext cx="384048" cy="384048"/>
          </a:xfrm>
          <a:prstGeom prst="ellipse">
            <a:avLst/>
          </a:prstGeom>
          <a:solidFill>
            <a:schemeClr val="accent1"/>
          </a:solidFill>
          <a:ln/>
        </p:spPr>
      </p:sp>
      <p:sp>
        <p:nvSpPr>
          <p:cNvPr id="3" name="Text 1"/>
          <p:cNvSpPr/>
          <p:nvPr>
            <p:ph idx="101" type="body" hasCustomPrompt="1"/>
          </p:nvPr>
        </p:nvSpPr>
        <p:spPr>
          <a:xfrm>
            <a:off x="1051560" y="384048"/>
            <a:ext cx="9601200" cy="384048"/>
          </a:xfrm>
          <a:prstGeom prst="rect">
            <a:avLst/>
          </a:prstGeom>
          <a:noFill/>
          <a:ln/>
        </p:spPr>
        <p:txBody>
          <a:bodyPr wrap="square" lIns="0" tIns="0" rIns="0" bIns="0" rtlCol="0" anchor="ctr"/>
          <a:lstStyle/>
          <a:p>
            <a:pPr indent="0" marL="0">
              <a:buNone/>
            </a:pPr>
            <a:r>
              <a:rPr lang="en-US" sz="1300" b="1" spc="300" kern="0" dirty="0">
                <a:solidFill>
                  <a:schemeClr val="tx2"/>
                </a:solidFill>
              </a:rPr>
              <a:t>L1  ·  MODEL  ·  3.1 RELATIONAL BASICS</a:t>
            </a:r>
            <a:endParaRPr lang="en-US" sz="1300" dirty="0"/>
          </a:p>
        </p:txBody>
      </p:sp>
      <p:sp>
        <p:nvSpPr>
          <p:cNvPr id="4" name="Text 1"/>
          <p:cNvSpPr/>
          <p:nvPr>
            <p:ph idx="102" type="title" hasCustomPrompt="1"/>
          </p:nvPr>
        </p:nvSpPr>
        <p:spPr>
          <a:xfrm>
            <a:off x="548640" y="841248"/>
            <a:ext cx="11064240" cy="777240"/>
          </a:xfrm>
          <a:prstGeom prst="rect">
            <a:avLst/>
          </a:prstGeom>
          <a:noFill/>
          <a:ln/>
        </p:spPr>
        <p:txBody>
          <a:bodyPr wrap="square" lIns="0" tIns="0" rIns="0" bIns="0" rtlCol="0" anchor="ctr"/>
          <a:lstStyle/>
          <a:p>
            <a:pPr algn="l" indent="0" marL="0">
              <a:buNone/>
            </a:pPr>
            <a:r>
              <a:rPr lang="en-US" sz="3800" b="1" dirty="0">
                <a:solidFill>
                  <a:schemeClr val="tx1"/>
                </a:solidFill>
              </a:rPr>
              <a:t>Four families of SQL</a:t>
            </a:r>
            <a:endParaRPr lang="en-US" sz="3800" dirty="0"/>
          </a:p>
        </p:txBody>
      </p:sp>
      <p:sp>
        <p:nvSpPr>
          <p:cNvPr id="5" name="Text 1"/>
          <p:cNvSpPr/>
          <p:nvPr>
            <p:ph idx="103" type="body" hasCustomPrompt="1"/>
          </p:nvPr>
        </p:nvSpPr>
        <p:spPr>
          <a:xfrm>
            <a:off x="548640" y="1627632"/>
            <a:ext cx="11064240" cy="457200"/>
          </a:xfrm>
          <a:prstGeom prst="rect">
            <a:avLst/>
          </a:prstGeom>
          <a:noFill/>
          <a:ln/>
        </p:spPr>
        <p:txBody>
          <a:bodyPr wrap="square" lIns="0" tIns="0" rIns="0" bIns="0" rtlCol="0" anchor="t"/>
          <a:lstStyle/>
          <a:p>
            <a:pPr indent="0" marL="0">
              <a:buNone/>
            </a:pPr>
            <a:r>
              <a:rPr lang="en-US" sz="2000" dirty="0">
                <a:solidFill>
                  <a:schemeClr val="tx2"/>
                </a:solidFill>
              </a:rPr>
              <a:t>Define · Change · Read · Group</a:t>
            </a:r>
            <a:endParaRPr lang="en-US" sz="2000" dirty="0"/>
          </a:p>
        </p:txBody>
      </p:sp>
      <p:sp>
        <p:nvSpPr>
          <p:cNvPr id="7" name="box-255"/>
          <p:cNvSpPr/>
          <p:nvPr/>
        </p:nvSpPr>
        <p:spPr>
          <a:xfrm>
            <a:off x="548640" y="2286000"/>
            <a:ext cx="5440680" cy="1828800"/>
          </a:xfrm>
          <a:prstGeom prst="roundRect">
            <a:avLst>
              <a:gd name="adj" fmla="val 4000"/>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8" name="dot-256"/>
          <p:cNvSpPr/>
          <p:nvPr/>
        </p:nvSpPr>
        <p:spPr>
          <a:xfrm>
            <a:off x="822960" y="2743200"/>
            <a:ext cx="914400" cy="914400"/>
          </a:xfrm>
          <a:prstGeom prst="ellipse">
            <a:avLst/>
          </a:prstGeom>
          <a:solidFill>
            <a:schemeClr val="accent1"/>
          </a:solidFill>
          <a:ln/>
        </p:spPr>
      </p:sp>
      <p:sp>
        <p:nvSpPr>
          <p:cNvPr id="9" name="text-257"/>
          <p:cNvSpPr txBox="1"/>
          <p:nvPr/>
        </p:nvSpPr>
        <p:spPr>
          <a:xfrm>
            <a:off x="2011680" y="2514600"/>
            <a:ext cx="1828800" cy="548640"/>
          </a:xfrm>
          <a:prstGeom prst="rect">
            <a:avLst/>
          </a:prstGeom>
          <a:noFill/>
          <a:ln/>
        </p:spPr>
        <p:txBody>
          <a:bodyPr wrap="square" lIns="0" tIns="0" rIns="0" bIns="0" rtlCol="0" anchor="ctr"/>
          <a:lstStyle/>
          <a:p>
            <a:pPr algn="l" indent="0" marL="0">
              <a:buNone/>
            </a:pPr>
            <a:r>
              <a:rPr lang="en-US" sz="2800" b="1" dirty="0">
                <a:solidFill>
                  <a:schemeClr val="tx1"/>
                </a:solidFill>
              </a:rPr>
              <a:t>DDL</a:t>
            </a:r>
            <a:endParaRPr lang="en-US" sz="2800" dirty="0"/>
          </a:p>
        </p:txBody>
      </p:sp>
      <p:sp>
        <p:nvSpPr>
          <p:cNvPr id="10" name="text-258"/>
          <p:cNvSpPr txBox="1"/>
          <p:nvPr/>
        </p:nvSpPr>
        <p:spPr>
          <a:xfrm>
            <a:off x="3474720" y="2514600"/>
            <a:ext cx="2377440" cy="548640"/>
          </a:xfrm>
          <a:prstGeom prst="rect">
            <a:avLst/>
          </a:prstGeom>
          <a:noFill/>
          <a:ln/>
        </p:spPr>
        <p:txBody>
          <a:bodyPr wrap="square" lIns="0" tIns="0" rIns="0" bIns="0" rtlCol="0" anchor="ctr"/>
          <a:lstStyle/>
          <a:p>
            <a:pPr algn="l" indent="0" marL="0">
              <a:buNone/>
            </a:pPr>
            <a:r>
              <a:rPr lang="en-US" sz="1600" dirty="0">
                <a:solidFill>
                  <a:schemeClr val="tx2"/>
                </a:solidFill>
              </a:rPr>
              <a:t>Define structure</a:t>
            </a:r>
            <a:endParaRPr lang="en-US" sz="1600" dirty="0"/>
          </a:p>
        </p:txBody>
      </p:sp>
      <p:sp>
        <p:nvSpPr>
          <p:cNvPr id="11" name="box-259"/>
          <p:cNvSpPr/>
          <p:nvPr/>
        </p:nvSpPr>
        <p:spPr>
          <a:xfrm>
            <a:off x="2011680" y="3291840"/>
            <a:ext cx="1188720" cy="438912"/>
          </a:xfrm>
          <a:prstGeom prst="roundRect">
            <a:avLst>
              <a:gd name="adj" fmla="val 25000"/>
            </a:avLst>
          </a:prstGeom>
          <a:solidFill>
            <a:schemeClr val="accent5"/>
          </a:solidFill>
          <a:ln/>
        </p:spPr>
      </p:sp>
      <p:sp>
        <p:nvSpPr>
          <p:cNvPr id="12" name="text-260"/>
          <p:cNvSpPr txBox="1"/>
          <p:nvPr/>
        </p:nvSpPr>
        <p:spPr>
          <a:xfrm>
            <a:off x="2084832" y="3291840"/>
            <a:ext cx="1042416" cy="438912"/>
          </a:xfrm>
          <a:prstGeom prst="rect">
            <a:avLst/>
          </a:prstGeom>
          <a:noFill/>
          <a:ln/>
        </p:spPr>
        <p:txBody>
          <a:bodyPr wrap="square" lIns="0" tIns="0" rIns="0" bIns="0" rtlCol="0" anchor="ctr"/>
          <a:lstStyle/>
          <a:p>
            <a:pPr algn="ctr" indent="0" marL="0">
              <a:buNone/>
            </a:pPr>
            <a:r>
              <a:rPr lang="en-US" sz="1300" b="1" dirty="0">
                <a:solidFill>
                  <a:schemeClr val="tx1"/>
                </a:solidFill>
                <a:latin typeface="Roboto Mono" pitchFamily="34" charset="0"/>
                <a:ea typeface="Roboto Mono" pitchFamily="34" charset="-122"/>
                <a:cs typeface="Roboto Mono" pitchFamily="34" charset="-120"/>
              </a:rPr>
              <a:t>CREATE</a:t>
            </a:r>
            <a:endParaRPr lang="en-US" sz="1300" dirty="0"/>
          </a:p>
        </p:txBody>
      </p:sp>
      <p:sp>
        <p:nvSpPr>
          <p:cNvPr id="13" name="box-261"/>
          <p:cNvSpPr/>
          <p:nvPr/>
        </p:nvSpPr>
        <p:spPr>
          <a:xfrm>
            <a:off x="3291840" y="3291840"/>
            <a:ext cx="1188720" cy="438912"/>
          </a:xfrm>
          <a:prstGeom prst="roundRect">
            <a:avLst>
              <a:gd name="adj" fmla="val 25000"/>
            </a:avLst>
          </a:prstGeom>
          <a:solidFill>
            <a:schemeClr val="accent5"/>
          </a:solidFill>
          <a:ln/>
        </p:spPr>
      </p:sp>
      <p:sp>
        <p:nvSpPr>
          <p:cNvPr id="14" name="text-262"/>
          <p:cNvSpPr txBox="1"/>
          <p:nvPr/>
        </p:nvSpPr>
        <p:spPr>
          <a:xfrm>
            <a:off x="3364992" y="3291840"/>
            <a:ext cx="1042416" cy="438912"/>
          </a:xfrm>
          <a:prstGeom prst="rect">
            <a:avLst/>
          </a:prstGeom>
          <a:noFill/>
          <a:ln/>
        </p:spPr>
        <p:txBody>
          <a:bodyPr wrap="square" lIns="0" tIns="0" rIns="0" bIns="0" rtlCol="0" anchor="ctr"/>
          <a:lstStyle/>
          <a:p>
            <a:pPr algn="ctr" indent="0" marL="0">
              <a:buNone/>
            </a:pPr>
            <a:r>
              <a:rPr lang="en-US" sz="1300" b="1" dirty="0">
                <a:solidFill>
                  <a:schemeClr val="tx1"/>
                </a:solidFill>
                <a:latin typeface="Roboto Mono" pitchFamily="34" charset="0"/>
                <a:ea typeface="Roboto Mono" pitchFamily="34" charset="-122"/>
                <a:cs typeface="Roboto Mono" pitchFamily="34" charset="-120"/>
              </a:rPr>
              <a:t>ALTER</a:t>
            </a:r>
            <a:endParaRPr lang="en-US" sz="1300" dirty="0"/>
          </a:p>
        </p:txBody>
      </p:sp>
      <p:sp>
        <p:nvSpPr>
          <p:cNvPr id="15" name="box-263"/>
          <p:cNvSpPr/>
          <p:nvPr/>
        </p:nvSpPr>
        <p:spPr>
          <a:xfrm>
            <a:off x="4572000" y="3291840"/>
            <a:ext cx="1188720" cy="438912"/>
          </a:xfrm>
          <a:prstGeom prst="roundRect">
            <a:avLst>
              <a:gd name="adj" fmla="val 25000"/>
            </a:avLst>
          </a:prstGeom>
          <a:solidFill>
            <a:schemeClr val="accent5"/>
          </a:solidFill>
          <a:ln/>
        </p:spPr>
      </p:sp>
      <p:sp>
        <p:nvSpPr>
          <p:cNvPr id="16" name="text-264"/>
          <p:cNvSpPr txBox="1"/>
          <p:nvPr/>
        </p:nvSpPr>
        <p:spPr>
          <a:xfrm>
            <a:off x="4645152" y="3291840"/>
            <a:ext cx="1042416" cy="438912"/>
          </a:xfrm>
          <a:prstGeom prst="rect">
            <a:avLst/>
          </a:prstGeom>
          <a:noFill/>
          <a:ln/>
        </p:spPr>
        <p:txBody>
          <a:bodyPr wrap="square" lIns="0" tIns="0" rIns="0" bIns="0" rtlCol="0" anchor="ctr"/>
          <a:lstStyle/>
          <a:p>
            <a:pPr algn="ctr" indent="0" marL="0">
              <a:buNone/>
            </a:pPr>
            <a:r>
              <a:rPr lang="en-US" sz="1300" b="1" dirty="0">
                <a:solidFill>
                  <a:schemeClr val="tx1"/>
                </a:solidFill>
                <a:latin typeface="Roboto Mono" pitchFamily="34" charset="0"/>
                <a:ea typeface="Roboto Mono" pitchFamily="34" charset="-122"/>
                <a:cs typeface="Roboto Mono" pitchFamily="34" charset="-120"/>
              </a:rPr>
              <a:t>DROP</a:t>
            </a:r>
            <a:endParaRPr lang="en-US" sz="1300" dirty="0"/>
          </a:p>
        </p:txBody>
      </p:sp>
      <p:sp>
        <p:nvSpPr>
          <p:cNvPr id="17" name="box-265"/>
          <p:cNvSpPr/>
          <p:nvPr/>
        </p:nvSpPr>
        <p:spPr>
          <a:xfrm>
            <a:off x="6172200" y="2286000"/>
            <a:ext cx="5440680" cy="1828800"/>
          </a:xfrm>
          <a:prstGeom prst="roundRect">
            <a:avLst>
              <a:gd name="adj" fmla="val 4000"/>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18" name="dot-266"/>
          <p:cNvSpPr/>
          <p:nvPr/>
        </p:nvSpPr>
        <p:spPr>
          <a:xfrm>
            <a:off x="6446520" y="2743200"/>
            <a:ext cx="914400" cy="914400"/>
          </a:xfrm>
          <a:prstGeom prst="ellipse">
            <a:avLst/>
          </a:prstGeom>
          <a:solidFill>
            <a:schemeClr val="accent2"/>
          </a:solidFill>
          <a:ln/>
        </p:spPr>
      </p:sp>
      <p:sp>
        <p:nvSpPr>
          <p:cNvPr id="19" name="text-267"/>
          <p:cNvSpPr txBox="1"/>
          <p:nvPr/>
        </p:nvSpPr>
        <p:spPr>
          <a:xfrm>
            <a:off x="7635240" y="2514600"/>
            <a:ext cx="1828800" cy="548640"/>
          </a:xfrm>
          <a:prstGeom prst="rect">
            <a:avLst/>
          </a:prstGeom>
          <a:noFill/>
          <a:ln/>
        </p:spPr>
        <p:txBody>
          <a:bodyPr wrap="square" lIns="0" tIns="0" rIns="0" bIns="0" rtlCol="0" anchor="ctr"/>
          <a:lstStyle/>
          <a:p>
            <a:pPr algn="l" indent="0" marL="0">
              <a:buNone/>
            </a:pPr>
            <a:r>
              <a:rPr lang="en-US" sz="2800" b="1" dirty="0">
                <a:solidFill>
                  <a:schemeClr val="tx1"/>
                </a:solidFill>
              </a:rPr>
              <a:t>DML</a:t>
            </a:r>
            <a:endParaRPr lang="en-US" sz="2800" dirty="0"/>
          </a:p>
        </p:txBody>
      </p:sp>
      <p:sp>
        <p:nvSpPr>
          <p:cNvPr id="20" name="text-268"/>
          <p:cNvSpPr txBox="1"/>
          <p:nvPr/>
        </p:nvSpPr>
        <p:spPr>
          <a:xfrm>
            <a:off x="9098280" y="2514600"/>
            <a:ext cx="2377440" cy="548640"/>
          </a:xfrm>
          <a:prstGeom prst="rect">
            <a:avLst/>
          </a:prstGeom>
          <a:noFill/>
          <a:ln/>
        </p:spPr>
        <p:txBody>
          <a:bodyPr wrap="square" lIns="0" tIns="0" rIns="0" bIns="0" rtlCol="0" anchor="ctr"/>
          <a:lstStyle/>
          <a:p>
            <a:pPr algn="l" indent="0" marL="0">
              <a:buNone/>
            </a:pPr>
            <a:r>
              <a:rPr lang="en-US" sz="1600" dirty="0">
                <a:solidFill>
                  <a:schemeClr val="tx2"/>
                </a:solidFill>
              </a:rPr>
              <a:t>Change data</a:t>
            </a:r>
            <a:endParaRPr lang="en-US" sz="1600" dirty="0"/>
          </a:p>
        </p:txBody>
      </p:sp>
      <p:sp>
        <p:nvSpPr>
          <p:cNvPr id="21" name="box-269"/>
          <p:cNvSpPr/>
          <p:nvPr/>
        </p:nvSpPr>
        <p:spPr>
          <a:xfrm>
            <a:off x="7635240" y="3291840"/>
            <a:ext cx="1188720" cy="438912"/>
          </a:xfrm>
          <a:prstGeom prst="roundRect">
            <a:avLst>
              <a:gd name="adj" fmla="val 25000"/>
            </a:avLst>
          </a:prstGeom>
          <a:solidFill>
            <a:schemeClr val="accent5"/>
          </a:solidFill>
          <a:ln/>
        </p:spPr>
      </p:sp>
      <p:sp>
        <p:nvSpPr>
          <p:cNvPr id="22" name="text-270"/>
          <p:cNvSpPr txBox="1"/>
          <p:nvPr/>
        </p:nvSpPr>
        <p:spPr>
          <a:xfrm>
            <a:off x="7708392" y="3291840"/>
            <a:ext cx="1042416" cy="438912"/>
          </a:xfrm>
          <a:prstGeom prst="rect">
            <a:avLst/>
          </a:prstGeom>
          <a:noFill/>
          <a:ln/>
        </p:spPr>
        <p:txBody>
          <a:bodyPr wrap="square" lIns="0" tIns="0" rIns="0" bIns="0" rtlCol="0" anchor="ctr"/>
          <a:lstStyle/>
          <a:p>
            <a:pPr algn="ctr" indent="0" marL="0">
              <a:buNone/>
            </a:pPr>
            <a:r>
              <a:rPr lang="en-US" sz="1300" b="1" dirty="0">
                <a:solidFill>
                  <a:schemeClr val="tx1"/>
                </a:solidFill>
                <a:latin typeface="Roboto Mono" pitchFamily="34" charset="0"/>
                <a:ea typeface="Roboto Mono" pitchFamily="34" charset="-122"/>
                <a:cs typeface="Roboto Mono" pitchFamily="34" charset="-120"/>
              </a:rPr>
              <a:t>INSERT</a:t>
            </a:r>
            <a:endParaRPr lang="en-US" sz="1300" dirty="0"/>
          </a:p>
        </p:txBody>
      </p:sp>
      <p:sp>
        <p:nvSpPr>
          <p:cNvPr id="23" name="box-271"/>
          <p:cNvSpPr/>
          <p:nvPr/>
        </p:nvSpPr>
        <p:spPr>
          <a:xfrm>
            <a:off x="8915400" y="3291840"/>
            <a:ext cx="1188720" cy="438912"/>
          </a:xfrm>
          <a:prstGeom prst="roundRect">
            <a:avLst>
              <a:gd name="adj" fmla="val 25000"/>
            </a:avLst>
          </a:prstGeom>
          <a:solidFill>
            <a:schemeClr val="accent5"/>
          </a:solidFill>
          <a:ln/>
        </p:spPr>
      </p:sp>
      <p:sp>
        <p:nvSpPr>
          <p:cNvPr id="24" name="text-272"/>
          <p:cNvSpPr txBox="1"/>
          <p:nvPr/>
        </p:nvSpPr>
        <p:spPr>
          <a:xfrm>
            <a:off x="8988552" y="3291840"/>
            <a:ext cx="1042416" cy="438912"/>
          </a:xfrm>
          <a:prstGeom prst="rect">
            <a:avLst/>
          </a:prstGeom>
          <a:noFill/>
          <a:ln/>
        </p:spPr>
        <p:txBody>
          <a:bodyPr wrap="square" lIns="0" tIns="0" rIns="0" bIns="0" rtlCol="0" anchor="ctr"/>
          <a:lstStyle/>
          <a:p>
            <a:pPr algn="ctr" indent="0" marL="0">
              <a:buNone/>
            </a:pPr>
            <a:r>
              <a:rPr lang="en-US" sz="1300" b="1" dirty="0">
                <a:solidFill>
                  <a:schemeClr val="tx1"/>
                </a:solidFill>
                <a:latin typeface="Roboto Mono" pitchFamily="34" charset="0"/>
                <a:ea typeface="Roboto Mono" pitchFamily="34" charset="-122"/>
                <a:cs typeface="Roboto Mono" pitchFamily="34" charset="-120"/>
              </a:rPr>
              <a:t>UPDATE</a:t>
            </a:r>
            <a:endParaRPr lang="en-US" sz="1300" dirty="0"/>
          </a:p>
        </p:txBody>
      </p:sp>
      <p:sp>
        <p:nvSpPr>
          <p:cNvPr id="25" name="box-273"/>
          <p:cNvSpPr/>
          <p:nvPr/>
        </p:nvSpPr>
        <p:spPr>
          <a:xfrm>
            <a:off x="10195560" y="3291840"/>
            <a:ext cx="1188720" cy="438912"/>
          </a:xfrm>
          <a:prstGeom prst="roundRect">
            <a:avLst>
              <a:gd name="adj" fmla="val 25000"/>
            </a:avLst>
          </a:prstGeom>
          <a:solidFill>
            <a:schemeClr val="accent5"/>
          </a:solidFill>
          <a:ln/>
        </p:spPr>
      </p:sp>
      <p:sp>
        <p:nvSpPr>
          <p:cNvPr id="26" name="text-274"/>
          <p:cNvSpPr txBox="1"/>
          <p:nvPr/>
        </p:nvSpPr>
        <p:spPr>
          <a:xfrm>
            <a:off x="10268712" y="3291840"/>
            <a:ext cx="1042416" cy="438912"/>
          </a:xfrm>
          <a:prstGeom prst="rect">
            <a:avLst/>
          </a:prstGeom>
          <a:noFill/>
          <a:ln/>
        </p:spPr>
        <p:txBody>
          <a:bodyPr wrap="square" lIns="0" tIns="0" rIns="0" bIns="0" rtlCol="0" anchor="ctr"/>
          <a:lstStyle/>
          <a:p>
            <a:pPr algn="ctr" indent="0" marL="0">
              <a:buNone/>
            </a:pPr>
            <a:r>
              <a:rPr lang="en-US" sz="1300" b="1" dirty="0">
                <a:solidFill>
                  <a:schemeClr val="tx1"/>
                </a:solidFill>
                <a:latin typeface="Roboto Mono" pitchFamily="34" charset="0"/>
                <a:ea typeface="Roboto Mono" pitchFamily="34" charset="-122"/>
                <a:cs typeface="Roboto Mono" pitchFamily="34" charset="-120"/>
              </a:rPr>
              <a:t>DELETE</a:t>
            </a:r>
            <a:endParaRPr lang="en-US" sz="1300" dirty="0"/>
          </a:p>
        </p:txBody>
      </p:sp>
      <p:sp>
        <p:nvSpPr>
          <p:cNvPr id="27" name="box-275"/>
          <p:cNvSpPr/>
          <p:nvPr/>
        </p:nvSpPr>
        <p:spPr>
          <a:xfrm>
            <a:off x="548640" y="4297680"/>
            <a:ext cx="5440680" cy="1828800"/>
          </a:xfrm>
          <a:prstGeom prst="roundRect">
            <a:avLst>
              <a:gd name="adj" fmla="val 4000"/>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28" name="dot-276"/>
          <p:cNvSpPr/>
          <p:nvPr/>
        </p:nvSpPr>
        <p:spPr>
          <a:xfrm>
            <a:off x="822960" y="4754880"/>
            <a:ext cx="914400" cy="914400"/>
          </a:xfrm>
          <a:prstGeom prst="ellipse">
            <a:avLst/>
          </a:prstGeom>
          <a:solidFill>
            <a:schemeClr val="accent2"/>
          </a:solidFill>
          <a:ln/>
        </p:spPr>
      </p:sp>
      <p:sp>
        <p:nvSpPr>
          <p:cNvPr id="29" name="text-277"/>
          <p:cNvSpPr txBox="1"/>
          <p:nvPr/>
        </p:nvSpPr>
        <p:spPr>
          <a:xfrm>
            <a:off x="2011680" y="4526280"/>
            <a:ext cx="1828800" cy="548640"/>
          </a:xfrm>
          <a:prstGeom prst="rect">
            <a:avLst/>
          </a:prstGeom>
          <a:noFill/>
          <a:ln/>
        </p:spPr>
        <p:txBody>
          <a:bodyPr wrap="square" lIns="0" tIns="0" rIns="0" bIns="0" rtlCol="0" anchor="ctr"/>
          <a:lstStyle/>
          <a:p>
            <a:pPr algn="l" indent="0" marL="0">
              <a:buNone/>
            </a:pPr>
            <a:r>
              <a:rPr lang="en-US" sz="2800" b="1" dirty="0">
                <a:solidFill>
                  <a:schemeClr val="tx1"/>
                </a:solidFill>
              </a:rPr>
              <a:t>DQL</a:t>
            </a:r>
            <a:endParaRPr lang="en-US" sz="2800" dirty="0"/>
          </a:p>
        </p:txBody>
      </p:sp>
      <p:sp>
        <p:nvSpPr>
          <p:cNvPr id="30" name="text-278"/>
          <p:cNvSpPr txBox="1"/>
          <p:nvPr/>
        </p:nvSpPr>
        <p:spPr>
          <a:xfrm>
            <a:off x="3474720" y="4526280"/>
            <a:ext cx="2377440" cy="548640"/>
          </a:xfrm>
          <a:prstGeom prst="rect">
            <a:avLst/>
          </a:prstGeom>
          <a:noFill/>
          <a:ln/>
        </p:spPr>
        <p:txBody>
          <a:bodyPr wrap="square" lIns="0" tIns="0" rIns="0" bIns="0" rtlCol="0" anchor="ctr"/>
          <a:lstStyle/>
          <a:p>
            <a:pPr algn="l" indent="0" marL="0">
              <a:buNone/>
            </a:pPr>
            <a:r>
              <a:rPr lang="en-US" sz="1600" dirty="0">
                <a:solidFill>
                  <a:schemeClr val="tx2"/>
                </a:solidFill>
              </a:rPr>
              <a:t>Read data</a:t>
            </a:r>
            <a:endParaRPr lang="en-US" sz="1600" dirty="0"/>
          </a:p>
        </p:txBody>
      </p:sp>
      <p:sp>
        <p:nvSpPr>
          <p:cNvPr id="31" name="box-279"/>
          <p:cNvSpPr/>
          <p:nvPr/>
        </p:nvSpPr>
        <p:spPr>
          <a:xfrm>
            <a:off x="2011680" y="5303520"/>
            <a:ext cx="1188720" cy="438912"/>
          </a:xfrm>
          <a:prstGeom prst="roundRect">
            <a:avLst>
              <a:gd name="adj" fmla="val 25000"/>
            </a:avLst>
          </a:prstGeom>
          <a:solidFill>
            <a:schemeClr val="accent5"/>
          </a:solidFill>
          <a:ln/>
        </p:spPr>
      </p:sp>
      <p:sp>
        <p:nvSpPr>
          <p:cNvPr id="32" name="text-280"/>
          <p:cNvSpPr txBox="1"/>
          <p:nvPr/>
        </p:nvSpPr>
        <p:spPr>
          <a:xfrm>
            <a:off x="2084832" y="5303520"/>
            <a:ext cx="1042416" cy="438912"/>
          </a:xfrm>
          <a:prstGeom prst="rect">
            <a:avLst/>
          </a:prstGeom>
          <a:noFill/>
          <a:ln/>
        </p:spPr>
        <p:txBody>
          <a:bodyPr wrap="square" lIns="0" tIns="0" rIns="0" bIns="0" rtlCol="0" anchor="ctr"/>
          <a:lstStyle/>
          <a:p>
            <a:pPr algn="ctr" indent="0" marL="0">
              <a:buNone/>
            </a:pPr>
            <a:r>
              <a:rPr lang="en-US" sz="1300" b="1" dirty="0">
                <a:solidFill>
                  <a:schemeClr val="tx1"/>
                </a:solidFill>
                <a:latin typeface="Roboto Mono" pitchFamily="34" charset="0"/>
                <a:ea typeface="Roboto Mono" pitchFamily="34" charset="-122"/>
                <a:cs typeface="Roboto Mono" pitchFamily="34" charset="-120"/>
              </a:rPr>
              <a:t>SELECT</a:t>
            </a:r>
            <a:endParaRPr lang="en-US" sz="1300" dirty="0"/>
          </a:p>
        </p:txBody>
      </p:sp>
      <p:sp>
        <p:nvSpPr>
          <p:cNvPr id="33" name="box-281"/>
          <p:cNvSpPr/>
          <p:nvPr/>
        </p:nvSpPr>
        <p:spPr>
          <a:xfrm>
            <a:off x="6172200" y="4297680"/>
            <a:ext cx="5440680" cy="1828800"/>
          </a:xfrm>
          <a:prstGeom prst="roundRect">
            <a:avLst>
              <a:gd name="adj" fmla="val 4000"/>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34" name="dot-282"/>
          <p:cNvSpPr/>
          <p:nvPr/>
        </p:nvSpPr>
        <p:spPr>
          <a:xfrm>
            <a:off x="6446520" y="4754880"/>
            <a:ext cx="914400" cy="914400"/>
          </a:xfrm>
          <a:prstGeom prst="ellipse">
            <a:avLst/>
          </a:prstGeom>
          <a:solidFill>
            <a:schemeClr val="tx1"/>
          </a:solidFill>
          <a:ln/>
        </p:spPr>
      </p:sp>
      <p:sp>
        <p:nvSpPr>
          <p:cNvPr id="35" name="text-283"/>
          <p:cNvSpPr txBox="1"/>
          <p:nvPr/>
        </p:nvSpPr>
        <p:spPr>
          <a:xfrm>
            <a:off x="7635240" y="4526280"/>
            <a:ext cx="1828800" cy="548640"/>
          </a:xfrm>
          <a:prstGeom prst="rect">
            <a:avLst/>
          </a:prstGeom>
          <a:noFill/>
          <a:ln/>
        </p:spPr>
        <p:txBody>
          <a:bodyPr wrap="square" lIns="0" tIns="0" rIns="0" bIns="0" rtlCol="0" anchor="ctr"/>
          <a:lstStyle/>
          <a:p>
            <a:pPr algn="l" indent="0" marL="0">
              <a:buNone/>
            </a:pPr>
            <a:r>
              <a:rPr lang="en-US" sz="2800" b="1" dirty="0">
                <a:solidFill>
                  <a:schemeClr val="tx1"/>
                </a:solidFill>
              </a:rPr>
              <a:t>TCL</a:t>
            </a:r>
            <a:endParaRPr lang="en-US" sz="2800" dirty="0"/>
          </a:p>
        </p:txBody>
      </p:sp>
      <p:sp>
        <p:nvSpPr>
          <p:cNvPr id="36" name="text-284"/>
          <p:cNvSpPr txBox="1"/>
          <p:nvPr/>
        </p:nvSpPr>
        <p:spPr>
          <a:xfrm>
            <a:off x="9098280" y="4526280"/>
            <a:ext cx="2377440" cy="548640"/>
          </a:xfrm>
          <a:prstGeom prst="rect">
            <a:avLst/>
          </a:prstGeom>
          <a:noFill/>
          <a:ln/>
        </p:spPr>
        <p:txBody>
          <a:bodyPr wrap="square" lIns="0" tIns="0" rIns="0" bIns="0" rtlCol="0" anchor="ctr"/>
          <a:lstStyle/>
          <a:p>
            <a:pPr algn="l" indent="0" marL="0">
              <a:buNone/>
            </a:pPr>
            <a:r>
              <a:rPr lang="en-US" sz="1600" dirty="0">
                <a:solidFill>
                  <a:schemeClr val="tx2"/>
                </a:solidFill>
              </a:rPr>
              <a:t>Group work safely</a:t>
            </a:r>
            <a:endParaRPr lang="en-US" sz="1600" dirty="0"/>
          </a:p>
        </p:txBody>
      </p:sp>
      <p:sp>
        <p:nvSpPr>
          <p:cNvPr id="37" name="box-285"/>
          <p:cNvSpPr/>
          <p:nvPr/>
        </p:nvSpPr>
        <p:spPr>
          <a:xfrm>
            <a:off x="7635240" y="5303520"/>
            <a:ext cx="1188720" cy="438912"/>
          </a:xfrm>
          <a:prstGeom prst="roundRect">
            <a:avLst>
              <a:gd name="adj" fmla="val 25000"/>
            </a:avLst>
          </a:prstGeom>
          <a:solidFill>
            <a:schemeClr val="accent5"/>
          </a:solidFill>
          <a:ln/>
        </p:spPr>
      </p:sp>
      <p:sp>
        <p:nvSpPr>
          <p:cNvPr id="38" name="text-286"/>
          <p:cNvSpPr txBox="1"/>
          <p:nvPr/>
        </p:nvSpPr>
        <p:spPr>
          <a:xfrm>
            <a:off x="7708392" y="5303520"/>
            <a:ext cx="1042416" cy="438912"/>
          </a:xfrm>
          <a:prstGeom prst="rect">
            <a:avLst/>
          </a:prstGeom>
          <a:noFill/>
          <a:ln/>
        </p:spPr>
        <p:txBody>
          <a:bodyPr wrap="square" lIns="0" tIns="0" rIns="0" bIns="0" rtlCol="0" anchor="ctr"/>
          <a:lstStyle/>
          <a:p>
            <a:pPr algn="ctr" indent="0" marL="0">
              <a:buNone/>
            </a:pPr>
            <a:r>
              <a:rPr lang="en-US" sz="1300" b="1" dirty="0">
                <a:solidFill>
                  <a:schemeClr val="tx1"/>
                </a:solidFill>
                <a:latin typeface="Roboto Mono" pitchFamily="34" charset="0"/>
                <a:ea typeface="Roboto Mono" pitchFamily="34" charset="-122"/>
                <a:cs typeface="Roboto Mono" pitchFamily="34" charset="-120"/>
              </a:rPr>
              <a:t>BEGIN</a:t>
            </a:r>
            <a:endParaRPr lang="en-US" sz="1300" dirty="0"/>
          </a:p>
        </p:txBody>
      </p:sp>
      <p:sp>
        <p:nvSpPr>
          <p:cNvPr id="39" name="box-287"/>
          <p:cNvSpPr/>
          <p:nvPr/>
        </p:nvSpPr>
        <p:spPr>
          <a:xfrm>
            <a:off x="8915400" y="5303520"/>
            <a:ext cx="1188720" cy="438912"/>
          </a:xfrm>
          <a:prstGeom prst="roundRect">
            <a:avLst>
              <a:gd name="adj" fmla="val 25000"/>
            </a:avLst>
          </a:prstGeom>
          <a:solidFill>
            <a:schemeClr val="accent5"/>
          </a:solidFill>
          <a:ln/>
        </p:spPr>
      </p:sp>
      <p:sp>
        <p:nvSpPr>
          <p:cNvPr id="40" name="text-288"/>
          <p:cNvSpPr txBox="1"/>
          <p:nvPr/>
        </p:nvSpPr>
        <p:spPr>
          <a:xfrm>
            <a:off x="8988552" y="5303520"/>
            <a:ext cx="1042416" cy="438912"/>
          </a:xfrm>
          <a:prstGeom prst="rect">
            <a:avLst/>
          </a:prstGeom>
          <a:noFill/>
          <a:ln/>
        </p:spPr>
        <p:txBody>
          <a:bodyPr wrap="square" lIns="0" tIns="0" rIns="0" bIns="0" rtlCol="0" anchor="ctr"/>
          <a:lstStyle/>
          <a:p>
            <a:pPr algn="ctr" indent="0" marL="0">
              <a:buNone/>
            </a:pPr>
            <a:r>
              <a:rPr lang="en-US" sz="1300" b="1" dirty="0">
                <a:solidFill>
                  <a:schemeClr val="tx1"/>
                </a:solidFill>
                <a:latin typeface="Roboto Mono" pitchFamily="34" charset="0"/>
                <a:ea typeface="Roboto Mono" pitchFamily="34" charset="-122"/>
                <a:cs typeface="Roboto Mono" pitchFamily="34" charset="-120"/>
              </a:rPr>
              <a:t>COMMIT</a:t>
            </a:r>
            <a:endParaRPr lang="en-US" sz="1300" dirty="0"/>
          </a:p>
        </p:txBody>
      </p:sp>
      <p:sp>
        <p:nvSpPr>
          <p:cNvPr id="41" name="box-289"/>
          <p:cNvSpPr/>
          <p:nvPr/>
        </p:nvSpPr>
        <p:spPr>
          <a:xfrm>
            <a:off x="10195560" y="5303520"/>
            <a:ext cx="1188720" cy="438912"/>
          </a:xfrm>
          <a:prstGeom prst="roundRect">
            <a:avLst>
              <a:gd name="adj" fmla="val 25000"/>
            </a:avLst>
          </a:prstGeom>
          <a:solidFill>
            <a:schemeClr val="accent5"/>
          </a:solidFill>
          <a:ln/>
        </p:spPr>
      </p:sp>
      <p:sp>
        <p:nvSpPr>
          <p:cNvPr id="42" name="text-290"/>
          <p:cNvSpPr txBox="1"/>
          <p:nvPr/>
        </p:nvSpPr>
        <p:spPr>
          <a:xfrm>
            <a:off x="10268712" y="5303520"/>
            <a:ext cx="1042416" cy="438912"/>
          </a:xfrm>
          <a:prstGeom prst="rect">
            <a:avLst/>
          </a:prstGeom>
          <a:noFill/>
          <a:ln/>
        </p:spPr>
        <p:txBody>
          <a:bodyPr wrap="square" lIns="0" tIns="0" rIns="0" bIns="0" rtlCol="0" anchor="ctr"/>
          <a:lstStyle/>
          <a:p>
            <a:pPr algn="ctr" indent="0" marL="0">
              <a:buNone/>
            </a:pPr>
            <a:r>
              <a:rPr lang="en-US" sz="1300" b="1" dirty="0">
                <a:solidFill>
                  <a:schemeClr val="tx1"/>
                </a:solidFill>
                <a:latin typeface="Roboto Mono" pitchFamily="34" charset="0"/>
                <a:ea typeface="Roboto Mono" pitchFamily="34" charset="-122"/>
                <a:cs typeface="Roboto Mono" pitchFamily="34" charset="-120"/>
              </a:rPr>
              <a:t>ROLLBACK</a:t>
            </a:r>
            <a:endParaRPr lang="en-US" sz="1300" dirty="0"/>
          </a:p>
        </p:txBody>
      </p:sp>
      <p:pic>
        <p:nvPicPr>
          <p:cNvPr id="43" name="Image 0" descr="DraftingCompass icon">    </p:cNvPr>
          <p:cNvPicPr>
            <a:picLocks noChangeAspect="1"/>
          </p:cNvPicPr>
          <p:nvPr/>
        </p:nvPicPr>
        <p:blipFill>
          <a:blip r:embed="rId1"/>
          <a:stretch>
            <a:fillRect/>
          </a:stretch>
        </p:blipFill>
        <p:spPr>
          <a:xfrm>
            <a:off x="640812" y="476220"/>
            <a:ext cx="199705" cy="199705"/>
          </a:xfrm>
          <a:prstGeom prst="rect">
            <a:avLst/>
          </a:prstGeom>
        </p:spPr>
      </p:pic>
      <p:pic>
        <p:nvPicPr>
          <p:cNvPr id="44" name="Image 1" descr="DraftingCompass icon">    </p:cNvPr>
          <p:cNvPicPr>
            <a:picLocks noChangeAspect="1"/>
          </p:cNvPicPr>
          <p:nvPr/>
        </p:nvPicPr>
        <p:blipFill>
          <a:blip r:embed="rId2"/>
          <a:stretch>
            <a:fillRect/>
          </a:stretch>
        </p:blipFill>
        <p:spPr>
          <a:xfrm>
            <a:off x="1042416" y="2962656"/>
            <a:ext cx="475488" cy="475488"/>
          </a:xfrm>
          <a:prstGeom prst="rect">
            <a:avLst/>
          </a:prstGeom>
        </p:spPr>
      </p:pic>
      <p:pic>
        <p:nvPicPr>
          <p:cNvPr id="45" name="Image 2" descr="PencilAlt icon">    </p:cNvPr>
          <p:cNvPicPr>
            <a:picLocks noChangeAspect="1"/>
          </p:cNvPicPr>
          <p:nvPr/>
        </p:nvPicPr>
        <p:blipFill>
          <a:blip r:embed="rId3"/>
          <a:stretch>
            <a:fillRect/>
          </a:stretch>
        </p:blipFill>
        <p:spPr>
          <a:xfrm>
            <a:off x="6665976" y="2962656"/>
            <a:ext cx="475488" cy="475488"/>
          </a:xfrm>
          <a:prstGeom prst="rect">
            <a:avLst/>
          </a:prstGeom>
        </p:spPr>
      </p:pic>
      <p:pic>
        <p:nvPicPr>
          <p:cNvPr id="46" name="Image 3" descr="Search icon">    </p:cNvPr>
          <p:cNvPicPr>
            <a:picLocks noChangeAspect="1"/>
          </p:cNvPicPr>
          <p:nvPr/>
        </p:nvPicPr>
        <p:blipFill>
          <a:blip r:embed="rId4"/>
          <a:stretch>
            <a:fillRect/>
          </a:stretch>
        </p:blipFill>
        <p:spPr>
          <a:xfrm>
            <a:off x="1042416" y="4974336"/>
            <a:ext cx="475488" cy="475488"/>
          </a:xfrm>
          <a:prstGeom prst="rect">
            <a:avLst/>
          </a:prstGeom>
        </p:spPr>
      </p:pic>
      <p:pic>
        <p:nvPicPr>
          <p:cNvPr id="47" name="Image 4" descr="ShieldAlt icon">    </p:cNvPr>
          <p:cNvPicPr>
            <a:picLocks noChangeAspect="1"/>
          </p:cNvPicPr>
          <p:nvPr/>
        </p:nvPicPr>
        <p:blipFill>
          <a:blip r:embed="rId5"/>
          <a:stretch>
            <a:fillRect/>
          </a:stretch>
        </p:blipFill>
        <p:spPr>
          <a:xfrm>
            <a:off x="6665976" y="4974336"/>
            <a:ext cx="475488" cy="475488"/>
          </a:xfrm>
          <a:prstGeom prst="rect">
            <a:avLst/>
          </a:prstGeom>
        </p:spPr>
      </p:pic>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dot-291"/>
          <p:cNvSpPr/>
          <p:nvPr/>
        </p:nvSpPr>
        <p:spPr>
          <a:xfrm>
            <a:off x="548640" y="384048"/>
            <a:ext cx="384048" cy="384048"/>
          </a:xfrm>
          <a:prstGeom prst="ellipse">
            <a:avLst/>
          </a:prstGeom>
          <a:solidFill>
            <a:schemeClr val="accent1"/>
          </a:solidFill>
          <a:ln/>
        </p:spPr>
      </p:sp>
      <p:sp>
        <p:nvSpPr>
          <p:cNvPr id="3" name="Text 1"/>
          <p:cNvSpPr/>
          <p:nvPr>
            <p:ph idx="101" type="body" hasCustomPrompt="1"/>
          </p:nvPr>
        </p:nvSpPr>
        <p:spPr>
          <a:xfrm>
            <a:off x="1051560" y="384048"/>
            <a:ext cx="9601200" cy="384048"/>
          </a:xfrm>
          <a:prstGeom prst="rect">
            <a:avLst/>
          </a:prstGeom>
          <a:noFill/>
          <a:ln/>
        </p:spPr>
        <p:txBody>
          <a:bodyPr wrap="square" lIns="0" tIns="0" rIns="0" bIns="0" rtlCol="0" anchor="ctr"/>
          <a:lstStyle/>
          <a:p>
            <a:pPr indent="0" marL="0">
              <a:buNone/>
            </a:pPr>
            <a:r>
              <a:rPr lang="en-US" sz="1300" b="1" spc="300" kern="0" dirty="0">
                <a:solidFill>
                  <a:schemeClr val="tx2"/>
                </a:solidFill>
              </a:rPr>
              <a:t>L1  ·  MODEL  ·  3.2 ENTITIES &amp; KEYS</a:t>
            </a:r>
            <a:endParaRPr lang="en-US" sz="1300" dirty="0"/>
          </a:p>
        </p:txBody>
      </p:sp>
      <p:sp>
        <p:nvSpPr>
          <p:cNvPr id="4" name="Text 1"/>
          <p:cNvSpPr/>
          <p:nvPr>
            <p:ph idx="102" type="title" hasCustomPrompt="1"/>
          </p:nvPr>
        </p:nvSpPr>
        <p:spPr>
          <a:xfrm>
            <a:off x="548640" y="841248"/>
            <a:ext cx="11064240" cy="777240"/>
          </a:xfrm>
          <a:prstGeom prst="rect">
            <a:avLst/>
          </a:prstGeom>
          <a:noFill/>
          <a:ln/>
        </p:spPr>
        <p:txBody>
          <a:bodyPr wrap="square" lIns="0" tIns="0" rIns="0" bIns="0" rtlCol="0" anchor="ctr"/>
          <a:lstStyle/>
          <a:p>
            <a:pPr algn="l" indent="0" marL="0">
              <a:buNone/>
            </a:pPr>
            <a:r>
              <a:rPr lang="en-US" sz="3800" b="1" dirty="0">
                <a:solidFill>
                  <a:schemeClr val="tx1"/>
                </a:solidFill>
              </a:rPr>
              <a:t>Keys make data joinable</a:t>
            </a:r>
            <a:endParaRPr lang="en-US" sz="3800" dirty="0"/>
          </a:p>
        </p:txBody>
      </p:sp>
      <p:sp>
        <p:nvSpPr>
          <p:cNvPr id="5" name="Text 1"/>
          <p:cNvSpPr/>
          <p:nvPr>
            <p:ph idx="103" type="body" hasCustomPrompt="1"/>
          </p:nvPr>
        </p:nvSpPr>
        <p:spPr>
          <a:xfrm>
            <a:off x="548640" y="1627632"/>
            <a:ext cx="11064240" cy="457200"/>
          </a:xfrm>
          <a:prstGeom prst="rect">
            <a:avLst/>
          </a:prstGeom>
          <a:noFill/>
          <a:ln/>
        </p:spPr>
        <p:txBody>
          <a:bodyPr wrap="square" lIns="0" tIns="0" rIns="0" bIns="0" rtlCol="0" anchor="t"/>
          <a:lstStyle/>
          <a:p>
            <a:pPr indent="0" marL="0">
              <a:buNone/>
            </a:pPr>
            <a:r>
              <a:rPr lang="en-US" sz="2000" dirty="0">
                <a:solidFill>
                  <a:schemeClr val="tx2"/>
                </a:solidFill>
              </a:rPr>
              <a:t>PK = passport number   ·   FK = that number on a visa form</a:t>
            </a:r>
            <a:endParaRPr lang="en-US" sz="2000" dirty="0"/>
          </a:p>
        </p:txBody>
      </p:sp>
      <p:sp>
        <p:nvSpPr>
          <p:cNvPr id="7" name="box-292"/>
          <p:cNvSpPr/>
          <p:nvPr/>
        </p:nvSpPr>
        <p:spPr>
          <a:xfrm>
            <a:off x="822960" y="2331720"/>
            <a:ext cx="4206240" cy="3566160"/>
          </a:xfrm>
          <a:prstGeom prst="roundRect">
            <a:avLst>
              <a:gd name="adj" fmla="val 3077"/>
            </a:avLst>
          </a:prstGeom>
          <a:solidFill>
            <a:schemeClr val="tx1"/>
          </a:solidFill>
          <a:ln/>
        </p:spPr>
      </p:sp>
      <p:sp>
        <p:nvSpPr>
          <p:cNvPr id="8" name="text-293"/>
          <p:cNvSpPr txBox="1"/>
          <p:nvPr/>
        </p:nvSpPr>
        <p:spPr>
          <a:xfrm>
            <a:off x="2148840" y="2606040"/>
            <a:ext cx="2743200" cy="411480"/>
          </a:xfrm>
          <a:prstGeom prst="rect">
            <a:avLst/>
          </a:prstGeom>
          <a:noFill/>
          <a:ln/>
        </p:spPr>
        <p:txBody>
          <a:bodyPr wrap="square" lIns="0" tIns="0" rIns="0" bIns="0" rtlCol="0" anchor="ctr"/>
          <a:lstStyle/>
          <a:p>
            <a:pPr algn="l" indent="0" marL="0">
              <a:buNone/>
            </a:pPr>
            <a:r>
              <a:rPr lang="en-US" sz="2000" b="1" dirty="0">
                <a:solidFill>
                  <a:schemeClr val="bg1"/>
                </a:solidFill>
              </a:rPr>
              <a:t>users</a:t>
            </a:r>
            <a:endParaRPr lang="en-US" sz="2000" dirty="0"/>
          </a:p>
        </p:txBody>
      </p:sp>
      <p:sp>
        <p:nvSpPr>
          <p:cNvPr id="9" name="text-294"/>
          <p:cNvSpPr txBox="1"/>
          <p:nvPr/>
        </p:nvSpPr>
        <p:spPr>
          <a:xfrm>
            <a:off x="2148840" y="2999232"/>
            <a:ext cx="2743200" cy="365760"/>
          </a:xfrm>
          <a:prstGeom prst="rect">
            <a:avLst/>
          </a:prstGeom>
          <a:noFill/>
          <a:ln/>
        </p:spPr>
        <p:txBody>
          <a:bodyPr wrap="square" lIns="0" tIns="0" rIns="0" bIns="0" rtlCol="0" anchor="ctr"/>
          <a:lstStyle/>
          <a:p>
            <a:pPr algn="l" indent="0" marL="0">
              <a:buNone/>
            </a:pPr>
            <a:r>
              <a:rPr lang="en-US" sz="1400" dirty="0">
                <a:solidFill>
                  <a:schemeClr val="bg1"/>
                </a:solidFill>
              </a:rPr>
              <a:t>the passport</a:t>
            </a:r>
            <a:endParaRPr lang="en-US" sz="1400" dirty="0"/>
          </a:p>
        </p:txBody>
      </p:sp>
      <p:sp>
        <p:nvSpPr>
          <p:cNvPr id="10" name="text-295"/>
          <p:cNvSpPr txBox="1"/>
          <p:nvPr/>
        </p:nvSpPr>
        <p:spPr>
          <a:xfrm>
            <a:off x="1143000" y="3886200"/>
            <a:ext cx="3657600" cy="365760"/>
          </a:xfrm>
          <a:prstGeom prst="rect">
            <a:avLst/>
          </a:prstGeom>
          <a:noFill/>
          <a:ln/>
        </p:spPr>
        <p:txBody>
          <a:bodyPr wrap="square" lIns="0" tIns="0" rIns="0" bIns="0" rtlCol="0" anchor="ctr"/>
          <a:lstStyle/>
          <a:p>
            <a:pPr algn="l" indent="0" marL="0">
              <a:buNone/>
            </a:pPr>
            <a:r>
              <a:rPr lang="en-US" sz="1400" b="1" spc="100" kern="0" dirty="0">
                <a:solidFill>
                  <a:schemeClr val="accent2"/>
                </a:solidFill>
              </a:rPr>
              <a:t>id  (PRIMARY KEY)</a:t>
            </a:r>
            <a:endParaRPr lang="en-US" sz="1400" dirty="0"/>
          </a:p>
        </p:txBody>
      </p:sp>
      <p:sp>
        <p:nvSpPr>
          <p:cNvPr id="11" name="box-296"/>
          <p:cNvSpPr/>
          <p:nvPr/>
        </p:nvSpPr>
        <p:spPr>
          <a:xfrm>
            <a:off x="1143000" y="4343400"/>
            <a:ext cx="3566160" cy="685800"/>
          </a:xfrm>
          <a:prstGeom prst="roundRect">
            <a:avLst>
              <a:gd name="adj" fmla="val 16000"/>
            </a:avLst>
          </a:prstGeom>
          <a:solidFill>
            <a:schemeClr val="bg1">
              <a:alpha val="10000"/>
            </a:schemeClr>
          </a:solidFill>
          <a:ln w="25400">
            <a:solidFill>
              <a:schemeClr val="accent2"/>
            </a:solidFill>
            <a:prstDash val="solid"/>
          </a:ln>
        </p:spPr>
      </p:sp>
      <p:sp>
        <p:nvSpPr>
          <p:cNvPr id="12" name="text-297"/>
          <p:cNvSpPr txBox="1"/>
          <p:nvPr/>
        </p:nvSpPr>
        <p:spPr>
          <a:xfrm>
            <a:off x="1216152" y="4343400"/>
            <a:ext cx="3419856" cy="685800"/>
          </a:xfrm>
          <a:prstGeom prst="rect">
            <a:avLst/>
          </a:prstGeom>
          <a:noFill/>
          <a:ln/>
        </p:spPr>
        <p:txBody>
          <a:bodyPr wrap="square" lIns="0" tIns="0" rIns="0" bIns="0" rtlCol="0" anchor="ctr"/>
          <a:lstStyle/>
          <a:p>
            <a:pPr algn="ctr" indent="0" marL="0">
              <a:buNone/>
            </a:pPr>
            <a:r>
              <a:rPr lang="en-US" sz="2400" b="1" dirty="0">
                <a:solidFill>
                  <a:schemeClr val="bg1"/>
                </a:solidFill>
                <a:latin typeface="Roboto Mono" pitchFamily="34" charset="0"/>
                <a:ea typeface="Roboto Mono" pitchFamily="34" charset="-122"/>
                <a:cs typeface="Roboto Mono" pitchFamily="34" charset="-120"/>
              </a:rPr>
              <a:t>7f3a…c21</a:t>
            </a:r>
            <a:endParaRPr lang="en-US" sz="2400" dirty="0"/>
          </a:p>
        </p:txBody>
      </p:sp>
      <p:sp>
        <p:nvSpPr>
          <p:cNvPr id="13" name="box-298"/>
          <p:cNvSpPr/>
          <p:nvPr/>
        </p:nvSpPr>
        <p:spPr>
          <a:xfrm>
            <a:off x="7132320" y="2331720"/>
            <a:ext cx="4206240" cy="3566160"/>
          </a:xfrm>
          <a:prstGeom prst="roundRect">
            <a:avLst>
              <a:gd name="adj" fmla="val 2051"/>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14" name="text-299"/>
          <p:cNvSpPr txBox="1"/>
          <p:nvPr/>
        </p:nvSpPr>
        <p:spPr>
          <a:xfrm>
            <a:off x="8458200" y="2606040"/>
            <a:ext cx="2743200" cy="411480"/>
          </a:xfrm>
          <a:prstGeom prst="rect">
            <a:avLst/>
          </a:prstGeom>
          <a:noFill/>
          <a:ln/>
        </p:spPr>
        <p:txBody>
          <a:bodyPr wrap="square" lIns="0" tIns="0" rIns="0" bIns="0" rtlCol="0" anchor="ctr"/>
          <a:lstStyle/>
          <a:p>
            <a:pPr algn="l" indent="0" marL="0">
              <a:buNone/>
            </a:pPr>
            <a:r>
              <a:rPr lang="en-US" sz="2000" b="1" dirty="0">
                <a:solidFill>
                  <a:schemeClr val="tx1"/>
                </a:solidFill>
              </a:rPr>
              <a:t>orders</a:t>
            </a:r>
            <a:endParaRPr lang="en-US" sz="2000" dirty="0"/>
          </a:p>
        </p:txBody>
      </p:sp>
      <p:sp>
        <p:nvSpPr>
          <p:cNvPr id="15" name="text-300"/>
          <p:cNvSpPr txBox="1"/>
          <p:nvPr/>
        </p:nvSpPr>
        <p:spPr>
          <a:xfrm>
            <a:off x="8458200" y="2999232"/>
            <a:ext cx="2743200" cy="365760"/>
          </a:xfrm>
          <a:prstGeom prst="rect">
            <a:avLst/>
          </a:prstGeom>
          <a:noFill/>
          <a:ln/>
        </p:spPr>
        <p:txBody>
          <a:bodyPr wrap="square" lIns="0" tIns="0" rIns="0" bIns="0" rtlCol="0" anchor="ctr"/>
          <a:lstStyle/>
          <a:p>
            <a:pPr algn="l" indent="0" marL="0">
              <a:buNone/>
            </a:pPr>
            <a:r>
              <a:rPr lang="en-US" sz="1400" dirty="0">
                <a:solidFill>
                  <a:schemeClr val="tx2"/>
                </a:solidFill>
              </a:rPr>
              <a:t>the visa form</a:t>
            </a:r>
            <a:endParaRPr lang="en-US" sz="1400" dirty="0"/>
          </a:p>
        </p:txBody>
      </p:sp>
      <p:sp>
        <p:nvSpPr>
          <p:cNvPr id="16" name="text-301"/>
          <p:cNvSpPr txBox="1"/>
          <p:nvPr/>
        </p:nvSpPr>
        <p:spPr>
          <a:xfrm>
            <a:off x="7452360" y="3886200"/>
            <a:ext cx="3657600" cy="365760"/>
          </a:xfrm>
          <a:prstGeom prst="rect">
            <a:avLst/>
          </a:prstGeom>
          <a:noFill/>
          <a:ln/>
        </p:spPr>
        <p:txBody>
          <a:bodyPr wrap="square" lIns="0" tIns="0" rIns="0" bIns="0" rtlCol="0" anchor="ctr"/>
          <a:lstStyle/>
          <a:p>
            <a:pPr algn="l" indent="0" marL="0">
              <a:buNone/>
            </a:pPr>
            <a:r>
              <a:rPr lang="en-US" sz="1400" b="1" spc="100" kern="0" dirty="0">
                <a:solidFill>
                  <a:schemeClr val="accent6"/>
                </a:solidFill>
              </a:rPr>
              <a:t>user_id  (FOREIGN KEY)</a:t>
            </a:r>
            <a:endParaRPr lang="en-US" sz="1400" dirty="0"/>
          </a:p>
        </p:txBody>
      </p:sp>
      <p:sp>
        <p:nvSpPr>
          <p:cNvPr id="17" name="box-302"/>
          <p:cNvSpPr/>
          <p:nvPr/>
        </p:nvSpPr>
        <p:spPr>
          <a:xfrm>
            <a:off x="7452360" y="4343400"/>
            <a:ext cx="3566160" cy="685800"/>
          </a:xfrm>
          <a:prstGeom prst="roundRect">
            <a:avLst>
              <a:gd name="adj" fmla="val 16000"/>
            </a:avLst>
          </a:prstGeom>
          <a:solidFill>
            <a:schemeClr val="accent1">
              <a:alpha val="18000"/>
            </a:schemeClr>
          </a:solidFill>
          <a:ln w="25400">
            <a:solidFill>
              <a:schemeClr val="accent1"/>
            </a:solidFill>
            <a:prstDash val="solid"/>
          </a:ln>
        </p:spPr>
      </p:sp>
      <p:sp>
        <p:nvSpPr>
          <p:cNvPr id="18" name="text-303"/>
          <p:cNvSpPr txBox="1"/>
          <p:nvPr/>
        </p:nvSpPr>
        <p:spPr>
          <a:xfrm>
            <a:off x="7525512" y="4343400"/>
            <a:ext cx="3419856" cy="685800"/>
          </a:xfrm>
          <a:prstGeom prst="rect">
            <a:avLst/>
          </a:prstGeom>
          <a:noFill/>
          <a:ln/>
        </p:spPr>
        <p:txBody>
          <a:bodyPr wrap="square" lIns="0" tIns="0" rIns="0" bIns="0" rtlCol="0" anchor="ctr"/>
          <a:lstStyle/>
          <a:p>
            <a:pPr algn="ctr" indent="0" marL="0">
              <a:buNone/>
            </a:pPr>
            <a:r>
              <a:rPr lang="en-US" sz="2400" b="1" dirty="0">
                <a:solidFill>
                  <a:schemeClr val="tx1"/>
                </a:solidFill>
                <a:latin typeface="Roboto Mono" pitchFamily="34" charset="0"/>
                <a:ea typeface="Roboto Mono" pitchFamily="34" charset="-122"/>
                <a:cs typeface="Roboto Mono" pitchFamily="34" charset="-120"/>
              </a:rPr>
              <a:t>7f3a…c21</a:t>
            </a:r>
            <a:endParaRPr lang="en-US" sz="2400" dirty="0"/>
          </a:p>
        </p:txBody>
      </p:sp>
      <p:sp>
        <p:nvSpPr>
          <p:cNvPr id="19" name="line-304"/>
          <p:cNvSpPr/>
          <p:nvPr/>
        </p:nvSpPr>
        <p:spPr>
          <a:xfrm flipH="1">
            <a:off x="4709160" y="4681728"/>
            <a:ext cx="2743200" cy="91"/>
          </a:xfrm>
          <a:prstGeom prst="line">
            <a:avLst/>
          </a:prstGeom>
          <a:noFill/>
          <a:ln w="38100">
            <a:solidFill>
              <a:schemeClr val="accent1"/>
            </a:solidFill>
            <a:prstDash val="solid"/>
            <a:tailEnd type="triangle"/>
          </a:ln>
        </p:spPr>
      </p:sp>
      <p:sp>
        <p:nvSpPr>
          <p:cNvPr id="20" name="dot-305"/>
          <p:cNvSpPr/>
          <p:nvPr/>
        </p:nvSpPr>
        <p:spPr>
          <a:xfrm>
            <a:off x="5760720" y="4069080"/>
            <a:ext cx="502920" cy="502920"/>
          </a:xfrm>
          <a:prstGeom prst="ellipse">
            <a:avLst/>
          </a:prstGeom>
          <a:solidFill>
            <a:schemeClr val="accent2"/>
          </a:solidFill>
          <a:ln/>
        </p:spPr>
      </p:sp>
      <p:sp>
        <p:nvSpPr>
          <p:cNvPr id="21" name="text-306"/>
          <p:cNvSpPr txBox="1"/>
          <p:nvPr/>
        </p:nvSpPr>
        <p:spPr>
          <a:xfrm>
            <a:off x="5120640" y="4846320"/>
            <a:ext cx="1737360" cy="365760"/>
          </a:xfrm>
          <a:prstGeom prst="rect">
            <a:avLst/>
          </a:prstGeom>
          <a:noFill/>
          <a:ln/>
        </p:spPr>
        <p:txBody>
          <a:bodyPr wrap="square" lIns="0" tIns="0" rIns="0" bIns="0" rtlCol="0" anchor="ctr"/>
          <a:lstStyle/>
          <a:p>
            <a:pPr algn="ctr" indent="0" marL="0">
              <a:buNone/>
            </a:pPr>
            <a:r>
              <a:rPr lang="en-US" sz="1400" b="1" dirty="0">
                <a:solidFill>
                  <a:schemeClr val="tx1"/>
                </a:solidFill>
              </a:rPr>
              <a:t>must exist</a:t>
            </a:r>
            <a:endParaRPr lang="en-US" sz="1400" dirty="0"/>
          </a:p>
        </p:txBody>
      </p:sp>
      <p:pic>
        <p:nvPicPr>
          <p:cNvPr id="22" name="Image 0" descr="DraftingCompass icon">    </p:cNvPr>
          <p:cNvPicPr>
            <a:picLocks noChangeAspect="1"/>
          </p:cNvPicPr>
          <p:nvPr/>
        </p:nvPicPr>
        <p:blipFill>
          <a:blip r:embed="rId1"/>
          <a:stretch>
            <a:fillRect/>
          </a:stretch>
        </p:blipFill>
        <p:spPr>
          <a:xfrm>
            <a:off x="640812" y="476220"/>
            <a:ext cx="199705" cy="199705"/>
          </a:xfrm>
          <a:prstGeom prst="rect">
            <a:avLst/>
          </a:prstGeom>
        </p:spPr>
      </p:pic>
      <p:pic>
        <p:nvPicPr>
          <p:cNvPr id="23" name="Image 1" descr="Passport icon">    </p:cNvPr>
          <p:cNvPicPr>
            <a:picLocks noChangeAspect="1"/>
          </p:cNvPicPr>
          <p:nvPr/>
        </p:nvPicPr>
        <p:blipFill>
          <a:blip r:embed="rId2"/>
          <a:stretch>
            <a:fillRect/>
          </a:stretch>
        </p:blipFill>
        <p:spPr>
          <a:xfrm>
            <a:off x="1143000" y="2606040"/>
            <a:ext cx="822960" cy="822960"/>
          </a:xfrm>
          <a:prstGeom prst="rect">
            <a:avLst/>
          </a:prstGeom>
        </p:spPr>
      </p:pic>
      <p:pic>
        <p:nvPicPr>
          <p:cNvPr id="24" name="Image 2" descr="FileSignature icon">    </p:cNvPr>
          <p:cNvPicPr>
            <a:picLocks noChangeAspect="1"/>
          </p:cNvPicPr>
          <p:nvPr/>
        </p:nvPicPr>
        <p:blipFill>
          <a:blip r:embed="rId3"/>
          <a:stretch>
            <a:fillRect/>
          </a:stretch>
        </p:blipFill>
        <p:spPr>
          <a:xfrm>
            <a:off x="7452360" y="2606040"/>
            <a:ext cx="822960" cy="822960"/>
          </a:xfrm>
          <a:prstGeom prst="rect">
            <a:avLst/>
          </a:prstGeom>
        </p:spPr>
      </p:pic>
      <p:pic>
        <p:nvPicPr>
          <p:cNvPr id="25" name="Image 3" descr="Check icon">    </p:cNvPr>
          <p:cNvPicPr>
            <a:picLocks noChangeAspect="1"/>
          </p:cNvPicPr>
          <p:nvPr/>
        </p:nvPicPr>
        <p:blipFill>
          <a:blip r:embed="rId4"/>
          <a:stretch>
            <a:fillRect/>
          </a:stretch>
        </p:blipFill>
        <p:spPr>
          <a:xfrm>
            <a:off x="5881421" y="4189781"/>
            <a:ext cx="261518" cy="261518"/>
          </a:xfrm>
          <a:prstGeom prst="rect">
            <a:avLst/>
          </a:prstGeom>
        </p:spPr>
      </p:pic>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dot-307"/>
          <p:cNvSpPr/>
          <p:nvPr/>
        </p:nvSpPr>
        <p:spPr>
          <a:xfrm>
            <a:off x="548640" y="384048"/>
            <a:ext cx="384048" cy="384048"/>
          </a:xfrm>
          <a:prstGeom prst="ellipse">
            <a:avLst/>
          </a:prstGeom>
          <a:solidFill>
            <a:schemeClr val="accent1"/>
          </a:solidFill>
          <a:ln/>
        </p:spPr>
      </p:sp>
      <p:sp>
        <p:nvSpPr>
          <p:cNvPr id="3" name="Text 1"/>
          <p:cNvSpPr/>
          <p:nvPr>
            <p:ph idx="101" type="body" hasCustomPrompt="1"/>
          </p:nvPr>
        </p:nvSpPr>
        <p:spPr>
          <a:xfrm>
            <a:off x="1051560" y="384048"/>
            <a:ext cx="9601200" cy="384048"/>
          </a:xfrm>
          <a:prstGeom prst="rect">
            <a:avLst/>
          </a:prstGeom>
          <a:noFill/>
          <a:ln/>
        </p:spPr>
        <p:txBody>
          <a:bodyPr wrap="square" lIns="0" tIns="0" rIns="0" bIns="0" rtlCol="0" anchor="ctr"/>
          <a:lstStyle/>
          <a:p>
            <a:pPr indent="0" marL="0">
              <a:buNone/>
            </a:pPr>
            <a:r>
              <a:rPr lang="en-US" sz="1300" b="1" spc="300" kern="0" dirty="0">
                <a:solidFill>
                  <a:schemeClr val="tx2"/>
                </a:solidFill>
              </a:rPr>
              <a:t>L1  ·  MODEL  ·  3.2 ENTITIES &amp; KEYS</a:t>
            </a:r>
            <a:endParaRPr lang="en-US" sz="1300" dirty="0"/>
          </a:p>
        </p:txBody>
      </p:sp>
      <p:sp>
        <p:nvSpPr>
          <p:cNvPr id="4" name="Text 1"/>
          <p:cNvSpPr/>
          <p:nvPr>
            <p:ph idx="102" type="title" hasCustomPrompt="1"/>
          </p:nvPr>
        </p:nvSpPr>
        <p:spPr>
          <a:xfrm>
            <a:off x="548640" y="841248"/>
            <a:ext cx="11064240" cy="777240"/>
          </a:xfrm>
          <a:prstGeom prst="rect">
            <a:avLst/>
          </a:prstGeom>
          <a:noFill/>
          <a:ln/>
        </p:spPr>
        <p:txBody>
          <a:bodyPr wrap="square" lIns="0" tIns="0" rIns="0" bIns="0" rtlCol="0" anchor="ctr"/>
          <a:lstStyle/>
          <a:p>
            <a:pPr algn="l" indent="0" marL="0">
              <a:buNone/>
            </a:pPr>
            <a:r>
              <a:rPr lang="en-US" sz="3800" b="1" dirty="0">
                <a:solidFill>
                  <a:schemeClr val="tx1"/>
                </a:solidFill>
              </a:rPr>
              <a:t>Identity or UUID?</a:t>
            </a:r>
            <a:endParaRPr lang="en-US" sz="3800" dirty="0"/>
          </a:p>
        </p:txBody>
      </p:sp>
      <p:sp>
        <p:nvSpPr>
          <p:cNvPr id="5" name="Text 1"/>
          <p:cNvSpPr/>
          <p:nvPr>
            <p:ph idx="103" type="body" hasCustomPrompt="1"/>
          </p:nvPr>
        </p:nvSpPr>
        <p:spPr>
          <a:xfrm>
            <a:off x="548640" y="1627632"/>
            <a:ext cx="11064240" cy="457200"/>
          </a:xfrm>
          <a:prstGeom prst="rect">
            <a:avLst/>
          </a:prstGeom>
          <a:noFill/>
          <a:ln/>
        </p:spPr>
        <p:txBody>
          <a:bodyPr wrap="square" lIns="0" tIns="0" rIns="0" bIns="0" rtlCol="0" anchor="t"/>
          <a:lstStyle/>
          <a:p>
            <a:pPr indent="0" marL="0">
              <a:buNone/>
            </a:pPr>
            <a:r>
              <a:rPr lang="en-US" sz="2000" dirty="0">
                <a:solidFill>
                  <a:schemeClr val="tx2"/>
                </a:solidFill>
              </a:rPr>
              <a:t>Small and fast vs. unguessable and global</a:t>
            </a:r>
            <a:endParaRPr lang="en-US" sz="2000" dirty="0"/>
          </a:p>
        </p:txBody>
      </p:sp>
      <p:sp>
        <p:nvSpPr>
          <p:cNvPr id="7" name="box-308"/>
          <p:cNvSpPr/>
          <p:nvPr/>
        </p:nvSpPr>
        <p:spPr>
          <a:xfrm>
            <a:off x="548640" y="2331720"/>
            <a:ext cx="5394960" cy="3657600"/>
          </a:xfrm>
          <a:prstGeom prst="roundRect">
            <a:avLst>
              <a:gd name="adj" fmla="val 2000"/>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8" name="box-309"/>
          <p:cNvSpPr/>
          <p:nvPr/>
        </p:nvSpPr>
        <p:spPr>
          <a:xfrm>
            <a:off x="6217920" y="2331720"/>
            <a:ext cx="5394960" cy="3657600"/>
          </a:xfrm>
          <a:prstGeom prst="roundRect">
            <a:avLst>
              <a:gd name="adj" fmla="val 2000"/>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9" name="text-310"/>
          <p:cNvSpPr txBox="1"/>
          <p:nvPr/>
        </p:nvSpPr>
        <p:spPr>
          <a:xfrm>
            <a:off x="868680" y="2514600"/>
            <a:ext cx="4572000" cy="502920"/>
          </a:xfrm>
          <a:prstGeom prst="rect">
            <a:avLst/>
          </a:prstGeom>
          <a:noFill/>
          <a:ln/>
        </p:spPr>
        <p:txBody>
          <a:bodyPr wrap="square" lIns="0" tIns="0" rIns="0" bIns="0" rtlCol="0" anchor="ctr"/>
          <a:lstStyle/>
          <a:p>
            <a:pPr algn="l" indent="0" marL="0">
              <a:buNone/>
            </a:pPr>
            <a:r>
              <a:rPr lang="en-US" sz="2200" b="1" dirty="0">
                <a:solidFill>
                  <a:schemeClr val="tx1"/>
                </a:solidFill>
              </a:rPr>
              <a:t>BIGINT IDENTITY</a:t>
            </a:r>
            <a:endParaRPr lang="en-US" sz="2200" dirty="0"/>
          </a:p>
        </p:txBody>
      </p:sp>
      <p:sp>
        <p:nvSpPr>
          <p:cNvPr id="10" name="box-311"/>
          <p:cNvSpPr/>
          <p:nvPr/>
        </p:nvSpPr>
        <p:spPr>
          <a:xfrm>
            <a:off x="868680" y="3154680"/>
            <a:ext cx="640080" cy="640080"/>
          </a:xfrm>
          <a:prstGeom prst="roundRect">
            <a:avLst>
              <a:gd name="adj" fmla="val 17143"/>
            </a:avLst>
          </a:prstGeom>
          <a:solidFill>
            <a:schemeClr val="accent1">
              <a:alpha val="20000"/>
            </a:schemeClr>
          </a:solidFill>
          <a:ln/>
        </p:spPr>
      </p:sp>
      <p:sp>
        <p:nvSpPr>
          <p:cNvPr id="11" name="text-312"/>
          <p:cNvSpPr txBox="1"/>
          <p:nvPr/>
        </p:nvSpPr>
        <p:spPr>
          <a:xfrm>
            <a:off x="941832" y="3154680"/>
            <a:ext cx="493776" cy="640080"/>
          </a:xfrm>
          <a:prstGeom prst="rect">
            <a:avLst/>
          </a:prstGeom>
          <a:noFill/>
          <a:ln/>
        </p:spPr>
        <p:txBody>
          <a:bodyPr wrap="square" lIns="0" tIns="0" rIns="0" bIns="0" rtlCol="0" anchor="ctr"/>
          <a:lstStyle/>
          <a:p>
            <a:pPr algn="ctr" indent="0" marL="0">
              <a:buNone/>
            </a:pPr>
            <a:r>
              <a:rPr lang="en-US" sz="2200" b="1" dirty="0">
                <a:solidFill>
                  <a:schemeClr val="tx1"/>
                </a:solidFill>
                <a:latin typeface="Roboto Mono" pitchFamily="34" charset="0"/>
                <a:ea typeface="Roboto Mono" pitchFamily="34" charset="-122"/>
                <a:cs typeface="Roboto Mono" pitchFamily="34" charset="-120"/>
              </a:rPr>
              <a:t>1</a:t>
            </a:r>
            <a:endParaRPr lang="en-US" sz="2200" dirty="0"/>
          </a:p>
        </p:txBody>
      </p:sp>
      <p:sp>
        <p:nvSpPr>
          <p:cNvPr id="12" name="box-313"/>
          <p:cNvSpPr/>
          <p:nvPr/>
        </p:nvSpPr>
        <p:spPr>
          <a:xfrm>
            <a:off x="1645920" y="3154680"/>
            <a:ext cx="640080" cy="640080"/>
          </a:xfrm>
          <a:prstGeom prst="roundRect">
            <a:avLst>
              <a:gd name="adj" fmla="val 17143"/>
            </a:avLst>
          </a:prstGeom>
          <a:solidFill>
            <a:schemeClr val="accent1">
              <a:alpha val="20000"/>
            </a:schemeClr>
          </a:solidFill>
          <a:ln/>
        </p:spPr>
      </p:sp>
      <p:sp>
        <p:nvSpPr>
          <p:cNvPr id="13" name="text-314"/>
          <p:cNvSpPr txBox="1"/>
          <p:nvPr/>
        </p:nvSpPr>
        <p:spPr>
          <a:xfrm>
            <a:off x="1719072" y="3154680"/>
            <a:ext cx="493776" cy="640080"/>
          </a:xfrm>
          <a:prstGeom prst="rect">
            <a:avLst/>
          </a:prstGeom>
          <a:noFill/>
          <a:ln/>
        </p:spPr>
        <p:txBody>
          <a:bodyPr wrap="square" lIns="0" tIns="0" rIns="0" bIns="0" rtlCol="0" anchor="ctr"/>
          <a:lstStyle/>
          <a:p>
            <a:pPr algn="ctr" indent="0" marL="0">
              <a:buNone/>
            </a:pPr>
            <a:r>
              <a:rPr lang="en-US" sz="2200" b="1" dirty="0">
                <a:solidFill>
                  <a:schemeClr val="tx1"/>
                </a:solidFill>
                <a:latin typeface="Roboto Mono" pitchFamily="34" charset="0"/>
                <a:ea typeface="Roboto Mono" pitchFamily="34" charset="-122"/>
                <a:cs typeface="Roboto Mono" pitchFamily="34" charset="-120"/>
              </a:rPr>
              <a:t>2</a:t>
            </a:r>
            <a:endParaRPr lang="en-US" sz="2200" dirty="0"/>
          </a:p>
        </p:txBody>
      </p:sp>
      <p:sp>
        <p:nvSpPr>
          <p:cNvPr id="14" name="box-315"/>
          <p:cNvSpPr/>
          <p:nvPr/>
        </p:nvSpPr>
        <p:spPr>
          <a:xfrm>
            <a:off x="2423160" y="3154680"/>
            <a:ext cx="640080" cy="640080"/>
          </a:xfrm>
          <a:prstGeom prst="roundRect">
            <a:avLst>
              <a:gd name="adj" fmla="val 17143"/>
            </a:avLst>
          </a:prstGeom>
          <a:solidFill>
            <a:schemeClr val="accent1">
              <a:alpha val="20000"/>
            </a:schemeClr>
          </a:solidFill>
          <a:ln/>
        </p:spPr>
      </p:sp>
      <p:sp>
        <p:nvSpPr>
          <p:cNvPr id="15" name="text-316"/>
          <p:cNvSpPr txBox="1"/>
          <p:nvPr/>
        </p:nvSpPr>
        <p:spPr>
          <a:xfrm>
            <a:off x="2496312" y="3154680"/>
            <a:ext cx="493776" cy="640080"/>
          </a:xfrm>
          <a:prstGeom prst="rect">
            <a:avLst/>
          </a:prstGeom>
          <a:noFill/>
          <a:ln/>
        </p:spPr>
        <p:txBody>
          <a:bodyPr wrap="square" lIns="0" tIns="0" rIns="0" bIns="0" rtlCol="0" anchor="ctr"/>
          <a:lstStyle/>
          <a:p>
            <a:pPr algn="ctr" indent="0" marL="0">
              <a:buNone/>
            </a:pPr>
            <a:r>
              <a:rPr lang="en-US" sz="2200" b="1" dirty="0">
                <a:solidFill>
                  <a:schemeClr val="tx1"/>
                </a:solidFill>
                <a:latin typeface="Roboto Mono" pitchFamily="34" charset="0"/>
                <a:ea typeface="Roboto Mono" pitchFamily="34" charset="-122"/>
                <a:cs typeface="Roboto Mono" pitchFamily="34" charset="-120"/>
              </a:rPr>
              <a:t>3</a:t>
            </a:r>
            <a:endParaRPr lang="en-US" sz="2200" dirty="0"/>
          </a:p>
        </p:txBody>
      </p:sp>
      <p:sp>
        <p:nvSpPr>
          <p:cNvPr id="16" name="box-317"/>
          <p:cNvSpPr/>
          <p:nvPr/>
        </p:nvSpPr>
        <p:spPr>
          <a:xfrm>
            <a:off x="3200400" y="3154680"/>
            <a:ext cx="640080" cy="640080"/>
          </a:xfrm>
          <a:prstGeom prst="roundRect">
            <a:avLst>
              <a:gd name="adj" fmla="val 17143"/>
            </a:avLst>
          </a:prstGeom>
          <a:solidFill>
            <a:schemeClr val="accent1">
              <a:alpha val="20000"/>
            </a:schemeClr>
          </a:solidFill>
          <a:ln/>
        </p:spPr>
      </p:sp>
      <p:sp>
        <p:nvSpPr>
          <p:cNvPr id="17" name="text-318"/>
          <p:cNvSpPr txBox="1"/>
          <p:nvPr/>
        </p:nvSpPr>
        <p:spPr>
          <a:xfrm>
            <a:off x="3273552" y="3154680"/>
            <a:ext cx="493776" cy="640080"/>
          </a:xfrm>
          <a:prstGeom prst="rect">
            <a:avLst/>
          </a:prstGeom>
          <a:noFill/>
          <a:ln/>
        </p:spPr>
        <p:txBody>
          <a:bodyPr wrap="square" lIns="0" tIns="0" rIns="0" bIns="0" rtlCol="0" anchor="ctr"/>
          <a:lstStyle/>
          <a:p>
            <a:pPr algn="ctr" indent="0" marL="0">
              <a:buNone/>
            </a:pPr>
            <a:r>
              <a:rPr lang="en-US" sz="2200" b="1" dirty="0">
                <a:solidFill>
                  <a:schemeClr val="tx1"/>
                </a:solidFill>
                <a:latin typeface="Roboto Mono" pitchFamily="34" charset="0"/>
                <a:ea typeface="Roboto Mono" pitchFamily="34" charset="-122"/>
                <a:cs typeface="Roboto Mono" pitchFamily="34" charset="-120"/>
              </a:rPr>
              <a:t>4</a:t>
            </a:r>
            <a:endParaRPr lang="en-US" sz="2200" dirty="0"/>
          </a:p>
        </p:txBody>
      </p:sp>
      <p:sp>
        <p:nvSpPr>
          <p:cNvPr id="18" name="dot-319"/>
          <p:cNvSpPr/>
          <p:nvPr/>
        </p:nvSpPr>
        <p:spPr>
          <a:xfrm>
            <a:off x="868680" y="4069080"/>
            <a:ext cx="502920" cy="502920"/>
          </a:xfrm>
          <a:prstGeom prst="ellipse">
            <a:avLst/>
          </a:prstGeom>
          <a:solidFill>
            <a:schemeClr val="accent2"/>
          </a:solidFill>
          <a:ln/>
        </p:spPr>
      </p:sp>
      <p:sp>
        <p:nvSpPr>
          <p:cNvPr id="19" name="text-320"/>
          <p:cNvSpPr txBox="1"/>
          <p:nvPr/>
        </p:nvSpPr>
        <p:spPr>
          <a:xfrm>
            <a:off x="1554480" y="4069080"/>
            <a:ext cx="4114800" cy="502920"/>
          </a:xfrm>
          <a:prstGeom prst="rect">
            <a:avLst/>
          </a:prstGeom>
          <a:noFill/>
          <a:ln/>
        </p:spPr>
        <p:txBody>
          <a:bodyPr wrap="square" lIns="0" tIns="0" rIns="0" bIns="0" rtlCol="0" anchor="ctr"/>
          <a:lstStyle/>
          <a:p>
            <a:pPr algn="l" indent="0" marL="0">
              <a:buNone/>
            </a:pPr>
            <a:r>
              <a:rPr lang="en-US" sz="1700" dirty="0">
                <a:solidFill>
                  <a:schemeClr val="tx1"/>
                </a:solidFill>
              </a:rPr>
              <a:t>Small, fast, ordered</a:t>
            </a:r>
            <a:endParaRPr lang="en-US" sz="1700" dirty="0"/>
          </a:p>
        </p:txBody>
      </p:sp>
      <p:sp>
        <p:nvSpPr>
          <p:cNvPr id="20" name="dot-321"/>
          <p:cNvSpPr/>
          <p:nvPr/>
        </p:nvSpPr>
        <p:spPr>
          <a:xfrm>
            <a:off x="868680" y="4709160"/>
            <a:ext cx="502920" cy="502920"/>
          </a:xfrm>
          <a:prstGeom prst="ellipse">
            <a:avLst/>
          </a:prstGeom>
          <a:solidFill>
            <a:schemeClr val="accent1"/>
          </a:solidFill>
          <a:ln/>
        </p:spPr>
      </p:sp>
      <p:sp>
        <p:nvSpPr>
          <p:cNvPr id="21" name="text-322"/>
          <p:cNvSpPr txBox="1"/>
          <p:nvPr/>
        </p:nvSpPr>
        <p:spPr>
          <a:xfrm>
            <a:off x="1554480" y="4709160"/>
            <a:ext cx="4114800" cy="502920"/>
          </a:xfrm>
          <a:prstGeom prst="rect">
            <a:avLst/>
          </a:prstGeom>
          <a:noFill/>
          <a:ln/>
        </p:spPr>
        <p:txBody>
          <a:bodyPr wrap="square" lIns="0" tIns="0" rIns="0" bIns="0" rtlCol="0" anchor="ctr"/>
          <a:lstStyle/>
          <a:p>
            <a:pPr algn="l" indent="0" marL="0">
              <a:buNone/>
            </a:pPr>
            <a:r>
              <a:rPr lang="en-US" sz="1700" dirty="0">
                <a:solidFill>
                  <a:schemeClr val="tx1"/>
                </a:solidFill>
              </a:rPr>
              <a:t>Guessable: leaks your volume</a:t>
            </a:r>
            <a:endParaRPr lang="en-US" sz="1700" dirty="0"/>
          </a:p>
        </p:txBody>
      </p:sp>
      <p:sp>
        <p:nvSpPr>
          <p:cNvPr id="22" name="text-323"/>
          <p:cNvSpPr txBox="1"/>
          <p:nvPr/>
        </p:nvSpPr>
        <p:spPr>
          <a:xfrm>
            <a:off x="868680" y="5394960"/>
            <a:ext cx="4572000" cy="365760"/>
          </a:xfrm>
          <a:prstGeom prst="rect">
            <a:avLst/>
          </a:prstGeom>
          <a:noFill/>
          <a:ln/>
        </p:spPr>
        <p:txBody>
          <a:bodyPr wrap="square" lIns="0" tIns="0" rIns="0" bIns="0" rtlCol="0" anchor="ctr"/>
          <a:lstStyle/>
          <a:p>
            <a:pPr algn="l" indent="0" marL="0">
              <a:buNone/>
            </a:pPr>
            <a:r>
              <a:rPr lang="en-US" sz="1200" dirty="0">
                <a:solidFill>
                  <a:schemeClr val="accent4"/>
                </a:solidFill>
              </a:rPr>
              <a:t>SERIAL = the older form</a:t>
            </a:r>
            <a:endParaRPr lang="en-US" sz="1200" dirty="0"/>
          </a:p>
        </p:txBody>
      </p:sp>
      <p:sp>
        <p:nvSpPr>
          <p:cNvPr id="23" name="text-324"/>
          <p:cNvSpPr txBox="1"/>
          <p:nvPr/>
        </p:nvSpPr>
        <p:spPr>
          <a:xfrm>
            <a:off x="6537960" y="2514600"/>
            <a:ext cx="4572000" cy="502920"/>
          </a:xfrm>
          <a:prstGeom prst="rect">
            <a:avLst/>
          </a:prstGeom>
          <a:noFill/>
          <a:ln/>
        </p:spPr>
        <p:txBody>
          <a:bodyPr wrap="square" lIns="0" tIns="0" rIns="0" bIns="0" rtlCol="0" anchor="ctr"/>
          <a:lstStyle/>
          <a:p>
            <a:pPr algn="l" indent="0" marL="0">
              <a:buNone/>
            </a:pPr>
            <a:r>
              <a:rPr lang="en-US" sz="2200" b="1" dirty="0">
                <a:solidFill>
                  <a:schemeClr val="tx1"/>
                </a:solidFill>
              </a:rPr>
              <a:t>UUID</a:t>
            </a:r>
            <a:endParaRPr lang="en-US" sz="2200" dirty="0"/>
          </a:p>
        </p:txBody>
      </p:sp>
      <p:sp>
        <p:nvSpPr>
          <p:cNvPr id="24" name="box-325"/>
          <p:cNvSpPr/>
          <p:nvPr/>
        </p:nvSpPr>
        <p:spPr>
          <a:xfrm>
            <a:off x="6537960" y="3154680"/>
            <a:ext cx="3840480" cy="640080"/>
          </a:xfrm>
          <a:prstGeom prst="roundRect">
            <a:avLst>
              <a:gd name="adj" fmla="val 17143"/>
            </a:avLst>
          </a:prstGeom>
          <a:solidFill>
            <a:schemeClr val="accent2">
              <a:alpha val="25000"/>
            </a:schemeClr>
          </a:solidFill>
          <a:ln/>
        </p:spPr>
      </p:sp>
      <p:sp>
        <p:nvSpPr>
          <p:cNvPr id="25" name="text-326"/>
          <p:cNvSpPr txBox="1"/>
          <p:nvPr/>
        </p:nvSpPr>
        <p:spPr>
          <a:xfrm>
            <a:off x="6611112" y="3154680"/>
            <a:ext cx="3694176" cy="640080"/>
          </a:xfrm>
          <a:prstGeom prst="rect">
            <a:avLst/>
          </a:prstGeom>
          <a:noFill/>
          <a:ln/>
        </p:spPr>
        <p:txBody>
          <a:bodyPr wrap="square" lIns="0" tIns="0" rIns="0" bIns="0" rtlCol="0" anchor="ctr"/>
          <a:lstStyle/>
          <a:p>
            <a:pPr algn="ctr" indent="0" marL="0">
              <a:buNone/>
            </a:pPr>
            <a:r>
              <a:rPr lang="en-US" sz="2000" b="1" dirty="0">
                <a:solidFill>
                  <a:schemeClr val="tx1"/>
                </a:solidFill>
                <a:latin typeface="Roboto Mono" pitchFamily="34" charset="0"/>
                <a:ea typeface="Roboto Mono" pitchFamily="34" charset="-122"/>
                <a:cs typeface="Roboto Mono" pitchFamily="34" charset="-120"/>
              </a:rPr>
              <a:t>a3f9c1e2-…-7d41</a:t>
            </a:r>
            <a:endParaRPr lang="en-US" sz="2000" dirty="0"/>
          </a:p>
        </p:txBody>
      </p:sp>
      <p:sp>
        <p:nvSpPr>
          <p:cNvPr id="26" name="dot-327"/>
          <p:cNvSpPr/>
          <p:nvPr/>
        </p:nvSpPr>
        <p:spPr>
          <a:xfrm>
            <a:off x="6537960" y="4069080"/>
            <a:ext cx="502920" cy="502920"/>
          </a:xfrm>
          <a:prstGeom prst="ellipse">
            <a:avLst/>
          </a:prstGeom>
          <a:solidFill>
            <a:schemeClr val="accent2"/>
          </a:solidFill>
          <a:ln/>
        </p:spPr>
      </p:sp>
      <p:sp>
        <p:nvSpPr>
          <p:cNvPr id="27" name="text-328"/>
          <p:cNvSpPr txBox="1"/>
          <p:nvPr/>
        </p:nvSpPr>
        <p:spPr>
          <a:xfrm>
            <a:off x="7223760" y="4069080"/>
            <a:ext cx="4206240" cy="502920"/>
          </a:xfrm>
          <a:prstGeom prst="rect">
            <a:avLst/>
          </a:prstGeom>
          <a:noFill/>
          <a:ln/>
        </p:spPr>
        <p:txBody>
          <a:bodyPr wrap="square" lIns="0" tIns="0" rIns="0" bIns="0" rtlCol="0" anchor="ctr"/>
          <a:lstStyle/>
          <a:p>
            <a:pPr algn="l" indent="0" marL="0">
              <a:buNone/>
            </a:pPr>
            <a:r>
              <a:rPr lang="en-US" sz="1700" dirty="0">
                <a:solidFill>
                  <a:schemeClr val="tx1"/>
                </a:solidFill>
              </a:rPr>
              <a:t>Unique anywhere, even client-side</a:t>
            </a:r>
            <a:endParaRPr lang="en-US" sz="1700" dirty="0"/>
          </a:p>
        </p:txBody>
      </p:sp>
      <p:sp>
        <p:nvSpPr>
          <p:cNvPr id="28" name="dot-329"/>
          <p:cNvSpPr/>
          <p:nvPr/>
        </p:nvSpPr>
        <p:spPr>
          <a:xfrm>
            <a:off x="6537960" y="4709160"/>
            <a:ext cx="502920" cy="502920"/>
          </a:xfrm>
          <a:prstGeom prst="ellipse">
            <a:avLst/>
          </a:prstGeom>
          <a:solidFill>
            <a:schemeClr val="accent2"/>
          </a:solidFill>
          <a:ln/>
        </p:spPr>
      </p:sp>
      <p:sp>
        <p:nvSpPr>
          <p:cNvPr id="29" name="text-330"/>
          <p:cNvSpPr txBox="1"/>
          <p:nvPr/>
        </p:nvSpPr>
        <p:spPr>
          <a:xfrm>
            <a:off x="7223760" y="4709160"/>
            <a:ext cx="4206240" cy="502920"/>
          </a:xfrm>
          <a:prstGeom prst="rect">
            <a:avLst/>
          </a:prstGeom>
          <a:noFill/>
          <a:ln/>
        </p:spPr>
        <p:txBody>
          <a:bodyPr wrap="square" lIns="0" tIns="0" rIns="0" bIns="0" rtlCol="0" anchor="ctr"/>
          <a:lstStyle/>
          <a:p>
            <a:pPr algn="l" indent="0" marL="0">
              <a:buNone/>
            </a:pPr>
            <a:r>
              <a:rPr lang="en-US" sz="1700" dirty="0">
                <a:solidFill>
                  <a:schemeClr val="tx1"/>
                </a:solidFill>
              </a:rPr>
              <a:t>Unguessable, but 16 bytes</a:t>
            </a:r>
            <a:endParaRPr lang="en-US" sz="1700" dirty="0"/>
          </a:p>
        </p:txBody>
      </p:sp>
      <p:sp>
        <p:nvSpPr>
          <p:cNvPr id="30" name="text-331"/>
          <p:cNvSpPr txBox="1"/>
          <p:nvPr/>
        </p:nvSpPr>
        <p:spPr>
          <a:xfrm>
            <a:off x="6537960" y="5394960"/>
            <a:ext cx="4572000" cy="365760"/>
          </a:xfrm>
          <a:prstGeom prst="rect">
            <a:avLst/>
          </a:prstGeom>
          <a:noFill/>
          <a:ln/>
        </p:spPr>
        <p:txBody>
          <a:bodyPr wrap="square" lIns="0" tIns="0" rIns="0" bIns="0" rtlCol="0" anchor="ctr"/>
          <a:lstStyle/>
          <a:p>
            <a:pPr algn="l" indent="0" marL="0">
              <a:buNone/>
            </a:pPr>
            <a:r>
              <a:rPr lang="en-US" sz="1200" dirty="0">
                <a:solidFill>
                  <a:schemeClr val="accent4"/>
                </a:solidFill>
                <a:latin typeface="Roboto Mono" pitchFamily="34" charset="0"/>
                <a:ea typeface="Roboto Mono" pitchFamily="34" charset="-122"/>
                <a:cs typeface="Roboto Mono" pitchFamily="34" charset="-120"/>
              </a:rPr>
              <a:t>gen_random_uuid()  ·  PostgreSQL 13+</a:t>
            </a:r>
            <a:endParaRPr lang="en-US" sz="1200" dirty="0"/>
          </a:p>
        </p:txBody>
      </p:sp>
      <p:pic>
        <p:nvPicPr>
          <p:cNvPr id="31" name="Image 0" descr="DraftingCompass icon">    </p:cNvPr>
          <p:cNvPicPr>
            <a:picLocks noChangeAspect="1"/>
          </p:cNvPicPr>
          <p:nvPr/>
        </p:nvPicPr>
        <p:blipFill>
          <a:blip r:embed="rId1"/>
          <a:stretch>
            <a:fillRect/>
          </a:stretch>
        </p:blipFill>
        <p:spPr>
          <a:xfrm>
            <a:off x="640812" y="476220"/>
            <a:ext cx="199705" cy="199705"/>
          </a:xfrm>
          <a:prstGeom prst="rect">
            <a:avLst/>
          </a:prstGeom>
        </p:spPr>
      </p:pic>
      <p:pic>
        <p:nvPicPr>
          <p:cNvPr id="32" name="Image 1" descr="Bolt icon">    </p:cNvPr>
          <p:cNvPicPr>
            <a:picLocks noChangeAspect="1"/>
          </p:cNvPicPr>
          <p:nvPr/>
        </p:nvPicPr>
        <p:blipFill>
          <a:blip r:embed="rId2"/>
          <a:stretch>
            <a:fillRect/>
          </a:stretch>
        </p:blipFill>
        <p:spPr>
          <a:xfrm>
            <a:off x="989381" y="4189781"/>
            <a:ext cx="261518" cy="261518"/>
          </a:xfrm>
          <a:prstGeom prst="rect">
            <a:avLst/>
          </a:prstGeom>
        </p:spPr>
      </p:pic>
      <p:pic>
        <p:nvPicPr>
          <p:cNvPr id="33" name="Image 2" descr="Eye icon">    </p:cNvPr>
          <p:cNvPicPr>
            <a:picLocks noChangeAspect="1"/>
          </p:cNvPicPr>
          <p:nvPr/>
        </p:nvPicPr>
        <p:blipFill>
          <a:blip r:embed="rId3"/>
          <a:stretch>
            <a:fillRect/>
          </a:stretch>
        </p:blipFill>
        <p:spPr>
          <a:xfrm>
            <a:off x="989381" y="4829861"/>
            <a:ext cx="261518" cy="261518"/>
          </a:xfrm>
          <a:prstGeom prst="rect">
            <a:avLst/>
          </a:prstGeom>
        </p:spPr>
      </p:pic>
      <p:pic>
        <p:nvPicPr>
          <p:cNvPr id="34" name="Image 3" descr="Globe icon">    </p:cNvPr>
          <p:cNvPicPr>
            <a:picLocks noChangeAspect="1"/>
          </p:cNvPicPr>
          <p:nvPr/>
        </p:nvPicPr>
        <p:blipFill>
          <a:blip r:embed="rId4"/>
          <a:stretch>
            <a:fillRect/>
          </a:stretch>
        </p:blipFill>
        <p:spPr>
          <a:xfrm>
            <a:off x="6658661" y="4189781"/>
            <a:ext cx="261518" cy="261518"/>
          </a:xfrm>
          <a:prstGeom prst="rect">
            <a:avLst/>
          </a:prstGeom>
        </p:spPr>
      </p:pic>
      <p:pic>
        <p:nvPicPr>
          <p:cNvPr id="35" name="Image 4" descr="Lock icon">    </p:cNvPr>
          <p:cNvPicPr>
            <a:picLocks noChangeAspect="1"/>
          </p:cNvPicPr>
          <p:nvPr/>
        </p:nvPicPr>
        <p:blipFill>
          <a:blip r:embed="rId5"/>
          <a:stretch>
            <a:fillRect/>
          </a:stretch>
        </p:blipFill>
        <p:spPr>
          <a:xfrm>
            <a:off x="6658661" y="4829861"/>
            <a:ext cx="261518" cy="261518"/>
          </a:xfrm>
          <a:prstGeom prst="rect">
            <a:avLst/>
          </a:prstGeom>
        </p:spPr>
      </p:pic>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dot-332"/>
          <p:cNvSpPr/>
          <p:nvPr/>
        </p:nvSpPr>
        <p:spPr>
          <a:xfrm>
            <a:off x="548640" y="384048"/>
            <a:ext cx="384048" cy="384048"/>
          </a:xfrm>
          <a:prstGeom prst="ellipse">
            <a:avLst/>
          </a:prstGeom>
          <a:solidFill>
            <a:schemeClr val="accent1"/>
          </a:solidFill>
          <a:ln/>
        </p:spPr>
      </p:sp>
      <p:sp>
        <p:nvSpPr>
          <p:cNvPr id="3" name="Text 1"/>
          <p:cNvSpPr/>
          <p:nvPr>
            <p:ph idx="101" type="body" hasCustomPrompt="1"/>
          </p:nvPr>
        </p:nvSpPr>
        <p:spPr>
          <a:xfrm>
            <a:off x="1051560" y="384048"/>
            <a:ext cx="9601200" cy="384048"/>
          </a:xfrm>
          <a:prstGeom prst="rect">
            <a:avLst/>
          </a:prstGeom>
          <a:noFill/>
          <a:ln/>
        </p:spPr>
        <p:txBody>
          <a:bodyPr wrap="square" lIns="0" tIns="0" rIns="0" bIns="0" rtlCol="0" anchor="ctr"/>
          <a:lstStyle/>
          <a:p>
            <a:pPr indent="0" marL="0">
              <a:buNone/>
            </a:pPr>
            <a:r>
              <a:rPr lang="en-US" sz="1300" b="1" spc="300" kern="0" dirty="0">
                <a:solidFill>
                  <a:schemeClr val="tx2"/>
                </a:solidFill>
              </a:rPr>
              <a:t>L1  ·  MODEL  ·  3.3 RELATIONSHIPS</a:t>
            </a:r>
            <a:endParaRPr lang="en-US" sz="1300" dirty="0"/>
          </a:p>
        </p:txBody>
      </p:sp>
      <p:sp>
        <p:nvSpPr>
          <p:cNvPr id="4" name="Text 1"/>
          <p:cNvSpPr/>
          <p:nvPr>
            <p:ph idx="102" type="title" hasCustomPrompt="1"/>
          </p:nvPr>
        </p:nvSpPr>
        <p:spPr>
          <a:xfrm>
            <a:off x="548640" y="841248"/>
            <a:ext cx="11064240" cy="777240"/>
          </a:xfrm>
          <a:prstGeom prst="rect">
            <a:avLst/>
          </a:prstGeom>
          <a:noFill/>
          <a:ln/>
        </p:spPr>
        <p:txBody>
          <a:bodyPr wrap="square" lIns="0" tIns="0" rIns="0" bIns="0" rtlCol="0" anchor="ctr"/>
          <a:lstStyle/>
          <a:p>
            <a:pPr algn="l" indent="0" marL="0">
              <a:buNone/>
            </a:pPr>
            <a:r>
              <a:rPr lang="en-US" sz="3800" b="1" dirty="0">
                <a:solidFill>
                  <a:schemeClr val="tx1"/>
                </a:solidFill>
              </a:rPr>
              <a:t>1:1 · 1:N · M:N</a:t>
            </a:r>
            <a:endParaRPr lang="en-US" sz="3800" dirty="0"/>
          </a:p>
        </p:txBody>
      </p:sp>
      <p:sp>
        <p:nvSpPr>
          <p:cNvPr id="5" name="Text 1"/>
          <p:cNvSpPr/>
          <p:nvPr>
            <p:ph idx="103" type="body" hasCustomPrompt="1"/>
          </p:nvPr>
        </p:nvSpPr>
        <p:spPr>
          <a:xfrm>
            <a:off x="548640" y="1627632"/>
            <a:ext cx="11064240" cy="457200"/>
          </a:xfrm>
          <a:prstGeom prst="rect">
            <a:avLst/>
          </a:prstGeom>
          <a:noFill/>
          <a:ln/>
        </p:spPr>
        <p:txBody>
          <a:bodyPr wrap="square" lIns="0" tIns="0" rIns="0" bIns="0" rtlCol="0" anchor="t"/>
          <a:lstStyle/>
          <a:p>
            <a:pPr indent="0" marL="0">
              <a:buNone/>
            </a:pPr>
            <a:r>
              <a:rPr lang="en-US" sz="2000" dirty="0">
                <a:solidFill>
                  <a:schemeClr val="tx2"/>
                </a:solidFill>
              </a:rPr>
              <a:t>The FK goes on the 'many' side   ·   Many-to-many needs a junction table</a:t>
            </a:r>
            <a:endParaRPr lang="en-US" sz="2000" dirty="0"/>
          </a:p>
        </p:txBody>
      </p:sp>
      <p:sp>
        <p:nvSpPr>
          <p:cNvPr id="7" name="box-333"/>
          <p:cNvSpPr/>
          <p:nvPr/>
        </p:nvSpPr>
        <p:spPr>
          <a:xfrm>
            <a:off x="548640" y="2286000"/>
            <a:ext cx="3520440" cy="3840480"/>
          </a:xfrm>
          <a:prstGeom prst="roundRect">
            <a:avLst>
              <a:gd name="adj" fmla="val 2078"/>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8" name="text-334"/>
          <p:cNvSpPr txBox="1"/>
          <p:nvPr/>
        </p:nvSpPr>
        <p:spPr>
          <a:xfrm>
            <a:off x="548640" y="2395728"/>
            <a:ext cx="3520440" cy="548640"/>
          </a:xfrm>
          <a:prstGeom prst="rect">
            <a:avLst/>
          </a:prstGeom>
          <a:noFill/>
          <a:ln/>
        </p:spPr>
        <p:txBody>
          <a:bodyPr wrap="square" lIns="0" tIns="0" rIns="0" bIns="0" rtlCol="0" anchor="ctr"/>
          <a:lstStyle/>
          <a:p>
            <a:pPr algn="ctr" indent="0" marL="0">
              <a:buNone/>
            </a:pPr>
            <a:r>
              <a:rPr lang="en-US" sz="2800" b="1" dirty="0">
                <a:solidFill>
                  <a:schemeClr val="tx1"/>
                </a:solidFill>
              </a:rPr>
              <a:t>1 : 1</a:t>
            </a:r>
            <a:endParaRPr lang="en-US" sz="2800" dirty="0"/>
          </a:p>
        </p:txBody>
      </p:sp>
      <p:sp>
        <p:nvSpPr>
          <p:cNvPr id="9" name="box-335"/>
          <p:cNvSpPr/>
          <p:nvPr/>
        </p:nvSpPr>
        <p:spPr>
          <a:xfrm>
            <a:off x="1051560" y="3246120"/>
            <a:ext cx="2514600" cy="502920"/>
          </a:xfrm>
          <a:prstGeom prst="roundRect">
            <a:avLst>
              <a:gd name="adj" fmla="val 14545"/>
            </a:avLst>
          </a:prstGeom>
          <a:solidFill>
            <a:schemeClr val="bg1"/>
          </a:solidFill>
          <a:ln w="12700">
            <a:solidFill>
              <a:schemeClr val="tx2"/>
            </a:solidFill>
            <a:prstDash val="solid"/>
          </a:ln>
        </p:spPr>
      </p:sp>
      <p:sp>
        <p:nvSpPr>
          <p:cNvPr id="10" name="text-336"/>
          <p:cNvSpPr txBox="1"/>
          <p:nvPr/>
        </p:nvSpPr>
        <p:spPr>
          <a:xfrm>
            <a:off x="1051560" y="3246120"/>
            <a:ext cx="2514600" cy="502920"/>
          </a:xfrm>
          <a:prstGeom prst="rect">
            <a:avLst/>
          </a:prstGeom>
          <a:noFill/>
          <a:ln/>
        </p:spPr>
        <p:txBody>
          <a:bodyPr wrap="square" lIns="0" tIns="0" rIns="0" bIns="0" rtlCol="0" anchor="ctr"/>
          <a:lstStyle/>
          <a:p>
            <a:pPr algn="ctr" indent="0" marL="0">
              <a:buNone/>
            </a:pPr>
            <a:r>
              <a:rPr lang="en-US" sz="1500" b="1" dirty="0">
                <a:solidFill>
                  <a:schemeClr val="tx1"/>
                </a:solidFill>
                <a:latin typeface="Roboto Mono" pitchFamily="34" charset="0"/>
                <a:ea typeface="Roboto Mono" pitchFamily="34" charset="-122"/>
                <a:cs typeface="Roboto Mono" pitchFamily="34" charset="-120"/>
              </a:rPr>
              <a:t>users</a:t>
            </a:r>
            <a:endParaRPr lang="en-US" sz="1500" dirty="0"/>
          </a:p>
        </p:txBody>
      </p:sp>
      <p:sp>
        <p:nvSpPr>
          <p:cNvPr id="11" name="line-337"/>
          <p:cNvSpPr/>
          <p:nvPr/>
        </p:nvSpPr>
        <p:spPr>
          <a:xfrm>
            <a:off x="2308860" y="3749040"/>
            <a:ext cx="91" cy="914400"/>
          </a:xfrm>
          <a:prstGeom prst="line">
            <a:avLst/>
          </a:prstGeom>
          <a:noFill/>
          <a:ln w="25400">
            <a:solidFill>
              <a:schemeClr val="tx2"/>
            </a:solidFill>
            <a:prstDash val="solid"/>
          </a:ln>
        </p:spPr>
      </p:sp>
      <p:sp>
        <p:nvSpPr>
          <p:cNvPr id="12" name="text-338"/>
          <p:cNvSpPr txBox="1"/>
          <p:nvPr/>
        </p:nvSpPr>
        <p:spPr>
          <a:xfrm>
            <a:off x="2423160" y="3776472"/>
            <a:ext cx="365760" cy="320040"/>
          </a:xfrm>
          <a:prstGeom prst="rect">
            <a:avLst/>
          </a:prstGeom>
          <a:noFill/>
          <a:ln/>
        </p:spPr>
        <p:txBody>
          <a:bodyPr wrap="square" lIns="0" tIns="0" rIns="0" bIns="0" rtlCol="0" anchor="ctr"/>
          <a:lstStyle/>
          <a:p>
            <a:pPr algn="l" indent="0" marL="0">
              <a:buNone/>
            </a:pPr>
            <a:r>
              <a:rPr lang="en-US" sz="1600" b="1" dirty="0">
                <a:solidFill>
                  <a:schemeClr val="accent6"/>
                </a:solidFill>
              </a:rPr>
              <a:t>1</a:t>
            </a:r>
            <a:endParaRPr lang="en-US" sz="1600" dirty="0"/>
          </a:p>
        </p:txBody>
      </p:sp>
      <p:sp>
        <p:nvSpPr>
          <p:cNvPr id="13" name="text-339"/>
          <p:cNvSpPr txBox="1"/>
          <p:nvPr/>
        </p:nvSpPr>
        <p:spPr>
          <a:xfrm>
            <a:off x="2423160" y="4315968"/>
            <a:ext cx="365760" cy="320040"/>
          </a:xfrm>
          <a:prstGeom prst="rect">
            <a:avLst/>
          </a:prstGeom>
          <a:noFill/>
          <a:ln/>
        </p:spPr>
        <p:txBody>
          <a:bodyPr wrap="square" lIns="0" tIns="0" rIns="0" bIns="0" rtlCol="0" anchor="ctr"/>
          <a:lstStyle/>
          <a:p>
            <a:pPr algn="l" indent="0" marL="0">
              <a:buNone/>
            </a:pPr>
            <a:r>
              <a:rPr lang="en-US" sz="1600" b="1" dirty="0">
                <a:solidFill>
                  <a:schemeClr val="accent6"/>
                </a:solidFill>
              </a:rPr>
              <a:t>1</a:t>
            </a:r>
            <a:endParaRPr lang="en-US" sz="1600" dirty="0"/>
          </a:p>
        </p:txBody>
      </p:sp>
      <p:sp>
        <p:nvSpPr>
          <p:cNvPr id="14" name="box-340"/>
          <p:cNvSpPr/>
          <p:nvPr/>
        </p:nvSpPr>
        <p:spPr>
          <a:xfrm>
            <a:off x="1051560" y="4663440"/>
            <a:ext cx="2514600" cy="502920"/>
          </a:xfrm>
          <a:prstGeom prst="roundRect">
            <a:avLst>
              <a:gd name="adj" fmla="val 14545"/>
            </a:avLst>
          </a:prstGeom>
          <a:solidFill>
            <a:schemeClr val="bg1"/>
          </a:solidFill>
          <a:ln w="12700">
            <a:solidFill>
              <a:schemeClr val="tx2"/>
            </a:solidFill>
            <a:prstDash val="solid"/>
          </a:ln>
        </p:spPr>
      </p:sp>
      <p:sp>
        <p:nvSpPr>
          <p:cNvPr id="15" name="text-341"/>
          <p:cNvSpPr txBox="1"/>
          <p:nvPr/>
        </p:nvSpPr>
        <p:spPr>
          <a:xfrm>
            <a:off x="1051560" y="4663440"/>
            <a:ext cx="2514600" cy="502920"/>
          </a:xfrm>
          <a:prstGeom prst="rect">
            <a:avLst/>
          </a:prstGeom>
          <a:noFill/>
          <a:ln/>
        </p:spPr>
        <p:txBody>
          <a:bodyPr wrap="square" lIns="0" tIns="0" rIns="0" bIns="0" rtlCol="0" anchor="ctr"/>
          <a:lstStyle/>
          <a:p>
            <a:pPr algn="ctr" indent="0" marL="0">
              <a:buNone/>
            </a:pPr>
            <a:r>
              <a:rPr lang="en-US" sz="1500" b="1" dirty="0">
                <a:solidFill>
                  <a:schemeClr val="tx1"/>
                </a:solidFill>
                <a:latin typeface="Roboto Mono" pitchFamily="34" charset="0"/>
                <a:ea typeface="Roboto Mono" pitchFamily="34" charset="-122"/>
                <a:cs typeface="Roboto Mono" pitchFamily="34" charset="-120"/>
              </a:rPr>
              <a:t>user_profiles</a:t>
            </a:r>
            <a:endParaRPr lang="en-US" sz="1500" dirty="0"/>
          </a:p>
        </p:txBody>
      </p:sp>
      <p:sp>
        <p:nvSpPr>
          <p:cNvPr id="16" name="text-342"/>
          <p:cNvSpPr txBox="1"/>
          <p:nvPr/>
        </p:nvSpPr>
        <p:spPr>
          <a:xfrm>
            <a:off x="731520" y="5532120"/>
            <a:ext cx="3154680" cy="457200"/>
          </a:xfrm>
          <a:prstGeom prst="rect">
            <a:avLst/>
          </a:prstGeom>
          <a:noFill/>
          <a:ln/>
        </p:spPr>
        <p:txBody>
          <a:bodyPr wrap="square" lIns="0" tIns="0" rIns="0" bIns="0" rtlCol="0" anchor="ctr"/>
          <a:lstStyle/>
          <a:p>
            <a:pPr algn="ctr" indent="0" marL="0">
              <a:buNone/>
            </a:pPr>
            <a:r>
              <a:rPr lang="en-US" sz="1500" dirty="0">
                <a:solidFill>
                  <a:schemeClr val="tx2"/>
                </a:solidFill>
              </a:rPr>
              <a:t>FK is also the PK</a:t>
            </a:r>
            <a:endParaRPr lang="en-US" sz="1500" dirty="0"/>
          </a:p>
        </p:txBody>
      </p:sp>
      <p:sp>
        <p:nvSpPr>
          <p:cNvPr id="17" name="box-343"/>
          <p:cNvSpPr/>
          <p:nvPr/>
        </p:nvSpPr>
        <p:spPr>
          <a:xfrm>
            <a:off x="4343400" y="2286000"/>
            <a:ext cx="3520440" cy="3840480"/>
          </a:xfrm>
          <a:prstGeom prst="roundRect">
            <a:avLst>
              <a:gd name="adj" fmla="val 2078"/>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18" name="text-344"/>
          <p:cNvSpPr txBox="1"/>
          <p:nvPr/>
        </p:nvSpPr>
        <p:spPr>
          <a:xfrm>
            <a:off x="4343400" y="2395728"/>
            <a:ext cx="3520440" cy="548640"/>
          </a:xfrm>
          <a:prstGeom prst="rect">
            <a:avLst/>
          </a:prstGeom>
          <a:noFill/>
          <a:ln/>
        </p:spPr>
        <p:txBody>
          <a:bodyPr wrap="square" lIns="0" tIns="0" rIns="0" bIns="0" rtlCol="0" anchor="ctr"/>
          <a:lstStyle/>
          <a:p>
            <a:pPr algn="ctr" indent="0" marL="0">
              <a:buNone/>
            </a:pPr>
            <a:r>
              <a:rPr lang="en-US" sz="2800" b="1" dirty="0">
                <a:solidFill>
                  <a:schemeClr val="tx1"/>
                </a:solidFill>
              </a:rPr>
              <a:t>1 : N</a:t>
            </a:r>
            <a:endParaRPr lang="en-US" sz="2800" dirty="0"/>
          </a:p>
        </p:txBody>
      </p:sp>
      <p:sp>
        <p:nvSpPr>
          <p:cNvPr id="19" name="box-345"/>
          <p:cNvSpPr/>
          <p:nvPr/>
        </p:nvSpPr>
        <p:spPr>
          <a:xfrm>
            <a:off x="4846320" y="3246120"/>
            <a:ext cx="2514600" cy="502920"/>
          </a:xfrm>
          <a:prstGeom prst="roundRect">
            <a:avLst>
              <a:gd name="adj" fmla="val 14545"/>
            </a:avLst>
          </a:prstGeom>
          <a:solidFill>
            <a:schemeClr val="bg1"/>
          </a:solidFill>
          <a:ln w="12700">
            <a:solidFill>
              <a:schemeClr val="tx2"/>
            </a:solidFill>
            <a:prstDash val="solid"/>
          </a:ln>
        </p:spPr>
      </p:sp>
      <p:sp>
        <p:nvSpPr>
          <p:cNvPr id="20" name="text-346"/>
          <p:cNvSpPr txBox="1"/>
          <p:nvPr/>
        </p:nvSpPr>
        <p:spPr>
          <a:xfrm>
            <a:off x="4846320" y="3246120"/>
            <a:ext cx="2514600" cy="502920"/>
          </a:xfrm>
          <a:prstGeom prst="rect">
            <a:avLst/>
          </a:prstGeom>
          <a:noFill/>
          <a:ln/>
        </p:spPr>
        <p:txBody>
          <a:bodyPr wrap="square" lIns="0" tIns="0" rIns="0" bIns="0" rtlCol="0" anchor="ctr"/>
          <a:lstStyle/>
          <a:p>
            <a:pPr algn="ctr" indent="0" marL="0">
              <a:buNone/>
            </a:pPr>
            <a:r>
              <a:rPr lang="en-US" sz="1500" b="1" dirty="0">
                <a:solidFill>
                  <a:schemeClr val="tx1"/>
                </a:solidFill>
                <a:latin typeface="Roboto Mono" pitchFamily="34" charset="0"/>
                <a:ea typeface="Roboto Mono" pitchFamily="34" charset="-122"/>
                <a:cs typeface="Roboto Mono" pitchFamily="34" charset="-120"/>
              </a:rPr>
              <a:t>users</a:t>
            </a:r>
            <a:endParaRPr lang="en-US" sz="1500" dirty="0"/>
          </a:p>
        </p:txBody>
      </p:sp>
      <p:sp>
        <p:nvSpPr>
          <p:cNvPr id="21" name="line-347"/>
          <p:cNvSpPr/>
          <p:nvPr/>
        </p:nvSpPr>
        <p:spPr>
          <a:xfrm>
            <a:off x="6103620" y="3749040"/>
            <a:ext cx="91" cy="914400"/>
          </a:xfrm>
          <a:prstGeom prst="line">
            <a:avLst/>
          </a:prstGeom>
          <a:noFill/>
          <a:ln w="25400">
            <a:solidFill>
              <a:schemeClr val="tx2"/>
            </a:solidFill>
            <a:prstDash val="solid"/>
          </a:ln>
        </p:spPr>
      </p:sp>
      <p:sp>
        <p:nvSpPr>
          <p:cNvPr id="22" name="text-348"/>
          <p:cNvSpPr txBox="1"/>
          <p:nvPr/>
        </p:nvSpPr>
        <p:spPr>
          <a:xfrm>
            <a:off x="6217920" y="3776472"/>
            <a:ext cx="365760" cy="320040"/>
          </a:xfrm>
          <a:prstGeom prst="rect">
            <a:avLst/>
          </a:prstGeom>
          <a:noFill/>
          <a:ln/>
        </p:spPr>
        <p:txBody>
          <a:bodyPr wrap="square" lIns="0" tIns="0" rIns="0" bIns="0" rtlCol="0" anchor="ctr"/>
          <a:lstStyle/>
          <a:p>
            <a:pPr algn="l" indent="0" marL="0">
              <a:buNone/>
            </a:pPr>
            <a:r>
              <a:rPr lang="en-US" sz="1600" b="1" dirty="0">
                <a:solidFill>
                  <a:schemeClr val="accent6"/>
                </a:solidFill>
              </a:rPr>
              <a:t>1</a:t>
            </a:r>
            <a:endParaRPr lang="en-US" sz="1600" dirty="0"/>
          </a:p>
        </p:txBody>
      </p:sp>
      <p:sp>
        <p:nvSpPr>
          <p:cNvPr id="23" name="text-349"/>
          <p:cNvSpPr txBox="1"/>
          <p:nvPr/>
        </p:nvSpPr>
        <p:spPr>
          <a:xfrm>
            <a:off x="6217920" y="4315968"/>
            <a:ext cx="365760" cy="320040"/>
          </a:xfrm>
          <a:prstGeom prst="rect">
            <a:avLst/>
          </a:prstGeom>
          <a:noFill/>
          <a:ln/>
        </p:spPr>
        <p:txBody>
          <a:bodyPr wrap="square" lIns="0" tIns="0" rIns="0" bIns="0" rtlCol="0" anchor="ctr"/>
          <a:lstStyle/>
          <a:p>
            <a:pPr algn="l" indent="0" marL="0">
              <a:buNone/>
            </a:pPr>
            <a:r>
              <a:rPr lang="en-US" sz="1600" b="1" dirty="0">
                <a:solidFill>
                  <a:schemeClr val="accent6"/>
                </a:solidFill>
              </a:rPr>
              <a:t>N</a:t>
            </a:r>
            <a:endParaRPr lang="en-US" sz="1600" dirty="0"/>
          </a:p>
        </p:txBody>
      </p:sp>
      <p:sp>
        <p:nvSpPr>
          <p:cNvPr id="24" name="box-350"/>
          <p:cNvSpPr/>
          <p:nvPr/>
        </p:nvSpPr>
        <p:spPr>
          <a:xfrm>
            <a:off x="4846320" y="4663440"/>
            <a:ext cx="2514600" cy="502920"/>
          </a:xfrm>
          <a:prstGeom prst="roundRect">
            <a:avLst>
              <a:gd name="adj" fmla="val 14545"/>
            </a:avLst>
          </a:prstGeom>
          <a:solidFill>
            <a:schemeClr val="bg1"/>
          </a:solidFill>
          <a:ln w="12700">
            <a:solidFill>
              <a:schemeClr val="tx2"/>
            </a:solidFill>
            <a:prstDash val="solid"/>
          </a:ln>
        </p:spPr>
      </p:sp>
      <p:sp>
        <p:nvSpPr>
          <p:cNvPr id="25" name="text-351"/>
          <p:cNvSpPr txBox="1"/>
          <p:nvPr/>
        </p:nvSpPr>
        <p:spPr>
          <a:xfrm>
            <a:off x="4846320" y="4663440"/>
            <a:ext cx="2514600" cy="502920"/>
          </a:xfrm>
          <a:prstGeom prst="rect">
            <a:avLst/>
          </a:prstGeom>
          <a:noFill/>
          <a:ln/>
        </p:spPr>
        <p:txBody>
          <a:bodyPr wrap="square" lIns="0" tIns="0" rIns="0" bIns="0" rtlCol="0" anchor="ctr"/>
          <a:lstStyle/>
          <a:p>
            <a:pPr algn="ctr" indent="0" marL="0">
              <a:buNone/>
            </a:pPr>
            <a:r>
              <a:rPr lang="en-US" sz="1500" b="1" dirty="0">
                <a:solidFill>
                  <a:schemeClr val="tx1"/>
                </a:solidFill>
                <a:latin typeface="Roboto Mono" pitchFamily="34" charset="0"/>
                <a:ea typeface="Roboto Mono" pitchFamily="34" charset="-122"/>
                <a:cs typeface="Roboto Mono" pitchFamily="34" charset="-120"/>
              </a:rPr>
              <a:t>orders</a:t>
            </a:r>
            <a:endParaRPr lang="en-US" sz="1500" dirty="0"/>
          </a:p>
        </p:txBody>
      </p:sp>
      <p:sp>
        <p:nvSpPr>
          <p:cNvPr id="26" name="box-352"/>
          <p:cNvSpPr/>
          <p:nvPr/>
        </p:nvSpPr>
        <p:spPr>
          <a:xfrm>
            <a:off x="7086600" y="4498848"/>
            <a:ext cx="502920" cy="292608"/>
          </a:xfrm>
          <a:prstGeom prst="roundRect">
            <a:avLst>
              <a:gd name="adj" fmla="val 37500"/>
            </a:avLst>
          </a:prstGeom>
          <a:solidFill>
            <a:schemeClr val="accent1"/>
          </a:solidFill>
          <a:ln/>
        </p:spPr>
      </p:sp>
      <p:sp>
        <p:nvSpPr>
          <p:cNvPr id="27" name="text-353"/>
          <p:cNvSpPr txBox="1"/>
          <p:nvPr/>
        </p:nvSpPr>
        <p:spPr>
          <a:xfrm>
            <a:off x="7159752" y="4498848"/>
            <a:ext cx="356616" cy="292608"/>
          </a:xfrm>
          <a:prstGeom prst="rect">
            <a:avLst/>
          </a:prstGeom>
          <a:noFill/>
          <a:ln/>
        </p:spPr>
        <p:txBody>
          <a:bodyPr wrap="square" lIns="0" tIns="0" rIns="0" bIns="0" rtlCol="0" anchor="ctr"/>
          <a:lstStyle/>
          <a:p>
            <a:pPr algn="ctr" indent="0" marL="0">
              <a:buNone/>
            </a:pPr>
            <a:r>
              <a:rPr lang="en-US" sz="1100" b="1" dirty="0">
                <a:solidFill>
                  <a:schemeClr val="tx1"/>
                </a:solidFill>
              </a:rPr>
              <a:t>FK</a:t>
            </a:r>
            <a:endParaRPr lang="en-US" sz="1100" dirty="0"/>
          </a:p>
        </p:txBody>
      </p:sp>
      <p:sp>
        <p:nvSpPr>
          <p:cNvPr id="28" name="text-354"/>
          <p:cNvSpPr txBox="1"/>
          <p:nvPr/>
        </p:nvSpPr>
        <p:spPr>
          <a:xfrm>
            <a:off x="4526280" y="5532120"/>
            <a:ext cx="3154680" cy="457200"/>
          </a:xfrm>
          <a:prstGeom prst="rect">
            <a:avLst/>
          </a:prstGeom>
          <a:noFill/>
          <a:ln/>
        </p:spPr>
        <p:txBody>
          <a:bodyPr wrap="square" lIns="0" tIns="0" rIns="0" bIns="0" rtlCol="0" anchor="ctr"/>
          <a:lstStyle/>
          <a:p>
            <a:pPr algn="ctr" indent="0" marL="0">
              <a:buNone/>
            </a:pPr>
            <a:r>
              <a:rPr lang="en-US" sz="1500" dirty="0">
                <a:solidFill>
                  <a:schemeClr val="tx2"/>
                </a:solidFill>
              </a:rPr>
              <a:t>FK on the 'many' side</a:t>
            </a:r>
            <a:endParaRPr lang="en-US" sz="1500" dirty="0"/>
          </a:p>
        </p:txBody>
      </p:sp>
      <p:sp>
        <p:nvSpPr>
          <p:cNvPr id="29" name="box-355"/>
          <p:cNvSpPr/>
          <p:nvPr/>
        </p:nvSpPr>
        <p:spPr>
          <a:xfrm>
            <a:off x="8138160" y="2286000"/>
            <a:ext cx="3520440" cy="3840480"/>
          </a:xfrm>
          <a:prstGeom prst="roundRect">
            <a:avLst>
              <a:gd name="adj" fmla="val 2078"/>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30" name="text-356"/>
          <p:cNvSpPr txBox="1"/>
          <p:nvPr/>
        </p:nvSpPr>
        <p:spPr>
          <a:xfrm>
            <a:off x="8138160" y="2395728"/>
            <a:ext cx="3520440" cy="548640"/>
          </a:xfrm>
          <a:prstGeom prst="rect">
            <a:avLst/>
          </a:prstGeom>
          <a:noFill/>
          <a:ln/>
        </p:spPr>
        <p:txBody>
          <a:bodyPr wrap="square" lIns="0" tIns="0" rIns="0" bIns="0" rtlCol="0" anchor="ctr"/>
          <a:lstStyle/>
          <a:p>
            <a:pPr algn="ctr" indent="0" marL="0">
              <a:buNone/>
            </a:pPr>
            <a:r>
              <a:rPr lang="en-US" sz="2800" b="1" dirty="0">
                <a:solidFill>
                  <a:schemeClr val="tx1"/>
                </a:solidFill>
              </a:rPr>
              <a:t>M : N</a:t>
            </a:r>
            <a:endParaRPr lang="en-US" sz="2800" dirty="0"/>
          </a:p>
        </p:txBody>
      </p:sp>
      <p:sp>
        <p:nvSpPr>
          <p:cNvPr id="31" name="box-357"/>
          <p:cNvSpPr/>
          <p:nvPr/>
        </p:nvSpPr>
        <p:spPr>
          <a:xfrm>
            <a:off x="8641080" y="3108960"/>
            <a:ext cx="2514600" cy="502920"/>
          </a:xfrm>
          <a:prstGeom prst="roundRect">
            <a:avLst>
              <a:gd name="adj" fmla="val 14545"/>
            </a:avLst>
          </a:prstGeom>
          <a:solidFill>
            <a:schemeClr val="bg1"/>
          </a:solidFill>
          <a:ln w="12700">
            <a:solidFill>
              <a:schemeClr val="tx2"/>
            </a:solidFill>
            <a:prstDash val="solid"/>
          </a:ln>
        </p:spPr>
      </p:sp>
      <p:sp>
        <p:nvSpPr>
          <p:cNvPr id="32" name="text-358"/>
          <p:cNvSpPr txBox="1"/>
          <p:nvPr/>
        </p:nvSpPr>
        <p:spPr>
          <a:xfrm>
            <a:off x="8641080" y="3108960"/>
            <a:ext cx="2514600" cy="502920"/>
          </a:xfrm>
          <a:prstGeom prst="rect">
            <a:avLst/>
          </a:prstGeom>
          <a:noFill/>
          <a:ln/>
        </p:spPr>
        <p:txBody>
          <a:bodyPr wrap="square" lIns="0" tIns="0" rIns="0" bIns="0" rtlCol="0" anchor="ctr"/>
          <a:lstStyle/>
          <a:p>
            <a:pPr algn="ctr" indent="0" marL="0">
              <a:buNone/>
            </a:pPr>
            <a:r>
              <a:rPr lang="en-US" sz="1500" b="1" dirty="0">
                <a:solidFill>
                  <a:schemeClr val="tx1"/>
                </a:solidFill>
                <a:latin typeface="Roboto Mono" pitchFamily="34" charset="0"/>
                <a:ea typeface="Roboto Mono" pitchFamily="34" charset="-122"/>
                <a:cs typeface="Roboto Mono" pitchFamily="34" charset="-120"/>
              </a:rPr>
              <a:t>orders</a:t>
            </a:r>
            <a:endParaRPr lang="en-US" sz="1500" dirty="0"/>
          </a:p>
        </p:txBody>
      </p:sp>
      <p:sp>
        <p:nvSpPr>
          <p:cNvPr id="33" name="line-359"/>
          <p:cNvSpPr/>
          <p:nvPr/>
        </p:nvSpPr>
        <p:spPr>
          <a:xfrm>
            <a:off x="9898380" y="3611880"/>
            <a:ext cx="91" cy="365760"/>
          </a:xfrm>
          <a:prstGeom prst="line">
            <a:avLst/>
          </a:prstGeom>
          <a:noFill/>
          <a:ln w="25400">
            <a:solidFill>
              <a:schemeClr val="tx2"/>
            </a:solidFill>
            <a:prstDash val="solid"/>
          </a:ln>
        </p:spPr>
      </p:sp>
      <p:sp>
        <p:nvSpPr>
          <p:cNvPr id="34" name="box-360"/>
          <p:cNvSpPr/>
          <p:nvPr/>
        </p:nvSpPr>
        <p:spPr>
          <a:xfrm>
            <a:off x="8641080" y="3977640"/>
            <a:ext cx="2514600" cy="502920"/>
          </a:xfrm>
          <a:prstGeom prst="roundRect">
            <a:avLst>
              <a:gd name="adj" fmla="val 14545"/>
            </a:avLst>
          </a:prstGeom>
          <a:solidFill>
            <a:schemeClr val="accent1">
              <a:alpha val="20000"/>
            </a:schemeClr>
          </a:solidFill>
          <a:ln w="25400">
            <a:solidFill>
              <a:schemeClr val="accent1"/>
            </a:solidFill>
            <a:prstDash val="solid"/>
          </a:ln>
        </p:spPr>
      </p:sp>
      <p:sp>
        <p:nvSpPr>
          <p:cNvPr id="35" name="text-361"/>
          <p:cNvSpPr txBox="1"/>
          <p:nvPr/>
        </p:nvSpPr>
        <p:spPr>
          <a:xfrm>
            <a:off x="8641080" y="3977640"/>
            <a:ext cx="2514600" cy="502920"/>
          </a:xfrm>
          <a:prstGeom prst="rect">
            <a:avLst/>
          </a:prstGeom>
          <a:noFill/>
          <a:ln/>
        </p:spPr>
        <p:txBody>
          <a:bodyPr wrap="square" lIns="0" tIns="0" rIns="0" bIns="0" rtlCol="0" anchor="ctr"/>
          <a:lstStyle/>
          <a:p>
            <a:pPr algn="ctr" indent="0" marL="0">
              <a:buNone/>
            </a:pPr>
            <a:r>
              <a:rPr lang="en-US" sz="1500" b="1" dirty="0">
                <a:solidFill>
                  <a:schemeClr val="tx1"/>
                </a:solidFill>
                <a:latin typeface="Roboto Mono" pitchFamily="34" charset="0"/>
                <a:ea typeface="Roboto Mono" pitchFamily="34" charset="-122"/>
                <a:cs typeface="Roboto Mono" pitchFamily="34" charset="-120"/>
              </a:rPr>
              <a:t>order_items</a:t>
            </a:r>
            <a:endParaRPr lang="en-US" sz="1500" dirty="0"/>
          </a:p>
        </p:txBody>
      </p:sp>
      <p:sp>
        <p:nvSpPr>
          <p:cNvPr id="36" name="box-362"/>
          <p:cNvSpPr/>
          <p:nvPr/>
        </p:nvSpPr>
        <p:spPr>
          <a:xfrm>
            <a:off x="10652760" y="3794760"/>
            <a:ext cx="868680" cy="292608"/>
          </a:xfrm>
          <a:prstGeom prst="roundRect">
            <a:avLst>
              <a:gd name="adj" fmla="val 37500"/>
            </a:avLst>
          </a:prstGeom>
          <a:solidFill>
            <a:schemeClr val="accent1"/>
          </a:solidFill>
          <a:ln/>
        </p:spPr>
      </p:sp>
      <p:sp>
        <p:nvSpPr>
          <p:cNvPr id="37" name="text-363"/>
          <p:cNvSpPr txBox="1"/>
          <p:nvPr/>
        </p:nvSpPr>
        <p:spPr>
          <a:xfrm>
            <a:off x="10725912" y="3794760"/>
            <a:ext cx="722376" cy="292608"/>
          </a:xfrm>
          <a:prstGeom prst="rect">
            <a:avLst/>
          </a:prstGeom>
          <a:noFill/>
          <a:ln/>
        </p:spPr>
        <p:txBody>
          <a:bodyPr wrap="square" lIns="0" tIns="0" rIns="0" bIns="0" rtlCol="0" anchor="ctr"/>
          <a:lstStyle/>
          <a:p>
            <a:pPr algn="ctr" indent="0" marL="0">
              <a:buNone/>
            </a:pPr>
            <a:r>
              <a:rPr lang="en-US" sz="1100" b="1" dirty="0">
                <a:solidFill>
                  <a:schemeClr val="tx1"/>
                </a:solidFill>
              </a:rPr>
              <a:t>FK + FK</a:t>
            </a:r>
            <a:endParaRPr lang="en-US" sz="1100" dirty="0"/>
          </a:p>
        </p:txBody>
      </p:sp>
      <p:sp>
        <p:nvSpPr>
          <p:cNvPr id="38" name="line-364"/>
          <p:cNvSpPr/>
          <p:nvPr/>
        </p:nvSpPr>
        <p:spPr>
          <a:xfrm>
            <a:off x="9898380" y="4480560"/>
            <a:ext cx="91" cy="365760"/>
          </a:xfrm>
          <a:prstGeom prst="line">
            <a:avLst/>
          </a:prstGeom>
          <a:noFill/>
          <a:ln w="25400">
            <a:solidFill>
              <a:schemeClr val="tx2"/>
            </a:solidFill>
            <a:prstDash val="solid"/>
          </a:ln>
        </p:spPr>
      </p:sp>
      <p:sp>
        <p:nvSpPr>
          <p:cNvPr id="39" name="box-365"/>
          <p:cNvSpPr/>
          <p:nvPr/>
        </p:nvSpPr>
        <p:spPr>
          <a:xfrm>
            <a:off x="8641080" y="4846320"/>
            <a:ext cx="2514600" cy="502920"/>
          </a:xfrm>
          <a:prstGeom prst="roundRect">
            <a:avLst>
              <a:gd name="adj" fmla="val 14545"/>
            </a:avLst>
          </a:prstGeom>
          <a:solidFill>
            <a:schemeClr val="bg1"/>
          </a:solidFill>
          <a:ln w="12700">
            <a:solidFill>
              <a:schemeClr val="tx2"/>
            </a:solidFill>
            <a:prstDash val="solid"/>
          </a:ln>
        </p:spPr>
      </p:sp>
      <p:sp>
        <p:nvSpPr>
          <p:cNvPr id="40" name="text-366"/>
          <p:cNvSpPr txBox="1"/>
          <p:nvPr/>
        </p:nvSpPr>
        <p:spPr>
          <a:xfrm>
            <a:off x="8641080" y="4846320"/>
            <a:ext cx="2514600" cy="502920"/>
          </a:xfrm>
          <a:prstGeom prst="rect">
            <a:avLst/>
          </a:prstGeom>
          <a:noFill/>
          <a:ln/>
        </p:spPr>
        <p:txBody>
          <a:bodyPr wrap="square" lIns="0" tIns="0" rIns="0" bIns="0" rtlCol="0" anchor="ctr"/>
          <a:lstStyle/>
          <a:p>
            <a:pPr algn="ctr" indent="0" marL="0">
              <a:buNone/>
            </a:pPr>
            <a:r>
              <a:rPr lang="en-US" sz="1500" b="1" dirty="0">
                <a:solidFill>
                  <a:schemeClr val="tx1"/>
                </a:solidFill>
                <a:latin typeface="Roboto Mono" pitchFamily="34" charset="0"/>
                <a:ea typeface="Roboto Mono" pitchFamily="34" charset="-122"/>
                <a:cs typeface="Roboto Mono" pitchFamily="34" charset="-120"/>
              </a:rPr>
              <a:t>products</a:t>
            </a:r>
            <a:endParaRPr lang="en-US" sz="1500" dirty="0"/>
          </a:p>
        </p:txBody>
      </p:sp>
      <p:sp>
        <p:nvSpPr>
          <p:cNvPr id="41" name="text-367"/>
          <p:cNvSpPr txBox="1"/>
          <p:nvPr/>
        </p:nvSpPr>
        <p:spPr>
          <a:xfrm>
            <a:off x="8321040" y="5532120"/>
            <a:ext cx="3154680" cy="457200"/>
          </a:xfrm>
          <a:prstGeom prst="rect">
            <a:avLst/>
          </a:prstGeom>
          <a:noFill/>
          <a:ln/>
        </p:spPr>
        <p:txBody>
          <a:bodyPr wrap="square" lIns="0" tIns="0" rIns="0" bIns="0" rtlCol="0" anchor="ctr"/>
          <a:lstStyle/>
          <a:p>
            <a:pPr algn="ctr" indent="0" marL="0">
              <a:buNone/>
            </a:pPr>
            <a:r>
              <a:rPr lang="en-US" sz="1500" dirty="0">
                <a:solidFill>
                  <a:schemeClr val="tx2"/>
                </a:solidFill>
              </a:rPr>
              <a:t>junction table in between</a:t>
            </a:r>
            <a:endParaRPr lang="en-US" sz="1500" dirty="0"/>
          </a:p>
        </p:txBody>
      </p:sp>
      <p:pic>
        <p:nvPicPr>
          <p:cNvPr id="42" name="Image 0" descr="DraftingCompass icon">    </p:cNvPr>
          <p:cNvPicPr>
            <a:picLocks noChangeAspect="1"/>
          </p:cNvPicPr>
          <p:nvPr/>
        </p:nvPicPr>
        <p:blipFill>
          <a:blip r:embed="rId1"/>
          <a:stretch>
            <a:fillRect/>
          </a:stretch>
        </p:blipFill>
        <p:spPr>
          <a:xfrm>
            <a:off x="640812" y="476220"/>
            <a:ext cx="199705" cy="199705"/>
          </a:xfrm>
          <a:prstGeom prst="rect">
            <a:avLst/>
          </a:prstGeom>
        </p:spPr>
      </p:pic>
      <p:pic>
        <p:nvPicPr>
          <p:cNvPr id="43" name="Image 1" descr="ClipboardList icon">    </p:cNvPr>
          <p:cNvPicPr>
            <a:picLocks noChangeAspect="1"/>
          </p:cNvPicPr>
          <p:nvPr/>
        </p:nvPicPr>
        <p:blipFill>
          <a:blip r:embed="rId2"/>
          <a:stretch>
            <a:fillRect/>
          </a:stretch>
        </p:blipFill>
        <p:spPr>
          <a:xfrm>
            <a:off x="8247888" y="4041648"/>
            <a:ext cx="329184" cy="329184"/>
          </a:xfrm>
          <a:prstGeom prst="rect">
            <a:avLst/>
          </a:prstGeom>
        </p:spPr>
      </p:pic>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dot-368"/>
          <p:cNvSpPr/>
          <p:nvPr/>
        </p:nvSpPr>
        <p:spPr>
          <a:xfrm>
            <a:off x="548640" y="384048"/>
            <a:ext cx="384048" cy="384048"/>
          </a:xfrm>
          <a:prstGeom prst="ellipse">
            <a:avLst/>
          </a:prstGeom>
          <a:solidFill>
            <a:schemeClr val="accent1"/>
          </a:solidFill>
          <a:ln/>
        </p:spPr>
      </p:sp>
      <p:sp>
        <p:nvSpPr>
          <p:cNvPr id="3" name="Text 1"/>
          <p:cNvSpPr/>
          <p:nvPr>
            <p:ph idx="101" type="body" hasCustomPrompt="1"/>
          </p:nvPr>
        </p:nvSpPr>
        <p:spPr>
          <a:xfrm>
            <a:off x="1051560" y="384048"/>
            <a:ext cx="9601200" cy="384048"/>
          </a:xfrm>
          <a:prstGeom prst="rect">
            <a:avLst/>
          </a:prstGeom>
          <a:noFill/>
          <a:ln/>
        </p:spPr>
        <p:txBody>
          <a:bodyPr wrap="square" lIns="0" tIns="0" rIns="0" bIns="0" rtlCol="0" anchor="ctr"/>
          <a:lstStyle/>
          <a:p>
            <a:pPr indent="0" marL="0">
              <a:buNone/>
            </a:pPr>
            <a:r>
              <a:rPr lang="en-US" sz="1300" b="1" spc="300" kern="0" dirty="0">
                <a:solidFill>
                  <a:schemeClr val="tx2"/>
                </a:solidFill>
              </a:rPr>
              <a:t>L1  ·  MODEL  ·  3.3 RELATIONSHIPS</a:t>
            </a:r>
            <a:endParaRPr lang="en-US" sz="1300" dirty="0"/>
          </a:p>
        </p:txBody>
      </p:sp>
      <p:sp>
        <p:nvSpPr>
          <p:cNvPr id="4" name="Text 1"/>
          <p:cNvSpPr/>
          <p:nvPr>
            <p:ph idx="102" type="title" hasCustomPrompt="1"/>
          </p:nvPr>
        </p:nvSpPr>
        <p:spPr>
          <a:xfrm>
            <a:off x="548640" y="841248"/>
            <a:ext cx="11064240" cy="777240"/>
          </a:xfrm>
          <a:prstGeom prst="rect">
            <a:avLst/>
          </a:prstGeom>
          <a:noFill/>
          <a:ln/>
        </p:spPr>
        <p:txBody>
          <a:bodyPr wrap="square" lIns="0" tIns="0" rIns="0" bIns="0" rtlCol="0" anchor="ctr"/>
          <a:lstStyle/>
          <a:p>
            <a:pPr algn="l" indent="0" marL="0">
              <a:buNone/>
            </a:pPr>
            <a:r>
              <a:rPr lang="en-US" sz="3800" b="1" dirty="0">
                <a:solidFill>
                  <a:schemeClr val="tx1"/>
                </a:solidFill>
              </a:rPr>
              <a:t>Delete a parent. Then what?</a:t>
            </a:r>
            <a:endParaRPr lang="en-US" sz="3800" dirty="0"/>
          </a:p>
        </p:txBody>
      </p:sp>
      <p:sp>
        <p:nvSpPr>
          <p:cNvPr id="5" name="Text 1"/>
          <p:cNvSpPr/>
          <p:nvPr>
            <p:ph idx="103" type="body" hasCustomPrompt="1"/>
          </p:nvPr>
        </p:nvSpPr>
        <p:spPr>
          <a:xfrm>
            <a:off x="548640" y="1627632"/>
            <a:ext cx="11064240" cy="457200"/>
          </a:xfrm>
          <a:prstGeom prst="rect">
            <a:avLst/>
          </a:prstGeom>
          <a:noFill/>
          <a:ln/>
        </p:spPr>
        <p:txBody>
          <a:bodyPr wrap="square" lIns="0" tIns="0" rIns="0" bIns="0" rtlCol="0" anchor="t"/>
          <a:lstStyle/>
          <a:p>
            <a:pPr indent="0" marL="0">
              <a:buNone/>
            </a:pPr>
            <a:r>
              <a:rPr lang="en-US" sz="2000" dirty="0">
                <a:solidFill>
                  <a:schemeClr val="tx2"/>
                </a:solidFill>
              </a:rPr>
              <a:t>RESTRICT protects history   ·   CASCADE only when children are meaningless alone</a:t>
            </a:r>
            <a:endParaRPr lang="en-US" sz="2000" dirty="0"/>
          </a:p>
        </p:txBody>
      </p:sp>
      <p:sp>
        <p:nvSpPr>
          <p:cNvPr id="7" name="box-369"/>
          <p:cNvSpPr/>
          <p:nvPr/>
        </p:nvSpPr>
        <p:spPr>
          <a:xfrm>
            <a:off x="548640" y="2286000"/>
            <a:ext cx="5440680" cy="3840480"/>
          </a:xfrm>
          <a:prstGeom prst="roundRect">
            <a:avLst>
              <a:gd name="adj" fmla="val 1905"/>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8" name="box-370"/>
          <p:cNvSpPr/>
          <p:nvPr/>
        </p:nvSpPr>
        <p:spPr>
          <a:xfrm>
            <a:off x="6172200" y="2286000"/>
            <a:ext cx="5440680" cy="3840480"/>
          </a:xfrm>
          <a:prstGeom prst="roundRect">
            <a:avLst>
              <a:gd name="adj" fmla="val 1905"/>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9" name="box-371"/>
          <p:cNvSpPr/>
          <p:nvPr/>
        </p:nvSpPr>
        <p:spPr>
          <a:xfrm>
            <a:off x="868680" y="2560320"/>
            <a:ext cx="2011680" cy="438912"/>
          </a:xfrm>
          <a:prstGeom prst="roundRect">
            <a:avLst>
              <a:gd name="adj" fmla="val 25000"/>
            </a:avLst>
          </a:prstGeom>
          <a:solidFill>
            <a:schemeClr val="accent5"/>
          </a:solidFill>
          <a:ln/>
        </p:spPr>
      </p:sp>
      <p:sp>
        <p:nvSpPr>
          <p:cNvPr id="10" name="text-372"/>
          <p:cNvSpPr txBox="1"/>
          <p:nvPr/>
        </p:nvSpPr>
        <p:spPr>
          <a:xfrm>
            <a:off x="941832" y="2560320"/>
            <a:ext cx="1865376" cy="438912"/>
          </a:xfrm>
          <a:prstGeom prst="rect">
            <a:avLst/>
          </a:prstGeom>
          <a:noFill/>
          <a:ln/>
        </p:spPr>
        <p:txBody>
          <a:bodyPr wrap="square" lIns="0" tIns="0" rIns="0" bIns="0" rtlCol="0" anchor="ctr"/>
          <a:lstStyle/>
          <a:p>
            <a:pPr algn="ctr" indent="0" marL="0">
              <a:buNone/>
            </a:pPr>
            <a:r>
              <a:rPr lang="en-US" sz="1300" b="1" dirty="0">
                <a:solidFill>
                  <a:schemeClr val="tx1"/>
                </a:solidFill>
                <a:latin typeface="Roboto Mono" pitchFamily="34" charset="0"/>
                <a:ea typeface="Roboto Mono" pitchFamily="34" charset="-122"/>
                <a:cs typeface="Roboto Mono" pitchFamily="34" charset="-120"/>
              </a:rPr>
              <a:t>DELETE user</a:t>
            </a:r>
            <a:endParaRPr lang="en-US" sz="1300" dirty="0"/>
          </a:p>
        </p:txBody>
      </p:sp>
      <p:sp>
        <p:nvSpPr>
          <p:cNvPr id="11" name="box-373"/>
          <p:cNvSpPr/>
          <p:nvPr/>
        </p:nvSpPr>
        <p:spPr>
          <a:xfrm>
            <a:off x="1463040" y="3291840"/>
            <a:ext cx="1828800" cy="502920"/>
          </a:xfrm>
          <a:prstGeom prst="roundRect">
            <a:avLst>
              <a:gd name="adj" fmla="val 14545"/>
            </a:avLst>
          </a:prstGeom>
          <a:solidFill>
            <a:schemeClr val="bg1"/>
          </a:solidFill>
          <a:ln w="12700">
            <a:solidFill>
              <a:schemeClr val="tx2"/>
            </a:solidFill>
            <a:prstDash val="solid"/>
          </a:ln>
        </p:spPr>
      </p:sp>
      <p:sp>
        <p:nvSpPr>
          <p:cNvPr id="12" name="text-374"/>
          <p:cNvSpPr txBox="1"/>
          <p:nvPr/>
        </p:nvSpPr>
        <p:spPr>
          <a:xfrm>
            <a:off x="1463040" y="3291840"/>
            <a:ext cx="1828800" cy="502920"/>
          </a:xfrm>
          <a:prstGeom prst="rect">
            <a:avLst/>
          </a:prstGeom>
          <a:noFill/>
          <a:ln/>
        </p:spPr>
        <p:txBody>
          <a:bodyPr wrap="square" lIns="0" tIns="0" rIns="0" bIns="0" rtlCol="0" anchor="ctr"/>
          <a:lstStyle/>
          <a:p>
            <a:pPr algn="ctr" indent="0" marL="0">
              <a:buNone/>
            </a:pPr>
            <a:r>
              <a:rPr lang="en-US" sz="1400" b="1" dirty="0">
                <a:solidFill>
                  <a:schemeClr val="tx1"/>
                </a:solidFill>
                <a:latin typeface="Roboto Mono" pitchFamily="34" charset="0"/>
                <a:ea typeface="Roboto Mono" pitchFamily="34" charset="-122"/>
                <a:cs typeface="Roboto Mono" pitchFamily="34" charset="-120"/>
              </a:rPr>
              <a:t>users</a:t>
            </a:r>
            <a:endParaRPr lang="en-US" sz="1400" dirty="0"/>
          </a:p>
        </p:txBody>
      </p:sp>
      <p:sp>
        <p:nvSpPr>
          <p:cNvPr id="13" name="box-375"/>
          <p:cNvSpPr/>
          <p:nvPr/>
        </p:nvSpPr>
        <p:spPr>
          <a:xfrm>
            <a:off x="868680" y="4343400"/>
            <a:ext cx="914400" cy="411480"/>
          </a:xfrm>
          <a:prstGeom prst="roundRect">
            <a:avLst>
              <a:gd name="adj" fmla="val 17778"/>
            </a:avLst>
          </a:prstGeom>
          <a:solidFill>
            <a:schemeClr val="bg1"/>
          </a:solidFill>
          <a:ln w="12700">
            <a:solidFill>
              <a:schemeClr val="tx2"/>
            </a:solidFill>
            <a:prstDash val="solid"/>
          </a:ln>
        </p:spPr>
      </p:sp>
      <p:sp>
        <p:nvSpPr>
          <p:cNvPr id="14" name="text-376"/>
          <p:cNvSpPr txBox="1"/>
          <p:nvPr/>
        </p:nvSpPr>
        <p:spPr>
          <a:xfrm>
            <a:off x="868680" y="4343400"/>
            <a:ext cx="914400" cy="411480"/>
          </a:xfrm>
          <a:prstGeom prst="rect">
            <a:avLst/>
          </a:prstGeom>
          <a:noFill/>
          <a:ln/>
        </p:spPr>
        <p:txBody>
          <a:bodyPr wrap="square" lIns="0" tIns="0" rIns="0" bIns="0" rtlCol="0" anchor="ctr"/>
          <a:lstStyle/>
          <a:p>
            <a:pPr algn="ctr" indent="0" marL="0">
              <a:buNone/>
            </a:pPr>
            <a:r>
              <a:rPr lang="en-US" sz="1200" dirty="0">
                <a:solidFill>
                  <a:schemeClr val="tx1"/>
                </a:solidFill>
                <a:latin typeface="Roboto Mono" pitchFamily="34" charset="0"/>
                <a:ea typeface="Roboto Mono" pitchFamily="34" charset="-122"/>
                <a:cs typeface="Roboto Mono" pitchFamily="34" charset="-120"/>
              </a:rPr>
              <a:t>order</a:t>
            </a:r>
            <a:endParaRPr lang="en-US" sz="1200" dirty="0"/>
          </a:p>
        </p:txBody>
      </p:sp>
      <p:sp>
        <p:nvSpPr>
          <p:cNvPr id="15" name="line-377"/>
          <p:cNvSpPr/>
          <p:nvPr/>
        </p:nvSpPr>
        <p:spPr>
          <a:xfrm flipH="1">
            <a:off x="1325880" y="3794760"/>
            <a:ext cx="1051560" cy="548640"/>
          </a:xfrm>
          <a:prstGeom prst="line">
            <a:avLst/>
          </a:prstGeom>
          <a:noFill/>
          <a:ln w="12700">
            <a:solidFill>
              <a:schemeClr val="accent4"/>
            </a:solidFill>
            <a:prstDash val="solid"/>
          </a:ln>
        </p:spPr>
      </p:sp>
      <p:sp>
        <p:nvSpPr>
          <p:cNvPr id="16" name="box-378"/>
          <p:cNvSpPr/>
          <p:nvPr/>
        </p:nvSpPr>
        <p:spPr>
          <a:xfrm>
            <a:off x="1920240" y="4343400"/>
            <a:ext cx="914400" cy="411480"/>
          </a:xfrm>
          <a:prstGeom prst="roundRect">
            <a:avLst>
              <a:gd name="adj" fmla="val 17778"/>
            </a:avLst>
          </a:prstGeom>
          <a:solidFill>
            <a:schemeClr val="bg1"/>
          </a:solidFill>
          <a:ln w="12700">
            <a:solidFill>
              <a:schemeClr val="tx2"/>
            </a:solidFill>
            <a:prstDash val="solid"/>
          </a:ln>
        </p:spPr>
      </p:sp>
      <p:sp>
        <p:nvSpPr>
          <p:cNvPr id="17" name="text-379"/>
          <p:cNvSpPr txBox="1"/>
          <p:nvPr/>
        </p:nvSpPr>
        <p:spPr>
          <a:xfrm>
            <a:off x="1920240" y="4343400"/>
            <a:ext cx="914400" cy="411480"/>
          </a:xfrm>
          <a:prstGeom prst="rect">
            <a:avLst/>
          </a:prstGeom>
          <a:noFill/>
          <a:ln/>
        </p:spPr>
        <p:txBody>
          <a:bodyPr wrap="square" lIns="0" tIns="0" rIns="0" bIns="0" rtlCol="0" anchor="ctr"/>
          <a:lstStyle/>
          <a:p>
            <a:pPr algn="ctr" indent="0" marL="0">
              <a:buNone/>
            </a:pPr>
            <a:r>
              <a:rPr lang="en-US" sz="1200" dirty="0">
                <a:solidFill>
                  <a:schemeClr val="tx1"/>
                </a:solidFill>
                <a:latin typeface="Roboto Mono" pitchFamily="34" charset="0"/>
                <a:ea typeface="Roboto Mono" pitchFamily="34" charset="-122"/>
                <a:cs typeface="Roboto Mono" pitchFamily="34" charset="-120"/>
              </a:rPr>
              <a:t>order</a:t>
            </a:r>
            <a:endParaRPr lang="en-US" sz="1200" dirty="0"/>
          </a:p>
        </p:txBody>
      </p:sp>
      <p:sp>
        <p:nvSpPr>
          <p:cNvPr id="18" name="line-380"/>
          <p:cNvSpPr/>
          <p:nvPr/>
        </p:nvSpPr>
        <p:spPr>
          <a:xfrm flipH="1">
            <a:off x="2377440" y="3794760"/>
            <a:ext cx="91" cy="548640"/>
          </a:xfrm>
          <a:prstGeom prst="line">
            <a:avLst/>
          </a:prstGeom>
          <a:noFill/>
          <a:ln w="12700">
            <a:solidFill>
              <a:schemeClr val="accent4"/>
            </a:solidFill>
            <a:prstDash val="solid"/>
          </a:ln>
        </p:spPr>
      </p:sp>
      <p:sp>
        <p:nvSpPr>
          <p:cNvPr id="19" name="box-381"/>
          <p:cNvSpPr/>
          <p:nvPr/>
        </p:nvSpPr>
        <p:spPr>
          <a:xfrm>
            <a:off x="2971800" y="4343400"/>
            <a:ext cx="914400" cy="411480"/>
          </a:xfrm>
          <a:prstGeom prst="roundRect">
            <a:avLst>
              <a:gd name="adj" fmla="val 17778"/>
            </a:avLst>
          </a:prstGeom>
          <a:solidFill>
            <a:schemeClr val="bg1"/>
          </a:solidFill>
          <a:ln w="12700">
            <a:solidFill>
              <a:schemeClr val="tx2"/>
            </a:solidFill>
            <a:prstDash val="solid"/>
          </a:ln>
        </p:spPr>
      </p:sp>
      <p:sp>
        <p:nvSpPr>
          <p:cNvPr id="20" name="text-382"/>
          <p:cNvSpPr txBox="1"/>
          <p:nvPr/>
        </p:nvSpPr>
        <p:spPr>
          <a:xfrm>
            <a:off x="2971800" y="4343400"/>
            <a:ext cx="914400" cy="411480"/>
          </a:xfrm>
          <a:prstGeom prst="rect">
            <a:avLst/>
          </a:prstGeom>
          <a:noFill/>
          <a:ln/>
        </p:spPr>
        <p:txBody>
          <a:bodyPr wrap="square" lIns="0" tIns="0" rIns="0" bIns="0" rtlCol="0" anchor="ctr"/>
          <a:lstStyle/>
          <a:p>
            <a:pPr algn="ctr" indent="0" marL="0">
              <a:buNone/>
            </a:pPr>
            <a:r>
              <a:rPr lang="en-US" sz="1200" dirty="0">
                <a:solidFill>
                  <a:schemeClr val="tx1"/>
                </a:solidFill>
                <a:latin typeface="Roboto Mono" pitchFamily="34" charset="0"/>
                <a:ea typeface="Roboto Mono" pitchFamily="34" charset="-122"/>
                <a:cs typeface="Roboto Mono" pitchFamily="34" charset="-120"/>
              </a:rPr>
              <a:t>order</a:t>
            </a:r>
            <a:endParaRPr lang="en-US" sz="1200" dirty="0"/>
          </a:p>
        </p:txBody>
      </p:sp>
      <p:sp>
        <p:nvSpPr>
          <p:cNvPr id="21" name="line-383"/>
          <p:cNvSpPr/>
          <p:nvPr/>
        </p:nvSpPr>
        <p:spPr>
          <a:xfrm>
            <a:off x="2377440" y="3794760"/>
            <a:ext cx="1051560" cy="548640"/>
          </a:xfrm>
          <a:prstGeom prst="line">
            <a:avLst/>
          </a:prstGeom>
          <a:noFill/>
          <a:ln w="12700">
            <a:solidFill>
              <a:schemeClr val="accent4"/>
            </a:solidFill>
            <a:prstDash val="solid"/>
          </a:ln>
        </p:spPr>
      </p:sp>
      <p:sp>
        <p:nvSpPr>
          <p:cNvPr id="22" name="dot-384"/>
          <p:cNvSpPr/>
          <p:nvPr/>
        </p:nvSpPr>
        <p:spPr>
          <a:xfrm>
            <a:off x="4160520" y="3108960"/>
            <a:ext cx="1005840" cy="1005840"/>
          </a:xfrm>
          <a:prstGeom prst="ellipse">
            <a:avLst/>
          </a:prstGeom>
          <a:solidFill>
            <a:schemeClr val="tx1"/>
          </a:solidFill>
          <a:ln/>
        </p:spPr>
      </p:sp>
      <p:sp>
        <p:nvSpPr>
          <p:cNvPr id="23" name="text-385"/>
          <p:cNvSpPr txBox="1"/>
          <p:nvPr/>
        </p:nvSpPr>
        <p:spPr>
          <a:xfrm>
            <a:off x="868680" y="4983480"/>
            <a:ext cx="4846320" cy="502920"/>
          </a:xfrm>
          <a:prstGeom prst="rect">
            <a:avLst/>
          </a:prstGeom>
          <a:noFill/>
          <a:ln/>
        </p:spPr>
        <p:txBody>
          <a:bodyPr wrap="square" lIns="0" tIns="0" rIns="0" bIns="0" rtlCol="0" anchor="ctr"/>
          <a:lstStyle/>
          <a:p>
            <a:pPr algn="l" indent="0" marL="0">
              <a:buNone/>
            </a:pPr>
            <a:r>
              <a:rPr lang="en-US" sz="2600" b="1" dirty="0">
                <a:solidFill>
                  <a:schemeClr val="tx1"/>
                </a:solidFill>
              </a:rPr>
              <a:t>RESTRICT</a:t>
            </a:r>
            <a:endParaRPr lang="en-US" sz="2600" dirty="0"/>
          </a:p>
        </p:txBody>
      </p:sp>
      <p:sp>
        <p:nvSpPr>
          <p:cNvPr id="24" name="text-386"/>
          <p:cNvSpPr txBox="1"/>
          <p:nvPr/>
        </p:nvSpPr>
        <p:spPr>
          <a:xfrm>
            <a:off x="868680" y="5440680"/>
            <a:ext cx="4846320" cy="365760"/>
          </a:xfrm>
          <a:prstGeom prst="rect">
            <a:avLst/>
          </a:prstGeom>
          <a:noFill/>
          <a:ln/>
        </p:spPr>
        <p:txBody>
          <a:bodyPr wrap="square" lIns="0" tIns="0" rIns="0" bIns="0" rtlCol="0" anchor="ctr"/>
          <a:lstStyle/>
          <a:p>
            <a:pPr algn="l" indent="0" marL="0">
              <a:buNone/>
            </a:pPr>
            <a:r>
              <a:rPr lang="en-US" sz="1500" dirty="0">
                <a:solidFill>
                  <a:schemeClr val="tx2"/>
                </a:solidFill>
              </a:rPr>
              <a:t>blocked while orders exist</a:t>
            </a:r>
            <a:endParaRPr lang="en-US" sz="1500" dirty="0"/>
          </a:p>
        </p:txBody>
      </p:sp>
      <p:sp>
        <p:nvSpPr>
          <p:cNvPr id="25" name="box-387"/>
          <p:cNvSpPr/>
          <p:nvPr/>
        </p:nvSpPr>
        <p:spPr>
          <a:xfrm>
            <a:off x="6492240" y="2560320"/>
            <a:ext cx="2103120" cy="438912"/>
          </a:xfrm>
          <a:prstGeom prst="roundRect">
            <a:avLst>
              <a:gd name="adj" fmla="val 25000"/>
            </a:avLst>
          </a:prstGeom>
          <a:solidFill>
            <a:schemeClr val="accent5"/>
          </a:solidFill>
          <a:ln/>
        </p:spPr>
      </p:sp>
      <p:sp>
        <p:nvSpPr>
          <p:cNvPr id="26" name="text-388"/>
          <p:cNvSpPr txBox="1"/>
          <p:nvPr/>
        </p:nvSpPr>
        <p:spPr>
          <a:xfrm>
            <a:off x="6565392" y="2560320"/>
            <a:ext cx="1956816" cy="438912"/>
          </a:xfrm>
          <a:prstGeom prst="rect">
            <a:avLst/>
          </a:prstGeom>
          <a:noFill/>
          <a:ln/>
        </p:spPr>
        <p:txBody>
          <a:bodyPr wrap="square" lIns="0" tIns="0" rIns="0" bIns="0" rtlCol="0" anchor="ctr"/>
          <a:lstStyle/>
          <a:p>
            <a:pPr algn="ctr" indent="0" marL="0">
              <a:buNone/>
            </a:pPr>
            <a:r>
              <a:rPr lang="en-US" sz="1300" b="1" dirty="0">
                <a:solidFill>
                  <a:schemeClr val="tx1"/>
                </a:solidFill>
                <a:latin typeface="Roboto Mono" pitchFamily="34" charset="0"/>
                <a:ea typeface="Roboto Mono" pitchFamily="34" charset="-122"/>
                <a:cs typeface="Roboto Mono" pitchFamily="34" charset="-120"/>
              </a:rPr>
              <a:t>DELETE order</a:t>
            </a:r>
            <a:endParaRPr lang="en-US" sz="1300" dirty="0"/>
          </a:p>
        </p:txBody>
      </p:sp>
      <p:sp>
        <p:nvSpPr>
          <p:cNvPr id="27" name="box-389"/>
          <p:cNvSpPr/>
          <p:nvPr/>
        </p:nvSpPr>
        <p:spPr>
          <a:xfrm>
            <a:off x="7086600" y="3291840"/>
            <a:ext cx="1828800" cy="502920"/>
          </a:xfrm>
          <a:prstGeom prst="roundRect">
            <a:avLst>
              <a:gd name="adj" fmla="val 14545"/>
            </a:avLst>
          </a:prstGeom>
          <a:solidFill>
            <a:schemeClr val="bg1"/>
          </a:solidFill>
          <a:ln w="12700">
            <a:solidFill>
              <a:schemeClr val="tx2"/>
            </a:solidFill>
            <a:prstDash val="solid"/>
          </a:ln>
        </p:spPr>
      </p:sp>
      <p:sp>
        <p:nvSpPr>
          <p:cNvPr id="28" name="text-390"/>
          <p:cNvSpPr txBox="1"/>
          <p:nvPr/>
        </p:nvSpPr>
        <p:spPr>
          <a:xfrm>
            <a:off x="7086600" y="3291840"/>
            <a:ext cx="1828800" cy="502920"/>
          </a:xfrm>
          <a:prstGeom prst="rect">
            <a:avLst/>
          </a:prstGeom>
          <a:noFill/>
          <a:ln/>
        </p:spPr>
        <p:txBody>
          <a:bodyPr wrap="square" lIns="0" tIns="0" rIns="0" bIns="0" rtlCol="0" anchor="ctr"/>
          <a:lstStyle/>
          <a:p>
            <a:pPr algn="ctr" indent="0" marL="0">
              <a:buNone/>
            </a:pPr>
            <a:r>
              <a:rPr lang="en-US" sz="1400" b="1" dirty="0">
                <a:solidFill>
                  <a:schemeClr val="tx1"/>
                </a:solidFill>
                <a:latin typeface="Roboto Mono" pitchFamily="34" charset="0"/>
                <a:ea typeface="Roboto Mono" pitchFamily="34" charset="-122"/>
                <a:cs typeface="Roboto Mono" pitchFamily="34" charset="-120"/>
              </a:rPr>
              <a:t>orders</a:t>
            </a:r>
            <a:endParaRPr lang="en-US" sz="1400" dirty="0"/>
          </a:p>
        </p:txBody>
      </p:sp>
      <p:sp>
        <p:nvSpPr>
          <p:cNvPr id="29" name="box-391"/>
          <p:cNvSpPr/>
          <p:nvPr/>
        </p:nvSpPr>
        <p:spPr>
          <a:xfrm>
            <a:off x="6492240" y="4343400"/>
            <a:ext cx="914400" cy="411480"/>
          </a:xfrm>
          <a:prstGeom prst="roundRect">
            <a:avLst>
              <a:gd name="adj" fmla="val 17778"/>
            </a:avLst>
          </a:prstGeom>
          <a:solidFill>
            <a:schemeClr val="bg1"/>
          </a:solidFill>
          <a:ln w="12700">
            <a:solidFill>
              <a:schemeClr val="accent1"/>
            </a:solidFill>
            <a:prstDash val="dash"/>
          </a:ln>
        </p:spPr>
      </p:sp>
      <p:sp>
        <p:nvSpPr>
          <p:cNvPr id="30" name="text-392"/>
          <p:cNvSpPr txBox="1"/>
          <p:nvPr/>
        </p:nvSpPr>
        <p:spPr>
          <a:xfrm>
            <a:off x="6492240" y="4343400"/>
            <a:ext cx="914400" cy="411480"/>
          </a:xfrm>
          <a:prstGeom prst="rect">
            <a:avLst/>
          </a:prstGeom>
          <a:noFill/>
          <a:ln/>
        </p:spPr>
        <p:txBody>
          <a:bodyPr wrap="square" lIns="0" tIns="0" rIns="0" bIns="0" rtlCol="0" anchor="ctr"/>
          <a:lstStyle/>
          <a:p>
            <a:pPr algn="ctr" indent="0" marL="0">
              <a:buNone/>
            </a:pPr>
            <a:r>
              <a:rPr lang="en-US" sz="1200" dirty="0">
                <a:solidFill>
                  <a:schemeClr val="accent4"/>
                </a:solidFill>
                <a:latin typeface="Roboto Mono" pitchFamily="34" charset="0"/>
                <a:ea typeface="Roboto Mono" pitchFamily="34" charset="-122"/>
                <a:cs typeface="Roboto Mono" pitchFamily="34" charset="-120"/>
              </a:rPr>
              <a:t>item</a:t>
            </a:r>
            <a:endParaRPr lang="en-US" sz="1200" dirty="0"/>
          </a:p>
        </p:txBody>
      </p:sp>
      <p:sp>
        <p:nvSpPr>
          <p:cNvPr id="31" name="line-393"/>
          <p:cNvSpPr/>
          <p:nvPr/>
        </p:nvSpPr>
        <p:spPr>
          <a:xfrm flipH="1">
            <a:off x="6949440" y="3794760"/>
            <a:ext cx="1051560" cy="548640"/>
          </a:xfrm>
          <a:prstGeom prst="line">
            <a:avLst/>
          </a:prstGeom>
          <a:noFill/>
          <a:ln w="12700">
            <a:solidFill>
              <a:schemeClr val="accent1"/>
            </a:solidFill>
            <a:prstDash val="dash"/>
          </a:ln>
        </p:spPr>
      </p:sp>
      <p:sp>
        <p:nvSpPr>
          <p:cNvPr id="32" name="box-394"/>
          <p:cNvSpPr/>
          <p:nvPr/>
        </p:nvSpPr>
        <p:spPr>
          <a:xfrm>
            <a:off x="7543800" y="4343400"/>
            <a:ext cx="914400" cy="411480"/>
          </a:xfrm>
          <a:prstGeom prst="roundRect">
            <a:avLst>
              <a:gd name="adj" fmla="val 17778"/>
            </a:avLst>
          </a:prstGeom>
          <a:solidFill>
            <a:schemeClr val="bg1"/>
          </a:solidFill>
          <a:ln w="12700">
            <a:solidFill>
              <a:schemeClr val="accent1"/>
            </a:solidFill>
            <a:prstDash val="dash"/>
          </a:ln>
        </p:spPr>
      </p:sp>
      <p:sp>
        <p:nvSpPr>
          <p:cNvPr id="33" name="text-395"/>
          <p:cNvSpPr txBox="1"/>
          <p:nvPr/>
        </p:nvSpPr>
        <p:spPr>
          <a:xfrm>
            <a:off x="7543800" y="4343400"/>
            <a:ext cx="914400" cy="411480"/>
          </a:xfrm>
          <a:prstGeom prst="rect">
            <a:avLst/>
          </a:prstGeom>
          <a:noFill/>
          <a:ln/>
        </p:spPr>
        <p:txBody>
          <a:bodyPr wrap="square" lIns="0" tIns="0" rIns="0" bIns="0" rtlCol="0" anchor="ctr"/>
          <a:lstStyle/>
          <a:p>
            <a:pPr algn="ctr" indent="0" marL="0">
              <a:buNone/>
            </a:pPr>
            <a:r>
              <a:rPr lang="en-US" sz="1200" dirty="0">
                <a:solidFill>
                  <a:schemeClr val="accent4"/>
                </a:solidFill>
                <a:latin typeface="Roboto Mono" pitchFamily="34" charset="0"/>
                <a:ea typeface="Roboto Mono" pitchFamily="34" charset="-122"/>
                <a:cs typeface="Roboto Mono" pitchFamily="34" charset="-120"/>
              </a:rPr>
              <a:t>item</a:t>
            </a:r>
            <a:endParaRPr lang="en-US" sz="1200" dirty="0"/>
          </a:p>
        </p:txBody>
      </p:sp>
      <p:sp>
        <p:nvSpPr>
          <p:cNvPr id="34" name="line-396"/>
          <p:cNvSpPr/>
          <p:nvPr/>
        </p:nvSpPr>
        <p:spPr>
          <a:xfrm>
            <a:off x="8001000" y="3794760"/>
            <a:ext cx="91" cy="548640"/>
          </a:xfrm>
          <a:prstGeom prst="line">
            <a:avLst/>
          </a:prstGeom>
          <a:noFill/>
          <a:ln w="12700">
            <a:solidFill>
              <a:schemeClr val="accent1"/>
            </a:solidFill>
            <a:prstDash val="dash"/>
          </a:ln>
        </p:spPr>
      </p:sp>
      <p:sp>
        <p:nvSpPr>
          <p:cNvPr id="35" name="box-397"/>
          <p:cNvSpPr/>
          <p:nvPr/>
        </p:nvSpPr>
        <p:spPr>
          <a:xfrm>
            <a:off x="8595360" y="4343400"/>
            <a:ext cx="914400" cy="411480"/>
          </a:xfrm>
          <a:prstGeom prst="roundRect">
            <a:avLst>
              <a:gd name="adj" fmla="val 17778"/>
            </a:avLst>
          </a:prstGeom>
          <a:solidFill>
            <a:schemeClr val="bg1"/>
          </a:solidFill>
          <a:ln w="12700">
            <a:solidFill>
              <a:schemeClr val="accent1"/>
            </a:solidFill>
            <a:prstDash val="dash"/>
          </a:ln>
        </p:spPr>
      </p:sp>
      <p:sp>
        <p:nvSpPr>
          <p:cNvPr id="36" name="text-398"/>
          <p:cNvSpPr txBox="1"/>
          <p:nvPr/>
        </p:nvSpPr>
        <p:spPr>
          <a:xfrm>
            <a:off x="8595360" y="4343400"/>
            <a:ext cx="914400" cy="411480"/>
          </a:xfrm>
          <a:prstGeom prst="rect">
            <a:avLst/>
          </a:prstGeom>
          <a:noFill/>
          <a:ln/>
        </p:spPr>
        <p:txBody>
          <a:bodyPr wrap="square" lIns="0" tIns="0" rIns="0" bIns="0" rtlCol="0" anchor="ctr"/>
          <a:lstStyle/>
          <a:p>
            <a:pPr algn="ctr" indent="0" marL="0">
              <a:buNone/>
            </a:pPr>
            <a:r>
              <a:rPr lang="en-US" sz="1200" dirty="0">
                <a:solidFill>
                  <a:schemeClr val="accent4"/>
                </a:solidFill>
                <a:latin typeface="Roboto Mono" pitchFamily="34" charset="0"/>
                <a:ea typeface="Roboto Mono" pitchFamily="34" charset="-122"/>
                <a:cs typeface="Roboto Mono" pitchFamily="34" charset="-120"/>
              </a:rPr>
              <a:t>item</a:t>
            </a:r>
            <a:endParaRPr lang="en-US" sz="1200" dirty="0"/>
          </a:p>
        </p:txBody>
      </p:sp>
      <p:sp>
        <p:nvSpPr>
          <p:cNvPr id="37" name="line-399"/>
          <p:cNvSpPr/>
          <p:nvPr/>
        </p:nvSpPr>
        <p:spPr>
          <a:xfrm>
            <a:off x="8001000" y="3794760"/>
            <a:ext cx="1051560" cy="548640"/>
          </a:xfrm>
          <a:prstGeom prst="line">
            <a:avLst/>
          </a:prstGeom>
          <a:noFill/>
          <a:ln w="12700">
            <a:solidFill>
              <a:schemeClr val="accent1"/>
            </a:solidFill>
            <a:prstDash val="dash"/>
          </a:ln>
        </p:spPr>
      </p:sp>
      <p:sp>
        <p:nvSpPr>
          <p:cNvPr id="38" name="dot-400"/>
          <p:cNvSpPr/>
          <p:nvPr/>
        </p:nvSpPr>
        <p:spPr>
          <a:xfrm>
            <a:off x="9784080" y="3108960"/>
            <a:ext cx="1005840" cy="1005840"/>
          </a:xfrm>
          <a:prstGeom prst="ellipse">
            <a:avLst/>
          </a:prstGeom>
          <a:solidFill>
            <a:schemeClr val="accent1"/>
          </a:solidFill>
          <a:ln/>
        </p:spPr>
      </p:sp>
      <p:sp>
        <p:nvSpPr>
          <p:cNvPr id="39" name="text-401"/>
          <p:cNvSpPr txBox="1"/>
          <p:nvPr/>
        </p:nvSpPr>
        <p:spPr>
          <a:xfrm>
            <a:off x="6492240" y="4983480"/>
            <a:ext cx="4846320" cy="502920"/>
          </a:xfrm>
          <a:prstGeom prst="rect">
            <a:avLst/>
          </a:prstGeom>
          <a:noFill/>
          <a:ln/>
        </p:spPr>
        <p:txBody>
          <a:bodyPr wrap="square" lIns="0" tIns="0" rIns="0" bIns="0" rtlCol="0" anchor="ctr"/>
          <a:lstStyle/>
          <a:p>
            <a:pPr algn="l" indent="0" marL="0">
              <a:buNone/>
            </a:pPr>
            <a:r>
              <a:rPr lang="en-US" sz="2600" b="1" dirty="0">
                <a:solidFill>
                  <a:schemeClr val="tx1"/>
                </a:solidFill>
              </a:rPr>
              <a:t>CASCADE</a:t>
            </a:r>
            <a:endParaRPr lang="en-US" sz="2600" dirty="0"/>
          </a:p>
        </p:txBody>
      </p:sp>
      <p:sp>
        <p:nvSpPr>
          <p:cNvPr id="40" name="text-402"/>
          <p:cNvSpPr txBox="1"/>
          <p:nvPr/>
        </p:nvSpPr>
        <p:spPr>
          <a:xfrm>
            <a:off x="6492240" y="5440680"/>
            <a:ext cx="4846320" cy="365760"/>
          </a:xfrm>
          <a:prstGeom prst="rect">
            <a:avLst/>
          </a:prstGeom>
          <a:noFill/>
          <a:ln/>
        </p:spPr>
        <p:txBody>
          <a:bodyPr wrap="square" lIns="0" tIns="0" rIns="0" bIns="0" rtlCol="0" anchor="ctr"/>
          <a:lstStyle/>
          <a:p>
            <a:pPr algn="l" indent="0" marL="0">
              <a:buNone/>
            </a:pPr>
            <a:r>
              <a:rPr lang="en-US" sz="1500" dirty="0">
                <a:solidFill>
                  <a:schemeClr val="tx2"/>
                </a:solidFill>
              </a:rPr>
              <a:t>items go with their order</a:t>
            </a:r>
            <a:endParaRPr lang="en-US" sz="1500" dirty="0"/>
          </a:p>
        </p:txBody>
      </p:sp>
      <p:pic>
        <p:nvPicPr>
          <p:cNvPr id="41" name="Image 0" descr="DraftingCompass icon">    </p:cNvPr>
          <p:cNvPicPr>
            <a:picLocks noChangeAspect="1"/>
          </p:cNvPicPr>
          <p:nvPr/>
        </p:nvPicPr>
        <p:blipFill>
          <a:blip r:embed="rId1"/>
          <a:stretch>
            <a:fillRect/>
          </a:stretch>
        </p:blipFill>
        <p:spPr>
          <a:xfrm>
            <a:off x="640812" y="476220"/>
            <a:ext cx="199705" cy="199705"/>
          </a:xfrm>
          <a:prstGeom prst="rect">
            <a:avLst/>
          </a:prstGeom>
        </p:spPr>
      </p:pic>
      <p:pic>
        <p:nvPicPr>
          <p:cNvPr id="42" name="Image 1" descr="ShieldAlt icon">    </p:cNvPr>
          <p:cNvPicPr>
            <a:picLocks noChangeAspect="1"/>
          </p:cNvPicPr>
          <p:nvPr/>
        </p:nvPicPr>
        <p:blipFill>
          <a:blip r:embed="rId2"/>
          <a:stretch>
            <a:fillRect/>
          </a:stretch>
        </p:blipFill>
        <p:spPr>
          <a:xfrm>
            <a:off x="4401922" y="3350362"/>
            <a:ext cx="523037" cy="523037"/>
          </a:xfrm>
          <a:prstGeom prst="rect">
            <a:avLst/>
          </a:prstGeom>
        </p:spPr>
      </p:pic>
      <p:pic>
        <p:nvPicPr>
          <p:cNvPr id="43" name="Image 2" descr="TrashAlt icon">    </p:cNvPr>
          <p:cNvPicPr>
            <a:picLocks noChangeAspect="1"/>
          </p:cNvPicPr>
          <p:nvPr/>
        </p:nvPicPr>
        <p:blipFill>
          <a:blip r:embed="rId3"/>
          <a:stretch>
            <a:fillRect/>
          </a:stretch>
        </p:blipFill>
        <p:spPr>
          <a:xfrm>
            <a:off x="10025482" y="3350362"/>
            <a:ext cx="523037" cy="523037"/>
          </a:xfrm>
          <a:prstGeom prst="rect">
            <a:avLst/>
          </a:prstGeom>
        </p:spPr>
      </p:pic>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dot-403"/>
          <p:cNvSpPr/>
          <p:nvPr/>
        </p:nvSpPr>
        <p:spPr>
          <a:xfrm>
            <a:off x="548640" y="384048"/>
            <a:ext cx="384048" cy="384048"/>
          </a:xfrm>
          <a:prstGeom prst="ellipse">
            <a:avLst/>
          </a:prstGeom>
          <a:solidFill>
            <a:schemeClr val="accent1"/>
          </a:solidFill>
          <a:ln/>
        </p:spPr>
      </p:sp>
      <p:sp>
        <p:nvSpPr>
          <p:cNvPr id="3" name="Text 1"/>
          <p:cNvSpPr/>
          <p:nvPr>
            <p:ph idx="101" type="body" hasCustomPrompt="1"/>
          </p:nvPr>
        </p:nvSpPr>
        <p:spPr>
          <a:xfrm>
            <a:off x="1051560" y="384048"/>
            <a:ext cx="9601200" cy="384048"/>
          </a:xfrm>
          <a:prstGeom prst="rect">
            <a:avLst/>
          </a:prstGeom>
          <a:noFill/>
          <a:ln/>
        </p:spPr>
        <p:txBody>
          <a:bodyPr wrap="square" lIns="0" tIns="0" rIns="0" bIns="0" rtlCol="0" anchor="ctr"/>
          <a:lstStyle/>
          <a:p>
            <a:pPr indent="0" marL="0">
              <a:buNone/>
            </a:pPr>
            <a:r>
              <a:rPr lang="en-US" sz="1300" b="1" spc="300" kern="0" dirty="0">
                <a:solidFill>
                  <a:schemeClr val="tx2"/>
                </a:solidFill>
              </a:rPr>
              <a:t>L1  ·  MODEL  ·  3.4 CONSTRAINTS</a:t>
            </a:r>
            <a:endParaRPr lang="en-US" sz="1300" dirty="0"/>
          </a:p>
        </p:txBody>
      </p:sp>
      <p:sp>
        <p:nvSpPr>
          <p:cNvPr id="4" name="Text 1"/>
          <p:cNvSpPr/>
          <p:nvPr>
            <p:ph idx="102" type="title" hasCustomPrompt="1"/>
          </p:nvPr>
        </p:nvSpPr>
        <p:spPr>
          <a:xfrm>
            <a:off x="548640" y="841248"/>
            <a:ext cx="11064240" cy="777240"/>
          </a:xfrm>
          <a:prstGeom prst="rect">
            <a:avLst/>
          </a:prstGeom>
          <a:noFill/>
          <a:ln/>
        </p:spPr>
        <p:txBody>
          <a:bodyPr wrap="square" lIns="0" tIns="0" rIns="0" bIns="0" rtlCol="0" anchor="ctr"/>
          <a:lstStyle/>
          <a:p>
            <a:pPr algn="l" indent="0" marL="0">
              <a:buNone/>
            </a:pPr>
            <a:r>
              <a:rPr lang="en-US" sz="3800" b="1" dirty="0">
                <a:solidFill>
                  <a:schemeClr val="tx1"/>
                </a:solidFill>
              </a:rPr>
              <a:t>Constraints are the locked door</a:t>
            </a:r>
            <a:endParaRPr lang="en-US" sz="3800" dirty="0"/>
          </a:p>
        </p:txBody>
      </p:sp>
      <p:sp>
        <p:nvSpPr>
          <p:cNvPr id="5" name="Text 1"/>
          <p:cNvSpPr/>
          <p:nvPr>
            <p:ph idx="103" type="body" hasCustomPrompt="1"/>
          </p:nvPr>
        </p:nvSpPr>
        <p:spPr>
          <a:xfrm>
            <a:off x="548640" y="1627632"/>
            <a:ext cx="11064240" cy="457200"/>
          </a:xfrm>
          <a:prstGeom prst="rect">
            <a:avLst/>
          </a:prstGeom>
          <a:noFill/>
          <a:ln/>
        </p:spPr>
        <p:txBody>
          <a:bodyPr wrap="square" lIns="0" tIns="0" rIns="0" bIns="0" rtlCol="0" anchor="t"/>
          <a:lstStyle/>
          <a:p>
            <a:pPr indent="0" marL="0">
              <a:buNone/>
            </a:pPr>
            <a:r>
              <a:rPr lang="en-US" sz="2000" dirty="0">
                <a:solidFill>
                  <a:schemeClr val="tx2"/>
                </a:solidFill>
              </a:rPr>
              <a:t>Validation is the receptionist; constraints can't be bypassed</a:t>
            </a:r>
            <a:endParaRPr lang="en-US" sz="2000" dirty="0"/>
          </a:p>
        </p:txBody>
      </p:sp>
      <p:sp>
        <p:nvSpPr>
          <p:cNvPr id="7" name="dot-404"/>
          <p:cNvSpPr/>
          <p:nvPr/>
        </p:nvSpPr>
        <p:spPr>
          <a:xfrm>
            <a:off x="731520" y="2331720"/>
            <a:ext cx="1188720" cy="1188720"/>
          </a:xfrm>
          <a:prstGeom prst="ellipse">
            <a:avLst/>
          </a:prstGeom>
          <a:solidFill>
            <a:schemeClr val="accent2"/>
          </a:solidFill>
          <a:ln/>
        </p:spPr>
      </p:sp>
      <p:sp>
        <p:nvSpPr>
          <p:cNvPr id="8" name="text-405"/>
          <p:cNvSpPr txBox="1"/>
          <p:nvPr/>
        </p:nvSpPr>
        <p:spPr>
          <a:xfrm>
            <a:off x="2103120" y="2377440"/>
            <a:ext cx="2377440" cy="411480"/>
          </a:xfrm>
          <a:prstGeom prst="rect">
            <a:avLst/>
          </a:prstGeom>
          <a:noFill/>
          <a:ln/>
        </p:spPr>
        <p:txBody>
          <a:bodyPr wrap="square" lIns="0" tIns="0" rIns="0" bIns="0" rtlCol="0" anchor="ctr"/>
          <a:lstStyle/>
          <a:p>
            <a:pPr algn="l" indent="0" marL="0">
              <a:buNone/>
            </a:pPr>
            <a:r>
              <a:rPr lang="en-US" sz="1800" b="1" dirty="0">
                <a:solidFill>
                  <a:schemeClr val="tx1"/>
                </a:solidFill>
              </a:rPr>
              <a:t>App validation</a:t>
            </a:r>
            <a:endParaRPr lang="en-US" sz="1800" dirty="0"/>
          </a:p>
        </p:txBody>
      </p:sp>
      <p:sp>
        <p:nvSpPr>
          <p:cNvPr id="9" name="text-406"/>
          <p:cNvSpPr txBox="1"/>
          <p:nvPr/>
        </p:nvSpPr>
        <p:spPr>
          <a:xfrm>
            <a:off x="2103120" y="2788920"/>
            <a:ext cx="2377440" cy="365760"/>
          </a:xfrm>
          <a:prstGeom prst="rect">
            <a:avLst/>
          </a:prstGeom>
          <a:noFill/>
          <a:ln/>
        </p:spPr>
        <p:txBody>
          <a:bodyPr wrap="square" lIns="0" tIns="0" rIns="0" bIns="0" rtlCol="0" anchor="ctr"/>
          <a:lstStyle/>
          <a:p>
            <a:pPr algn="l" indent="0" marL="0">
              <a:buNone/>
            </a:pPr>
            <a:r>
              <a:rPr lang="en-US" sz="1400" dirty="0">
                <a:solidFill>
                  <a:schemeClr val="tx2"/>
                </a:solidFill>
              </a:rPr>
              <a:t>Express · Zod · Joi</a:t>
            </a:r>
            <a:endParaRPr lang="en-US" sz="1400" dirty="0"/>
          </a:p>
        </p:txBody>
      </p:sp>
      <p:sp>
        <p:nvSpPr>
          <p:cNvPr id="10" name="box-407"/>
          <p:cNvSpPr/>
          <p:nvPr/>
        </p:nvSpPr>
        <p:spPr>
          <a:xfrm>
            <a:off x="731520" y="3931920"/>
            <a:ext cx="2377440" cy="457200"/>
          </a:xfrm>
          <a:prstGeom prst="roundRect">
            <a:avLst>
              <a:gd name="adj" fmla="val 24000"/>
            </a:avLst>
          </a:prstGeom>
          <a:solidFill>
            <a:schemeClr val="bg1"/>
          </a:solidFill>
          <a:ln w="12700">
            <a:solidFill>
              <a:schemeClr val="accent5"/>
            </a:solidFill>
            <a:prstDash val="solid"/>
          </a:ln>
        </p:spPr>
      </p:sp>
      <p:sp>
        <p:nvSpPr>
          <p:cNvPr id="11" name="text-408"/>
          <p:cNvSpPr txBox="1"/>
          <p:nvPr/>
        </p:nvSpPr>
        <p:spPr>
          <a:xfrm>
            <a:off x="804672" y="3931920"/>
            <a:ext cx="2231136" cy="457200"/>
          </a:xfrm>
          <a:prstGeom prst="rect">
            <a:avLst/>
          </a:prstGeom>
          <a:noFill/>
          <a:ln/>
        </p:spPr>
        <p:txBody>
          <a:bodyPr wrap="square" lIns="0" tIns="0" rIns="0" bIns="0" rtlCol="0" anchor="ctr"/>
          <a:lstStyle/>
          <a:p>
            <a:pPr algn="ctr" indent="0" marL="0">
              <a:buNone/>
            </a:pPr>
            <a:r>
              <a:rPr lang="en-US" sz="1400" dirty="0">
                <a:solidFill>
                  <a:schemeClr val="tx1"/>
                </a:solidFill>
              </a:rPr>
              <a:t>another service</a:t>
            </a:r>
            <a:endParaRPr lang="en-US" sz="1400" dirty="0"/>
          </a:p>
        </p:txBody>
      </p:sp>
      <p:sp>
        <p:nvSpPr>
          <p:cNvPr id="12" name="line-409"/>
          <p:cNvSpPr/>
          <p:nvPr/>
        </p:nvSpPr>
        <p:spPr>
          <a:xfrm>
            <a:off x="3108960" y="4160520"/>
            <a:ext cx="1463040" cy="91"/>
          </a:xfrm>
          <a:prstGeom prst="line">
            <a:avLst/>
          </a:prstGeom>
          <a:noFill/>
          <a:ln w="19050">
            <a:solidFill>
              <a:schemeClr val="tx2"/>
            </a:solidFill>
            <a:prstDash val="solid"/>
            <a:tailEnd type="triangle"/>
          </a:ln>
        </p:spPr>
      </p:sp>
      <p:sp>
        <p:nvSpPr>
          <p:cNvPr id="13" name="box-410"/>
          <p:cNvSpPr/>
          <p:nvPr/>
        </p:nvSpPr>
        <p:spPr>
          <a:xfrm>
            <a:off x="731520" y="4617720"/>
            <a:ext cx="2377440" cy="457200"/>
          </a:xfrm>
          <a:prstGeom prst="roundRect">
            <a:avLst>
              <a:gd name="adj" fmla="val 24000"/>
            </a:avLst>
          </a:prstGeom>
          <a:solidFill>
            <a:schemeClr val="bg1"/>
          </a:solidFill>
          <a:ln w="12700">
            <a:solidFill>
              <a:schemeClr val="accent5"/>
            </a:solidFill>
            <a:prstDash val="solid"/>
          </a:ln>
        </p:spPr>
      </p:sp>
      <p:sp>
        <p:nvSpPr>
          <p:cNvPr id="14" name="text-411"/>
          <p:cNvSpPr txBox="1"/>
          <p:nvPr/>
        </p:nvSpPr>
        <p:spPr>
          <a:xfrm>
            <a:off x="804672" y="4617720"/>
            <a:ext cx="2231136" cy="457200"/>
          </a:xfrm>
          <a:prstGeom prst="rect">
            <a:avLst/>
          </a:prstGeom>
          <a:noFill/>
          <a:ln/>
        </p:spPr>
        <p:txBody>
          <a:bodyPr wrap="square" lIns="0" tIns="0" rIns="0" bIns="0" rtlCol="0" anchor="ctr"/>
          <a:lstStyle/>
          <a:p>
            <a:pPr algn="ctr" indent="0" marL="0">
              <a:buNone/>
            </a:pPr>
            <a:r>
              <a:rPr lang="en-US" sz="1400" dirty="0">
                <a:solidFill>
                  <a:schemeClr val="tx1"/>
                </a:solidFill>
              </a:rPr>
              <a:t>a script</a:t>
            </a:r>
            <a:endParaRPr lang="en-US" sz="1400" dirty="0"/>
          </a:p>
        </p:txBody>
      </p:sp>
      <p:sp>
        <p:nvSpPr>
          <p:cNvPr id="15" name="line-412"/>
          <p:cNvSpPr/>
          <p:nvPr/>
        </p:nvSpPr>
        <p:spPr>
          <a:xfrm>
            <a:off x="3108960" y="4846320"/>
            <a:ext cx="1463040" cy="91"/>
          </a:xfrm>
          <a:prstGeom prst="line">
            <a:avLst/>
          </a:prstGeom>
          <a:noFill/>
          <a:ln w="19050">
            <a:solidFill>
              <a:schemeClr val="tx2"/>
            </a:solidFill>
            <a:prstDash val="solid"/>
            <a:tailEnd type="triangle"/>
          </a:ln>
        </p:spPr>
      </p:sp>
      <p:sp>
        <p:nvSpPr>
          <p:cNvPr id="16" name="box-413"/>
          <p:cNvSpPr/>
          <p:nvPr/>
        </p:nvSpPr>
        <p:spPr>
          <a:xfrm>
            <a:off x="731520" y="5303520"/>
            <a:ext cx="2377440" cy="457200"/>
          </a:xfrm>
          <a:prstGeom prst="roundRect">
            <a:avLst>
              <a:gd name="adj" fmla="val 24000"/>
            </a:avLst>
          </a:prstGeom>
          <a:solidFill>
            <a:schemeClr val="bg1"/>
          </a:solidFill>
          <a:ln w="12700">
            <a:solidFill>
              <a:schemeClr val="accent5"/>
            </a:solidFill>
            <a:prstDash val="solid"/>
          </a:ln>
        </p:spPr>
      </p:sp>
      <p:sp>
        <p:nvSpPr>
          <p:cNvPr id="17" name="text-414"/>
          <p:cNvSpPr txBox="1"/>
          <p:nvPr/>
        </p:nvSpPr>
        <p:spPr>
          <a:xfrm>
            <a:off x="804672" y="5303520"/>
            <a:ext cx="2231136" cy="457200"/>
          </a:xfrm>
          <a:prstGeom prst="rect">
            <a:avLst/>
          </a:prstGeom>
          <a:noFill/>
          <a:ln/>
        </p:spPr>
        <p:txBody>
          <a:bodyPr wrap="square" lIns="0" tIns="0" rIns="0" bIns="0" rtlCol="0" anchor="ctr"/>
          <a:lstStyle/>
          <a:p>
            <a:pPr algn="ctr" indent="0" marL="0">
              <a:buNone/>
            </a:pPr>
            <a:r>
              <a:rPr lang="en-US" sz="1400" dirty="0">
                <a:solidFill>
                  <a:schemeClr val="tx1"/>
                </a:solidFill>
              </a:rPr>
              <a:t>a manual fix</a:t>
            </a:r>
            <a:endParaRPr lang="en-US" sz="1400" dirty="0"/>
          </a:p>
        </p:txBody>
      </p:sp>
      <p:sp>
        <p:nvSpPr>
          <p:cNvPr id="18" name="line-415"/>
          <p:cNvSpPr/>
          <p:nvPr/>
        </p:nvSpPr>
        <p:spPr>
          <a:xfrm>
            <a:off x="3108960" y="5532120"/>
            <a:ext cx="1463040" cy="91"/>
          </a:xfrm>
          <a:prstGeom prst="line">
            <a:avLst/>
          </a:prstGeom>
          <a:noFill/>
          <a:ln w="19050">
            <a:solidFill>
              <a:schemeClr val="tx2"/>
            </a:solidFill>
            <a:prstDash val="solid"/>
            <a:tailEnd type="triangle"/>
          </a:ln>
        </p:spPr>
      </p:sp>
      <p:sp>
        <p:nvSpPr>
          <p:cNvPr id="19" name="text-416"/>
          <p:cNvSpPr txBox="1"/>
          <p:nvPr/>
        </p:nvSpPr>
        <p:spPr>
          <a:xfrm>
            <a:off x="731520" y="3429000"/>
            <a:ext cx="3200400" cy="365760"/>
          </a:xfrm>
          <a:prstGeom prst="rect">
            <a:avLst/>
          </a:prstGeom>
          <a:noFill/>
          <a:ln/>
        </p:spPr>
        <p:txBody>
          <a:bodyPr wrap="square" lIns="0" tIns="0" rIns="0" bIns="0" rtlCol="0" anchor="ctr"/>
          <a:lstStyle/>
          <a:p>
            <a:pPr algn="l" indent="0" marL="0">
              <a:buNone/>
            </a:pPr>
            <a:r>
              <a:rPr lang="en-US" sz="1300" i="1" dirty="0">
                <a:solidFill>
                  <a:schemeClr val="tx2"/>
                </a:solidFill>
              </a:rPr>
              <a:t>skip the desk…</a:t>
            </a:r>
            <a:endParaRPr lang="en-US" sz="1300" dirty="0"/>
          </a:p>
        </p:txBody>
      </p:sp>
      <p:sp>
        <p:nvSpPr>
          <p:cNvPr id="20" name="box-417"/>
          <p:cNvSpPr/>
          <p:nvPr/>
        </p:nvSpPr>
        <p:spPr>
          <a:xfrm>
            <a:off x="4663440" y="2286000"/>
            <a:ext cx="6949440" cy="3840480"/>
          </a:xfrm>
          <a:prstGeom prst="roundRect">
            <a:avLst>
              <a:gd name="adj" fmla="val 2381"/>
            </a:avLst>
          </a:prstGeom>
          <a:solidFill>
            <a:schemeClr val="tx1"/>
          </a:solidFill>
          <a:ln/>
        </p:spPr>
      </p:sp>
      <p:sp>
        <p:nvSpPr>
          <p:cNvPr id="21" name="text-418"/>
          <p:cNvSpPr txBox="1"/>
          <p:nvPr/>
        </p:nvSpPr>
        <p:spPr>
          <a:xfrm>
            <a:off x="5806440" y="2560320"/>
            <a:ext cx="5486400" cy="640080"/>
          </a:xfrm>
          <a:prstGeom prst="rect">
            <a:avLst/>
          </a:prstGeom>
          <a:noFill/>
          <a:ln/>
        </p:spPr>
        <p:txBody>
          <a:bodyPr wrap="square" lIns="0" tIns="0" rIns="0" bIns="0" rtlCol="0" anchor="ctr"/>
          <a:lstStyle/>
          <a:p>
            <a:pPr algn="l" indent="0" marL="0">
              <a:buNone/>
            </a:pPr>
            <a:r>
              <a:rPr lang="en-US" sz="1800" b="1" spc="300" kern="0" dirty="0">
                <a:solidFill>
                  <a:schemeClr val="bg1"/>
                </a:solidFill>
              </a:rPr>
              <a:t>DATABASE CONSTRAINTS</a:t>
            </a:r>
            <a:endParaRPr lang="en-US" sz="1800" dirty="0"/>
          </a:p>
        </p:txBody>
      </p:sp>
      <p:sp>
        <p:nvSpPr>
          <p:cNvPr id="22" name="box-419"/>
          <p:cNvSpPr/>
          <p:nvPr/>
        </p:nvSpPr>
        <p:spPr>
          <a:xfrm>
            <a:off x="4983480" y="3474720"/>
            <a:ext cx="2011680" cy="502920"/>
          </a:xfrm>
          <a:prstGeom prst="roundRect">
            <a:avLst>
              <a:gd name="adj" fmla="val 21818"/>
            </a:avLst>
          </a:prstGeom>
          <a:solidFill>
            <a:schemeClr val="accent2"/>
          </a:solidFill>
          <a:ln/>
        </p:spPr>
      </p:sp>
      <p:sp>
        <p:nvSpPr>
          <p:cNvPr id="23" name="text-420"/>
          <p:cNvSpPr txBox="1"/>
          <p:nvPr/>
        </p:nvSpPr>
        <p:spPr>
          <a:xfrm>
            <a:off x="5056632" y="3474720"/>
            <a:ext cx="1865376" cy="502920"/>
          </a:xfrm>
          <a:prstGeom prst="rect">
            <a:avLst/>
          </a:prstGeom>
          <a:noFill/>
          <a:ln/>
        </p:spPr>
        <p:txBody>
          <a:bodyPr wrap="square" lIns="0" tIns="0" rIns="0" bIns="0" rtlCol="0" anchor="ctr"/>
          <a:lstStyle/>
          <a:p>
            <a:pPr algn="ctr" indent="0" marL="0">
              <a:buNone/>
            </a:pPr>
            <a:r>
              <a:rPr lang="en-US" sz="1400" b="1" dirty="0">
                <a:solidFill>
                  <a:schemeClr val="tx1"/>
                </a:solidFill>
                <a:latin typeface="Roboto Mono" pitchFamily="34" charset="0"/>
                <a:ea typeface="Roboto Mono" pitchFamily="34" charset="-122"/>
                <a:cs typeface="Roboto Mono" pitchFamily="34" charset="-120"/>
              </a:rPr>
              <a:t>PRIMARY KEY</a:t>
            </a:r>
            <a:endParaRPr lang="en-US" sz="1400" dirty="0"/>
          </a:p>
        </p:txBody>
      </p:sp>
      <p:sp>
        <p:nvSpPr>
          <p:cNvPr id="24" name="box-421"/>
          <p:cNvSpPr/>
          <p:nvPr/>
        </p:nvSpPr>
        <p:spPr>
          <a:xfrm>
            <a:off x="7178040" y="3474720"/>
            <a:ext cx="2011680" cy="502920"/>
          </a:xfrm>
          <a:prstGeom prst="roundRect">
            <a:avLst>
              <a:gd name="adj" fmla="val 21818"/>
            </a:avLst>
          </a:prstGeom>
          <a:solidFill>
            <a:schemeClr val="accent2"/>
          </a:solidFill>
          <a:ln/>
        </p:spPr>
      </p:sp>
      <p:sp>
        <p:nvSpPr>
          <p:cNvPr id="25" name="text-422"/>
          <p:cNvSpPr txBox="1"/>
          <p:nvPr/>
        </p:nvSpPr>
        <p:spPr>
          <a:xfrm>
            <a:off x="7251192" y="3474720"/>
            <a:ext cx="1865376" cy="502920"/>
          </a:xfrm>
          <a:prstGeom prst="rect">
            <a:avLst/>
          </a:prstGeom>
          <a:noFill/>
          <a:ln/>
        </p:spPr>
        <p:txBody>
          <a:bodyPr wrap="square" lIns="0" tIns="0" rIns="0" bIns="0" rtlCol="0" anchor="ctr"/>
          <a:lstStyle/>
          <a:p>
            <a:pPr algn="ctr" indent="0" marL="0">
              <a:buNone/>
            </a:pPr>
            <a:r>
              <a:rPr lang="en-US" sz="1400" b="1" dirty="0">
                <a:solidFill>
                  <a:schemeClr val="tx1"/>
                </a:solidFill>
                <a:latin typeface="Roboto Mono" pitchFamily="34" charset="0"/>
                <a:ea typeface="Roboto Mono" pitchFamily="34" charset="-122"/>
                <a:cs typeface="Roboto Mono" pitchFamily="34" charset="-120"/>
              </a:rPr>
              <a:t>FOREIGN KEY</a:t>
            </a:r>
            <a:endParaRPr lang="en-US" sz="1400" dirty="0"/>
          </a:p>
        </p:txBody>
      </p:sp>
      <p:sp>
        <p:nvSpPr>
          <p:cNvPr id="26" name="box-423"/>
          <p:cNvSpPr/>
          <p:nvPr/>
        </p:nvSpPr>
        <p:spPr>
          <a:xfrm>
            <a:off x="9372600" y="3474720"/>
            <a:ext cx="2011680" cy="502920"/>
          </a:xfrm>
          <a:prstGeom prst="roundRect">
            <a:avLst>
              <a:gd name="adj" fmla="val 21818"/>
            </a:avLst>
          </a:prstGeom>
          <a:solidFill>
            <a:schemeClr val="accent2"/>
          </a:solidFill>
          <a:ln/>
        </p:spPr>
      </p:sp>
      <p:sp>
        <p:nvSpPr>
          <p:cNvPr id="27" name="text-424"/>
          <p:cNvSpPr txBox="1"/>
          <p:nvPr/>
        </p:nvSpPr>
        <p:spPr>
          <a:xfrm>
            <a:off x="9445752" y="3474720"/>
            <a:ext cx="1865376" cy="502920"/>
          </a:xfrm>
          <a:prstGeom prst="rect">
            <a:avLst/>
          </a:prstGeom>
          <a:noFill/>
          <a:ln/>
        </p:spPr>
        <p:txBody>
          <a:bodyPr wrap="square" lIns="0" tIns="0" rIns="0" bIns="0" rtlCol="0" anchor="ctr"/>
          <a:lstStyle/>
          <a:p>
            <a:pPr algn="ctr" indent="0" marL="0">
              <a:buNone/>
            </a:pPr>
            <a:r>
              <a:rPr lang="en-US" sz="1400" b="1" dirty="0">
                <a:solidFill>
                  <a:schemeClr val="tx1"/>
                </a:solidFill>
                <a:latin typeface="Roboto Mono" pitchFamily="34" charset="0"/>
                <a:ea typeface="Roboto Mono" pitchFamily="34" charset="-122"/>
                <a:cs typeface="Roboto Mono" pitchFamily="34" charset="-120"/>
              </a:rPr>
              <a:t>UNIQUE</a:t>
            </a:r>
            <a:endParaRPr lang="en-US" sz="1400" dirty="0"/>
          </a:p>
        </p:txBody>
      </p:sp>
      <p:sp>
        <p:nvSpPr>
          <p:cNvPr id="28" name="box-425"/>
          <p:cNvSpPr/>
          <p:nvPr/>
        </p:nvSpPr>
        <p:spPr>
          <a:xfrm>
            <a:off x="4983480" y="4160520"/>
            <a:ext cx="2011680" cy="502920"/>
          </a:xfrm>
          <a:prstGeom prst="roundRect">
            <a:avLst>
              <a:gd name="adj" fmla="val 21818"/>
            </a:avLst>
          </a:prstGeom>
          <a:solidFill>
            <a:schemeClr val="accent2"/>
          </a:solidFill>
          <a:ln/>
        </p:spPr>
      </p:sp>
      <p:sp>
        <p:nvSpPr>
          <p:cNvPr id="29" name="text-426"/>
          <p:cNvSpPr txBox="1"/>
          <p:nvPr/>
        </p:nvSpPr>
        <p:spPr>
          <a:xfrm>
            <a:off x="5056632" y="4160520"/>
            <a:ext cx="1865376" cy="502920"/>
          </a:xfrm>
          <a:prstGeom prst="rect">
            <a:avLst/>
          </a:prstGeom>
          <a:noFill/>
          <a:ln/>
        </p:spPr>
        <p:txBody>
          <a:bodyPr wrap="square" lIns="0" tIns="0" rIns="0" bIns="0" rtlCol="0" anchor="ctr"/>
          <a:lstStyle/>
          <a:p>
            <a:pPr algn="ctr" indent="0" marL="0">
              <a:buNone/>
            </a:pPr>
            <a:r>
              <a:rPr lang="en-US" sz="1400" b="1" dirty="0">
                <a:solidFill>
                  <a:schemeClr val="tx1"/>
                </a:solidFill>
                <a:latin typeface="Roboto Mono" pitchFamily="34" charset="0"/>
                <a:ea typeface="Roboto Mono" pitchFamily="34" charset="-122"/>
                <a:cs typeface="Roboto Mono" pitchFamily="34" charset="-120"/>
              </a:rPr>
              <a:t>NOT NULL</a:t>
            </a:r>
            <a:endParaRPr lang="en-US" sz="1400" dirty="0"/>
          </a:p>
        </p:txBody>
      </p:sp>
      <p:sp>
        <p:nvSpPr>
          <p:cNvPr id="30" name="box-427"/>
          <p:cNvSpPr/>
          <p:nvPr/>
        </p:nvSpPr>
        <p:spPr>
          <a:xfrm>
            <a:off x="7178040" y="4160520"/>
            <a:ext cx="2011680" cy="502920"/>
          </a:xfrm>
          <a:prstGeom prst="roundRect">
            <a:avLst>
              <a:gd name="adj" fmla="val 21818"/>
            </a:avLst>
          </a:prstGeom>
          <a:solidFill>
            <a:schemeClr val="accent2"/>
          </a:solidFill>
          <a:ln/>
        </p:spPr>
      </p:sp>
      <p:sp>
        <p:nvSpPr>
          <p:cNvPr id="31" name="text-428"/>
          <p:cNvSpPr txBox="1"/>
          <p:nvPr/>
        </p:nvSpPr>
        <p:spPr>
          <a:xfrm>
            <a:off x="7251192" y="4160520"/>
            <a:ext cx="1865376" cy="502920"/>
          </a:xfrm>
          <a:prstGeom prst="rect">
            <a:avLst/>
          </a:prstGeom>
          <a:noFill/>
          <a:ln/>
        </p:spPr>
        <p:txBody>
          <a:bodyPr wrap="square" lIns="0" tIns="0" rIns="0" bIns="0" rtlCol="0" anchor="ctr"/>
          <a:lstStyle/>
          <a:p>
            <a:pPr algn="ctr" indent="0" marL="0">
              <a:buNone/>
            </a:pPr>
            <a:r>
              <a:rPr lang="en-US" sz="1400" b="1" dirty="0">
                <a:solidFill>
                  <a:schemeClr val="tx1"/>
                </a:solidFill>
                <a:latin typeface="Roboto Mono" pitchFamily="34" charset="0"/>
                <a:ea typeface="Roboto Mono" pitchFamily="34" charset="-122"/>
                <a:cs typeface="Roboto Mono" pitchFamily="34" charset="-120"/>
              </a:rPr>
              <a:t>CHECK</a:t>
            </a:r>
            <a:endParaRPr lang="en-US" sz="1400" dirty="0"/>
          </a:p>
        </p:txBody>
      </p:sp>
      <p:sp>
        <p:nvSpPr>
          <p:cNvPr id="32" name="box-429"/>
          <p:cNvSpPr/>
          <p:nvPr/>
        </p:nvSpPr>
        <p:spPr>
          <a:xfrm>
            <a:off x="4983480" y="5166360"/>
            <a:ext cx="6309360" cy="502920"/>
          </a:xfrm>
          <a:prstGeom prst="roundRect">
            <a:avLst>
              <a:gd name="adj" fmla="val 21818"/>
            </a:avLst>
          </a:prstGeom>
          <a:solidFill>
            <a:schemeClr val="accent1"/>
          </a:solidFill>
          <a:ln/>
        </p:spPr>
      </p:sp>
      <p:sp>
        <p:nvSpPr>
          <p:cNvPr id="33" name="text-430"/>
          <p:cNvSpPr txBox="1"/>
          <p:nvPr/>
        </p:nvSpPr>
        <p:spPr>
          <a:xfrm>
            <a:off x="5056632" y="5166360"/>
            <a:ext cx="6163056" cy="502920"/>
          </a:xfrm>
          <a:prstGeom prst="rect">
            <a:avLst/>
          </a:prstGeom>
          <a:noFill/>
          <a:ln/>
        </p:spPr>
        <p:txBody>
          <a:bodyPr wrap="square" lIns="0" tIns="0" rIns="0" bIns="0" rtlCol="0" anchor="ctr"/>
          <a:lstStyle/>
          <a:p>
            <a:pPr algn="ctr" indent="0" marL="0">
              <a:buNone/>
            </a:pPr>
            <a:r>
              <a:rPr lang="en-US" sz="1400" b="1" dirty="0">
                <a:solidFill>
                  <a:schemeClr val="tx1"/>
                </a:solidFill>
                <a:latin typeface="Roboto Mono" pitchFamily="34" charset="0"/>
                <a:ea typeface="Roboto Mono" pitchFamily="34" charset="-122"/>
                <a:cs typeface="Roboto Mono" pitchFamily="34" charset="-120"/>
              </a:rPr>
              <a:t>23505 unique_violation  →  HTTP 409</a:t>
            </a:r>
            <a:endParaRPr lang="en-US" sz="1400" dirty="0"/>
          </a:p>
        </p:txBody>
      </p:sp>
      <p:pic>
        <p:nvPicPr>
          <p:cNvPr id="34" name="Image 0" descr="DraftingCompass icon">    </p:cNvPr>
          <p:cNvPicPr>
            <a:picLocks noChangeAspect="1"/>
          </p:cNvPicPr>
          <p:nvPr/>
        </p:nvPicPr>
        <p:blipFill>
          <a:blip r:embed="rId1"/>
          <a:stretch>
            <a:fillRect/>
          </a:stretch>
        </p:blipFill>
        <p:spPr>
          <a:xfrm>
            <a:off x="640812" y="476220"/>
            <a:ext cx="199705" cy="199705"/>
          </a:xfrm>
          <a:prstGeom prst="rect">
            <a:avLst/>
          </a:prstGeom>
        </p:spPr>
      </p:pic>
      <p:pic>
        <p:nvPicPr>
          <p:cNvPr id="35" name="Image 1" descr="ConciergeBell icon">    </p:cNvPr>
          <p:cNvPicPr>
            <a:picLocks noChangeAspect="1"/>
          </p:cNvPicPr>
          <p:nvPr/>
        </p:nvPicPr>
        <p:blipFill>
          <a:blip r:embed="rId2"/>
          <a:stretch>
            <a:fillRect/>
          </a:stretch>
        </p:blipFill>
        <p:spPr>
          <a:xfrm>
            <a:off x="1016813" y="2617013"/>
            <a:ext cx="618134" cy="618134"/>
          </a:xfrm>
          <a:prstGeom prst="rect">
            <a:avLst/>
          </a:prstGeom>
        </p:spPr>
      </p:pic>
      <p:pic>
        <p:nvPicPr>
          <p:cNvPr id="36" name="Image 2" descr="Lock icon">    </p:cNvPr>
          <p:cNvPicPr>
            <a:picLocks noChangeAspect="1"/>
          </p:cNvPicPr>
          <p:nvPr/>
        </p:nvPicPr>
        <p:blipFill>
          <a:blip r:embed="rId3"/>
          <a:stretch>
            <a:fillRect/>
          </a:stretch>
        </p:blipFill>
        <p:spPr>
          <a:xfrm>
            <a:off x="4983480" y="2560320"/>
            <a:ext cx="640080" cy="640080"/>
          </a:xfrm>
          <a:prstGeom prst="rect">
            <a:avLst/>
          </a:prstGeom>
        </p:spPr>
      </p:pic>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dot-431"/>
          <p:cNvSpPr/>
          <p:nvPr/>
        </p:nvSpPr>
        <p:spPr>
          <a:xfrm>
            <a:off x="548640" y="384048"/>
            <a:ext cx="384048" cy="384048"/>
          </a:xfrm>
          <a:prstGeom prst="ellipse">
            <a:avLst/>
          </a:prstGeom>
          <a:solidFill>
            <a:schemeClr val="accent1"/>
          </a:solidFill>
          <a:ln/>
        </p:spPr>
      </p:sp>
      <p:sp>
        <p:nvSpPr>
          <p:cNvPr id="3" name="Text 1"/>
          <p:cNvSpPr/>
          <p:nvPr>
            <p:ph idx="101" type="body" hasCustomPrompt="1"/>
          </p:nvPr>
        </p:nvSpPr>
        <p:spPr>
          <a:xfrm>
            <a:off x="1051560" y="384048"/>
            <a:ext cx="9601200" cy="384048"/>
          </a:xfrm>
          <a:prstGeom prst="rect">
            <a:avLst/>
          </a:prstGeom>
          <a:noFill/>
          <a:ln/>
        </p:spPr>
        <p:txBody>
          <a:bodyPr wrap="square" lIns="0" tIns="0" rIns="0" bIns="0" rtlCol="0" anchor="ctr"/>
          <a:lstStyle/>
          <a:p>
            <a:pPr indent="0" marL="0">
              <a:buNone/>
            </a:pPr>
            <a:r>
              <a:rPr lang="en-US" sz="1300" b="1" spc="300" kern="0" dirty="0">
                <a:solidFill>
                  <a:schemeClr val="tx2"/>
                </a:solidFill>
              </a:rPr>
              <a:t>L1  ·  MODEL  ·  3.5 NORMALISATION</a:t>
            </a:r>
            <a:endParaRPr lang="en-US" sz="1300" dirty="0"/>
          </a:p>
        </p:txBody>
      </p:sp>
      <p:sp>
        <p:nvSpPr>
          <p:cNvPr id="4" name="Text 1"/>
          <p:cNvSpPr/>
          <p:nvPr>
            <p:ph idx="102" type="title" hasCustomPrompt="1"/>
          </p:nvPr>
        </p:nvSpPr>
        <p:spPr>
          <a:xfrm>
            <a:off x="548640" y="841248"/>
            <a:ext cx="11064240" cy="777240"/>
          </a:xfrm>
          <a:prstGeom prst="rect">
            <a:avLst/>
          </a:prstGeom>
          <a:noFill/>
          <a:ln/>
        </p:spPr>
        <p:txBody>
          <a:bodyPr wrap="square" lIns="0" tIns="0" rIns="0" bIns="0" rtlCol="0" anchor="ctr"/>
          <a:lstStyle/>
          <a:p>
            <a:pPr algn="l" indent="0" marL="0">
              <a:buNone/>
            </a:pPr>
            <a:r>
              <a:rPr lang="en-US" sz="3800" b="1" dirty="0">
                <a:solidFill>
                  <a:schemeClr val="tx1"/>
                </a:solidFill>
              </a:rPr>
              <a:t>Store each fact once</a:t>
            </a:r>
            <a:endParaRPr lang="en-US" sz="3800" dirty="0"/>
          </a:p>
        </p:txBody>
      </p:sp>
      <p:sp>
        <p:nvSpPr>
          <p:cNvPr id="5" name="Text 1"/>
          <p:cNvSpPr/>
          <p:nvPr>
            <p:ph idx="103" type="body" hasCustomPrompt="1"/>
          </p:nvPr>
        </p:nvSpPr>
        <p:spPr>
          <a:xfrm>
            <a:off x="548640" y="1627632"/>
            <a:ext cx="11064240" cy="457200"/>
          </a:xfrm>
          <a:prstGeom prst="rect">
            <a:avLst/>
          </a:prstGeom>
          <a:noFill/>
          <a:ln/>
        </p:spPr>
        <p:txBody>
          <a:bodyPr wrap="square" lIns="0" tIns="0" rIns="0" bIns="0" rtlCol="0" anchor="t"/>
          <a:lstStyle/>
          <a:p>
            <a:pPr indent="0" marL="0">
              <a:buNone/>
            </a:pPr>
            <a:r>
              <a:rPr lang="en-US" sz="2000" dirty="0">
                <a:solidFill>
                  <a:schemeClr val="tx2"/>
                </a:solidFill>
              </a:rPr>
              <a:t>Duplicates cause update, insert and delete anomalies</a:t>
            </a:r>
            <a:endParaRPr lang="en-US" sz="2000" dirty="0"/>
          </a:p>
        </p:txBody>
      </p:sp>
      <p:sp>
        <p:nvSpPr>
          <p:cNvPr id="7" name="box-432"/>
          <p:cNvSpPr/>
          <p:nvPr/>
        </p:nvSpPr>
        <p:spPr>
          <a:xfrm rot="-360000">
            <a:off x="731520" y="2377440"/>
            <a:ext cx="1645920" cy="960120"/>
          </a:xfrm>
          <a:prstGeom prst="roundRect">
            <a:avLst>
              <a:gd name="adj" fmla="val 1905"/>
            </a:avLst>
          </a:prstGeom>
          <a:solidFill>
            <a:schemeClr val="accent2">
              <a:alpha val="45000"/>
            </a:schemeClr>
          </a:solidFill>
          <a:ln/>
        </p:spPr>
      </p:sp>
      <p:sp>
        <p:nvSpPr>
          <p:cNvPr id="8" name="text-433"/>
          <p:cNvSpPr txBox="1"/>
          <p:nvPr/>
        </p:nvSpPr>
        <p:spPr>
          <a:xfrm rot="-360000">
            <a:off x="822960" y="2468880"/>
            <a:ext cx="1463040" cy="777240"/>
          </a:xfrm>
          <a:prstGeom prst="rect">
            <a:avLst/>
          </a:prstGeom>
          <a:noFill/>
          <a:ln/>
        </p:spPr>
        <p:txBody>
          <a:bodyPr wrap="square" lIns="0" tIns="0" rIns="0" bIns="0" rtlCol="0" anchor="ctr"/>
          <a:lstStyle/>
          <a:p>
            <a:pPr algn="ctr" indent="0" marL="0">
              <a:buNone/>
            </a:pPr>
            <a:r>
              <a:rPr lang="en-US" sz="1200" dirty="0">
                <a:solidFill>
                  <a:schemeClr val="tx1"/>
                </a:solidFill>
                <a:latin typeface="Roboto Mono" pitchFamily="34" charset="0"/>
                <a:ea typeface="Roboto Mono" pitchFamily="34" charset="-122"/>
                <a:cs typeface="Roboto Mono" pitchFamily="34" charset="-120"/>
              </a:rPr>
              <a:t>Ada</a:t>
            </a:r>
            <a:endParaRPr lang="en-US" sz="1200" dirty="0"/>
          </a:p>
          <a:p>
            <a:pPr algn="ctr" indent="0" marL="0">
              <a:buNone/>
            </a:pPr>
            <a:r>
              <a:rPr lang="en-US" sz="1200" dirty="0">
                <a:solidFill>
                  <a:schemeClr val="tx1"/>
                </a:solidFill>
                <a:latin typeface="Roboto Mono" pitchFamily="34" charset="0"/>
                <a:ea typeface="Roboto Mono" pitchFamily="34" charset="-122"/>
                <a:cs typeface="Roboto Mono" pitchFamily="34" charset="-120"/>
              </a:rPr>
              <a:t>0803 555 0101</a:t>
            </a:r>
            <a:endParaRPr lang="en-US" sz="1200" dirty="0"/>
          </a:p>
        </p:txBody>
      </p:sp>
      <p:sp>
        <p:nvSpPr>
          <p:cNvPr id="9" name="box-434"/>
          <p:cNvSpPr/>
          <p:nvPr/>
        </p:nvSpPr>
        <p:spPr>
          <a:xfrm rot="240000">
            <a:off x="2468880" y="2286000"/>
            <a:ext cx="1645920" cy="960120"/>
          </a:xfrm>
          <a:prstGeom prst="roundRect">
            <a:avLst>
              <a:gd name="adj" fmla="val 1905"/>
            </a:avLst>
          </a:prstGeom>
          <a:solidFill>
            <a:schemeClr val="accent2">
              <a:alpha val="45000"/>
            </a:schemeClr>
          </a:solidFill>
          <a:ln/>
        </p:spPr>
      </p:sp>
      <p:sp>
        <p:nvSpPr>
          <p:cNvPr id="10" name="text-435"/>
          <p:cNvSpPr txBox="1"/>
          <p:nvPr/>
        </p:nvSpPr>
        <p:spPr>
          <a:xfrm rot="240000">
            <a:off x="2560320" y="2377440"/>
            <a:ext cx="1463040" cy="777240"/>
          </a:xfrm>
          <a:prstGeom prst="rect">
            <a:avLst/>
          </a:prstGeom>
          <a:noFill/>
          <a:ln/>
        </p:spPr>
        <p:txBody>
          <a:bodyPr wrap="square" lIns="0" tIns="0" rIns="0" bIns="0" rtlCol="0" anchor="ctr"/>
          <a:lstStyle/>
          <a:p>
            <a:pPr algn="ctr" indent="0" marL="0">
              <a:buNone/>
            </a:pPr>
            <a:r>
              <a:rPr lang="en-US" sz="1200" dirty="0">
                <a:solidFill>
                  <a:schemeClr val="tx1"/>
                </a:solidFill>
                <a:latin typeface="Roboto Mono" pitchFamily="34" charset="0"/>
                <a:ea typeface="Roboto Mono" pitchFamily="34" charset="-122"/>
                <a:cs typeface="Roboto Mono" pitchFamily="34" charset="-120"/>
              </a:rPr>
              <a:t>Ada</a:t>
            </a:r>
            <a:endParaRPr lang="en-US" sz="1200" dirty="0"/>
          </a:p>
          <a:p>
            <a:pPr algn="ctr" indent="0" marL="0">
              <a:buNone/>
            </a:pPr>
            <a:r>
              <a:rPr lang="en-US" sz="1200" dirty="0">
                <a:solidFill>
                  <a:schemeClr val="tx1"/>
                </a:solidFill>
                <a:latin typeface="Roboto Mono" pitchFamily="34" charset="0"/>
                <a:ea typeface="Roboto Mono" pitchFamily="34" charset="-122"/>
                <a:cs typeface="Roboto Mono" pitchFamily="34" charset="-120"/>
              </a:rPr>
              <a:t>0803 555 0101</a:t>
            </a:r>
            <a:endParaRPr lang="en-US" sz="1200" dirty="0"/>
          </a:p>
        </p:txBody>
      </p:sp>
      <p:sp>
        <p:nvSpPr>
          <p:cNvPr id="11" name="box-436"/>
          <p:cNvSpPr/>
          <p:nvPr/>
        </p:nvSpPr>
        <p:spPr>
          <a:xfrm rot="180000">
            <a:off x="914400" y="3611880"/>
            <a:ext cx="1645920" cy="960120"/>
          </a:xfrm>
          <a:prstGeom prst="roundRect">
            <a:avLst>
              <a:gd name="adj" fmla="val 1905"/>
            </a:avLst>
          </a:prstGeom>
          <a:solidFill>
            <a:schemeClr val="accent2">
              <a:alpha val="45000"/>
            </a:schemeClr>
          </a:solidFill>
          <a:ln/>
        </p:spPr>
      </p:sp>
      <p:sp>
        <p:nvSpPr>
          <p:cNvPr id="12" name="text-437"/>
          <p:cNvSpPr txBox="1"/>
          <p:nvPr/>
        </p:nvSpPr>
        <p:spPr>
          <a:xfrm rot="180000">
            <a:off x="1005840" y="3703320"/>
            <a:ext cx="1463040" cy="777240"/>
          </a:xfrm>
          <a:prstGeom prst="rect">
            <a:avLst/>
          </a:prstGeom>
          <a:noFill/>
          <a:ln/>
        </p:spPr>
        <p:txBody>
          <a:bodyPr wrap="square" lIns="0" tIns="0" rIns="0" bIns="0" rtlCol="0" anchor="ctr"/>
          <a:lstStyle/>
          <a:p>
            <a:pPr algn="ctr" indent="0" marL="0">
              <a:buNone/>
            </a:pPr>
            <a:r>
              <a:rPr lang="en-US" sz="1200" dirty="0">
                <a:solidFill>
                  <a:schemeClr val="tx1"/>
                </a:solidFill>
                <a:latin typeface="Roboto Mono" pitchFamily="34" charset="0"/>
                <a:ea typeface="Roboto Mono" pitchFamily="34" charset="-122"/>
                <a:cs typeface="Roboto Mono" pitchFamily="34" charset="-120"/>
              </a:rPr>
              <a:t>Ada</a:t>
            </a:r>
            <a:endParaRPr lang="en-US" sz="1200" dirty="0"/>
          </a:p>
          <a:p>
            <a:pPr algn="ctr" indent="0" marL="0">
              <a:buNone/>
            </a:pPr>
            <a:r>
              <a:rPr lang="en-US" sz="1200" dirty="0">
                <a:solidFill>
                  <a:schemeClr val="tx1"/>
                </a:solidFill>
                <a:latin typeface="Roboto Mono" pitchFamily="34" charset="0"/>
                <a:ea typeface="Roboto Mono" pitchFamily="34" charset="-122"/>
                <a:cs typeface="Roboto Mono" pitchFamily="34" charset="-120"/>
              </a:rPr>
              <a:t>0803 555 0101</a:t>
            </a:r>
            <a:endParaRPr lang="en-US" sz="1200" dirty="0"/>
          </a:p>
        </p:txBody>
      </p:sp>
      <p:sp>
        <p:nvSpPr>
          <p:cNvPr id="13" name="box-438"/>
          <p:cNvSpPr/>
          <p:nvPr/>
        </p:nvSpPr>
        <p:spPr>
          <a:xfrm rot="-240000">
            <a:off x="2697480" y="3566160"/>
            <a:ext cx="1645920" cy="960120"/>
          </a:xfrm>
          <a:prstGeom prst="roundRect">
            <a:avLst>
              <a:gd name="adj" fmla="val 1905"/>
            </a:avLst>
          </a:prstGeom>
          <a:solidFill>
            <a:schemeClr val="accent2">
              <a:alpha val="0"/>
            </a:schemeClr>
          </a:solidFill>
          <a:ln w="38100">
            <a:solidFill>
              <a:schemeClr val="accent1"/>
            </a:solidFill>
            <a:prstDash val="solid"/>
          </a:ln>
        </p:spPr>
      </p:sp>
      <p:sp>
        <p:nvSpPr>
          <p:cNvPr id="14" name="text-439"/>
          <p:cNvSpPr txBox="1"/>
          <p:nvPr/>
        </p:nvSpPr>
        <p:spPr>
          <a:xfrm rot="-240000">
            <a:off x="2788920" y="3657600"/>
            <a:ext cx="1463040" cy="777240"/>
          </a:xfrm>
          <a:prstGeom prst="rect">
            <a:avLst/>
          </a:prstGeom>
          <a:noFill/>
          <a:ln/>
        </p:spPr>
        <p:txBody>
          <a:bodyPr wrap="square" lIns="0" tIns="0" rIns="0" bIns="0" rtlCol="0" anchor="ctr"/>
          <a:lstStyle/>
          <a:p>
            <a:pPr algn="ctr" indent="0" marL="0">
              <a:buNone/>
            </a:pPr>
            <a:r>
              <a:rPr lang="en-US" sz="1200" dirty="0">
                <a:solidFill>
                  <a:schemeClr val="tx1"/>
                </a:solidFill>
                <a:latin typeface="Roboto Mono" pitchFamily="34" charset="0"/>
                <a:ea typeface="Roboto Mono" pitchFamily="34" charset="-122"/>
                <a:cs typeface="Roboto Mono" pitchFamily="34" charset="-120"/>
              </a:rPr>
              <a:t>Ada</a:t>
            </a:r>
            <a:endParaRPr lang="en-US" sz="1200" dirty="0"/>
          </a:p>
          <a:p>
            <a:pPr algn="ctr" indent="0" marL="0">
              <a:buNone/>
            </a:pPr>
            <a:r>
              <a:rPr lang="en-US" sz="1200" dirty="0">
                <a:solidFill>
                  <a:schemeClr val="tx1"/>
                </a:solidFill>
                <a:latin typeface="Roboto Mono" pitchFamily="34" charset="0"/>
                <a:ea typeface="Roboto Mono" pitchFamily="34" charset="-122"/>
                <a:cs typeface="Roboto Mono" pitchFamily="34" charset="-120"/>
              </a:rPr>
              <a:t>0803 555 0199</a:t>
            </a:r>
            <a:endParaRPr lang="en-US" sz="1200" dirty="0"/>
          </a:p>
        </p:txBody>
      </p:sp>
      <p:sp>
        <p:nvSpPr>
          <p:cNvPr id="15" name="box-440"/>
          <p:cNvSpPr/>
          <p:nvPr/>
        </p:nvSpPr>
        <p:spPr>
          <a:xfrm rot="-120000">
            <a:off x="1645920" y="4663440"/>
            <a:ext cx="1645920" cy="960120"/>
          </a:xfrm>
          <a:prstGeom prst="roundRect">
            <a:avLst>
              <a:gd name="adj" fmla="val 1905"/>
            </a:avLst>
          </a:prstGeom>
          <a:solidFill>
            <a:schemeClr val="accent2">
              <a:alpha val="45000"/>
            </a:schemeClr>
          </a:solidFill>
          <a:ln/>
        </p:spPr>
      </p:sp>
      <p:sp>
        <p:nvSpPr>
          <p:cNvPr id="16" name="text-441"/>
          <p:cNvSpPr txBox="1"/>
          <p:nvPr/>
        </p:nvSpPr>
        <p:spPr>
          <a:xfrm rot="-120000">
            <a:off x="1737360" y="4754880"/>
            <a:ext cx="1463040" cy="777240"/>
          </a:xfrm>
          <a:prstGeom prst="rect">
            <a:avLst/>
          </a:prstGeom>
          <a:noFill/>
          <a:ln/>
        </p:spPr>
        <p:txBody>
          <a:bodyPr wrap="square" lIns="0" tIns="0" rIns="0" bIns="0" rtlCol="0" anchor="ctr"/>
          <a:lstStyle/>
          <a:p>
            <a:pPr algn="ctr" indent="0" marL="0">
              <a:buNone/>
            </a:pPr>
            <a:r>
              <a:rPr lang="en-US" sz="1200" dirty="0">
                <a:solidFill>
                  <a:schemeClr val="tx1"/>
                </a:solidFill>
                <a:latin typeface="Roboto Mono" pitchFamily="34" charset="0"/>
                <a:ea typeface="Roboto Mono" pitchFamily="34" charset="-122"/>
                <a:cs typeface="Roboto Mono" pitchFamily="34" charset="-120"/>
              </a:rPr>
              <a:t>Ada</a:t>
            </a:r>
            <a:endParaRPr lang="en-US" sz="1200" dirty="0"/>
          </a:p>
          <a:p>
            <a:pPr algn="ctr" indent="0" marL="0">
              <a:buNone/>
            </a:pPr>
            <a:r>
              <a:rPr lang="en-US" sz="1200" dirty="0">
                <a:solidFill>
                  <a:schemeClr val="tx1"/>
                </a:solidFill>
                <a:latin typeface="Roboto Mono" pitchFamily="34" charset="0"/>
                <a:ea typeface="Roboto Mono" pitchFamily="34" charset="-122"/>
                <a:cs typeface="Roboto Mono" pitchFamily="34" charset="-120"/>
              </a:rPr>
              <a:t>0803 555 0101</a:t>
            </a:r>
            <a:endParaRPr lang="en-US" sz="1200" dirty="0"/>
          </a:p>
        </p:txBody>
      </p:sp>
      <p:sp>
        <p:nvSpPr>
          <p:cNvPr id="17" name="dot-442"/>
          <p:cNvSpPr/>
          <p:nvPr/>
        </p:nvSpPr>
        <p:spPr>
          <a:xfrm>
            <a:off x="4434840" y="3383280"/>
            <a:ext cx="457200" cy="457200"/>
          </a:xfrm>
          <a:prstGeom prst="ellipse">
            <a:avLst/>
          </a:prstGeom>
          <a:solidFill>
            <a:schemeClr val="accent1"/>
          </a:solidFill>
          <a:ln/>
        </p:spPr>
      </p:sp>
      <p:sp>
        <p:nvSpPr>
          <p:cNvPr id="18" name="text-443"/>
          <p:cNvSpPr txBox="1"/>
          <p:nvPr/>
        </p:nvSpPr>
        <p:spPr>
          <a:xfrm>
            <a:off x="640080" y="5760720"/>
            <a:ext cx="4389120" cy="365760"/>
          </a:xfrm>
          <a:prstGeom prst="rect">
            <a:avLst/>
          </a:prstGeom>
          <a:noFill/>
          <a:ln/>
        </p:spPr>
        <p:txBody>
          <a:bodyPr wrap="square" lIns="0" tIns="0" rIns="0" bIns="0" rtlCol="0" anchor="ctr"/>
          <a:lstStyle/>
          <a:p>
            <a:pPr algn="ctr" indent="0" marL="0">
              <a:buNone/>
            </a:pPr>
            <a:r>
              <a:rPr lang="en-US" sz="1500" b="1" dirty="0">
                <a:solidFill>
                  <a:schemeClr val="tx2"/>
                </a:solidFill>
              </a:rPr>
              <a:t>many copies: one goes stale</a:t>
            </a:r>
            <a:endParaRPr lang="en-US" sz="1500" dirty="0"/>
          </a:p>
        </p:txBody>
      </p:sp>
      <p:sp>
        <p:nvSpPr>
          <p:cNvPr id="19" name="box-444"/>
          <p:cNvSpPr/>
          <p:nvPr/>
        </p:nvSpPr>
        <p:spPr>
          <a:xfrm>
            <a:off x="6035040" y="2514600"/>
            <a:ext cx="1554480" cy="502920"/>
          </a:xfrm>
          <a:prstGeom prst="roundRect">
            <a:avLst>
              <a:gd name="adj" fmla="val 21818"/>
            </a:avLst>
          </a:prstGeom>
          <a:solidFill>
            <a:schemeClr val="bg1"/>
          </a:solidFill>
          <a:ln w="12700">
            <a:solidFill>
              <a:schemeClr val="accent5"/>
            </a:solidFill>
            <a:prstDash val="solid"/>
          </a:ln>
        </p:spPr>
      </p:sp>
      <p:sp>
        <p:nvSpPr>
          <p:cNvPr id="20" name="text-445"/>
          <p:cNvSpPr txBox="1"/>
          <p:nvPr/>
        </p:nvSpPr>
        <p:spPr>
          <a:xfrm>
            <a:off x="6108192" y="2514600"/>
            <a:ext cx="1408176" cy="502920"/>
          </a:xfrm>
          <a:prstGeom prst="rect">
            <a:avLst/>
          </a:prstGeom>
          <a:noFill/>
          <a:ln/>
        </p:spPr>
        <p:txBody>
          <a:bodyPr wrap="square" lIns="0" tIns="0" rIns="0" bIns="0" rtlCol="0" anchor="ctr"/>
          <a:lstStyle/>
          <a:p>
            <a:pPr algn="ctr" indent="0" marL="0">
              <a:buNone/>
            </a:pPr>
            <a:r>
              <a:rPr lang="en-US" sz="1400" dirty="0">
                <a:solidFill>
                  <a:schemeClr val="tx1"/>
                </a:solidFill>
                <a:latin typeface="Roboto Mono" pitchFamily="34" charset="0"/>
                <a:ea typeface="Roboto Mono" pitchFamily="34" charset="-122"/>
                <a:cs typeface="Roboto Mono" pitchFamily="34" charset="-120"/>
              </a:rPr>
              <a:t>order</a:t>
            </a:r>
            <a:endParaRPr lang="en-US" sz="1400" dirty="0"/>
          </a:p>
        </p:txBody>
      </p:sp>
      <p:sp>
        <p:nvSpPr>
          <p:cNvPr id="21" name="line-446"/>
          <p:cNvSpPr/>
          <p:nvPr/>
        </p:nvSpPr>
        <p:spPr>
          <a:xfrm>
            <a:off x="7589520" y="2770632"/>
            <a:ext cx="1143000" cy="1069848"/>
          </a:xfrm>
          <a:prstGeom prst="line">
            <a:avLst/>
          </a:prstGeom>
          <a:noFill/>
          <a:ln w="19050">
            <a:solidFill>
              <a:schemeClr val="tx2"/>
            </a:solidFill>
            <a:prstDash val="solid"/>
            <a:tailEnd type="triangle"/>
          </a:ln>
        </p:spPr>
      </p:sp>
      <p:sp>
        <p:nvSpPr>
          <p:cNvPr id="22" name="box-447"/>
          <p:cNvSpPr/>
          <p:nvPr/>
        </p:nvSpPr>
        <p:spPr>
          <a:xfrm>
            <a:off x="6035040" y="3566160"/>
            <a:ext cx="1554480" cy="502920"/>
          </a:xfrm>
          <a:prstGeom prst="roundRect">
            <a:avLst>
              <a:gd name="adj" fmla="val 21818"/>
            </a:avLst>
          </a:prstGeom>
          <a:solidFill>
            <a:schemeClr val="bg1"/>
          </a:solidFill>
          <a:ln w="12700">
            <a:solidFill>
              <a:schemeClr val="accent5"/>
            </a:solidFill>
            <a:prstDash val="solid"/>
          </a:ln>
        </p:spPr>
      </p:sp>
      <p:sp>
        <p:nvSpPr>
          <p:cNvPr id="23" name="text-448"/>
          <p:cNvSpPr txBox="1"/>
          <p:nvPr/>
        </p:nvSpPr>
        <p:spPr>
          <a:xfrm>
            <a:off x="6108192" y="3566160"/>
            <a:ext cx="1408176" cy="502920"/>
          </a:xfrm>
          <a:prstGeom prst="rect">
            <a:avLst/>
          </a:prstGeom>
          <a:noFill/>
          <a:ln/>
        </p:spPr>
        <p:txBody>
          <a:bodyPr wrap="square" lIns="0" tIns="0" rIns="0" bIns="0" rtlCol="0" anchor="ctr"/>
          <a:lstStyle/>
          <a:p>
            <a:pPr algn="ctr" indent="0" marL="0">
              <a:buNone/>
            </a:pPr>
            <a:r>
              <a:rPr lang="en-US" sz="1400" dirty="0">
                <a:solidFill>
                  <a:schemeClr val="tx1"/>
                </a:solidFill>
                <a:latin typeface="Roboto Mono" pitchFamily="34" charset="0"/>
                <a:ea typeface="Roboto Mono" pitchFamily="34" charset="-122"/>
                <a:cs typeface="Roboto Mono" pitchFamily="34" charset="-120"/>
              </a:rPr>
              <a:t>invoice</a:t>
            </a:r>
            <a:endParaRPr lang="en-US" sz="1400" dirty="0"/>
          </a:p>
        </p:txBody>
      </p:sp>
      <p:sp>
        <p:nvSpPr>
          <p:cNvPr id="24" name="line-449"/>
          <p:cNvSpPr/>
          <p:nvPr/>
        </p:nvSpPr>
        <p:spPr>
          <a:xfrm>
            <a:off x="7589520" y="3822192"/>
            <a:ext cx="1143000" cy="18288"/>
          </a:xfrm>
          <a:prstGeom prst="line">
            <a:avLst/>
          </a:prstGeom>
          <a:noFill/>
          <a:ln w="19050">
            <a:solidFill>
              <a:schemeClr val="tx2"/>
            </a:solidFill>
            <a:prstDash val="solid"/>
            <a:tailEnd type="triangle"/>
          </a:ln>
        </p:spPr>
      </p:sp>
      <p:sp>
        <p:nvSpPr>
          <p:cNvPr id="25" name="box-450"/>
          <p:cNvSpPr/>
          <p:nvPr/>
        </p:nvSpPr>
        <p:spPr>
          <a:xfrm>
            <a:off x="6035040" y="4617720"/>
            <a:ext cx="1554480" cy="502920"/>
          </a:xfrm>
          <a:prstGeom prst="roundRect">
            <a:avLst>
              <a:gd name="adj" fmla="val 21818"/>
            </a:avLst>
          </a:prstGeom>
          <a:solidFill>
            <a:schemeClr val="bg1"/>
          </a:solidFill>
          <a:ln w="12700">
            <a:solidFill>
              <a:schemeClr val="accent5"/>
            </a:solidFill>
            <a:prstDash val="solid"/>
          </a:ln>
        </p:spPr>
      </p:sp>
      <p:sp>
        <p:nvSpPr>
          <p:cNvPr id="26" name="text-451"/>
          <p:cNvSpPr txBox="1"/>
          <p:nvPr/>
        </p:nvSpPr>
        <p:spPr>
          <a:xfrm>
            <a:off x="6108192" y="4617720"/>
            <a:ext cx="1408176" cy="502920"/>
          </a:xfrm>
          <a:prstGeom prst="rect">
            <a:avLst/>
          </a:prstGeom>
          <a:noFill/>
          <a:ln/>
        </p:spPr>
        <p:txBody>
          <a:bodyPr wrap="square" lIns="0" tIns="0" rIns="0" bIns="0" rtlCol="0" anchor="ctr"/>
          <a:lstStyle/>
          <a:p>
            <a:pPr algn="ctr" indent="0" marL="0">
              <a:buNone/>
            </a:pPr>
            <a:r>
              <a:rPr lang="en-US" sz="1400" dirty="0">
                <a:solidFill>
                  <a:schemeClr val="tx1"/>
                </a:solidFill>
                <a:latin typeface="Roboto Mono" pitchFamily="34" charset="0"/>
                <a:ea typeface="Roboto Mono" pitchFamily="34" charset="-122"/>
                <a:cs typeface="Roboto Mono" pitchFamily="34" charset="-120"/>
              </a:rPr>
              <a:t>profile</a:t>
            </a:r>
            <a:endParaRPr lang="en-US" sz="1400" dirty="0"/>
          </a:p>
        </p:txBody>
      </p:sp>
      <p:sp>
        <p:nvSpPr>
          <p:cNvPr id="27" name="line-452"/>
          <p:cNvSpPr/>
          <p:nvPr/>
        </p:nvSpPr>
        <p:spPr>
          <a:xfrm flipV="1">
            <a:off x="7589520" y="3840480"/>
            <a:ext cx="1143000" cy="1033272"/>
          </a:xfrm>
          <a:prstGeom prst="line">
            <a:avLst/>
          </a:prstGeom>
          <a:noFill/>
          <a:ln w="19050">
            <a:solidFill>
              <a:schemeClr val="tx2"/>
            </a:solidFill>
            <a:prstDash val="solid"/>
            <a:tailEnd type="triangle"/>
          </a:ln>
        </p:spPr>
      </p:sp>
      <p:sp>
        <p:nvSpPr>
          <p:cNvPr id="28" name="box-453"/>
          <p:cNvSpPr/>
          <p:nvPr/>
        </p:nvSpPr>
        <p:spPr>
          <a:xfrm>
            <a:off x="8778240" y="3063240"/>
            <a:ext cx="2834640" cy="1554480"/>
          </a:xfrm>
          <a:prstGeom prst="roundRect">
            <a:avLst>
              <a:gd name="adj" fmla="val 4706"/>
            </a:avLst>
          </a:prstGeom>
          <a:solidFill>
            <a:schemeClr val="bg1"/>
          </a:solidFill>
          <a:ln w="25400">
            <a:solidFill>
              <a:schemeClr val="accent3"/>
            </a:solidFill>
            <a:prstDash val="solid"/>
          </a:ln>
          <a:effectLst>
            <a:outerShdw sx="100000" sy="100000" kx="0" ky="0" algn="bl" rotWithShape="0" blurRad="101600" dist="25400" dir="5400000">
              <a:srgbClr val="000000">
                <a:alpha val="8000"/>
              </a:srgbClr>
            </a:outerShdw>
          </a:effectLst>
        </p:spPr>
      </p:sp>
      <p:sp>
        <p:nvSpPr>
          <p:cNvPr id="29" name="text-454"/>
          <p:cNvSpPr txBox="1"/>
          <p:nvPr/>
        </p:nvSpPr>
        <p:spPr>
          <a:xfrm>
            <a:off x="9646920" y="3246120"/>
            <a:ext cx="1920240" cy="548640"/>
          </a:xfrm>
          <a:prstGeom prst="rect">
            <a:avLst/>
          </a:prstGeom>
          <a:noFill/>
          <a:ln/>
        </p:spPr>
        <p:txBody>
          <a:bodyPr wrap="square" lIns="0" tIns="0" rIns="0" bIns="0" rtlCol="0" anchor="ctr"/>
          <a:lstStyle/>
          <a:p>
            <a:pPr algn="l" indent="0" marL="0">
              <a:buNone/>
            </a:pPr>
            <a:r>
              <a:rPr lang="en-US" sz="1600" b="1" dirty="0">
                <a:solidFill>
                  <a:schemeClr val="tx1"/>
                </a:solidFill>
              </a:rPr>
              <a:t>Ada Okafor</a:t>
            </a:r>
            <a:endParaRPr lang="en-US" sz="1600" dirty="0"/>
          </a:p>
        </p:txBody>
      </p:sp>
      <p:sp>
        <p:nvSpPr>
          <p:cNvPr id="30" name="text-455"/>
          <p:cNvSpPr txBox="1"/>
          <p:nvPr/>
        </p:nvSpPr>
        <p:spPr>
          <a:xfrm>
            <a:off x="9006840" y="3931920"/>
            <a:ext cx="2468880" cy="457200"/>
          </a:xfrm>
          <a:prstGeom prst="rect">
            <a:avLst/>
          </a:prstGeom>
          <a:noFill/>
          <a:ln/>
        </p:spPr>
        <p:txBody>
          <a:bodyPr wrap="square" lIns="0" tIns="0" rIns="0" bIns="0" rtlCol="0" anchor="ctr"/>
          <a:lstStyle/>
          <a:p>
            <a:pPr algn="l" indent="0" marL="0">
              <a:buNone/>
            </a:pPr>
            <a:r>
              <a:rPr lang="en-US" sz="1500" dirty="0">
                <a:solidFill>
                  <a:schemeClr val="tx1"/>
                </a:solidFill>
                <a:latin typeface="Roboto Mono" pitchFamily="34" charset="0"/>
                <a:ea typeface="Roboto Mono" pitchFamily="34" charset="-122"/>
                <a:cs typeface="Roboto Mono" pitchFamily="34" charset="-120"/>
              </a:rPr>
              <a:t>0803 555 0101</a:t>
            </a:r>
            <a:endParaRPr lang="en-US" sz="1500" dirty="0"/>
          </a:p>
        </p:txBody>
      </p:sp>
      <p:sp>
        <p:nvSpPr>
          <p:cNvPr id="31" name="dot-456"/>
          <p:cNvSpPr/>
          <p:nvPr/>
        </p:nvSpPr>
        <p:spPr>
          <a:xfrm>
            <a:off x="11338560" y="2880360"/>
            <a:ext cx="457200" cy="457200"/>
          </a:xfrm>
          <a:prstGeom prst="ellipse">
            <a:avLst/>
          </a:prstGeom>
          <a:solidFill>
            <a:schemeClr val="accent2"/>
          </a:solidFill>
          <a:ln/>
        </p:spPr>
      </p:sp>
      <p:sp>
        <p:nvSpPr>
          <p:cNvPr id="32" name="text-457"/>
          <p:cNvSpPr txBox="1"/>
          <p:nvPr/>
        </p:nvSpPr>
        <p:spPr>
          <a:xfrm>
            <a:off x="6035040" y="5760720"/>
            <a:ext cx="5577840" cy="365760"/>
          </a:xfrm>
          <a:prstGeom prst="rect">
            <a:avLst/>
          </a:prstGeom>
          <a:noFill/>
          <a:ln/>
        </p:spPr>
        <p:txBody>
          <a:bodyPr wrap="square" lIns="0" tIns="0" rIns="0" bIns="0" rtlCol="0" anchor="ctr"/>
          <a:lstStyle/>
          <a:p>
            <a:pPr algn="ctr" indent="0" marL="0">
              <a:buNone/>
            </a:pPr>
            <a:r>
              <a:rPr lang="en-US" sz="1500" b="1" dirty="0">
                <a:solidFill>
                  <a:schemeClr val="tx2"/>
                </a:solidFill>
              </a:rPr>
              <a:t>one card, referenced everywhere</a:t>
            </a:r>
            <a:endParaRPr lang="en-US" sz="1500" dirty="0"/>
          </a:p>
        </p:txBody>
      </p:sp>
      <p:pic>
        <p:nvPicPr>
          <p:cNvPr id="33" name="Image 0" descr="DraftingCompass icon">    </p:cNvPr>
          <p:cNvPicPr>
            <a:picLocks noChangeAspect="1"/>
          </p:cNvPicPr>
          <p:nvPr/>
        </p:nvPicPr>
        <p:blipFill>
          <a:blip r:embed="rId1"/>
          <a:stretch>
            <a:fillRect/>
          </a:stretch>
        </p:blipFill>
        <p:spPr>
          <a:xfrm>
            <a:off x="640812" y="476220"/>
            <a:ext cx="199705" cy="199705"/>
          </a:xfrm>
          <a:prstGeom prst="rect">
            <a:avLst/>
          </a:prstGeom>
        </p:spPr>
      </p:pic>
      <p:pic>
        <p:nvPicPr>
          <p:cNvPr id="34" name="Image 1" descr="Times icon">    </p:cNvPr>
          <p:cNvPicPr>
            <a:picLocks noChangeAspect="1"/>
          </p:cNvPicPr>
          <p:nvPr/>
        </p:nvPicPr>
        <p:blipFill>
          <a:blip r:embed="rId2"/>
          <a:stretch>
            <a:fillRect/>
          </a:stretch>
        </p:blipFill>
        <p:spPr>
          <a:xfrm>
            <a:off x="4544568" y="3493008"/>
            <a:ext cx="237744" cy="237744"/>
          </a:xfrm>
          <a:prstGeom prst="rect">
            <a:avLst/>
          </a:prstGeom>
        </p:spPr>
      </p:pic>
      <p:pic>
        <p:nvPicPr>
          <p:cNvPr id="35" name="Image 2" descr="AddressCard icon">    </p:cNvPr>
          <p:cNvPicPr>
            <a:picLocks noChangeAspect="1"/>
          </p:cNvPicPr>
          <p:nvPr/>
        </p:nvPicPr>
        <p:blipFill>
          <a:blip r:embed="rId3"/>
          <a:stretch>
            <a:fillRect/>
          </a:stretch>
        </p:blipFill>
        <p:spPr>
          <a:xfrm>
            <a:off x="9006840" y="3246120"/>
            <a:ext cx="548640" cy="548640"/>
          </a:xfrm>
          <a:prstGeom prst="rect">
            <a:avLst/>
          </a:prstGeom>
        </p:spPr>
      </p:pic>
      <p:pic>
        <p:nvPicPr>
          <p:cNvPr id="36" name="Image 3" descr="Check icon">    </p:cNvPr>
          <p:cNvPicPr>
            <a:picLocks noChangeAspect="1"/>
          </p:cNvPicPr>
          <p:nvPr/>
        </p:nvPicPr>
        <p:blipFill>
          <a:blip r:embed="rId4"/>
          <a:stretch>
            <a:fillRect/>
          </a:stretch>
        </p:blipFill>
        <p:spPr>
          <a:xfrm>
            <a:off x="11448288" y="2990088"/>
            <a:ext cx="237744" cy="237744"/>
          </a:xfrm>
          <a:prstGeom prst="rect">
            <a:avLst/>
          </a:prstGeom>
        </p:spPr>
      </p:pic>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dot-458"/>
          <p:cNvSpPr/>
          <p:nvPr/>
        </p:nvSpPr>
        <p:spPr>
          <a:xfrm>
            <a:off x="548640" y="384048"/>
            <a:ext cx="384048" cy="384048"/>
          </a:xfrm>
          <a:prstGeom prst="ellipse">
            <a:avLst/>
          </a:prstGeom>
          <a:solidFill>
            <a:schemeClr val="accent1"/>
          </a:solidFill>
          <a:ln/>
        </p:spPr>
      </p:sp>
      <p:sp>
        <p:nvSpPr>
          <p:cNvPr id="3" name="Text 1"/>
          <p:cNvSpPr/>
          <p:nvPr>
            <p:ph idx="101" type="body" hasCustomPrompt="1"/>
          </p:nvPr>
        </p:nvSpPr>
        <p:spPr>
          <a:xfrm>
            <a:off x="1051560" y="384048"/>
            <a:ext cx="9601200" cy="384048"/>
          </a:xfrm>
          <a:prstGeom prst="rect">
            <a:avLst/>
          </a:prstGeom>
          <a:noFill/>
          <a:ln/>
        </p:spPr>
        <p:txBody>
          <a:bodyPr wrap="square" lIns="0" tIns="0" rIns="0" bIns="0" rtlCol="0" anchor="ctr"/>
          <a:lstStyle/>
          <a:p>
            <a:pPr indent="0" marL="0">
              <a:buNone/>
            </a:pPr>
            <a:r>
              <a:rPr lang="en-US" sz="1300" b="1" spc="300" kern="0" dirty="0">
                <a:solidFill>
                  <a:schemeClr val="tx2"/>
                </a:solidFill>
              </a:rPr>
              <a:t>L1  ·  MODEL  ·  3.5 NORMALISATION</a:t>
            </a:r>
            <a:endParaRPr lang="en-US" sz="1300" dirty="0"/>
          </a:p>
        </p:txBody>
      </p:sp>
      <p:sp>
        <p:nvSpPr>
          <p:cNvPr id="4" name="Text 1"/>
          <p:cNvSpPr/>
          <p:nvPr>
            <p:ph idx="102" type="title" hasCustomPrompt="1"/>
          </p:nvPr>
        </p:nvSpPr>
        <p:spPr>
          <a:xfrm>
            <a:off x="548640" y="841248"/>
            <a:ext cx="11064240" cy="777240"/>
          </a:xfrm>
          <a:prstGeom prst="rect">
            <a:avLst/>
          </a:prstGeom>
          <a:noFill/>
          <a:ln/>
        </p:spPr>
        <p:txBody>
          <a:bodyPr wrap="square" lIns="0" tIns="0" rIns="0" bIns="0" rtlCol="0" anchor="ctr"/>
          <a:lstStyle/>
          <a:p>
            <a:pPr algn="l" indent="0" marL="0">
              <a:buNone/>
            </a:pPr>
            <a:r>
              <a:rPr lang="en-US" sz="3800" b="1" dirty="0">
                <a:solidFill>
                  <a:schemeClr val="tx1"/>
                </a:solidFill>
              </a:rPr>
              <a:t>The key, the whole key, nothing but the key</a:t>
            </a:r>
            <a:endParaRPr lang="en-US" sz="3800" dirty="0"/>
          </a:p>
        </p:txBody>
      </p:sp>
      <p:sp>
        <p:nvSpPr>
          <p:cNvPr id="5" name="Text 1"/>
          <p:cNvSpPr/>
          <p:nvPr>
            <p:ph idx="103" type="body" hasCustomPrompt="1"/>
          </p:nvPr>
        </p:nvSpPr>
        <p:spPr>
          <a:xfrm>
            <a:off x="548640" y="1627632"/>
            <a:ext cx="11064240" cy="457200"/>
          </a:xfrm>
          <a:prstGeom prst="rect">
            <a:avLst/>
          </a:prstGeom>
          <a:noFill/>
          <a:ln/>
        </p:spPr>
        <p:txBody>
          <a:bodyPr wrap="square" lIns="0" tIns="0" rIns="0" bIns="0" rtlCol="0" anchor="t"/>
          <a:lstStyle/>
          <a:p>
            <a:pPr indent="0" marL="0">
              <a:buNone/>
            </a:pPr>
            <a:r>
              <a:rPr lang="en-US" sz="2000" dirty="0">
                <a:solidFill>
                  <a:schemeClr val="tx2"/>
                </a:solidFill>
              </a:rPr>
              <a:t>1NF atomic · 2NF whole key · 3NF no transitive</a:t>
            </a:r>
            <a:endParaRPr lang="en-US" sz="2000" dirty="0"/>
          </a:p>
        </p:txBody>
      </p:sp>
      <p:sp>
        <p:nvSpPr>
          <p:cNvPr id="7" name="box-459"/>
          <p:cNvSpPr/>
          <p:nvPr/>
        </p:nvSpPr>
        <p:spPr>
          <a:xfrm>
            <a:off x="548640" y="5074920"/>
            <a:ext cx="3520440" cy="1097280"/>
          </a:xfrm>
          <a:prstGeom prst="roundRect">
            <a:avLst>
              <a:gd name="adj" fmla="val 5000"/>
            </a:avLst>
          </a:prstGeom>
          <a:solidFill>
            <a:schemeClr val="accent1"/>
          </a:solidFill>
          <a:ln/>
        </p:spPr>
      </p:sp>
      <p:sp>
        <p:nvSpPr>
          <p:cNvPr id="8" name="text-460"/>
          <p:cNvSpPr txBox="1"/>
          <p:nvPr/>
        </p:nvSpPr>
        <p:spPr>
          <a:xfrm>
            <a:off x="777240" y="5166360"/>
            <a:ext cx="1280160" cy="594360"/>
          </a:xfrm>
          <a:prstGeom prst="rect">
            <a:avLst/>
          </a:prstGeom>
          <a:noFill/>
          <a:ln/>
        </p:spPr>
        <p:txBody>
          <a:bodyPr wrap="square" lIns="0" tIns="0" rIns="0" bIns="0" rtlCol="0" anchor="ctr"/>
          <a:lstStyle/>
          <a:p>
            <a:pPr algn="l" indent="0" marL="0">
              <a:buNone/>
            </a:pPr>
            <a:r>
              <a:rPr lang="en-US" sz="3200" b="1" dirty="0">
                <a:solidFill>
                  <a:schemeClr val="tx1"/>
                </a:solidFill>
              </a:rPr>
              <a:t>1NF</a:t>
            </a:r>
            <a:endParaRPr lang="en-US" sz="3200" dirty="0"/>
          </a:p>
        </p:txBody>
      </p:sp>
      <p:sp>
        <p:nvSpPr>
          <p:cNvPr id="9" name="text-461"/>
          <p:cNvSpPr txBox="1"/>
          <p:nvPr/>
        </p:nvSpPr>
        <p:spPr>
          <a:xfrm>
            <a:off x="777240" y="5696712"/>
            <a:ext cx="3108960" cy="365760"/>
          </a:xfrm>
          <a:prstGeom prst="rect">
            <a:avLst/>
          </a:prstGeom>
          <a:noFill/>
          <a:ln/>
        </p:spPr>
        <p:txBody>
          <a:bodyPr wrap="square" lIns="0" tIns="0" rIns="0" bIns="0" rtlCol="0" anchor="ctr"/>
          <a:lstStyle/>
          <a:p>
            <a:pPr algn="l" indent="0" marL="0">
              <a:buNone/>
            </a:pPr>
            <a:r>
              <a:rPr lang="en-US" sz="1500" dirty="0">
                <a:solidFill>
                  <a:schemeClr val="tx1"/>
                </a:solidFill>
              </a:rPr>
              <a:t>one value per cell</a:t>
            </a:r>
            <a:endParaRPr lang="en-US" sz="1500" dirty="0"/>
          </a:p>
        </p:txBody>
      </p:sp>
      <p:sp>
        <p:nvSpPr>
          <p:cNvPr id="10" name="dot-462"/>
          <p:cNvSpPr/>
          <p:nvPr/>
        </p:nvSpPr>
        <p:spPr>
          <a:xfrm>
            <a:off x="548640" y="4114800"/>
            <a:ext cx="365760" cy="365760"/>
          </a:xfrm>
          <a:prstGeom prst="ellipse">
            <a:avLst/>
          </a:prstGeom>
          <a:solidFill>
            <a:schemeClr val="accent1"/>
          </a:solidFill>
          <a:ln/>
        </p:spPr>
      </p:sp>
      <p:sp>
        <p:nvSpPr>
          <p:cNvPr id="11" name="text-463"/>
          <p:cNvSpPr txBox="1"/>
          <p:nvPr/>
        </p:nvSpPr>
        <p:spPr>
          <a:xfrm>
            <a:off x="1005840" y="4087368"/>
            <a:ext cx="3108960" cy="411480"/>
          </a:xfrm>
          <a:prstGeom prst="rect">
            <a:avLst/>
          </a:prstGeom>
          <a:noFill/>
          <a:ln/>
        </p:spPr>
        <p:txBody>
          <a:bodyPr wrap="square" lIns="0" tIns="0" rIns="0" bIns="0" rtlCol="0" anchor="ctr"/>
          <a:lstStyle/>
          <a:p>
            <a:pPr algn="l" indent="0" marL="0">
              <a:buNone/>
            </a:pPr>
            <a:r>
              <a:rPr lang="en-US" sz="1300" dirty="0">
                <a:solidFill>
                  <a:schemeClr val="tx1"/>
                </a:solidFill>
                <a:latin typeface="Roboto Mono" pitchFamily="34" charset="0"/>
                <a:ea typeface="Roboto Mono" pitchFamily="34" charset="-122"/>
                <a:cs typeface="Roboto Mono" pitchFamily="34" charset="-120"/>
              </a:rPr>
              <a:t>orders.product_ids = '3,7,12'</a:t>
            </a:r>
            <a:endParaRPr lang="en-US" sz="1300" dirty="0"/>
          </a:p>
        </p:txBody>
      </p:sp>
      <p:sp>
        <p:nvSpPr>
          <p:cNvPr id="12" name="dot-464"/>
          <p:cNvSpPr/>
          <p:nvPr/>
        </p:nvSpPr>
        <p:spPr>
          <a:xfrm>
            <a:off x="548640" y="4572000"/>
            <a:ext cx="365760" cy="365760"/>
          </a:xfrm>
          <a:prstGeom prst="ellipse">
            <a:avLst/>
          </a:prstGeom>
          <a:solidFill>
            <a:schemeClr val="accent2"/>
          </a:solidFill>
          <a:ln/>
        </p:spPr>
      </p:sp>
      <p:sp>
        <p:nvSpPr>
          <p:cNvPr id="13" name="text-465"/>
          <p:cNvSpPr txBox="1"/>
          <p:nvPr/>
        </p:nvSpPr>
        <p:spPr>
          <a:xfrm>
            <a:off x="1005840" y="4544568"/>
            <a:ext cx="3108960" cy="411480"/>
          </a:xfrm>
          <a:prstGeom prst="rect">
            <a:avLst/>
          </a:prstGeom>
          <a:noFill/>
          <a:ln/>
        </p:spPr>
        <p:txBody>
          <a:bodyPr wrap="square" lIns="0" tIns="0" rIns="0" bIns="0" rtlCol="0" anchor="ctr"/>
          <a:lstStyle/>
          <a:p>
            <a:pPr algn="l" indent="0" marL="0">
              <a:buNone/>
            </a:pPr>
            <a:r>
              <a:rPr lang="en-US" sz="1400" b="1" dirty="0">
                <a:solidFill>
                  <a:schemeClr val="tx1"/>
                </a:solidFill>
              </a:rPr>
              <a:t>split into order_items</a:t>
            </a:r>
            <a:endParaRPr lang="en-US" sz="1400" dirty="0"/>
          </a:p>
        </p:txBody>
      </p:sp>
      <p:sp>
        <p:nvSpPr>
          <p:cNvPr id="14" name="box-466"/>
          <p:cNvSpPr/>
          <p:nvPr/>
        </p:nvSpPr>
        <p:spPr>
          <a:xfrm>
            <a:off x="4343400" y="4206240"/>
            <a:ext cx="3520440" cy="1965960"/>
          </a:xfrm>
          <a:prstGeom prst="roundRect">
            <a:avLst>
              <a:gd name="adj" fmla="val 2791"/>
            </a:avLst>
          </a:prstGeom>
          <a:solidFill>
            <a:schemeClr val="accent1"/>
          </a:solidFill>
          <a:ln/>
        </p:spPr>
      </p:sp>
      <p:sp>
        <p:nvSpPr>
          <p:cNvPr id="15" name="text-467"/>
          <p:cNvSpPr txBox="1"/>
          <p:nvPr/>
        </p:nvSpPr>
        <p:spPr>
          <a:xfrm>
            <a:off x="4572000" y="4297680"/>
            <a:ext cx="1280160" cy="594360"/>
          </a:xfrm>
          <a:prstGeom prst="rect">
            <a:avLst/>
          </a:prstGeom>
          <a:noFill/>
          <a:ln/>
        </p:spPr>
        <p:txBody>
          <a:bodyPr wrap="square" lIns="0" tIns="0" rIns="0" bIns="0" rtlCol="0" anchor="ctr"/>
          <a:lstStyle/>
          <a:p>
            <a:pPr algn="l" indent="0" marL="0">
              <a:buNone/>
            </a:pPr>
            <a:r>
              <a:rPr lang="en-US" sz="3200" b="1" dirty="0">
                <a:solidFill>
                  <a:schemeClr val="tx1"/>
                </a:solidFill>
              </a:rPr>
              <a:t>2NF</a:t>
            </a:r>
            <a:endParaRPr lang="en-US" sz="3200" dirty="0"/>
          </a:p>
        </p:txBody>
      </p:sp>
      <p:sp>
        <p:nvSpPr>
          <p:cNvPr id="16" name="text-468"/>
          <p:cNvSpPr txBox="1"/>
          <p:nvPr/>
        </p:nvSpPr>
        <p:spPr>
          <a:xfrm>
            <a:off x="4572000" y="4828032"/>
            <a:ext cx="3108960" cy="365760"/>
          </a:xfrm>
          <a:prstGeom prst="rect">
            <a:avLst/>
          </a:prstGeom>
          <a:noFill/>
          <a:ln/>
        </p:spPr>
        <p:txBody>
          <a:bodyPr wrap="square" lIns="0" tIns="0" rIns="0" bIns="0" rtlCol="0" anchor="ctr"/>
          <a:lstStyle/>
          <a:p>
            <a:pPr algn="l" indent="0" marL="0">
              <a:buNone/>
            </a:pPr>
            <a:r>
              <a:rPr lang="en-US" sz="1500" dirty="0">
                <a:solidFill>
                  <a:schemeClr val="tx1"/>
                </a:solidFill>
              </a:rPr>
              <a:t>depends on the whole key</a:t>
            </a:r>
            <a:endParaRPr lang="en-US" sz="1500" dirty="0"/>
          </a:p>
        </p:txBody>
      </p:sp>
      <p:sp>
        <p:nvSpPr>
          <p:cNvPr id="17" name="dot-469"/>
          <p:cNvSpPr/>
          <p:nvPr/>
        </p:nvSpPr>
        <p:spPr>
          <a:xfrm>
            <a:off x="4343400" y="3246120"/>
            <a:ext cx="365760" cy="365760"/>
          </a:xfrm>
          <a:prstGeom prst="ellipse">
            <a:avLst/>
          </a:prstGeom>
          <a:solidFill>
            <a:schemeClr val="accent1"/>
          </a:solidFill>
          <a:ln/>
        </p:spPr>
      </p:sp>
      <p:sp>
        <p:nvSpPr>
          <p:cNvPr id="18" name="text-470"/>
          <p:cNvSpPr txBox="1"/>
          <p:nvPr/>
        </p:nvSpPr>
        <p:spPr>
          <a:xfrm>
            <a:off x="4800600" y="3218688"/>
            <a:ext cx="3108960" cy="411480"/>
          </a:xfrm>
          <a:prstGeom prst="rect">
            <a:avLst/>
          </a:prstGeom>
          <a:noFill/>
          <a:ln/>
        </p:spPr>
        <p:txBody>
          <a:bodyPr wrap="square" lIns="0" tIns="0" rIns="0" bIns="0" rtlCol="0" anchor="ctr"/>
          <a:lstStyle/>
          <a:p>
            <a:pPr algn="l" indent="0" marL="0">
              <a:buNone/>
            </a:pPr>
            <a:r>
              <a:rPr lang="en-US" sz="1300" dirty="0">
                <a:solidFill>
                  <a:schemeClr val="tx1"/>
                </a:solidFill>
                <a:latin typeface="Roboto Mono" pitchFamily="34" charset="0"/>
                <a:ea typeface="Roboto Mono" pitchFamily="34" charset="-122"/>
                <a:cs typeface="Roboto Mono" pitchFamily="34" charset="-120"/>
              </a:rPr>
              <a:t>order_items.product_name</a:t>
            </a:r>
            <a:endParaRPr lang="en-US" sz="1300" dirty="0"/>
          </a:p>
        </p:txBody>
      </p:sp>
      <p:sp>
        <p:nvSpPr>
          <p:cNvPr id="19" name="dot-471"/>
          <p:cNvSpPr/>
          <p:nvPr/>
        </p:nvSpPr>
        <p:spPr>
          <a:xfrm>
            <a:off x="4343400" y="3703320"/>
            <a:ext cx="365760" cy="365760"/>
          </a:xfrm>
          <a:prstGeom prst="ellipse">
            <a:avLst/>
          </a:prstGeom>
          <a:solidFill>
            <a:schemeClr val="accent2"/>
          </a:solidFill>
          <a:ln/>
        </p:spPr>
      </p:sp>
      <p:sp>
        <p:nvSpPr>
          <p:cNvPr id="20" name="text-472"/>
          <p:cNvSpPr txBox="1"/>
          <p:nvPr/>
        </p:nvSpPr>
        <p:spPr>
          <a:xfrm>
            <a:off x="4800600" y="3675888"/>
            <a:ext cx="3108960" cy="411480"/>
          </a:xfrm>
          <a:prstGeom prst="rect">
            <a:avLst/>
          </a:prstGeom>
          <a:noFill/>
          <a:ln/>
        </p:spPr>
        <p:txBody>
          <a:bodyPr wrap="square" lIns="0" tIns="0" rIns="0" bIns="0" rtlCol="0" anchor="ctr"/>
          <a:lstStyle/>
          <a:p>
            <a:pPr algn="l" indent="0" marL="0">
              <a:buNone/>
            </a:pPr>
            <a:r>
              <a:rPr lang="en-US" sz="1400" b="1" dirty="0">
                <a:solidFill>
                  <a:schemeClr val="tx1"/>
                </a:solidFill>
              </a:rPr>
              <a:t>move to products</a:t>
            </a:r>
            <a:endParaRPr lang="en-US" sz="1400" dirty="0"/>
          </a:p>
        </p:txBody>
      </p:sp>
      <p:sp>
        <p:nvSpPr>
          <p:cNvPr id="21" name="box-473"/>
          <p:cNvSpPr/>
          <p:nvPr/>
        </p:nvSpPr>
        <p:spPr>
          <a:xfrm>
            <a:off x="8138160" y="3337560"/>
            <a:ext cx="3520440" cy="2834640"/>
          </a:xfrm>
          <a:prstGeom prst="roundRect">
            <a:avLst>
              <a:gd name="adj" fmla="val 1935"/>
            </a:avLst>
          </a:prstGeom>
          <a:solidFill>
            <a:schemeClr val="accent1"/>
          </a:solidFill>
          <a:ln/>
        </p:spPr>
      </p:sp>
      <p:sp>
        <p:nvSpPr>
          <p:cNvPr id="22" name="text-474"/>
          <p:cNvSpPr txBox="1"/>
          <p:nvPr/>
        </p:nvSpPr>
        <p:spPr>
          <a:xfrm>
            <a:off x="8366760" y="3429000"/>
            <a:ext cx="1280160" cy="594360"/>
          </a:xfrm>
          <a:prstGeom prst="rect">
            <a:avLst/>
          </a:prstGeom>
          <a:noFill/>
          <a:ln/>
        </p:spPr>
        <p:txBody>
          <a:bodyPr wrap="square" lIns="0" tIns="0" rIns="0" bIns="0" rtlCol="0" anchor="ctr"/>
          <a:lstStyle/>
          <a:p>
            <a:pPr algn="l" indent="0" marL="0">
              <a:buNone/>
            </a:pPr>
            <a:r>
              <a:rPr lang="en-US" sz="3200" b="1" dirty="0">
                <a:solidFill>
                  <a:schemeClr val="tx1"/>
                </a:solidFill>
              </a:rPr>
              <a:t>3NF</a:t>
            </a:r>
            <a:endParaRPr lang="en-US" sz="3200" dirty="0"/>
          </a:p>
        </p:txBody>
      </p:sp>
      <p:sp>
        <p:nvSpPr>
          <p:cNvPr id="23" name="text-475"/>
          <p:cNvSpPr txBox="1"/>
          <p:nvPr/>
        </p:nvSpPr>
        <p:spPr>
          <a:xfrm>
            <a:off x="8366760" y="3959352"/>
            <a:ext cx="3108960" cy="365760"/>
          </a:xfrm>
          <a:prstGeom prst="rect">
            <a:avLst/>
          </a:prstGeom>
          <a:noFill/>
          <a:ln/>
        </p:spPr>
        <p:txBody>
          <a:bodyPr wrap="square" lIns="0" tIns="0" rIns="0" bIns="0" rtlCol="0" anchor="ctr"/>
          <a:lstStyle/>
          <a:p>
            <a:pPr algn="l" indent="0" marL="0">
              <a:buNone/>
            </a:pPr>
            <a:r>
              <a:rPr lang="en-US" sz="1500" dirty="0">
                <a:solidFill>
                  <a:schemeClr val="tx1"/>
                </a:solidFill>
              </a:rPr>
              <a:t>nothing but the key</a:t>
            </a:r>
            <a:endParaRPr lang="en-US" sz="1500" dirty="0"/>
          </a:p>
        </p:txBody>
      </p:sp>
      <p:sp>
        <p:nvSpPr>
          <p:cNvPr id="24" name="dot-476"/>
          <p:cNvSpPr/>
          <p:nvPr/>
        </p:nvSpPr>
        <p:spPr>
          <a:xfrm>
            <a:off x="8138160" y="2377440"/>
            <a:ext cx="365760" cy="365760"/>
          </a:xfrm>
          <a:prstGeom prst="ellipse">
            <a:avLst/>
          </a:prstGeom>
          <a:solidFill>
            <a:schemeClr val="accent1"/>
          </a:solidFill>
          <a:ln/>
        </p:spPr>
      </p:sp>
      <p:sp>
        <p:nvSpPr>
          <p:cNvPr id="25" name="text-477"/>
          <p:cNvSpPr txBox="1"/>
          <p:nvPr/>
        </p:nvSpPr>
        <p:spPr>
          <a:xfrm>
            <a:off x="8595360" y="2350008"/>
            <a:ext cx="3108960" cy="411480"/>
          </a:xfrm>
          <a:prstGeom prst="rect">
            <a:avLst/>
          </a:prstGeom>
          <a:noFill/>
          <a:ln/>
        </p:spPr>
        <p:txBody>
          <a:bodyPr wrap="square" lIns="0" tIns="0" rIns="0" bIns="0" rtlCol="0" anchor="ctr"/>
          <a:lstStyle/>
          <a:p>
            <a:pPr algn="l" indent="0" marL="0">
              <a:buNone/>
            </a:pPr>
            <a:r>
              <a:rPr lang="en-US" sz="1300" dirty="0">
                <a:solidFill>
                  <a:schemeClr val="tx1"/>
                </a:solidFill>
                <a:latin typeface="Roboto Mono" pitchFamily="34" charset="0"/>
                <a:ea typeface="Roboto Mono" pitchFamily="34" charset="-122"/>
                <a:cs typeface="Roboto Mono" pitchFamily="34" charset="-120"/>
              </a:rPr>
              <a:t>orders.user_email</a:t>
            </a:r>
            <a:endParaRPr lang="en-US" sz="1300" dirty="0"/>
          </a:p>
        </p:txBody>
      </p:sp>
      <p:sp>
        <p:nvSpPr>
          <p:cNvPr id="26" name="dot-478"/>
          <p:cNvSpPr/>
          <p:nvPr/>
        </p:nvSpPr>
        <p:spPr>
          <a:xfrm>
            <a:off x="8138160" y="2834640"/>
            <a:ext cx="365760" cy="365760"/>
          </a:xfrm>
          <a:prstGeom prst="ellipse">
            <a:avLst/>
          </a:prstGeom>
          <a:solidFill>
            <a:schemeClr val="accent2"/>
          </a:solidFill>
          <a:ln/>
        </p:spPr>
      </p:sp>
      <p:sp>
        <p:nvSpPr>
          <p:cNvPr id="27" name="text-479"/>
          <p:cNvSpPr txBox="1"/>
          <p:nvPr/>
        </p:nvSpPr>
        <p:spPr>
          <a:xfrm>
            <a:off x="8595360" y="2807208"/>
            <a:ext cx="3108960" cy="411480"/>
          </a:xfrm>
          <a:prstGeom prst="rect">
            <a:avLst/>
          </a:prstGeom>
          <a:noFill/>
          <a:ln/>
        </p:spPr>
        <p:txBody>
          <a:bodyPr wrap="square" lIns="0" tIns="0" rIns="0" bIns="0" rtlCol="0" anchor="ctr"/>
          <a:lstStyle/>
          <a:p>
            <a:pPr algn="l" indent="0" marL="0">
              <a:buNone/>
            </a:pPr>
            <a:r>
              <a:rPr lang="en-US" sz="1400" b="1" dirty="0">
                <a:solidFill>
                  <a:schemeClr val="tx1"/>
                </a:solidFill>
              </a:rPr>
              <a:t>keep it in users only</a:t>
            </a:r>
            <a:endParaRPr lang="en-US" sz="1400" dirty="0"/>
          </a:p>
        </p:txBody>
      </p:sp>
      <p:sp>
        <p:nvSpPr>
          <p:cNvPr id="28" name="box-480"/>
          <p:cNvSpPr/>
          <p:nvPr/>
        </p:nvSpPr>
        <p:spPr>
          <a:xfrm>
            <a:off x="8366760" y="5349240"/>
            <a:ext cx="3063240" cy="457200"/>
          </a:xfrm>
          <a:prstGeom prst="roundRect">
            <a:avLst>
              <a:gd name="adj" fmla="val 24000"/>
            </a:avLst>
          </a:prstGeom>
          <a:solidFill>
            <a:schemeClr val="bg1"/>
          </a:solidFill>
          <a:ln/>
        </p:spPr>
      </p:sp>
      <p:sp>
        <p:nvSpPr>
          <p:cNvPr id="29" name="text-481"/>
          <p:cNvSpPr txBox="1"/>
          <p:nvPr/>
        </p:nvSpPr>
        <p:spPr>
          <a:xfrm>
            <a:off x="8439912" y="5349240"/>
            <a:ext cx="2916936" cy="457200"/>
          </a:xfrm>
          <a:prstGeom prst="rect">
            <a:avLst/>
          </a:prstGeom>
          <a:noFill/>
          <a:ln/>
        </p:spPr>
        <p:txBody>
          <a:bodyPr wrap="square" lIns="0" tIns="0" rIns="0" bIns="0" rtlCol="0" anchor="ctr"/>
          <a:lstStyle/>
          <a:p>
            <a:pPr algn="ctr" indent="0" marL="0">
              <a:buNone/>
            </a:pPr>
            <a:r>
              <a:rPr lang="en-US" sz="1300" b="1" dirty="0">
                <a:solidFill>
                  <a:schemeClr val="tx1"/>
                </a:solidFill>
              </a:rPr>
              <a:t>then denormalise only on purpose</a:t>
            </a:r>
            <a:endParaRPr lang="en-US" sz="1300" dirty="0"/>
          </a:p>
        </p:txBody>
      </p:sp>
      <p:pic>
        <p:nvPicPr>
          <p:cNvPr id="30" name="Image 0" descr="DraftingCompass icon">    </p:cNvPr>
          <p:cNvPicPr>
            <a:picLocks noChangeAspect="1"/>
          </p:cNvPicPr>
          <p:nvPr/>
        </p:nvPicPr>
        <p:blipFill>
          <a:blip r:embed="rId1"/>
          <a:stretch>
            <a:fillRect/>
          </a:stretch>
        </p:blipFill>
        <p:spPr>
          <a:xfrm>
            <a:off x="640812" y="476220"/>
            <a:ext cx="199705" cy="199705"/>
          </a:xfrm>
          <a:prstGeom prst="rect">
            <a:avLst/>
          </a:prstGeom>
        </p:spPr>
      </p:pic>
      <p:pic>
        <p:nvPicPr>
          <p:cNvPr id="31" name="Image 1" descr="Times icon">    </p:cNvPr>
          <p:cNvPicPr>
            <a:picLocks noChangeAspect="1"/>
          </p:cNvPicPr>
          <p:nvPr/>
        </p:nvPicPr>
        <p:blipFill>
          <a:blip r:embed="rId2"/>
          <a:stretch>
            <a:fillRect/>
          </a:stretch>
        </p:blipFill>
        <p:spPr>
          <a:xfrm>
            <a:off x="636422" y="4202582"/>
            <a:ext cx="190195" cy="190195"/>
          </a:xfrm>
          <a:prstGeom prst="rect">
            <a:avLst/>
          </a:prstGeom>
        </p:spPr>
      </p:pic>
      <p:pic>
        <p:nvPicPr>
          <p:cNvPr id="32" name="Image 2" descr="Check icon">    </p:cNvPr>
          <p:cNvPicPr>
            <a:picLocks noChangeAspect="1"/>
          </p:cNvPicPr>
          <p:nvPr/>
        </p:nvPicPr>
        <p:blipFill>
          <a:blip r:embed="rId3"/>
          <a:stretch>
            <a:fillRect/>
          </a:stretch>
        </p:blipFill>
        <p:spPr>
          <a:xfrm>
            <a:off x="636422" y="4659782"/>
            <a:ext cx="190195" cy="190195"/>
          </a:xfrm>
          <a:prstGeom prst="rect">
            <a:avLst/>
          </a:prstGeom>
        </p:spPr>
      </p:pic>
      <p:pic>
        <p:nvPicPr>
          <p:cNvPr id="33" name="Image 3" descr="Times icon">    </p:cNvPr>
          <p:cNvPicPr>
            <a:picLocks noChangeAspect="1"/>
          </p:cNvPicPr>
          <p:nvPr/>
        </p:nvPicPr>
        <p:blipFill>
          <a:blip r:embed="rId4"/>
          <a:stretch>
            <a:fillRect/>
          </a:stretch>
        </p:blipFill>
        <p:spPr>
          <a:xfrm>
            <a:off x="4431182" y="3333902"/>
            <a:ext cx="190195" cy="190195"/>
          </a:xfrm>
          <a:prstGeom prst="rect">
            <a:avLst/>
          </a:prstGeom>
        </p:spPr>
      </p:pic>
      <p:pic>
        <p:nvPicPr>
          <p:cNvPr id="34" name="Image 4" descr="Check icon">    </p:cNvPr>
          <p:cNvPicPr>
            <a:picLocks noChangeAspect="1"/>
          </p:cNvPicPr>
          <p:nvPr/>
        </p:nvPicPr>
        <p:blipFill>
          <a:blip r:embed="rId5"/>
          <a:stretch>
            <a:fillRect/>
          </a:stretch>
        </p:blipFill>
        <p:spPr>
          <a:xfrm>
            <a:off x="4431182" y="3791102"/>
            <a:ext cx="190195" cy="190195"/>
          </a:xfrm>
          <a:prstGeom prst="rect">
            <a:avLst/>
          </a:prstGeom>
        </p:spPr>
      </p:pic>
      <p:pic>
        <p:nvPicPr>
          <p:cNvPr id="35" name="Image 5" descr="Times icon">    </p:cNvPr>
          <p:cNvPicPr>
            <a:picLocks noChangeAspect="1"/>
          </p:cNvPicPr>
          <p:nvPr/>
        </p:nvPicPr>
        <p:blipFill>
          <a:blip r:embed="rId6"/>
          <a:stretch>
            <a:fillRect/>
          </a:stretch>
        </p:blipFill>
        <p:spPr>
          <a:xfrm>
            <a:off x="8225942" y="2465222"/>
            <a:ext cx="190195" cy="190195"/>
          </a:xfrm>
          <a:prstGeom prst="rect">
            <a:avLst/>
          </a:prstGeom>
        </p:spPr>
      </p:pic>
      <p:pic>
        <p:nvPicPr>
          <p:cNvPr id="36" name="Image 6" descr="Check icon">    </p:cNvPr>
          <p:cNvPicPr>
            <a:picLocks noChangeAspect="1"/>
          </p:cNvPicPr>
          <p:nvPr/>
        </p:nvPicPr>
        <p:blipFill>
          <a:blip r:embed="rId7"/>
          <a:stretch>
            <a:fillRect/>
          </a:stretch>
        </p:blipFill>
        <p:spPr>
          <a:xfrm>
            <a:off x="8225942" y="2922422"/>
            <a:ext cx="190195" cy="190195"/>
          </a:xfrm>
          <a:prstGeom prst="rect">
            <a:avLst/>
          </a:prstGeom>
        </p:spPr>
      </p:pic>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731520" y="2331720"/>
            <a:ext cx="6400800" cy="365760"/>
          </a:xfrm>
          <a:prstGeom prst="rect">
            <a:avLst/>
          </a:prstGeom>
          <a:noFill/>
          <a:ln/>
        </p:spPr>
        <p:txBody>
          <a:bodyPr wrap="square" lIns="0" tIns="0" rIns="0" bIns="0" rtlCol="0"/>
          <a:lstStyle/>
          <a:p>
            <a:pPr indent="0" marL="0">
              <a:buNone/>
            </a:pPr>
            <a:r>
              <a:rPr lang="en-US" sz="1400" b="1" spc="400" kern="0" dirty="0">
                <a:solidFill>
                  <a:schemeClr val="tx1"/>
                </a:solidFill>
              </a:rPr>
              <a:t>LAYER 2 OF 4</a:t>
            </a:r>
            <a:endParaRPr lang="en-US" sz="1400" dirty="0"/>
          </a:p>
        </p:txBody>
      </p:sp>
      <p:sp>
        <p:nvSpPr>
          <p:cNvPr id="3" name="Text 0"/>
          <p:cNvSpPr/>
          <p:nvPr>
            <p:ph idx="101" type="title" hasCustomPrompt="1"/>
          </p:nvPr>
        </p:nvSpPr>
        <p:spPr>
          <a:xfrm>
            <a:off x="731520" y="2697480"/>
            <a:ext cx="7772400" cy="1005840"/>
          </a:xfrm>
          <a:prstGeom prst="rect">
            <a:avLst/>
          </a:prstGeom>
          <a:noFill/>
          <a:ln/>
        </p:spPr>
        <p:txBody>
          <a:bodyPr wrap="square" lIns="0" tIns="0" rIns="0" bIns="0" rtlCol="0" anchor="ctr"/>
          <a:lstStyle/>
          <a:p>
            <a:pPr algn="l" indent="0" marL="0">
              <a:buNone/>
            </a:pPr>
            <a:r>
              <a:rPr lang="en-US" sz="5400" b="1" dirty="0">
                <a:solidFill>
                  <a:schemeClr val="tx1"/>
                </a:solidFill>
              </a:rPr>
              <a:t>Query</a:t>
            </a:r>
            <a:endParaRPr lang="en-US" sz="5400" dirty="0"/>
          </a:p>
        </p:txBody>
      </p:sp>
      <p:sp>
        <p:nvSpPr>
          <p:cNvPr id="4" name="Text 0"/>
          <p:cNvSpPr/>
          <p:nvPr>
            <p:ph idx="102" type="body" hasCustomPrompt="1"/>
          </p:nvPr>
        </p:nvSpPr>
        <p:spPr>
          <a:xfrm>
            <a:off x="731520" y="3749040"/>
            <a:ext cx="6400800" cy="822960"/>
          </a:xfrm>
          <a:prstGeom prst="rect">
            <a:avLst/>
          </a:prstGeom>
          <a:noFill/>
          <a:ln/>
        </p:spPr>
        <p:txBody>
          <a:bodyPr wrap="square" lIns="0" tIns="0" rIns="0" bIns="0" rtlCol="0" anchor="t"/>
          <a:lstStyle/>
          <a:p>
            <a:pPr indent="0" marL="0">
              <a:buNone/>
            </a:pPr>
            <a:r>
              <a:rPr lang="en-US" sz="2400" dirty="0">
                <a:solidFill>
                  <a:schemeClr val="tx1"/>
                </a:solidFill>
              </a:rPr>
              <a:t>How do I read and change the data?</a:t>
            </a:r>
            <a:endParaRPr lang="en-US" sz="2400" dirty="0"/>
          </a:p>
        </p:txBody>
      </p:sp>
      <p:sp>
        <p:nvSpPr>
          <p:cNvPr id="5" name="text-482"/>
          <p:cNvSpPr txBox="1"/>
          <p:nvPr/>
        </p:nvSpPr>
        <p:spPr>
          <a:xfrm>
            <a:off x="731520" y="4892040"/>
            <a:ext cx="5486400" cy="320040"/>
          </a:xfrm>
          <a:prstGeom prst="rect">
            <a:avLst/>
          </a:prstGeom>
          <a:noFill/>
          <a:ln/>
        </p:spPr>
        <p:txBody>
          <a:bodyPr wrap="square" lIns="0" tIns="0" rIns="0" bIns="0" rtlCol="0" anchor="ctr"/>
          <a:lstStyle/>
          <a:p>
            <a:pPr algn="l" indent="0" marL="0">
              <a:buNone/>
            </a:pPr>
            <a:r>
              <a:rPr lang="en-US" sz="1400" b="1" spc="200" kern="0" dirty="0">
                <a:solidFill>
                  <a:schemeClr val="tx1"/>
                </a:solidFill>
              </a:rPr>
              <a:t>SECTIONS 3.6 – 3.9</a:t>
            </a:r>
            <a:endParaRPr lang="en-US" sz="1400" dirty="0"/>
          </a:p>
        </p:txBody>
      </p:sp>
      <p:sp>
        <p:nvSpPr>
          <p:cNvPr id="6" name="box-483"/>
          <p:cNvSpPr/>
          <p:nvPr/>
        </p:nvSpPr>
        <p:spPr>
          <a:xfrm>
            <a:off x="7315200" y="4114800"/>
            <a:ext cx="4013302" cy="330098"/>
          </a:xfrm>
          <a:prstGeom prst="roundRect">
            <a:avLst>
              <a:gd name="adj" fmla="val 11080"/>
            </a:avLst>
          </a:prstGeom>
          <a:solidFill>
            <a:schemeClr val="bg1">
              <a:alpha val="35000"/>
            </a:schemeClr>
          </a:solidFill>
          <a:ln/>
        </p:spPr>
      </p:sp>
      <p:sp>
        <p:nvSpPr>
          <p:cNvPr id="7" name="box-484"/>
          <p:cNvSpPr/>
          <p:nvPr/>
        </p:nvSpPr>
        <p:spPr>
          <a:xfrm>
            <a:off x="7315200" y="4479646"/>
            <a:ext cx="4013302" cy="451714"/>
          </a:xfrm>
          <a:prstGeom prst="roundRect">
            <a:avLst>
              <a:gd name="adj" fmla="val 8097"/>
            </a:avLst>
          </a:prstGeom>
          <a:solidFill>
            <a:schemeClr val="bg1"/>
          </a:solidFill>
          <a:ln/>
        </p:spPr>
      </p:sp>
      <p:sp>
        <p:nvSpPr>
          <p:cNvPr id="8" name="box-485"/>
          <p:cNvSpPr/>
          <p:nvPr/>
        </p:nvSpPr>
        <p:spPr>
          <a:xfrm>
            <a:off x="7315200" y="4966106"/>
            <a:ext cx="4013302" cy="330098"/>
          </a:xfrm>
          <a:prstGeom prst="roundRect">
            <a:avLst>
              <a:gd name="adj" fmla="val 11080"/>
            </a:avLst>
          </a:prstGeom>
          <a:solidFill>
            <a:schemeClr val="bg1">
              <a:alpha val="35000"/>
            </a:schemeClr>
          </a:solidFill>
          <a:ln/>
        </p:spPr>
      </p:sp>
      <p:sp>
        <p:nvSpPr>
          <p:cNvPr id="9" name="box-486"/>
          <p:cNvSpPr/>
          <p:nvPr/>
        </p:nvSpPr>
        <p:spPr>
          <a:xfrm>
            <a:off x="7315200" y="5330952"/>
            <a:ext cx="4013302" cy="330098"/>
          </a:xfrm>
          <a:prstGeom prst="roundRect">
            <a:avLst>
              <a:gd name="adj" fmla="val 11080"/>
            </a:avLst>
          </a:prstGeom>
          <a:solidFill>
            <a:schemeClr val="bg1">
              <a:alpha val="35000"/>
            </a:schemeClr>
          </a:solidFill>
          <a:ln/>
        </p:spPr>
      </p:sp>
      <p:sp>
        <p:nvSpPr>
          <p:cNvPr id="10" name="box-487"/>
          <p:cNvSpPr/>
          <p:nvPr/>
        </p:nvSpPr>
        <p:spPr>
          <a:xfrm>
            <a:off x="7384694" y="4208617"/>
            <a:ext cx="747065" cy="215433"/>
          </a:xfrm>
          <a:prstGeom prst="roundRect">
            <a:avLst>
              <a:gd name="adj" fmla="val 12733"/>
            </a:avLst>
          </a:prstGeom>
          <a:solidFill>
            <a:schemeClr val="tx1">
              <a:alpha val="80000"/>
            </a:schemeClr>
          </a:solidFill>
          <a:ln/>
        </p:spPr>
      </p:sp>
      <p:sp>
        <p:nvSpPr>
          <p:cNvPr id="11" name="box-488"/>
          <p:cNvSpPr/>
          <p:nvPr/>
        </p:nvSpPr>
        <p:spPr>
          <a:xfrm>
            <a:off x="8253374" y="4208617"/>
            <a:ext cx="660197" cy="215433"/>
          </a:xfrm>
          <a:prstGeom prst="roundRect">
            <a:avLst>
              <a:gd name="adj" fmla="val 12733"/>
            </a:avLst>
          </a:prstGeom>
          <a:solidFill>
            <a:schemeClr val="tx1">
              <a:alpha val="80000"/>
            </a:schemeClr>
          </a:solidFill>
          <a:ln/>
        </p:spPr>
      </p:sp>
      <p:sp>
        <p:nvSpPr>
          <p:cNvPr id="12" name="box-489"/>
          <p:cNvSpPr/>
          <p:nvPr/>
        </p:nvSpPr>
        <p:spPr>
          <a:xfrm>
            <a:off x="9035186" y="4208617"/>
            <a:ext cx="660197" cy="215433"/>
          </a:xfrm>
          <a:prstGeom prst="roundRect">
            <a:avLst>
              <a:gd name="adj" fmla="val 12733"/>
            </a:avLst>
          </a:prstGeom>
          <a:solidFill>
            <a:schemeClr val="tx1">
              <a:alpha val="80000"/>
            </a:schemeClr>
          </a:solidFill>
          <a:ln/>
        </p:spPr>
      </p:sp>
      <p:sp>
        <p:nvSpPr>
          <p:cNvPr id="13" name="box-490"/>
          <p:cNvSpPr/>
          <p:nvPr/>
        </p:nvSpPr>
        <p:spPr>
          <a:xfrm>
            <a:off x="9816998" y="4208617"/>
            <a:ext cx="660197" cy="215433"/>
          </a:xfrm>
          <a:prstGeom prst="roundRect">
            <a:avLst>
              <a:gd name="adj" fmla="val 12733"/>
            </a:avLst>
          </a:prstGeom>
          <a:solidFill>
            <a:schemeClr val="tx1">
              <a:alpha val="80000"/>
            </a:schemeClr>
          </a:solidFill>
          <a:ln/>
        </p:spPr>
      </p:sp>
      <p:sp>
        <p:nvSpPr>
          <p:cNvPr id="14" name="box-491"/>
          <p:cNvSpPr/>
          <p:nvPr/>
        </p:nvSpPr>
        <p:spPr>
          <a:xfrm>
            <a:off x="10598810" y="4208617"/>
            <a:ext cx="660197" cy="215433"/>
          </a:xfrm>
          <a:prstGeom prst="roundRect">
            <a:avLst>
              <a:gd name="adj" fmla="val 12733"/>
            </a:avLst>
          </a:prstGeom>
          <a:solidFill>
            <a:schemeClr val="tx1">
              <a:alpha val="80000"/>
            </a:schemeClr>
          </a:solidFill>
          <a:ln/>
        </p:spPr>
      </p:sp>
      <p:sp>
        <p:nvSpPr>
          <p:cNvPr id="15" name="line-492"/>
          <p:cNvSpPr/>
          <p:nvPr/>
        </p:nvSpPr>
        <p:spPr>
          <a:xfrm>
            <a:off x="8131759" y="4316334"/>
            <a:ext cx="121615" cy="91"/>
          </a:xfrm>
          <a:prstGeom prst="line">
            <a:avLst/>
          </a:prstGeom>
          <a:noFill/>
          <a:ln w="9525">
            <a:solidFill>
              <a:schemeClr val="tx1"/>
            </a:solidFill>
            <a:prstDash val="solid"/>
          </a:ln>
        </p:spPr>
      </p:sp>
      <p:sp>
        <p:nvSpPr>
          <p:cNvPr id="16" name="line-493"/>
          <p:cNvSpPr/>
          <p:nvPr/>
        </p:nvSpPr>
        <p:spPr>
          <a:xfrm>
            <a:off x="8913571" y="4316334"/>
            <a:ext cx="121615" cy="91"/>
          </a:xfrm>
          <a:prstGeom prst="line">
            <a:avLst/>
          </a:prstGeom>
          <a:noFill/>
          <a:ln w="9525">
            <a:solidFill>
              <a:schemeClr val="tx1"/>
            </a:solidFill>
            <a:prstDash val="solid"/>
          </a:ln>
        </p:spPr>
      </p:sp>
      <p:sp>
        <p:nvSpPr>
          <p:cNvPr id="17" name="line-494"/>
          <p:cNvSpPr/>
          <p:nvPr/>
        </p:nvSpPr>
        <p:spPr>
          <a:xfrm>
            <a:off x="9695383" y="4316334"/>
            <a:ext cx="121615" cy="91"/>
          </a:xfrm>
          <a:prstGeom prst="line">
            <a:avLst/>
          </a:prstGeom>
          <a:noFill/>
          <a:ln w="9525">
            <a:solidFill>
              <a:schemeClr val="tx1"/>
            </a:solidFill>
            <a:prstDash val="solid"/>
          </a:ln>
        </p:spPr>
      </p:sp>
      <p:sp>
        <p:nvSpPr>
          <p:cNvPr id="18" name="line-495"/>
          <p:cNvSpPr/>
          <p:nvPr/>
        </p:nvSpPr>
        <p:spPr>
          <a:xfrm>
            <a:off x="10477195" y="4316334"/>
            <a:ext cx="121615" cy="91"/>
          </a:xfrm>
          <a:prstGeom prst="line">
            <a:avLst/>
          </a:prstGeom>
          <a:noFill/>
          <a:ln w="9525">
            <a:solidFill>
              <a:schemeClr val="tx1"/>
            </a:solidFill>
            <a:prstDash val="solid"/>
          </a:ln>
        </p:spPr>
      </p:sp>
      <p:sp>
        <p:nvSpPr>
          <p:cNvPr id="19" name="box-496"/>
          <p:cNvSpPr/>
          <p:nvPr/>
        </p:nvSpPr>
        <p:spPr>
          <a:xfrm>
            <a:off x="7384694" y="4670755"/>
            <a:ext cx="555955" cy="215433"/>
          </a:xfrm>
          <a:prstGeom prst="roundRect">
            <a:avLst>
              <a:gd name="adj" fmla="val 12733"/>
            </a:avLst>
          </a:prstGeom>
          <a:solidFill>
            <a:schemeClr val="tx1">
              <a:alpha val="80000"/>
            </a:schemeClr>
          </a:solidFill>
          <a:ln/>
        </p:spPr>
      </p:sp>
      <p:sp>
        <p:nvSpPr>
          <p:cNvPr id="20" name="box-497"/>
          <p:cNvSpPr/>
          <p:nvPr/>
        </p:nvSpPr>
        <p:spPr>
          <a:xfrm>
            <a:off x="8062265" y="4583887"/>
            <a:ext cx="3196742" cy="319674"/>
          </a:xfrm>
          <a:prstGeom prst="roundRect">
            <a:avLst>
              <a:gd name="adj" fmla="val 8581"/>
            </a:avLst>
          </a:prstGeom>
          <a:ln w="6350">
            <a:solidFill>
              <a:schemeClr val="tx1"/>
            </a:solidFill>
            <a:prstDash val="dash"/>
          </a:ln>
        </p:spPr>
      </p:sp>
      <p:sp>
        <p:nvSpPr>
          <p:cNvPr id="21" name="box-498"/>
          <p:cNvSpPr/>
          <p:nvPr/>
        </p:nvSpPr>
        <p:spPr>
          <a:xfrm>
            <a:off x="8131759" y="4670755"/>
            <a:ext cx="948599" cy="215433"/>
          </a:xfrm>
          <a:prstGeom prst="roundRect">
            <a:avLst>
              <a:gd name="adj" fmla="val 12733"/>
            </a:avLst>
          </a:prstGeom>
          <a:solidFill>
            <a:schemeClr val="tx1">
              <a:alpha val="80000"/>
            </a:schemeClr>
          </a:solidFill>
          <a:ln/>
        </p:spPr>
      </p:sp>
      <p:sp>
        <p:nvSpPr>
          <p:cNvPr id="22" name="box-499"/>
          <p:cNvSpPr/>
          <p:nvPr/>
        </p:nvSpPr>
        <p:spPr>
          <a:xfrm>
            <a:off x="9184599" y="4670755"/>
            <a:ext cx="948599" cy="215433"/>
          </a:xfrm>
          <a:prstGeom prst="roundRect">
            <a:avLst>
              <a:gd name="adj" fmla="val 12733"/>
            </a:avLst>
          </a:prstGeom>
          <a:solidFill>
            <a:schemeClr val="tx1">
              <a:alpha val="80000"/>
            </a:schemeClr>
          </a:solidFill>
          <a:ln/>
        </p:spPr>
      </p:sp>
      <p:sp>
        <p:nvSpPr>
          <p:cNvPr id="23" name="box-500"/>
          <p:cNvSpPr/>
          <p:nvPr/>
        </p:nvSpPr>
        <p:spPr>
          <a:xfrm>
            <a:off x="10237440" y="4670755"/>
            <a:ext cx="948599" cy="215433"/>
          </a:xfrm>
          <a:prstGeom prst="roundRect">
            <a:avLst>
              <a:gd name="adj" fmla="val 12733"/>
            </a:avLst>
          </a:prstGeom>
          <a:solidFill>
            <a:schemeClr val="tx1">
              <a:alpha val="80000"/>
            </a:schemeClr>
          </a:solidFill>
          <a:ln/>
        </p:spPr>
      </p:sp>
      <p:sp>
        <p:nvSpPr>
          <p:cNvPr id="24" name="line-501"/>
          <p:cNvSpPr/>
          <p:nvPr/>
        </p:nvSpPr>
        <p:spPr>
          <a:xfrm>
            <a:off x="10928909" y="4424050"/>
            <a:ext cx="91" cy="38222"/>
          </a:xfrm>
          <a:prstGeom prst="line">
            <a:avLst/>
          </a:prstGeom>
          <a:noFill/>
          <a:ln w="9525">
            <a:solidFill>
              <a:schemeClr val="tx1"/>
            </a:solidFill>
            <a:prstDash val="solid"/>
          </a:ln>
        </p:spPr>
      </p:sp>
      <p:sp>
        <p:nvSpPr>
          <p:cNvPr id="25" name="line-502"/>
          <p:cNvSpPr/>
          <p:nvPr/>
        </p:nvSpPr>
        <p:spPr>
          <a:xfrm flipH="1">
            <a:off x="7662672" y="4462272"/>
            <a:ext cx="3266237" cy="91"/>
          </a:xfrm>
          <a:prstGeom prst="line">
            <a:avLst/>
          </a:prstGeom>
          <a:noFill/>
          <a:ln w="9525">
            <a:solidFill>
              <a:schemeClr val="tx1"/>
            </a:solidFill>
            <a:prstDash val="solid"/>
          </a:ln>
        </p:spPr>
      </p:sp>
      <p:sp>
        <p:nvSpPr>
          <p:cNvPr id="26" name="line-503"/>
          <p:cNvSpPr/>
          <p:nvPr/>
        </p:nvSpPr>
        <p:spPr>
          <a:xfrm>
            <a:off x="7662672" y="4462272"/>
            <a:ext cx="91" cy="208483"/>
          </a:xfrm>
          <a:prstGeom prst="line">
            <a:avLst/>
          </a:prstGeom>
          <a:noFill/>
          <a:ln w="9525">
            <a:solidFill>
              <a:schemeClr val="tx1"/>
            </a:solidFill>
            <a:prstDash val="solid"/>
          </a:ln>
        </p:spPr>
      </p:sp>
      <p:sp>
        <p:nvSpPr>
          <p:cNvPr id="27" name="line-504"/>
          <p:cNvSpPr/>
          <p:nvPr/>
        </p:nvSpPr>
        <p:spPr>
          <a:xfrm>
            <a:off x="7940650" y="4778472"/>
            <a:ext cx="121615" cy="91"/>
          </a:xfrm>
          <a:prstGeom prst="line">
            <a:avLst/>
          </a:prstGeom>
          <a:noFill/>
          <a:ln w="9525">
            <a:solidFill>
              <a:schemeClr val="tx1"/>
            </a:solidFill>
            <a:prstDash val="solid"/>
          </a:ln>
        </p:spPr>
      </p:sp>
      <p:sp>
        <p:nvSpPr>
          <p:cNvPr id="28" name="box-505"/>
          <p:cNvSpPr/>
          <p:nvPr/>
        </p:nvSpPr>
        <p:spPr>
          <a:xfrm>
            <a:off x="7384694" y="5059924"/>
            <a:ext cx="903427" cy="215433"/>
          </a:xfrm>
          <a:prstGeom prst="roundRect">
            <a:avLst>
              <a:gd name="adj" fmla="val 12733"/>
            </a:avLst>
          </a:prstGeom>
          <a:solidFill>
            <a:schemeClr val="tx1">
              <a:alpha val="80000"/>
            </a:schemeClr>
          </a:solidFill>
          <a:ln/>
        </p:spPr>
      </p:sp>
      <p:sp>
        <p:nvSpPr>
          <p:cNvPr id="29" name="box-506"/>
          <p:cNvSpPr/>
          <p:nvPr/>
        </p:nvSpPr>
        <p:spPr>
          <a:xfrm>
            <a:off x="8444484" y="5059924"/>
            <a:ext cx="1111910" cy="215433"/>
          </a:xfrm>
          <a:prstGeom prst="roundRect">
            <a:avLst>
              <a:gd name="adj" fmla="val 12733"/>
            </a:avLst>
          </a:prstGeom>
          <a:solidFill>
            <a:schemeClr val="tx1">
              <a:alpha val="80000"/>
            </a:schemeClr>
          </a:solidFill>
          <a:ln/>
        </p:spPr>
      </p:sp>
      <p:sp>
        <p:nvSpPr>
          <p:cNvPr id="30" name="line-507"/>
          <p:cNvSpPr/>
          <p:nvPr/>
        </p:nvSpPr>
        <p:spPr>
          <a:xfrm>
            <a:off x="9000439" y="4903561"/>
            <a:ext cx="91" cy="156362"/>
          </a:xfrm>
          <a:prstGeom prst="line">
            <a:avLst/>
          </a:prstGeom>
          <a:noFill/>
          <a:ln w="9525">
            <a:solidFill>
              <a:schemeClr val="tx1"/>
            </a:solidFill>
            <a:prstDash val="solid"/>
          </a:ln>
        </p:spPr>
      </p:sp>
      <p:sp>
        <p:nvSpPr>
          <p:cNvPr id="31" name="line-508"/>
          <p:cNvSpPr/>
          <p:nvPr/>
        </p:nvSpPr>
        <p:spPr>
          <a:xfrm>
            <a:off x="8288122" y="5167640"/>
            <a:ext cx="156362" cy="91"/>
          </a:xfrm>
          <a:prstGeom prst="line">
            <a:avLst/>
          </a:prstGeom>
          <a:noFill/>
          <a:ln w="9525">
            <a:solidFill>
              <a:schemeClr val="tx1"/>
            </a:solidFill>
            <a:prstDash val="solid"/>
          </a:ln>
        </p:spPr>
      </p:sp>
      <p:sp>
        <p:nvSpPr>
          <p:cNvPr id="32" name="box-509"/>
          <p:cNvSpPr/>
          <p:nvPr/>
        </p:nvSpPr>
        <p:spPr>
          <a:xfrm>
            <a:off x="7384694" y="5424769"/>
            <a:ext cx="903427" cy="215433"/>
          </a:xfrm>
          <a:prstGeom prst="roundRect">
            <a:avLst>
              <a:gd name="adj" fmla="val 12733"/>
            </a:avLst>
          </a:prstGeom>
          <a:solidFill>
            <a:schemeClr val="tx1">
              <a:alpha val="80000"/>
            </a:schemeClr>
          </a:solidFill>
          <a:ln/>
        </p:spPr>
      </p:sp>
      <p:sp>
        <p:nvSpPr>
          <p:cNvPr id="33" name="box-510"/>
          <p:cNvSpPr/>
          <p:nvPr/>
        </p:nvSpPr>
        <p:spPr>
          <a:xfrm>
            <a:off x="8444484" y="5424769"/>
            <a:ext cx="903427" cy="215433"/>
          </a:xfrm>
          <a:prstGeom prst="roundRect">
            <a:avLst>
              <a:gd name="adj" fmla="val 12733"/>
            </a:avLst>
          </a:prstGeom>
          <a:solidFill>
            <a:schemeClr val="tx1">
              <a:alpha val="80000"/>
            </a:schemeClr>
          </a:solidFill>
          <a:ln/>
        </p:spPr>
      </p:sp>
      <p:sp>
        <p:nvSpPr>
          <p:cNvPr id="34" name="box-511"/>
          <p:cNvSpPr/>
          <p:nvPr/>
        </p:nvSpPr>
        <p:spPr>
          <a:xfrm>
            <a:off x="9504274" y="5424769"/>
            <a:ext cx="1007669" cy="215433"/>
          </a:xfrm>
          <a:prstGeom prst="roundRect">
            <a:avLst>
              <a:gd name="adj" fmla="val 12733"/>
            </a:avLst>
          </a:prstGeom>
          <a:solidFill>
            <a:schemeClr val="tx1">
              <a:alpha val="80000"/>
            </a:schemeClr>
          </a:solidFill>
          <a:ln/>
        </p:spPr>
      </p:sp>
      <p:sp>
        <p:nvSpPr>
          <p:cNvPr id="35" name="line-512"/>
          <p:cNvSpPr/>
          <p:nvPr/>
        </p:nvSpPr>
        <p:spPr>
          <a:xfrm>
            <a:off x="9000439" y="5275356"/>
            <a:ext cx="91" cy="38222"/>
          </a:xfrm>
          <a:prstGeom prst="line">
            <a:avLst/>
          </a:prstGeom>
          <a:noFill/>
          <a:ln w="9525">
            <a:solidFill>
              <a:schemeClr val="tx1"/>
            </a:solidFill>
            <a:prstDash val="solid"/>
          </a:ln>
        </p:spPr>
      </p:sp>
      <p:sp>
        <p:nvSpPr>
          <p:cNvPr id="36" name="line-513"/>
          <p:cNvSpPr/>
          <p:nvPr/>
        </p:nvSpPr>
        <p:spPr>
          <a:xfrm flipH="1">
            <a:off x="7836408" y="5313578"/>
            <a:ext cx="1164031" cy="91"/>
          </a:xfrm>
          <a:prstGeom prst="line">
            <a:avLst/>
          </a:prstGeom>
          <a:noFill/>
          <a:ln w="9525">
            <a:solidFill>
              <a:schemeClr val="tx1"/>
            </a:solidFill>
            <a:prstDash val="solid"/>
          </a:ln>
        </p:spPr>
      </p:sp>
      <p:sp>
        <p:nvSpPr>
          <p:cNvPr id="37" name="line-514"/>
          <p:cNvSpPr/>
          <p:nvPr/>
        </p:nvSpPr>
        <p:spPr>
          <a:xfrm>
            <a:off x="7836408" y="5313578"/>
            <a:ext cx="91" cy="111191"/>
          </a:xfrm>
          <a:prstGeom prst="line">
            <a:avLst/>
          </a:prstGeom>
          <a:noFill/>
          <a:ln w="9525">
            <a:solidFill>
              <a:schemeClr val="tx1"/>
            </a:solidFill>
            <a:prstDash val="solid"/>
          </a:ln>
        </p:spPr>
      </p:sp>
      <p:sp>
        <p:nvSpPr>
          <p:cNvPr id="38" name="line-515"/>
          <p:cNvSpPr/>
          <p:nvPr/>
        </p:nvSpPr>
        <p:spPr>
          <a:xfrm>
            <a:off x="8288122" y="5532486"/>
            <a:ext cx="156362" cy="91"/>
          </a:xfrm>
          <a:prstGeom prst="line">
            <a:avLst/>
          </a:prstGeom>
          <a:noFill/>
          <a:ln w="9525">
            <a:solidFill>
              <a:schemeClr val="tx1"/>
            </a:solidFill>
            <a:prstDash val="solid"/>
          </a:ln>
        </p:spPr>
      </p:sp>
      <p:sp>
        <p:nvSpPr>
          <p:cNvPr id="39" name="line-516"/>
          <p:cNvSpPr/>
          <p:nvPr/>
        </p:nvSpPr>
        <p:spPr>
          <a:xfrm>
            <a:off x="9347911" y="5532486"/>
            <a:ext cx="156362" cy="91"/>
          </a:xfrm>
          <a:prstGeom prst="line">
            <a:avLst/>
          </a:prstGeom>
          <a:noFill/>
          <a:ln w="9525">
            <a:solidFill>
              <a:schemeClr val="tx1"/>
            </a:solidFill>
            <a:prstDash val="solid"/>
          </a:ln>
        </p:spPr>
      </p:sp>
      <p:sp>
        <p:nvSpPr>
          <p:cNvPr id="40" name="line-517"/>
          <p:cNvSpPr/>
          <p:nvPr/>
        </p:nvSpPr>
        <p:spPr>
          <a:xfrm>
            <a:off x="10008108" y="5640202"/>
            <a:ext cx="91" cy="100767"/>
          </a:xfrm>
          <a:prstGeom prst="line">
            <a:avLst/>
          </a:prstGeom>
          <a:noFill/>
          <a:ln w="9525">
            <a:solidFill>
              <a:schemeClr val="accent1"/>
            </a:solidFill>
            <a:prstDash val="dash"/>
          </a:ln>
        </p:spPr>
      </p:sp>
      <p:sp>
        <p:nvSpPr>
          <p:cNvPr id="41" name="line-518"/>
          <p:cNvSpPr/>
          <p:nvPr/>
        </p:nvSpPr>
        <p:spPr>
          <a:xfrm flipH="1">
            <a:off x="8896198" y="5740969"/>
            <a:ext cx="1111910" cy="91"/>
          </a:xfrm>
          <a:prstGeom prst="line">
            <a:avLst/>
          </a:prstGeom>
          <a:noFill/>
          <a:ln w="9525">
            <a:solidFill>
              <a:schemeClr val="accent1"/>
            </a:solidFill>
            <a:prstDash val="dash"/>
          </a:ln>
        </p:spPr>
      </p:sp>
      <p:sp>
        <p:nvSpPr>
          <p:cNvPr id="42" name="line-519"/>
          <p:cNvSpPr/>
          <p:nvPr/>
        </p:nvSpPr>
        <p:spPr>
          <a:xfrm flipV="1">
            <a:off x="8896198" y="5640202"/>
            <a:ext cx="91" cy="100767"/>
          </a:xfrm>
          <a:prstGeom prst="line">
            <a:avLst/>
          </a:prstGeom>
          <a:noFill/>
          <a:ln w="9525">
            <a:solidFill>
              <a:schemeClr val="accent1"/>
            </a:solidFill>
            <a:prstDash val="dash"/>
          </a:ln>
        </p:spPr>
      </p:sp>
      <p:sp>
        <p:nvSpPr>
          <p:cNvPr id="43" name="line-520"/>
          <p:cNvSpPr/>
          <p:nvPr/>
        </p:nvSpPr>
        <p:spPr>
          <a:xfrm>
            <a:off x="10511942" y="5532486"/>
            <a:ext cx="920801" cy="91"/>
          </a:xfrm>
          <a:prstGeom prst="line">
            <a:avLst/>
          </a:prstGeom>
          <a:noFill/>
          <a:ln w="9525">
            <a:solidFill>
              <a:schemeClr val="accent1"/>
            </a:solidFill>
            <a:prstDash val="dash"/>
          </a:ln>
        </p:spPr>
      </p:sp>
      <p:sp>
        <p:nvSpPr>
          <p:cNvPr id="44" name="line-521"/>
          <p:cNvSpPr/>
          <p:nvPr/>
        </p:nvSpPr>
        <p:spPr>
          <a:xfrm flipV="1">
            <a:off x="11432743" y="4316334"/>
            <a:ext cx="91" cy="1216152"/>
          </a:xfrm>
          <a:prstGeom prst="line">
            <a:avLst/>
          </a:prstGeom>
          <a:noFill/>
          <a:ln w="9525">
            <a:solidFill>
              <a:schemeClr val="accent1"/>
            </a:solidFill>
            <a:prstDash val="dash"/>
          </a:ln>
        </p:spPr>
      </p:sp>
      <p:sp>
        <p:nvSpPr>
          <p:cNvPr id="45" name="line-522"/>
          <p:cNvSpPr/>
          <p:nvPr/>
        </p:nvSpPr>
        <p:spPr>
          <a:xfrm flipH="1">
            <a:off x="11259007" y="4316334"/>
            <a:ext cx="173736" cy="91"/>
          </a:xfrm>
          <a:prstGeom prst="line">
            <a:avLst/>
          </a:prstGeom>
          <a:noFill/>
          <a:ln w="9525">
            <a:solidFill>
              <a:schemeClr val="accent1"/>
            </a:solidFill>
            <a:prstDash val="dash"/>
          </a:ln>
        </p:spPr>
      </p:sp>
      <p:sp>
        <p:nvSpPr>
          <p:cNvPr id="46" name="text-523"/>
          <p:cNvSpPr txBox="1"/>
          <p:nvPr/>
        </p:nvSpPr>
        <p:spPr>
          <a:xfrm>
            <a:off x="7315200" y="3703320"/>
            <a:ext cx="4206240" cy="274320"/>
          </a:xfrm>
          <a:prstGeom prst="rect">
            <a:avLst/>
          </a:prstGeom>
          <a:noFill/>
          <a:ln/>
        </p:spPr>
        <p:txBody>
          <a:bodyPr wrap="square" lIns="0" tIns="0" rIns="0" bIns="0" rtlCol="0" anchor="ctr"/>
          <a:lstStyle/>
          <a:p>
            <a:pPr algn="r" indent="0" marL="0">
              <a:buNone/>
            </a:pPr>
            <a:r>
              <a:rPr lang="en-US" sz="1100" b="1" spc="200" kern="0" dirty="0">
                <a:solidFill>
                  <a:schemeClr val="tx1"/>
                </a:solidFill>
              </a:rPr>
              <a:t>you are here</a:t>
            </a:r>
            <a:endParaRPr lang="en-US" sz="1100" dirty="0"/>
          </a:p>
        </p:txBody>
      </p:sp>
      <p:pic>
        <p:nvPicPr>
          <p:cNvPr id="48" name="Image 0" descr="Search icon">    </p:cNvPr>
          <p:cNvPicPr>
            <a:picLocks noChangeAspect="1"/>
          </p:cNvPicPr>
          <p:nvPr/>
        </p:nvPicPr>
        <p:blipFill>
          <a:blip r:embed="rId1"/>
          <a:stretch>
            <a:fillRect/>
          </a:stretch>
        </p:blipFill>
        <p:spPr>
          <a:xfrm>
            <a:off x="731520" y="914400"/>
            <a:ext cx="1143000" cy="1143000"/>
          </a:xfrm>
          <a:prstGeom prst="rect">
            <a:avLst/>
          </a:prstGeom>
        </p:spPr>
      </p:pic>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dot-524"/>
          <p:cNvSpPr/>
          <p:nvPr/>
        </p:nvSpPr>
        <p:spPr>
          <a:xfrm>
            <a:off x="548640" y="384048"/>
            <a:ext cx="384048" cy="384048"/>
          </a:xfrm>
          <a:prstGeom prst="ellipse">
            <a:avLst/>
          </a:prstGeom>
          <a:solidFill>
            <a:schemeClr val="accent2"/>
          </a:solidFill>
          <a:ln/>
        </p:spPr>
      </p:sp>
      <p:sp>
        <p:nvSpPr>
          <p:cNvPr id="3" name="Text 1"/>
          <p:cNvSpPr/>
          <p:nvPr>
            <p:ph idx="101" type="body" hasCustomPrompt="1"/>
          </p:nvPr>
        </p:nvSpPr>
        <p:spPr>
          <a:xfrm>
            <a:off x="1051560" y="384048"/>
            <a:ext cx="9601200" cy="384048"/>
          </a:xfrm>
          <a:prstGeom prst="rect">
            <a:avLst/>
          </a:prstGeom>
          <a:noFill/>
          <a:ln/>
        </p:spPr>
        <p:txBody>
          <a:bodyPr wrap="square" lIns="0" tIns="0" rIns="0" bIns="0" rtlCol="0" anchor="ctr"/>
          <a:lstStyle/>
          <a:p>
            <a:pPr indent="0" marL="0">
              <a:buNone/>
            </a:pPr>
            <a:r>
              <a:rPr lang="en-US" sz="1300" b="1" spc="300" kern="0" dirty="0">
                <a:solidFill>
                  <a:schemeClr val="tx2"/>
                </a:solidFill>
              </a:rPr>
              <a:t>L2  ·  QUERY  ·  3.6 CRUD</a:t>
            </a:r>
            <a:endParaRPr lang="en-US" sz="1300" dirty="0"/>
          </a:p>
        </p:txBody>
      </p:sp>
      <p:sp>
        <p:nvSpPr>
          <p:cNvPr id="4" name="Text 1"/>
          <p:cNvSpPr/>
          <p:nvPr>
            <p:ph idx="102" type="title" hasCustomPrompt="1"/>
          </p:nvPr>
        </p:nvSpPr>
        <p:spPr>
          <a:xfrm>
            <a:off x="548640" y="841248"/>
            <a:ext cx="11064240" cy="777240"/>
          </a:xfrm>
          <a:prstGeom prst="rect">
            <a:avLst/>
          </a:prstGeom>
          <a:noFill/>
          <a:ln/>
        </p:spPr>
        <p:txBody>
          <a:bodyPr wrap="square" lIns="0" tIns="0" rIns="0" bIns="0" rtlCol="0" anchor="ctr"/>
          <a:lstStyle/>
          <a:p>
            <a:pPr algn="l" indent="0" marL="0">
              <a:buNone/>
            </a:pPr>
            <a:r>
              <a:rPr lang="en-US" sz="3800" b="1" dirty="0">
                <a:solidFill>
                  <a:schemeClr val="tx1"/>
                </a:solidFill>
              </a:rPr>
              <a:t>Create · Read · Update · Delete</a:t>
            </a:r>
            <a:endParaRPr lang="en-US" sz="3800" dirty="0"/>
          </a:p>
        </p:txBody>
      </p:sp>
      <p:sp>
        <p:nvSpPr>
          <p:cNvPr id="5" name="Text 1"/>
          <p:cNvSpPr/>
          <p:nvPr>
            <p:ph idx="103" type="body" hasCustomPrompt="1"/>
          </p:nvPr>
        </p:nvSpPr>
        <p:spPr>
          <a:xfrm>
            <a:off x="548640" y="1627632"/>
            <a:ext cx="11064240" cy="457200"/>
          </a:xfrm>
          <a:prstGeom prst="rect">
            <a:avLst/>
          </a:prstGeom>
          <a:noFill/>
          <a:ln/>
        </p:spPr>
        <p:txBody>
          <a:bodyPr wrap="square" lIns="0" tIns="0" rIns="0" bIns="0" rtlCol="0" anchor="t"/>
          <a:lstStyle/>
          <a:p>
            <a:pPr indent="0" marL="0">
              <a:buNone/>
            </a:pPr>
            <a:r>
              <a:rPr lang="en-US" sz="2000" dirty="0">
                <a:solidFill>
                  <a:schemeClr val="tx2"/>
                </a:solidFill>
              </a:rPr>
              <a:t>RETURNING gives back the row in one trip   ·   Never UPDATE or DELETE without WHERE</a:t>
            </a:r>
            <a:endParaRPr lang="en-US" sz="2000" dirty="0"/>
          </a:p>
        </p:txBody>
      </p:sp>
      <p:sp>
        <p:nvSpPr>
          <p:cNvPr id="7" name="box-525"/>
          <p:cNvSpPr/>
          <p:nvPr/>
        </p:nvSpPr>
        <p:spPr>
          <a:xfrm>
            <a:off x="548640" y="2331720"/>
            <a:ext cx="2606040" cy="3657600"/>
          </a:xfrm>
          <a:prstGeom prst="roundRect">
            <a:avLst>
              <a:gd name="adj" fmla="val 2807"/>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8" name="box-526"/>
          <p:cNvSpPr/>
          <p:nvPr/>
        </p:nvSpPr>
        <p:spPr>
          <a:xfrm>
            <a:off x="1463040" y="2514600"/>
            <a:ext cx="777240" cy="146304"/>
          </a:xfrm>
          <a:prstGeom prst="roundRect">
            <a:avLst>
              <a:gd name="adj" fmla="val 312500"/>
            </a:avLst>
          </a:prstGeom>
          <a:solidFill>
            <a:schemeClr val="accent5"/>
          </a:solidFill>
          <a:ln/>
        </p:spPr>
      </p:sp>
      <p:sp>
        <p:nvSpPr>
          <p:cNvPr id="9" name="dot-527"/>
          <p:cNvSpPr/>
          <p:nvPr/>
        </p:nvSpPr>
        <p:spPr>
          <a:xfrm>
            <a:off x="1234440" y="2880360"/>
            <a:ext cx="1234440" cy="1234440"/>
          </a:xfrm>
          <a:prstGeom prst="ellipse">
            <a:avLst/>
          </a:prstGeom>
          <a:solidFill>
            <a:schemeClr val="accent2"/>
          </a:solidFill>
          <a:ln/>
        </p:spPr>
      </p:sp>
      <p:sp>
        <p:nvSpPr>
          <p:cNvPr id="10" name="text-528"/>
          <p:cNvSpPr txBox="1"/>
          <p:nvPr/>
        </p:nvSpPr>
        <p:spPr>
          <a:xfrm>
            <a:off x="1234440" y="2880360"/>
            <a:ext cx="1234440" cy="1234440"/>
          </a:xfrm>
          <a:prstGeom prst="rect">
            <a:avLst/>
          </a:prstGeom>
          <a:noFill/>
          <a:ln/>
        </p:spPr>
        <p:txBody>
          <a:bodyPr wrap="square" lIns="0" tIns="0" rIns="0" bIns="0" rtlCol="0" anchor="ctr"/>
          <a:lstStyle/>
          <a:p>
            <a:pPr algn="ctr" indent="0" marL="0">
              <a:buNone/>
            </a:pPr>
            <a:r>
              <a:rPr lang="en-US" sz="4400" b="1" dirty="0">
                <a:solidFill>
                  <a:schemeClr val="tx1"/>
                </a:solidFill>
              </a:rPr>
              <a:t>C</a:t>
            </a:r>
            <a:endParaRPr lang="en-US" sz="4400" dirty="0"/>
          </a:p>
        </p:txBody>
      </p:sp>
      <p:sp>
        <p:nvSpPr>
          <p:cNvPr id="11" name="text-529"/>
          <p:cNvSpPr txBox="1"/>
          <p:nvPr/>
        </p:nvSpPr>
        <p:spPr>
          <a:xfrm>
            <a:off x="548640" y="4297680"/>
            <a:ext cx="2606040" cy="502920"/>
          </a:xfrm>
          <a:prstGeom prst="rect">
            <a:avLst/>
          </a:prstGeom>
          <a:noFill/>
          <a:ln/>
        </p:spPr>
        <p:txBody>
          <a:bodyPr wrap="square" lIns="0" tIns="0" rIns="0" bIns="0" rtlCol="0" anchor="ctr"/>
          <a:lstStyle/>
          <a:p>
            <a:pPr algn="ctr" indent="0" marL="0">
              <a:buNone/>
            </a:pPr>
            <a:r>
              <a:rPr lang="en-US" sz="2200" b="1" dirty="0">
                <a:solidFill>
                  <a:schemeClr val="tx1"/>
                </a:solidFill>
                <a:latin typeface="Roboto Mono" pitchFamily="34" charset="0"/>
                <a:ea typeface="Roboto Mono" pitchFamily="34" charset="-122"/>
                <a:cs typeface="Roboto Mono" pitchFamily="34" charset="-120"/>
              </a:rPr>
              <a:t>INSERT</a:t>
            </a:r>
            <a:endParaRPr lang="en-US" sz="2200" dirty="0"/>
          </a:p>
        </p:txBody>
      </p:sp>
      <p:sp>
        <p:nvSpPr>
          <p:cNvPr id="12" name="box-530"/>
          <p:cNvSpPr/>
          <p:nvPr/>
        </p:nvSpPr>
        <p:spPr>
          <a:xfrm>
            <a:off x="822960" y="5029200"/>
            <a:ext cx="2057400" cy="548640"/>
          </a:xfrm>
          <a:prstGeom prst="roundRect">
            <a:avLst>
              <a:gd name="adj" fmla="val 20000"/>
            </a:avLst>
          </a:prstGeom>
          <a:solidFill>
            <a:schemeClr val="accent5"/>
          </a:solidFill>
          <a:ln/>
        </p:spPr>
      </p:sp>
      <p:sp>
        <p:nvSpPr>
          <p:cNvPr id="13" name="text-531"/>
          <p:cNvSpPr txBox="1"/>
          <p:nvPr/>
        </p:nvSpPr>
        <p:spPr>
          <a:xfrm>
            <a:off x="896112" y="5029200"/>
            <a:ext cx="1911096" cy="548640"/>
          </a:xfrm>
          <a:prstGeom prst="rect">
            <a:avLst/>
          </a:prstGeom>
          <a:noFill/>
          <a:ln/>
        </p:spPr>
        <p:txBody>
          <a:bodyPr wrap="square" lIns="0" tIns="0" rIns="0" bIns="0" rtlCol="0" anchor="ctr"/>
          <a:lstStyle/>
          <a:p>
            <a:pPr algn="ctr" indent="0" marL="0">
              <a:buNone/>
            </a:pPr>
            <a:r>
              <a:rPr lang="en-US" sz="1400" b="1" dirty="0">
                <a:solidFill>
                  <a:schemeClr val="tx1"/>
                </a:solidFill>
                <a:latin typeface="Roboto Mono" pitchFamily="34" charset="0"/>
                <a:ea typeface="Roboto Mono" pitchFamily="34" charset="-122"/>
                <a:cs typeface="Roboto Mono" pitchFamily="34" charset="-120"/>
              </a:rPr>
              <a:t>RETURNING id</a:t>
            </a:r>
            <a:endParaRPr lang="en-US" sz="1400" dirty="0"/>
          </a:p>
        </p:txBody>
      </p:sp>
      <p:sp>
        <p:nvSpPr>
          <p:cNvPr id="14" name="box-532"/>
          <p:cNvSpPr/>
          <p:nvPr/>
        </p:nvSpPr>
        <p:spPr>
          <a:xfrm>
            <a:off x="3364992" y="2331720"/>
            <a:ext cx="2606040" cy="3657600"/>
          </a:xfrm>
          <a:prstGeom prst="roundRect">
            <a:avLst>
              <a:gd name="adj" fmla="val 2807"/>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15" name="box-533"/>
          <p:cNvSpPr/>
          <p:nvPr/>
        </p:nvSpPr>
        <p:spPr>
          <a:xfrm>
            <a:off x="4279392" y="2514600"/>
            <a:ext cx="777240" cy="146304"/>
          </a:xfrm>
          <a:prstGeom prst="roundRect">
            <a:avLst>
              <a:gd name="adj" fmla="val 312500"/>
            </a:avLst>
          </a:prstGeom>
          <a:solidFill>
            <a:schemeClr val="accent5"/>
          </a:solidFill>
          <a:ln/>
        </p:spPr>
      </p:sp>
      <p:sp>
        <p:nvSpPr>
          <p:cNvPr id="16" name="dot-534"/>
          <p:cNvSpPr/>
          <p:nvPr/>
        </p:nvSpPr>
        <p:spPr>
          <a:xfrm>
            <a:off x="4050792" y="2880360"/>
            <a:ext cx="1234440" cy="1234440"/>
          </a:xfrm>
          <a:prstGeom prst="ellipse">
            <a:avLst/>
          </a:prstGeom>
          <a:solidFill>
            <a:schemeClr val="accent2"/>
          </a:solidFill>
          <a:ln/>
        </p:spPr>
      </p:sp>
      <p:sp>
        <p:nvSpPr>
          <p:cNvPr id="17" name="text-535"/>
          <p:cNvSpPr txBox="1"/>
          <p:nvPr/>
        </p:nvSpPr>
        <p:spPr>
          <a:xfrm>
            <a:off x="4050792" y="2880360"/>
            <a:ext cx="1234440" cy="1234440"/>
          </a:xfrm>
          <a:prstGeom prst="rect">
            <a:avLst/>
          </a:prstGeom>
          <a:noFill/>
          <a:ln/>
        </p:spPr>
        <p:txBody>
          <a:bodyPr wrap="square" lIns="0" tIns="0" rIns="0" bIns="0" rtlCol="0" anchor="ctr"/>
          <a:lstStyle/>
          <a:p>
            <a:pPr algn="ctr" indent="0" marL="0">
              <a:buNone/>
            </a:pPr>
            <a:r>
              <a:rPr lang="en-US" sz="4400" b="1" dirty="0">
                <a:solidFill>
                  <a:schemeClr val="tx1"/>
                </a:solidFill>
              </a:rPr>
              <a:t>R</a:t>
            </a:r>
            <a:endParaRPr lang="en-US" sz="4400" dirty="0"/>
          </a:p>
        </p:txBody>
      </p:sp>
      <p:sp>
        <p:nvSpPr>
          <p:cNvPr id="18" name="text-536"/>
          <p:cNvSpPr txBox="1"/>
          <p:nvPr/>
        </p:nvSpPr>
        <p:spPr>
          <a:xfrm>
            <a:off x="3364992" y="4297680"/>
            <a:ext cx="2606040" cy="502920"/>
          </a:xfrm>
          <a:prstGeom prst="rect">
            <a:avLst/>
          </a:prstGeom>
          <a:noFill/>
          <a:ln/>
        </p:spPr>
        <p:txBody>
          <a:bodyPr wrap="square" lIns="0" tIns="0" rIns="0" bIns="0" rtlCol="0" anchor="ctr"/>
          <a:lstStyle/>
          <a:p>
            <a:pPr algn="ctr" indent="0" marL="0">
              <a:buNone/>
            </a:pPr>
            <a:r>
              <a:rPr lang="en-US" sz="2200" b="1" dirty="0">
                <a:solidFill>
                  <a:schemeClr val="tx1"/>
                </a:solidFill>
                <a:latin typeface="Roboto Mono" pitchFamily="34" charset="0"/>
                <a:ea typeface="Roboto Mono" pitchFamily="34" charset="-122"/>
                <a:cs typeface="Roboto Mono" pitchFamily="34" charset="-120"/>
              </a:rPr>
              <a:t>SELECT</a:t>
            </a:r>
            <a:endParaRPr lang="en-US" sz="2200" dirty="0"/>
          </a:p>
        </p:txBody>
      </p:sp>
      <p:sp>
        <p:nvSpPr>
          <p:cNvPr id="19" name="box-537"/>
          <p:cNvSpPr/>
          <p:nvPr/>
        </p:nvSpPr>
        <p:spPr>
          <a:xfrm>
            <a:off x="3639312" y="5029200"/>
            <a:ext cx="2057400" cy="548640"/>
          </a:xfrm>
          <a:prstGeom prst="roundRect">
            <a:avLst>
              <a:gd name="adj" fmla="val 20000"/>
            </a:avLst>
          </a:prstGeom>
          <a:solidFill>
            <a:schemeClr val="accent5"/>
          </a:solidFill>
          <a:ln/>
        </p:spPr>
      </p:sp>
      <p:sp>
        <p:nvSpPr>
          <p:cNvPr id="20" name="text-538"/>
          <p:cNvSpPr txBox="1"/>
          <p:nvPr/>
        </p:nvSpPr>
        <p:spPr>
          <a:xfrm>
            <a:off x="3712464" y="5029200"/>
            <a:ext cx="1911096" cy="548640"/>
          </a:xfrm>
          <a:prstGeom prst="rect">
            <a:avLst/>
          </a:prstGeom>
          <a:noFill/>
          <a:ln/>
        </p:spPr>
        <p:txBody>
          <a:bodyPr wrap="square" lIns="0" tIns="0" rIns="0" bIns="0" rtlCol="0" anchor="ctr"/>
          <a:lstStyle/>
          <a:p>
            <a:pPr algn="ctr" indent="0" marL="0">
              <a:buNone/>
            </a:pPr>
            <a:r>
              <a:rPr lang="en-US" sz="1400" b="1" dirty="0">
                <a:solidFill>
                  <a:schemeClr val="tx1"/>
                </a:solidFill>
              </a:rPr>
              <a:t>list your columns</a:t>
            </a:r>
            <a:endParaRPr lang="en-US" sz="1400" dirty="0"/>
          </a:p>
        </p:txBody>
      </p:sp>
      <p:sp>
        <p:nvSpPr>
          <p:cNvPr id="21" name="box-539"/>
          <p:cNvSpPr/>
          <p:nvPr/>
        </p:nvSpPr>
        <p:spPr>
          <a:xfrm>
            <a:off x="6181344" y="2331720"/>
            <a:ext cx="2606040" cy="3657600"/>
          </a:xfrm>
          <a:prstGeom prst="roundRect">
            <a:avLst>
              <a:gd name="adj" fmla="val 2807"/>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22" name="box-540"/>
          <p:cNvSpPr/>
          <p:nvPr/>
        </p:nvSpPr>
        <p:spPr>
          <a:xfrm>
            <a:off x="7095744" y="2514600"/>
            <a:ext cx="777240" cy="146304"/>
          </a:xfrm>
          <a:prstGeom prst="roundRect">
            <a:avLst>
              <a:gd name="adj" fmla="val 312500"/>
            </a:avLst>
          </a:prstGeom>
          <a:solidFill>
            <a:schemeClr val="accent5"/>
          </a:solidFill>
          <a:ln/>
        </p:spPr>
      </p:sp>
      <p:sp>
        <p:nvSpPr>
          <p:cNvPr id="23" name="dot-541"/>
          <p:cNvSpPr/>
          <p:nvPr/>
        </p:nvSpPr>
        <p:spPr>
          <a:xfrm>
            <a:off x="6867144" y="2880360"/>
            <a:ext cx="1234440" cy="1234440"/>
          </a:xfrm>
          <a:prstGeom prst="ellipse">
            <a:avLst/>
          </a:prstGeom>
          <a:solidFill>
            <a:schemeClr val="accent2"/>
          </a:solidFill>
          <a:ln/>
        </p:spPr>
      </p:sp>
      <p:sp>
        <p:nvSpPr>
          <p:cNvPr id="24" name="text-542"/>
          <p:cNvSpPr txBox="1"/>
          <p:nvPr/>
        </p:nvSpPr>
        <p:spPr>
          <a:xfrm>
            <a:off x="6867144" y="2880360"/>
            <a:ext cx="1234440" cy="1234440"/>
          </a:xfrm>
          <a:prstGeom prst="rect">
            <a:avLst/>
          </a:prstGeom>
          <a:noFill/>
          <a:ln/>
        </p:spPr>
        <p:txBody>
          <a:bodyPr wrap="square" lIns="0" tIns="0" rIns="0" bIns="0" rtlCol="0" anchor="ctr"/>
          <a:lstStyle/>
          <a:p>
            <a:pPr algn="ctr" indent="0" marL="0">
              <a:buNone/>
            </a:pPr>
            <a:r>
              <a:rPr lang="en-US" sz="4400" b="1" dirty="0">
                <a:solidFill>
                  <a:schemeClr val="tx1"/>
                </a:solidFill>
              </a:rPr>
              <a:t>U</a:t>
            </a:r>
            <a:endParaRPr lang="en-US" sz="4400" dirty="0"/>
          </a:p>
        </p:txBody>
      </p:sp>
      <p:sp>
        <p:nvSpPr>
          <p:cNvPr id="25" name="text-543"/>
          <p:cNvSpPr txBox="1"/>
          <p:nvPr/>
        </p:nvSpPr>
        <p:spPr>
          <a:xfrm>
            <a:off x="6181344" y="4297680"/>
            <a:ext cx="2606040" cy="502920"/>
          </a:xfrm>
          <a:prstGeom prst="rect">
            <a:avLst/>
          </a:prstGeom>
          <a:noFill/>
          <a:ln/>
        </p:spPr>
        <p:txBody>
          <a:bodyPr wrap="square" lIns="0" tIns="0" rIns="0" bIns="0" rtlCol="0" anchor="ctr"/>
          <a:lstStyle/>
          <a:p>
            <a:pPr algn="ctr" indent="0" marL="0">
              <a:buNone/>
            </a:pPr>
            <a:r>
              <a:rPr lang="en-US" sz="2200" b="1" dirty="0">
                <a:solidFill>
                  <a:schemeClr val="tx1"/>
                </a:solidFill>
                <a:latin typeface="Roboto Mono" pitchFamily="34" charset="0"/>
                <a:ea typeface="Roboto Mono" pitchFamily="34" charset="-122"/>
                <a:cs typeface="Roboto Mono" pitchFamily="34" charset="-120"/>
              </a:rPr>
              <a:t>UPDATE</a:t>
            </a:r>
            <a:endParaRPr lang="en-US" sz="2200" dirty="0"/>
          </a:p>
        </p:txBody>
      </p:sp>
      <p:sp>
        <p:nvSpPr>
          <p:cNvPr id="26" name="box-544"/>
          <p:cNvSpPr/>
          <p:nvPr/>
        </p:nvSpPr>
        <p:spPr>
          <a:xfrm>
            <a:off x="6501384" y="5029200"/>
            <a:ext cx="1965960" cy="548640"/>
          </a:xfrm>
          <a:prstGeom prst="roundRect">
            <a:avLst>
              <a:gd name="adj" fmla="val 20000"/>
            </a:avLst>
          </a:prstGeom>
          <a:solidFill>
            <a:schemeClr val="accent1"/>
          </a:solidFill>
          <a:ln/>
        </p:spPr>
      </p:sp>
      <p:sp>
        <p:nvSpPr>
          <p:cNvPr id="27" name="text-545"/>
          <p:cNvSpPr txBox="1"/>
          <p:nvPr/>
        </p:nvSpPr>
        <p:spPr>
          <a:xfrm>
            <a:off x="6574536" y="5029200"/>
            <a:ext cx="1819656" cy="548640"/>
          </a:xfrm>
          <a:prstGeom prst="rect">
            <a:avLst/>
          </a:prstGeom>
          <a:noFill/>
          <a:ln/>
        </p:spPr>
        <p:txBody>
          <a:bodyPr wrap="square" lIns="0" tIns="0" rIns="0" bIns="0" rtlCol="0" anchor="ctr"/>
          <a:lstStyle/>
          <a:p>
            <a:pPr algn="ctr" indent="0" marL="0">
              <a:buNone/>
            </a:pPr>
            <a:r>
              <a:rPr lang="en-US" sz="1500" b="1" dirty="0">
                <a:solidFill>
                  <a:schemeClr val="tx1"/>
                </a:solidFill>
              </a:rPr>
              <a:t>always WHERE</a:t>
            </a:r>
            <a:endParaRPr lang="en-US" sz="1500" dirty="0"/>
          </a:p>
        </p:txBody>
      </p:sp>
      <p:sp>
        <p:nvSpPr>
          <p:cNvPr id="28" name="box-546"/>
          <p:cNvSpPr/>
          <p:nvPr/>
        </p:nvSpPr>
        <p:spPr>
          <a:xfrm>
            <a:off x="8997696" y="2331720"/>
            <a:ext cx="2606040" cy="3657600"/>
          </a:xfrm>
          <a:prstGeom prst="roundRect">
            <a:avLst>
              <a:gd name="adj" fmla="val 2807"/>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29" name="box-547"/>
          <p:cNvSpPr/>
          <p:nvPr/>
        </p:nvSpPr>
        <p:spPr>
          <a:xfrm>
            <a:off x="9912096" y="2514600"/>
            <a:ext cx="777240" cy="146304"/>
          </a:xfrm>
          <a:prstGeom prst="roundRect">
            <a:avLst>
              <a:gd name="adj" fmla="val 312500"/>
            </a:avLst>
          </a:prstGeom>
          <a:solidFill>
            <a:schemeClr val="accent5"/>
          </a:solidFill>
          <a:ln/>
        </p:spPr>
      </p:sp>
      <p:sp>
        <p:nvSpPr>
          <p:cNvPr id="30" name="dot-548"/>
          <p:cNvSpPr/>
          <p:nvPr/>
        </p:nvSpPr>
        <p:spPr>
          <a:xfrm>
            <a:off x="9683496" y="2880360"/>
            <a:ext cx="1234440" cy="1234440"/>
          </a:xfrm>
          <a:prstGeom prst="ellipse">
            <a:avLst/>
          </a:prstGeom>
          <a:solidFill>
            <a:schemeClr val="accent2"/>
          </a:solidFill>
          <a:ln/>
        </p:spPr>
      </p:sp>
      <p:sp>
        <p:nvSpPr>
          <p:cNvPr id="31" name="text-549"/>
          <p:cNvSpPr txBox="1"/>
          <p:nvPr/>
        </p:nvSpPr>
        <p:spPr>
          <a:xfrm>
            <a:off x="9683496" y="2880360"/>
            <a:ext cx="1234440" cy="1234440"/>
          </a:xfrm>
          <a:prstGeom prst="rect">
            <a:avLst/>
          </a:prstGeom>
          <a:noFill/>
          <a:ln/>
        </p:spPr>
        <p:txBody>
          <a:bodyPr wrap="square" lIns="0" tIns="0" rIns="0" bIns="0" rtlCol="0" anchor="ctr"/>
          <a:lstStyle/>
          <a:p>
            <a:pPr algn="ctr" indent="0" marL="0">
              <a:buNone/>
            </a:pPr>
            <a:r>
              <a:rPr lang="en-US" sz="4400" b="1" dirty="0">
                <a:solidFill>
                  <a:schemeClr val="tx1"/>
                </a:solidFill>
              </a:rPr>
              <a:t>D</a:t>
            </a:r>
            <a:endParaRPr lang="en-US" sz="4400" dirty="0"/>
          </a:p>
        </p:txBody>
      </p:sp>
      <p:sp>
        <p:nvSpPr>
          <p:cNvPr id="32" name="text-550"/>
          <p:cNvSpPr txBox="1"/>
          <p:nvPr/>
        </p:nvSpPr>
        <p:spPr>
          <a:xfrm>
            <a:off x="8997696" y="4297680"/>
            <a:ext cx="2606040" cy="502920"/>
          </a:xfrm>
          <a:prstGeom prst="rect">
            <a:avLst/>
          </a:prstGeom>
          <a:noFill/>
          <a:ln/>
        </p:spPr>
        <p:txBody>
          <a:bodyPr wrap="square" lIns="0" tIns="0" rIns="0" bIns="0" rtlCol="0" anchor="ctr"/>
          <a:lstStyle/>
          <a:p>
            <a:pPr algn="ctr" indent="0" marL="0">
              <a:buNone/>
            </a:pPr>
            <a:r>
              <a:rPr lang="en-US" sz="2200" b="1" dirty="0">
                <a:solidFill>
                  <a:schemeClr val="tx1"/>
                </a:solidFill>
                <a:latin typeface="Roboto Mono" pitchFamily="34" charset="0"/>
                <a:ea typeface="Roboto Mono" pitchFamily="34" charset="-122"/>
                <a:cs typeface="Roboto Mono" pitchFamily="34" charset="-120"/>
              </a:rPr>
              <a:t>DELETE</a:t>
            </a:r>
            <a:endParaRPr lang="en-US" sz="2200" dirty="0"/>
          </a:p>
        </p:txBody>
      </p:sp>
      <p:sp>
        <p:nvSpPr>
          <p:cNvPr id="33" name="box-551"/>
          <p:cNvSpPr/>
          <p:nvPr/>
        </p:nvSpPr>
        <p:spPr>
          <a:xfrm>
            <a:off x="9317736" y="5029200"/>
            <a:ext cx="1965960" cy="548640"/>
          </a:xfrm>
          <a:prstGeom prst="roundRect">
            <a:avLst>
              <a:gd name="adj" fmla="val 20000"/>
            </a:avLst>
          </a:prstGeom>
          <a:solidFill>
            <a:schemeClr val="accent1"/>
          </a:solidFill>
          <a:ln/>
        </p:spPr>
      </p:sp>
      <p:sp>
        <p:nvSpPr>
          <p:cNvPr id="34" name="text-552"/>
          <p:cNvSpPr txBox="1"/>
          <p:nvPr/>
        </p:nvSpPr>
        <p:spPr>
          <a:xfrm>
            <a:off x="9390888" y="5029200"/>
            <a:ext cx="1819656" cy="548640"/>
          </a:xfrm>
          <a:prstGeom prst="rect">
            <a:avLst/>
          </a:prstGeom>
          <a:noFill/>
          <a:ln/>
        </p:spPr>
        <p:txBody>
          <a:bodyPr wrap="square" lIns="0" tIns="0" rIns="0" bIns="0" rtlCol="0" anchor="ctr"/>
          <a:lstStyle/>
          <a:p>
            <a:pPr algn="ctr" indent="0" marL="0">
              <a:buNone/>
            </a:pPr>
            <a:r>
              <a:rPr lang="en-US" sz="1500" b="1" dirty="0">
                <a:solidFill>
                  <a:schemeClr val="tx1"/>
                </a:solidFill>
              </a:rPr>
              <a:t>always WHERE</a:t>
            </a:r>
            <a:endParaRPr lang="en-US" sz="1500" dirty="0"/>
          </a:p>
        </p:txBody>
      </p:sp>
      <p:pic>
        <p:nvPicPr>
          <p:cNvPr id="35" name="Image 0" descr="Search icon">    </p:cNvPr>
          <p:cNvPicPr>
            <a:picLocks noChangeAspect="1"/>
          </p:cNvPicPr>
          <p:nvPr/>
        </p:nvPicPr>
        <p:blipFill>
          <a:blip r:embed="rId1"/>
          <a:stretch>
            <a:fillRect/>
          </a:stretch>
        </p:blipFill>
        <p:spPr>
          <a:xfrm>
            <a:off x="640812" y="476220"/>
            <a:ext cx="199705" cy="199705"/>
          </a:xfrm>
          <a:prstGeom prst="rect">
            <a:avLst/>
          </a:prstGeom>
        </p:spPr>
      </p:pic>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dot-553"/>
          <p:cNvSpPr/>
          <p:nvPr/>
        </p:nvSpPr>
        <p:spPr>
          <a:xfrm>
            <a:off x="548640" y="384048"/>
            <a:ext cx="384048" cy="384048"/>
          </a:xfrm>
          <a:prstGeom prst="ellipse">
            <a:avLst/>
          </a:prstGeom>
          <a:solidFill>
            <a:schemeClr val="accent2"/>
          </a:solidFill>
          <a:ln/>
        </p:spPr>
      </p:sp>
      <p:sp>
        <p:nvSpPr>
          <p:cNvPr id="3" name="Text 1"/>
          <p:cNvSpPr/>
          <p:nvPr>
            <p:ph idx="101" type="body" hasCustomPrompt="1"/>
          </p:nvPr>
        </p:nvSpPr>
        <p:spPr>
          <a:xfrm>
            <a:off x="1051560" y="384048"/>
            <a:ext cx="9601200" cy="384048"/>
          </a:xfrm>
          <a:prstGeom prst="rect">
            <a:avLst/>
          </a:prstGeom>
          <a:noFill/>
          <a:ln/>
        </p:spPr>
        <p:txBody>
          <a:bodyPr wrap="square" lIns="0" tIns="0" rIns="0" bIns="0" rtlCol="0" anchor="ctr"/>
          <a:lstStyle/>
          <a:p>
            <a:pPr indent="0" marL="0">
              <a:buNone/>
            </a:pPr>
            <a:r>
              <a:rPr lang="en-US" sz="1300" b="1" spc="300" kern="0" dirty="0">
                <a:solidFill>
                  <a:schemeClr val="tx2"/>
                </a:solidFill>
              </a:rPr>
              <a:t>L2  ·  QUERY  ·  3.6 CRUD</a:t>
            </a:r>
            <a:endParaRPr lang="en-US" sz="1300" dirty="0"/>
          </a:p>
        </p:txBody>
      </p:sp>
      <p:sp>
        <p:nvSpPr>
          <p:cNvPr id="4" name="Text 1"/>
          <p:cNvSpPr/>
          <p:nvPr>
            <p:ph idx="102" type="title" hasCustomPrompt="1"/>
          </p:nvPr>
        </p:nvSpPr>
        <p:spPr>
          <a:xfrm>
            <a:off x="548640" y="841248"/>
            <a:ext cx="11064240" cy="777240"/>
          </a:xfrm>
          <a:prstGeom prst="rect">
            <a:avLst/>
          </a:prstGeom>
          <a:noFill/>
          <a:ln/>
        </p:spPr>
        <p:txBody>
          <a:bodyPr wrap="square" lIns="0" tIns="0" rIns="0" bIns="0" rtlCol="0" anchor="ctr"/>
          <a:lstStyle/>
          <a:p>
            <a:pPr algn="l" indent="0" marL="0">
              <a:buNone/>
            </a:pPr>
            <a:r>
              <a:rPr lang="en-US" sz="3800" b="1" dirty="0">
                <a:solidFill>
                  <a:schemeClr val="tx1"/>
                </a:solidFill>
              </a:rPr>
              <a:t>Parameters stop SQL injection</a:t>
            </a:r>
            <a:endParaRPr lang="en-US" sz="3800" dirty="0"/>
          </a:p>
        </p:txBody>
      </p:sp>
      <p:sp>
        <p:nvSpPr>
          <p:cNvPr id="5" name="Text 1"/>
          <p:cNvSpPr/>
          <p:nvPr>
            <p:ph idx="103" type="body" hasCustomPrompt="1"/>
          </p:nvPr>
        </p:nvSpPr>
        <p:spPr>
          <a:xfrm>
            <a:off x="548640" y="1627632"/>
            <a:ext cx="11064240" cy="457200"/>
          </a:xfrm>
          <a:prstGeom prst="rect">
            <a:avLst/>
          </a:prstGeom>
          <a:noFill/>
          <a:ln/>
        </p:spPr>
        <p:txBody>
          <a:bodyPr wrap="square" lIns="0" tIns="0" rIns="0" bIns="0" rtlCol="0" anchor="t"/>
          <a:lstStyle/>
          <a:p>
            <a:pPr indent="0" marL="0">
              <a:buNone/>
            </a:pPr>
            <a:r>
              <a:rPr lang="en-US" sz="2000" dirty="0">
                <a:solidFill>
                  <a:schemeClr val="tx2"/>
                </a:solidFill>
              </a:rPr>
              <a:t>Send values separately: $1, $2…</a:t>
            </a:r>
            <a:endParaRPr lang="en-US" sz="2000" dirty="0"/>
          </a:p>
        </p:txBody>
      </p:sp>
      <p:sp>
        <p:nvSpPr>
          <p:cNvPr id="7" name="box-554"/>
          <p:cNvSpPr/>
          <p:nvPr/>
        </p:nvSpPr>
        <p:spPr>
          <a:xfrm>
            <a:off x="548640" y="2286000"/>
            <a:ext cx="11064240" cy="2926080"/>
          </a:xfrm>
          <a:prstGeom prst="roundRect">
            <a:avLst>
              <a:gd name="adj" fmla="val 3125"/>
            </a:avLst>
          </a:prstGeom>
          <a:solidFill>
            <a:schemeClr val="tx1"/>
          </a:solidFill>
          <a:ln/>
        </p:spPr>
      </p:sp>
      <p:sp>
        <p:nvSpPr>
          <p:cNvPr id="8" name="code-555"/>
          <p:cNvSpPr txBox="1"/>
          <p:nvPr/>
        </p:nvSpPr>
        <p:spPr>
          <a:xfrm>
            <a:off x="822960" y="2468880"/>
            <a:ext cx="10515600" cy="2560320"/>
          </a:xfrm>
          <a:prstGeom prst="rect">
            <a:avLst/>
          </a:prstGeom>
          <a:noFill/>
          <a:ln/>
        </p:spPr>
        <p:txBody>
          <a:bodyPr wrap="square" lIns="0" tIns="0" rIns="0" bIns="0" rtlCol="0" anchor="ctr"/>
          <a:lstStyle/>
          <a:p>
            <a:pPr indent="0" marL="0">
              <a:lnSpc>
                <a:spcPct val="125000"/>
              </a:lnSpc>
              <a:buNone/>
            </a:pPr>
            <a:r>
              <a:rPr lang="en-US" sz="1700" dirty="0">
                <a:solidFill>
                  <a:srgbClr val="9AA0A6"/>
                </a:solidFill>
                <a:latin typeface="Roboto Mono" pitchFamily="34" charset="0"/>
                <a:ea typeface="Roboto Mono" pitchFamily="34" charset="-122"/>
                <a:cs typeface="Roboto Mono" pitchFamily="34" charset="-120"/>
              </a:rPr>
              <a:t>// UNSAFE: user input glued into SQL</a:t>
            </a:r>
            <a:endParaRPr lang="en-US" sz="1700" dirty="0"/>
          </a:p>
          <a:p>
            <a:pPr indent="0" marL="0">
              <a:lnSpc>
                <a:spcPct val="125000"/>
              </a:lnSpc>
              <a:buNone/>
            </a:pPr>
            <a:r>
              <a:rPr lang="en-US" sz="1700" dirty="0">
                <a:solidFill>
                  <a:srgbClr val="E4E6E3"/>
                </a:solidFill>
                <a:latin typeface="Roboto Mono" pitchFamily="34" charset="0"/>
                <a:ea typeface="Roboto Mono" pitchFamily="34" charset="-122"/>
                <a:cs typeface="Roboto Mono" pitchFamily="34" charset="-120"/>
              </a:rPr>
              <a:t>pool.query(`SELECT * FROM users WHERE email = '</a:t>
            </a:r>
            <a:pPr indent="0" marL="0">
              <a:lnSpc>
                <a:spcPct val="125000"/>
              </a:lnSpc>
              <a:buNone/>
            </a:pPr>
            <a:r>
              <a:rPr lang="en-US" sz="1700" dirty="0">
                <a:solidFill>
                  <a:srgbClr val="FE7801"/>
                </a:solidFill>
                <a:latin typeface="Roboto Mono" pitchFamily="34" charset="0"/>
                <a:ea typeface="Roboto Mono" pitchFamily="34" charset="-122"/>
                <a:cs typeface="Roboto Mono" pitchFamily="34" charset="-120"/>
              </a:rPr>
              <a:t>${email}</a:t>
            </a:r>
            <a:pPr indent="0" marL="0">
              <a:lnSpc>
                <a:spcPct val="125000"/>
              </a:lnSpc>
              <a:buNone/>
            </a:pPr>
            <a:r>
              <a:rPr lang="en-US" sz="1700" dirty="0">
                <a:solidFill>
                  <a:srgbClr val="E4E6E3"/>
                </a:solidFill>
                <a:latin typeface="Roboto Mono" pitchFamily="34" charset="0"/>
                <a:ea typeface="Roboto Mono" pitchFamily="34" charset="-122"/>
                <a:cs typeface="Roboto Mono" pitchFamily="34" charset="-120"/>
              </a:rPr>
              <a:t>'`)</a:t>
            </a:r>
            <a:endParaRPr lang="en-US" sz="1700" dirty="0"/>
          </a:p>
          <a:p>
            <a:pPr indent="0" marL="0">
              <a:lnSpc>
                <a:spcPct val="125000"/>
              </a:lnSpc>
              <a:buNone/>
            </a:pPr>
            <a:r>
              <a:rPr lang="en-US" sz="1700" dirty="0">
                <a:solidFill>
                  <a:srgbClr val="E4E6E3"/>
                </a:solidFill>
                <a:latin typeface="Roboto Mono" pitchFamily="34" charset="0"/>
                <a:ea typeface="Roboto Mono" pitchFamily="34" charset="-122"/>
                <a:cs typeface="Roboto Mono" pitchFamily="34" charset="-120"/>
              </a:rPr>
              <a:t> </a:t>
            </a:r>
            <a:endParaRPr lang="en-US" sz="1700" dirty="0"/>
          </a:p>
          <a:p>
            <a:pPr indent="0" marL="0">
              <a:lnSpc>
                <a:spcPct val="125000"/>
              </a:lnSpc>
              <a:buNone/>
            </a:pPr>
            <a:r>
              <a:rPr lang="en-US" sz="1700" dirty="0">
                <a:solidFill>
                  <a:srgbClr val="9AA0A6"/>
                </a:solidFill>
                <a:latin typeface="Roboto Mono" pitchFamily="34" charset="0"/>
                <a:ea typeface="Roboto Mono" pitchFamily="34" charset="-122"/>
                <a:cs typeface="Roboto Mono" pitchFamily="34" charset="-120"/>
              </a:rPr>
              <a:t>// SAFE: value sent separately</a:t>
            </a:r>
            <a:endParaRPr lang="en-US" sz="1700" dirty="0"/>
          </a:p>
          <a:p>
            <a:pPr indent="0" marL="0">
              <a:lnSpc>
                <a:spcPct val="125000"/>
              </a:lnSpc>
              <a:buNone/>
            </a:pPr>
            <a:r>
              <a:rPr lang="en-US" sz="1700" dirty="0">
                <a:solidFill>
                  <a:srgbClr val="E4E6E3"/>
                </a:solidFill>
                <a:latin typeface="Roboto Mono" pitchFamily="34" charset="0"/>
                <a:ea typeface="Roboto Mono" pitchFamily="34" charset="-122"/>
                <a:cs typeface="Roboto Mono" pitchFamily="34" charset="-120"/>
              </a:rPr>
              <a:t>pool.query('SELECT * FROM users WHERE email = </a:t>
            </a:r>
            <a:pPr indent="0" marL="0">
              <a:lnSpc>
                <a:spcPct val="125000"/>
              </a:lnSpc>
              <a:buNone/>
            </a:pPr>
            <a:r>
              <a:rPr lang="en-US" sz="1700" dirty="0">
                <a:solidFill>
                  <a:srgbClr val="9EC421"/>
                </a:solidFill>
                <a:latin typeface="Roboto Mono" pitchFamily="34" charset="0"/>
                <a:ea typeface="Roboto Mono" pitchFamily="34" charset="-122"/>
                <a:cs typeface="Roboto Mono" pitchFamily="34" charset="-120"/>
              </a:rPr>
              <a:t>$1</a:t>
            </a:r>
            <a:pPr indent="0" marL="0">
              <a:lnSpc>
                <a:spcPct val="125000"/>
              </a:lnSpc>
              <a:buNone/>
            </a:pPr>
            <a:r>
              <a:rPr lang="en-US" sz="1700" dirty="0">
                <a:solidFill>
                  <a:srgbClr val="E4E6E3"/>
                </a:solidFill>
                <a:latin typeface="Roboto Mono" pitchFamily="34" charset="0"/>
                <a:ea typeface="Roboto Mono" pitchFamily="34" charset="-122"/>
                <a:cs typeface="Roboto Mono" pitchFamily="34" charset="-120"/>
              </a:rPr>
              <a:t>', [email])</a:t>
            </a:r>
            <a:endParaRPr lang="en-US" sz="1700" dirty="0"/>
          </a:p>
        </p:txBody>
      </p:sp>
      <p:sp>
        <p:nvSpPr>
          <p:cNvPr id="9" name="dot-556"/>
          <p:cNvSpPr/>
          <p:nvPr/>
        </p:nvSpPr>
        <p:spPr>
          <a:xfrm>
            <a:off x="10972800" y="2514600"/>
            <a:ext cx="457200" cy="457200"/>
          </a:xfrm>
          <a:prstGeom prst="ellipse">
            <a:avLst/>
          </a:prstGeom>
          <a:solidFill>
            <a:schemeClr val="accent1"/>
          </a:solidFill>
          <a:ln/>
        </p:spPr>
      </p:sp>
      <p:sp>
        <p:nvSpPr>
          <p:cNvPr id="10" name="dot-557"/>
          <p:cNvSpPr/>
          <p:nvPr/>
        </p:nvSpPr>
        <p:spPr>
          <a:xfrm>
            <a:off x="10972800" y="3886200"/>
            <a:ext cx="457200" cy="457200"/>
          </a:xfrm>
          <a:prstGeom prst="ellipse">
            <a:avLst/>
          </a:prstGeom>
          <a:solidFill>
            <a:schemeClr val="accent2"/>
          </a:solidFill>
          <a:ln/>
        </p:spPr>
      </p:sp>
      <p:sp>
        <p:nvSpPr>
          <p:cNvPr id="11" name="box-558"/>
          <p:cNvSpPr/>
          <p:nvPr/>
        </p:nvSpPr>
        <p:spPr>
          <a:xfrm>
            <a:off x="6949440" y="5440680"/>
            <a:ext cx="4663440" cy="640080"/>
          </a:xfrm>
          <a:prstGeom prst="roundRect">
            <a:avLst>
              <a:gd name="adj" fmla="val 17143"/>
            </a:avLst>
          </a:prstGeom>
          <a:solidFill>
            <a:schemeClr val="accent1"/>
          </a:solidFill>
          <a:ln/>
        </p:spPr>
      </p:sp>
      <p:sp>
        <p:nvSpPr>
          <p:cNvPr id="12" name="text-559"/>
          <p:cNvSpPr txBox="1"/>
          <p:nvPr/>
        </p:nvSpPr>
        <p:spPr>
          <a:xfrm>
            <a:off x="7680960" y="5440680"/>
            <a:ext cx="3840480" cy="640080"/>
          </a:xfrm>
          <a:prstGeom prst="rect">
            <a:avLst/>
          </a:prstGeom>
          <a:noFill/>
          <a:ln/>
        </p:spPr>
        <p:txBody>
          <a:bodyPr wrap="square" lIns="0" tIns="0" rIns="0" bIns="0" rtlCol="0" anchor="ctr"/>
          <a:lstStyle/>
          <a:p>
            <a:pPr algn="l" indent="0" marL="0">
              <a:buNone/>
            </a:pPr>
            <a:r>
              <a:rPr lang="en-US" sz="1500" b="1" dirty="0">
                <a:solidFill>
                  <a:schemeClr val="tx1"/>
                </a:solidFill>
                <a:latin typeface="Roboto Mono" pitchFamily="34" charset="0"/>
                <a:ea typeface="Roboto Mono" pitchFamily="34" charset="-122"/>
                <a:cs typeface="Roboto Mono" pitchFamily="34" charset="-120"/>
              </a:rPr>
              <a:t>attacker sends:  ' OR '1'='1</a:t>
            </a:r>
            <a:endParaRPr lang="en-US" sz="1500" dirty="0"/>
          </a:p>
        </p:txBody>
      </p:sp>
      <p:sp>
        <p:nvSpPr>
          <p:cNvPr id="13" name="dot-560"/>
          <p:cNvSpPr/>
          <p:nvPr/>
        </p:nvSpPr>
        <p:spPr>
          <a:xfrm>
            <a:off x="548640" y="5440680"/>
            <a:ext cx="640080" cy="640080"/>
          </a:xfrm>
          <a:prstGeom prst="ellipse">
            <a:avLst/>
          </a:prstGeom>
          <a:solidFill>
            <a:schemeClr val="accent2"/>
          </a:solidFill>
          <a:ln/>
        </p:spPr>
      </p:sp>
      <p:sp>
        <p:nvSpPr>
          <p:cNvPr id="14" name="text-561"/>
          <p:cNvSpPr txBox="1"/>
          <p:nvPr/>
        </p:nvSpPr>
        <p:spPr>
          <a:xfrm>
            <a:off x="1371600" y="5440680"/>
            <a:ext cx="5303520" cy="640080"/>
          </a:xfrm>
          <a:prstGeom prst="rect">
            <a:avLst/>
          </a:prstGeom>
          <a:noFill/>
          <a:ln/>
        </p:spPr>
        <p:txBody>
          <a:bodyPr wrap="square" lIns="0" tIns="0" rIns="0" bIns="0" rtlCol="0" anchor="ctr"/>
          <a:lstStyle/>
          <a:p>
            <a:pPr algn="l" indent="0" marL="0">
              <a:buNone/>
            </a:pPr>
            <a:r>
              <a:rPr lang="en-US" sz="1600" dirty="0">
                <a:solidFill>
                  <a:schemeClr val="tx2"/>
                </a:solidFill>
              </a:rPr>
              <a:t>values only, never table or column names</a:t>
            </a:r>
            <a:endParaRPr lang="en-US" sz="1600" dirty="0"/>
          </a:p>
        </p:txBody>
      </p:sp>
      <p:pic>
        <p:nvPicPr>
          <p:cNvPr id="15" name="Image 0" descr="Search icon">    </p:cNvPr>
          <p:cNvPicPr>
            <a:picLocks noChangeAspect="1"/>
          </p:cNvPicPr>
          <p:nvPr/>
        </p:nvPicPr>
        <p:blipFill>
          <a:blip r:embed="rId1"/>
          <a:stretch>
            <a:fillRect/>
          </a:stretch>
        </p:blipFill>
        <p:spPr>
          <a:xfrm>
            <a:off x="640812" y="476220"/>
            <a:ext cx="199705" cy="199705"/>
          </a:xfrm>
          <a:prstGeom prst="rect">
            <a:avLst/>
          </a:prstGeom>
        </p:spPr>
      </p:pic>
      <p:pic>
        <p:nvPicPr>
          <p:cNvPr id="16" name="Image 1" descr="Times icon">    </p:cNvPr>
          <p:cNvPicPr>
            <a:picLocks noChangeAspect="1"/>
          </p:cNvPicPr>
          <p:nvPr/>
        </p:nvPicPr>
        <p:blipFill>
          <a:blip r:embed="rId2"/>
          <a:stretch>
            <a:fillRect/>
          </a:stretch>
        </p:blipFill>
        <p:spPr>
          <a:xfrm>
            <a:off x="11082528" y="2624328"/>
            <a:ext cx="237744" cy="237744"/>
          </a:xfrm>
          <a:prstGeom prst="rect">
            <a:avLst/>
          </a:prstGeom>
        </p:spPr>
      </p:pic>
      <p:pic>
        <p:nvPicPr>
          <p:cNvPr id="17" name="Image 2" descr="Check icon">    </p:cNvPr>
          <p:cNvPicPr>
            <a:picLocks noChangeAspect="1"/>
          </p:cNvPicPr>
          <p:nvPr/>
        </p:nvPicPr>
        <p:blipFill>
          <a:blip r:embed="rId3"/>
          <a:stretch>
            <a:fillRect/>
          </a:stretch>
        </p:blipFill>
        <p:spPr>
          <a:xfrm>
            <a:off x="11082528" y="3995928"/>
            <a:ext cx="237744" cy="237744"/>
          </a:xfrm>
          <a:prstGeom prst="rect">
            <a:avLst/>
          </a:prstGeom>
        </p:spPr>
      </p:pic>
      <p:pic>
        <p:nvPicPr>
          <p:cNvPr id="18" name="Image 3" descr="UserSecret icon">    </p:cNvPr>
          <p:cNvPicPr>
            <a:picLocks noChangeAspect="1"/>
          </p:cNvPicPr>
          <p:nvPr/>
        </p:nvPicPr>
        <p:blipFill>
          <a:blip r:embed="rId4"/>
          <a:stretch>
            <a:fillRect/>
          </a:stretch>
        </p:blipFill>
        <p:spPr>
          <a:xfrm>
            <a:off x="7132320" y="5559552"/>
            <a:ext cx="411480" cy="411480"/>
          </a:xfrm>
          <a:prstGeom prst="rect">
            <a:avLst/>
          </a:prstGeom>
        </p:spPr>
      </p:pic>
      <p:pic>
        <p:nvPicPr>
          <p:cNvPr id="19" name="Image 4" descr="ShieldAlt icon">    </p:cNvPr>
          <p:cNvPicPr>
            <a:picLocks noChangeAspect="1"/>
          </p:cNvPicPr>
          <p:nvPr/>
        </p:nvPicPr>
        <p:blipFill>
          <a:blip r:embed="rId5"/>
          <a:stretch>
            <a:fillRect/>
          </a:stretch>
        </p:blipFill>
        <p:spPr>
          <a:xfrm>
            <a:off x="702259" y="5594299"/>
            <a:ext cx="332842" cy="332842"/>
          </a:xfrm>
          <a:prstGeom prst="rect">
            <a:avLst/>
          </a:prstGeom>
        </p:spPr>
      </p:pic>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dot-562"/>
          <p:cNvSpPr/>
          <p:nvPr/>
        </p:nvSpPr>
        <p:spPr>
          <a:xfrm>
            <a:off x="548640" y="384048"/>
            <a:ext cx="384048" cy="384048"/>
          </a:xfrm>
          <a:prstGeom prst="ellipse">
            <a:avLst/>
          </a:prstGeom>
          <a:solidFill>
            <a:schemeClr val="accent2"/>
          </a:solidFill>
          <a:ln/>
        </p:spPr>
      </p:sp>
      <p:sp>
        <p:nvSpPr>
          <p:cNvPr id="3" name="Text 1"/>
          <p:cNvSpPr/>
          <p:nvPr>
            <p:ph idx="101" type="body" hasCustomPrompt="1"/>
          </p:nvPr>
        </p:nvSpPr>
        <p:spPr>
          <a:xfrm>
            <a:off x="1051560" y="384048"/>
            <a:ext cx="9601200" cy="384048"/>
          </a:xfrm>
          <a:prstGeom prst="rect">
            <a:avLst/>
          </a:prstGeom>
          <a:noFill/>
          <a:ln/>
        </p:spPr>
        <p:txBody>
          <a:bodyPr wrap="square" lIns="0" tIns="0" rIns="0" bIns="0" rtlCol="0" anchor="ctr"/>
          <a:lstStyle/>
          <a:p>
            <a:pPr indent="0" marL="0">
              <a:buNone/>
            </a:pPr>
            <a:r>
              <a:rPr lang="en-US" sz="1300" b="1" spc="300" kern="0" dirty="0">
                <a:solidFill>
                  <a:schemeClr val="tx2"/>
                </a:solidFill>
              </a:rPr>
              <a:t>L2  ·  QUERY  ·  3.6 CRUD</a:t>
            </a:r>
            <a:endParaRPr lang="en-US" sz="1300" dirty="0"/>
          </a:p>
        </p:txBody>
      </p:sp>
      <p:sp>
        <p:nvSpPr>
          <p:cNvPr id="4" name="Text 1"/>
          <p:cNvSpPr/>
          <p:nvPr>
            <p:ph idx="102" type="title" hasCustomPrompt="1"/>
          </p:nvPr>
        </p:nvSpPr>
        <p:spPr>
          <a:xfrm>
            <a:off x="548640" y="841248"/>
            <a:ext cx="11064240" cy="777240"/>
          </a:xfrm>
          <a:prstGeom prst="rect">
            <a:avLst/>
          </a:prstGeom>
          <a:noFill/>
          <a:ln/>
        </p:spPr>
        <p:txBody>
          <a:bodyPr wrap="square" lIns="0" tIns="0" rIns="0" bIns="0" rtlCol="0" anchor="ctr"/>
          <a:lstStyle/>
          <a:p>
            <a:pPr algn="l" indent="0" marL="0">
              <a:buNone/>
            </a:pPr>
            <a:r>
              <a:rPr lang="en-US" sz="3800" b="1" dirty="0">
                <a:solidFill>
                  <a:schemeClr val="tx1"/>
                </a:solidFill>
              </a:rPr>
              <a:t>Written order ≠ run order</a:t>
            </a:r>
            <a:endParaRPr lang="en-US" sz="3800" dirty="0"/>
          </a:p>
        </p:txBody>
      </p:sp>
      <p:sp>
        <p:nvSpPr>
          <p:cNvPr id="5" name="Text 1"/>
          <p:cNvSpPr/>
          <p:nvPr>
            <p:ph idx="103" type="body" hasCustomPrompt="1"/>
          </p:nvPr>
        </p:nvSpPr>
        <p:spPr>
          <a:xfrm>
            <a:off x="548640" y="1627632"/>
            <a:ext cx="11064240" cy="457200"/>
          </a:xfrm>
          <a:prstGeom prst="rect">
            <a:avLst/>
          </a:prstGeom>
          <a:noFill/>
          <a:ln/>
        </p:spPr>
        <p:txBody>
          <a:bodyPr wrap="square" lIns="0" tIns="0" rIns="0" bIns="0" rtlCol="0" anchor="t"/>
          <a:lstStyle/>
          <a:p>
            <a:pPr indent="0" marL="0">
              <a:buNone/>
            </a:pPr>
            <a:r>
              <a:rPr lang="en-US" sz="2000" dirty="0">
                <a:solidFill>
                  <a:schemeClr val="tx2"/>
                </a:solidFill>
              </a:rPr>
              <a:t>FROM → WHERE → GROUP BY → HAVING → SELECT → ORDER BY → LIMIT</a:t>
            </a:r>
            <a:endParaRPr lang="en-US" sz="2000" dirty="0"/>
          </a:p>
        </p:txBody>
      </p:sp>
      <p:sp>
        <p:nvSpPr>
          <p:cNvPr id="7" name="text-563"/>
          <p:cNvSpPr txBox="1"/>
          <p:nvPr/>
        </p:nvSpPr>
        <p:spPr>
          <a:xfrm>
            <a:off x="548640" y="2331720"/>
            <a:ext cx="1463040" cy="411480"/>
          </a:xfrm>
          <a:prstGeom prst="rect">
            <a:avLst/>
          </a:prstGeom>
          <a:noFill/>
          <a:ln/>
        </p:spPr>
        <p:txBody>
          <a:bodyPr wrap="square" lIns="0" tIns="0" rIns="0" bIns="0" rtlCol="0" anchor="ctr"/>
          <a:lstStyle/>
          <a:p>
            <a:pPr algn="l" indent="0" marL="0">
              <a:buNone/>
            </a:pPr>
            <a:r>
              <a:rPr lang="en-US" sz="1200" b="1" spc="300" kern="0" dirty="0">
                <a:solidFill>
                  <a:schemeClr val="accent4"/>
                </a:solidFill>
              </a:rPr>
              <a:t>WRITTEN</a:t>
            </a:r>
            <a:endParaRPr lang="en-US" sz="1200" dirty="0"/>
          </a:p>
        </p:txBody>
      </p:sp>
      <p:sp>
        <p:nvSpPr>
          <p:cNvPr id="8" name="box-564"/>
          <p:cNvSpPr/>
          <p:nvPr/>
        </p:nvSpPr>
        <p:spPr>
          <a:xfrm>
            <a:off x="2011680" y="2286000"/>
            <a:ext cx="9601200" cy="502920"/>
          </a:xfrm>
          <a:prstGeom prst="roundRect">
            <a:avLst>
              <a:gd name="adj" fmla="val 21818"/>
            </a:avLst>
          </a:prstGeom>
          <a:solidFill>
            <a:schemeClr val="accent5"/>
          </a:solidFill>
          <a:ln/>
        </p:spPr>
      </p:sp>
      <p:sp>
        <p:nvSpPr>
          <p:cNvPr id="9" name="text-565"/>
          <p:cNvSpPr txBox="1"/>
          <p:nvPr/>
        </p:nvSpPr>
        <p:spPr>
          <a:xfrm>
            <a:off x="2084832" y="2286000"/>
            <a:ext cx="9454896" cy="502920"/>
          </a:xfrm>
          <a:prstGeom prst="rect">
            <a:avLst/>
          </a:prstGeom>
          <a:noFill/>
          <a:ln/>
        </p:spPr>
        <p:txBody>
          <a:bodyPr wrap="square" lIns="0" tIns="0" rIns="0" bIns="0" rtlCol="0" anchor="ctr"/>
          <a:lstStyle/>
          <a:p>
            <a:pPr algn="ctr" indent="0" marL="0">
              <a:buNone/>
            </a:pPr>
            <a:r>
              <a:rPr lang="en-US" sz="1500" dirty="0">
                <a:solidFill>
                  <a:schemeClr val="tx1"/>
                </a:solidFill>
                <a:latin typeface="Roboto Mono" pitchFamily="34" charset="0"/>
                <a:ea typeface="Roboto Mono" pitchFamily="34" charset="-122"/>
                <a:cs typeface="Roboto Mono" pitchFamily="34" charset="-120"/>
              </a:rPr>
              <a:t>SELECT  …  FROM  …  WHERE  …  GROUP BY  …  HAVING  …  ORDER BY  …  LIMIT</a:t>
            </a:r>
            <a:endParaRPr lang="en-US" sz="1500" dirty="0"/>
          </a:p>
        </p:txBody>
      </p:sp>
      <p:sp>
        <p:nvSpPr>
          <p:cNvPr id="10" name="text-566"/>
          <p:cNvSpPr txBox="1"/>
          <p:nvPr/>
        </p:nvSpPr>
        <p:spPr>
          <a:xfrm>
            <a:off x="548640" y="3246120"/>
            <a:ext cx="1463040" cy="411480"/>
          </a:xfrm>
          <a:prstGeom prst="rect">
            <a:avLst/>
          </a:prstGeom>
          <a:noFill/>
          <a:ln/>
        </p:spPr>
        <p:txBody>
          <a:bodyPr wrap="square" lIns="0" tIns="0" rIns="0" bIns="0" rtlCol="0" anchor="ctr"/>
          <a:lstStyle/>
          <a:p>
            <a:pPr algn="l" indent="0" marL="0">
              <a:buNone/>
            </a:pPr>
            <a:r>
              <a:rPr lang="en-US" sz="1200" b="1" spc="300" kern="0" dirty="0">
                <a:solidFill>
                  <a:schemeClr val="accent4"/>
                </a:solidFill>
              </a:rPr>
              <a:t>RUN</a:t>
            </a:r>
            <a:endParaRPr lang="en-US" sz="1200" dirty="0"/>
          </a:p>
        </p:txBody>
      </p:sp>
      <p:sp>
        <p:nvSpPr>
          <p:cNvPr id="11" name="step-567"/>
          <p:cNvSpPr/>
          <p:nvPr/>
        </p:nvSpPr>
        <p:spPr>
          <a:xfrm>
            <a:off x="548640" y="3657600"/>
            <a:ext cx="1691640" cy="960120"/>
          </a:xfrm>
          <a:prstGeom prst="homePlate">
            <a:avLst/>
          </a:prstGeom>
          <a:solidFill>
            <a:schemeClr val="accent2">
              <a:alpha val="65000"/>
            </a:schemeClr>
          </a:solidFill>
          <a:ln w="25400">
            <a:solidFill>
              <a:schemeClr val="bg2"/>
            </a:solidFill>
            <a:prstDash val="solid"/>
          </a:ln>
        </p:spPr>
      </p:sp>
      <p:sp>
        <p:nvSpPr>
          <p:cNvPr id="12" name="text-568"/>
          <p:cNvSpPr txBox="1"/>
          <p:nvPr/>
        </p:nvSpPr>
        <p:spPr>
          <a:xfrm>
            <a:off x="822960" y="3246120"/>
            <a:ext cx="1097280" cy="365760"/>
          </a:xfrm>
          <a:prstGeom prst="rect">
            <a:avLst/>
          </a:prstGeom>
          <a:noFill/>
          <a:ln/>
        </p:spPr>
        <p:txBody>
          <a:bodyPr wrap="square" lIns="0" tIns="0" rIns="0" bIns="0" rtlCol="0" anchor="ctr"/>
          <a:lstStyle/>
          <a:p>
            <a:pPr algn="ctr" indent="0" marL="0">
              <a:buNone/>
            </a:pPr>
            <a:r>
              <a:rPr lang="en-US" sz="1400" b="1" dirty="0">
                <a:solidFill>
                  <a:schemeClr val="accent4"/>
                </a:solidFill>
              </a:rPr>
              <a:t>1</a:t>
            </a:r>
            <a:endParaRPr lang="en-US" sz="1400" dirty="0"/>
          </a:p>
        </p:txBody>
      </p:sp>
      <p:sp>
        <p:nvSpPr>
          <p:cNvPr id="13" name="text-569"/>
          <p:cNvSpPr txBox="1"/>
          <p:nvPr/>
        </p:nvSpPr>
        <p:spPr>
          <a:xfrm>
            <a:off x="822960" y="3657600"/>
            <a:ext cx="1143000" cy="960120"/>
          </a:xfrm>
          <a:prstGeom prst="rect">
            <a:avLst/>
          </a:prstGeom>
          <a:noFill/>
          <a:ln/>
        </p:spPr>
        <p:txBody>
          <a:bodyPr wrap="square" lIns="0" tIns="0" rIns="0" bIns="0" rtlCol="0" anchor="ctr"/>
          <a:lstStyle/>
          <a:p>
            <a:pPr algn="ctr" indent="0" marL="0">
              <a:buNone/>
            </a:pPr>
            <a:r>
              <a:rPr lang="en-US" sz="1400" b="1" dirty="0">
                <a:solidFill>
                  <a:schemeClr val="tx1"/>
                </a:solidFill>
                <a:latin typeface="Roboto Mono" pitchFamily="34" charset="0"/>
                <a:ea typeface="Roboto Mono" pitchFamily="34" charset="-122"/>
                <a:cs typeface="Roboto Mono" pitchFamily="34" charset="-120"/>
              </a:rPr>
              <a:t>FROM</a:t>
            </a:r>
            <a:endParaRPr lang="en-US" sz="1400" dirty="0"/>
          </a:p>
        </p:txBody>
      </p:sp>
      <p:sp>
        <p:nvSpPr>
          <p:cNvPr id="14" name="step-570"/>
          <p:cNvSpPr/>
          <p:nvPr/>
        </p:nvSpPr>
        <p:spPr>
          <a:xfrm>
            <a:off x="2130552" y="3657600"/>
            <a:ext cx="1691640" cy="960120"/>
          </a:xfrm>
          <a:prstGeom prst="chevron">
            <a:avLst/>
          </a:prstGeom>
          <a:solidFill>
            <a:schemeClr val="accent2">
              <a:alpha val="65000"/>
            </a:schemeClr>
          </a:solidFill>
          <a:ln w="25400">
            <a:solidFill>
              <a:schemeClr val="bg2"/>
            </a:solidFill>
            <a:prstDash val="solid"/>
          </a:ln>
        </p:spPr>
      </p:sp>
      <p:sp>
        <p:nvSpPr>
          <p:cNvPr id="15" name="text-571"/>
          <p:cNvSpPr txBox="1"/>
          <p:nvPr/>
        </p:nvSpPr>
        <p:spPr>
          <a:xfrm>
            <a:off x="2404872" y="3246120"/>
            <a:ext cx="1097280" cy="365760"/>
          </a:xfrm>
          <a:prstGeom prst="rect">
            <a:avLst/>
          </a:prstGeom>
          <a:noFill/>
          <a:ln/>
        </p:spPr>
        <p:txBody>
          <a:bodyPr wrap="square" lIns="0" tIns="0" rIns="0" bIns="0" rtlCol="0" anchor="ctr"/>
          <a:lstStyle/>
          <a:p>
            <a:pPr algn="ctr" indent="0" marL="0">
              <a:buNone/>
            </a:pPr>
            <a:r>
              <a:rPr lang="en-US" sz="1400" b="1" dirty="0">
                <a:solidFill>
                  <a:schemeClr val="accent4"/>
                </a:solidFill>
              </a:rPr>
              <a:t>2</a:t>
            </a:r>
            <a:endParaRPr lang="en-US" sz="1400" dirty="0"/>
          </a:p>
        </p:txBody>
      </p:sp>
      <p:sp>
        <p:nvSpPr>
          <p:cNvPr id="16" name="text-572"/>
          <p:cNvSpPr txBox="1"/>
          <p:nvPr/>
        </p:nvSpPr>
        <p:spPr>
          <a:xfrm>
            <a:off x="2404872" y="3657600"/>
            <a:ext cx="1143000" cy="960120"/>
          </a:xfrm>
          <a:prstGeom prst="rect">
            <a:avLst/>
          </a:prstGeom>
          <a:noFill/>
          <a:ln/>
        </p:spPr>
        <p:txBody>
          <a:bodyPr wrap="square" lIns="0" tIns="0" rIns="0" bIns="0" rtlCol="0" anchor="ctr"/>
          <a:lstStyle/>
          <a:p>
            <a:pPr algn="ctr" indent="0" marL="0">
              <a:buNone/>
            </a:pPr>
            <a:r>
              <a:rPr lang="en-US" sz="1400" b="1" dirty="0">
                <a:solidFill>
                  <a:schemeClr val="tx1"/>
                </a:solidFill>
                <a:latin typeface="Roboto Mono" pitchFamily="34" charset="0"/>
                <a:ea typeface="Roboto Mono" pitchFamily="34" charset="-122"/>
                <a:cs typeface="Roboto Mono" pitchFamily="34" charset="-120"/>
              </a:rPr>
              <a:t>WHERE</a:t>
            </a:r>
            <a:endParaRPr lang="en-US" sz="1400" dirty="0"/>
          </a:p>
        </p:txBody>
      </p:sp>
      <p:sp>
        <p:nvSpPr>
          <p:cNvPr id="17" name="step-573"/>
          <p:cNvSpPr/>
          <p:nvPr/>
        </p:nvSpPr>
        <p:spPr>
          <a:xfrm>
            <a:off x="3712464" y="3657600"/>
            <a:ext cx="1691640" cy="960120"/>
          </a:xfrm>
          <a:prstGeom prst="chevron">
            <a:avLst/>
          </a:prstGeom>
          <a:solidFill>
            <a:schemeClr val="accent2">
              <a:alpha val="65000"/>
            </a:schemeClr>
          </a:solidFill>
          <a:ln w="25400">
            <a:solidFill>
              <a:schemeClr val="bg2"/>
            </a:solidFill>
            <a:prstDash val="solid"/>
          </a:ln>
        </p:spPr>
      </p:sp>
      <p:sp>
        <p:nvSpPr>
          <p:cNvPr id="18" name="text-574"/>
          <p:cNvSpPr txBox="1"/>
          <p:nvPr/>
        </p:nvSpPr>
        <p:spPr>
          <a:xfrm>
            <a:off x="3986784" y="3246120"/>
            <a:ext cx="1097280" cy="365760"/>
          </a:xfrm>
          <a:prstGeom prst="rect">
            <a:avLst/>
          </a:prstGeom>
          <a:noFill/>
          <a:ln/>
        </p:spPr>
        <p:txBody>
          <a:bodyPr wrap="square" lIns="0" tIns="0" rIns="0" bIns="0" rtlCol="0" anchor="ctr"/>
          <a:lstStyle/>
          <a:p>
            <a:pPr algn="ctr" indent="0" marL="0">
              <a:buNone/>
            </a:pPr>
            <a:r>
              <a:rPr lang="en-US" sz="1400" b="1" dirty="0">
                <a:solidFill>
                  <a:schemeClr val="accent4"/>
                </a:solidFill>
              </a:rPr>
              <a:t>3</a:t>
            </a:r>
            <a:endParaRPr lang="en-US" sz="1400" dirty="0"/>
          </a:p>
        </p:txBody>
      </p:sp>
      <p:sp>
        <p:nvSpPr>
          <p:cNvPr id="19" name="text-575"/>
          <p:cNvSpPr txBox="1"/>
          <p:nvPr/>
        </p:nvSpPr>
        <p:spPr>
          <a:xfrm>
            <a:off x="3986784" y="3657600"/>
            <a:ext cx="1143000" cy="960120"/>
          </a:xfrm>
          <a:prstGeom prst="rect">
            <a:avLst/>
          </a:prstGeom>
          <a:noFill/>
          <a:ln/>
        </p:spPr>
        <p:txBody>
          <a:bodyPr wrap="square" lIns="0" tIns="0" rIns="0" bIns="0" rtlCol="0" anchor="ctr"/>
          <a:lstStyle/>
          <a:p>
            <a:pPr algn="ctr" indent="0" marL="0">
              <a:buNone/>
            </a:pPr>
            <a:r>
              <a:rPr lang="en-US" sz="1400" b="1" dirty="0">
                <a:solidFill>
                  <a:schemeClr val="tx1"/>
                </a:solidFill>
                <a:latin typeface="Roboto Mono" pitchFamily="34" charset="0"/>
                <a:ea typeface="Roboto Mono" pitchFamily="34" charset="-122"/>
                <a:cs typeface="Roboto Mono" pitchFamily="34" charset="-120"/>
              </a:rPr>
              <a:t>GROUP BY</a:t>
            </a:r>
            <a:endParaRPr lang="en-US" sz="1400" dirty="0"/>
          </a:p>
        </p:txBody>
      </p:sp>
      <p:sp>
        <p:nvSpPr>
          <p:cNvPr id="20" name="step-576"/>
          <p:cNvSpPr/>
          <p:nvPr/>
        </p:nvSpPr>
        <p:spPr>
          <a:xfrm>
            <a:off x="5294376" y="3657600"/>
            <a:ext cx="1691640" cy="960120"/>
          </a:xfrm>
          <a:prstGeom prst="chevron">
            <a:avLst/>
          </a:prstGeom>
          <a:solidFill>
            <a:schemeClr val="accent2">
              <a:alpha val="65000"/>
            </a:schemeClr>
          </a:solidFill>
          <a:ln w="25400">
            <a:solidFill>
              <a:schemeClr val="bg2"/>
            </a:solidFill>
            <a:prstDash val="solid"/>
          </a:ln>
        </p:spPr>
      </p:sp>
      <p:sp>
        <p:nvSpPr>
          <p:cNvPr id="21" name="text-577"/>
          <p:cNvSpPr txBox="1"/>
          <p:nvPr/>
        </p:nvSpPr>
        <p:spPr>
          <a:xfrm>
            <a:off x="5568696" y="3246120"/>
            <a:ext cx="1097280" cy="365760"/>
          </a:xfrm>
          <a:prstGeom prst="rect">
            <a:avLst/>
          </a:prstGeom>
          <a:noFill/>
          <a:ln/>
        </p:spPr>
        <p:txBody>
          <a:bodyPr wrap="square" lIns="0" tIns="0" rIns="0" bIns="0" rtlCol="0" anchor="ctr"/>
          <a:lstStyle/>
          <a:p>
            <a:pPr algn="ctr" indent="0" marL="0">
              <a:buNone/>
            </a:pPr>
            <a:r>
              <a:rPr lang="en-US" sz="1400" b="1" dirty="0">
                <a:solidFill>
                  <a:schemeClr val="accent4"/>
                </a:solidFill>
              </a:rPr>
              <a:t>4</a:t>
            </a:r>
            <a:endParaRPr lang="en-US" sz="1400" dirty="0"/>
          </a:p>
        </p:txBody>
      </p:sp>
      <p:sp>
        <p:nvSpPr>
          <p:cNvPr id="22" name="text-578"/>
          <p:cNvSpPr txBox="1"/>
          <p:nvPr/>
        </p:nvSpPr>
        <p:spPr>
          <a:xfrm>
            <a:off x="5568696" y="3657600"/>
            <a:ext cx="1143000" cy="960120"/>
          </a:xfrm>
          <a:prstGeom prst="rect">
            <a:avLst/>
          </a:prstGeom>
          <a:noFill/>
          <a:ln/>
        </p:spPr>
        <p:txBody>
          <a:bodyPr wrap="square" lIns="0" tIns="0" rIns="0" bIns="0" rtlCol="0" anchor="ctr"/>
          <a:lstStyle/>
          <a:p>
            <a:pPr algn="ctr" indent="0" marL="0">
              <a:buNone/>
            </a:pPr>
            <a:r>
              <a:rPr lang="en-US" sz="1400" b="1" dirty="0">
                <a:solidFill>
                  <a:schemeClr val="tx1"/>
                </a:solidFill>
                <a:latin typeface="Roboto Mono" pitchFamily="34" charset="0"/>
                <a:ea typeface="Roboto Mono" pitchFamily="34" charset="-122"/>
                <a:cs typeface="Roboto Mono" pitchFamily="34" charset="-120"/>
              </a:rPr>
              <a:t>HAVING</a:t>
            </a:r>
            <a:endParaRPr lang="en-US" sz="1400" dirty="0"/>
          </a:p>
        </p:txBody>
      </p:sp>
      <p:sp>
        <p:nvSpPr>
          <p:cNvPr id="23" name="step-579"/>
          <p:cNvSpPr/>
          <p:nvPr/>
        </p:nvSpPr>
        <p:spPr>
          <a:xfrm>
            <a:off x="6876288" y="3657600"/>
            <a:ext cx="1691640" cy="960120"/>
          </a:xfrm>
          <a:prstGeom prst="chevron">
            <a:avLst/>
          </a:prstGeom>
          <a:solidFill>
            <a:schemeClr val="accent2"/>
          </a:solidFill>
          <a:ln w="25400">
            <a:solidFill>
              <a:schemeClr val="bg2"/>
            </a:solidFill>
            <a:prstDash val="solid"/>
          </a:ln>
        </p:spPr>
      </p:sp>
      <p:sp>
        <p:nvSpPr>
          <p:cNvPr id="24" name="text-580"/>
          <p:cNvSpPr txBox="1"/>
          <p:nvPr/>
        </p:nvSpPr>
        <p:spPr>
          <a:xfrm>
            <a:off x="7150608" y="3246120"/>
            <a:ext cx="1097280" cy="365760"/>
          </a:xfrm>
          <a:prstGeom prst="rect">
            <a:avLst/>
          </a:prstGeom>
          <a:noFill/>
          <a:ln/>
        </p:spPr>
        <p:txBody>
          <a:bodyPr wrap="square" lIns="0" tIns="0" rIns="0" bIns="0" rtlCol="0" anchor="ctr"/>
          <a:lstStyle/>
          <a:p>
            <a:pPr algn="ctr" indent="0" marL="0">
              <a:buNone/>
            </a:pPr>
            <a:r>
              <a:rPr lang="en-US" sz="1400" b="1" dirty="0">
                <a:solidFill>
                  <a:schemeClr val="accent4"/>
                </a:solidFill>
              </a:rPr>
              <a:t>5</a:t>
            </a:r>
            <a:endParaRPr lang="en-US" sz="1400" dirty="0"/>
          </a:p>
        </p:txBody>
      </p:sp>
      <p:sp>
        <p:nvSpPr>
          <p:cNvPr id="25" name="text-581"/>
          <p:cNvSpPr txBox="1"/>
          <p:nvPr/>
        </p:nvSpPr>
        <p:spPr>
          <a:xfrm>
            <a:off x="7150608" y="3657600"/>
            <a:ext cx="1143000" cy="960120"/>
          </a:xfrm>
          <a:prstGeom prst="rect">
            <a:avLst/>
          </a:prstGeom>
          <a:noFill/>
          <a:ln/>
        </p:spPr>
        <p:txBody>
          <a:bodyPr wrap="square" lIns="0" tIns="0" rIns="0" bIns="0" rtlCol="0" anchor="ctr"/>
          <a:lstStyle/>
          <a:p>
            <a:pPr algn="ctr" indent="0" marL="0">
              <a:buNone/>
            </a:pPr>
            <a:r>
              <a:rPr lang="en-US" sz="1400" b="1" dirty="0">
                <a:solidFill>
                  <a:schemeClr val="tx1"/>
                </a:solidFill>
                <a:latin typeface="Roboto Mono" pitchFamily="34" charset="0"/>
                <a:ea typeface="Roboto Mono" pitchFamily="34" charset="-122"/>
                <a:cs typeface="Roboto Mono" pitchFamily="34" charset="-120"/>
              </a:rPr>
              <a:t>SELECT</a:t>
            </a:r>
            <a:endParaRPr lang="en-US" sz="1400" dirty="0"/>
          </a:p>
        </p:txBody>
      </p:sp>
      <p:sp>
        <p:nvSpPr>
          <p:cNvPr id="26" name="step-582"/>
          <p:cNvSpPr/>
          <p:nvPr/>
        </p:nvSpPr>
        <p:spPr>
          <a:xfrm>
            <a:off x="8458200" y="3657600"/>
            <a:ext cx="1691640" cy="960120"/>
          </a:xfrm>
          <a:prstGeom prst="chevron">
            <a:avLst/>
          </a:prstGeom>
          <a:solidFill>
            <a:schemeClr val="accent2">
              <a:alpha val="65000"/>
            </a:schemeClr>
          </a:solidFill>
          <a:ln w="25400">
            <a:solidFill>
              <a:schemeClr val="bg2"/>
            </a:solidFill>
            <a:prstDash val="solid"/>
          </a:ln>
        </p:spPr>
      </p:sp>
      <p:sp>
        <p:nvSpPr>
          <p:cNvPr id="27" name="text-583"/>
          <p:cNvSpPr txBox="1"/>
          <p:nvPr/>
        </p:nvSpPr>
        <p:spPr>
          <a:xfrm>
            <a:off x="8732520" y="3246120"/>
            <a:ext cx="1097280" cy="365760"/>
          </a:xfrm>
          <a:prstGeom prst="rect">
            <a:avLst/>
          </a:prstGeom>
          <a:noFill/>
          <a:ln/>
        </p:spPr>
        <p:txBody>
          <a:bodyPr wrap="square" lIns="0" tIns="0" rIns="0" bIns="0" rtlCol="0" anchor="ctr"/>
          <a:lstStyle/>
          <a:p>
            <a:pPr algn="ctr" indent="0" marL="0">
              <a:buNone/>
            </a:pPr>
            <a:r>
              <a:rPr lang="en-US" sz="1400" b="1" dirty="0">
                <a:solidFill>
                  <a:schemeClr val="accent4"/>
                </a:solidFill>
              </a:rPr>
              <a:t>6</a:t>
            </a:r>
            <a:endParaRPr lang="en-US" sz="1400" dirty="0"/>
          </a:p>
        </p:txBody>
      </p:sp>
      <p:sp>
        <p:nvSpPr>
          <p:cNvPr id="28" name="text-584"/>
          <p:cNvSpPr txBox="1"/>
          <p:nvPr/>
        </p:nvSpPr>
        <p:spPr>
          <a:xfrm>
            <a:off x="8732520" y="3657600"/>
            <a:ext cx="1143000" cy="960120"/>
          </a:xfrm>
          <a:prstGeom prst="rect">
            <a:avLst/>
          </a:prstGeom>
          <a:noFill/>
          <a:ln/>
        </p:spPr>
        <p:txBody>
          <a:bodyPr wrap="square" lIns="0" tIns="0" rIns="0" bIns="0" rtlCol="0" anchor="ctr"/>
          <a:lstStyle/>
          <a:p>
            <a:pPr algn="ctr" indent="0" marL="0">
              <a:buNone/>
            </a:pPr>
            <a:r>
              <a:rPr lang="en-US" sz="1400" b="1" dirty="0">
                <a:solidFill>
                  <a:schemeClr val="tx1"/>
                </a:solidFill>
                <a:latin typeface="Roboto Mono" pitchFamily="34" charset="0"/>
                <a:ea typeface="Roboto Mono" pitchFamily="34" charset="-122"/>
                <a:cs typeface="Roboto Mono" pitchFamily="34" charset="-120"/>
              </a:rPr>
              <a:t>ORDER BY</a:t>
            </a:r>
            <a:endParaRPr lang="en-US" sz="1400" dirty="0"/>
          </a:p>
        </p:txBody>
      </p:sp>
      <p:sp>
        <p:nvSpPr>
          <p:cNvPr id="29" name="step-585"/>
          <p:cNvSpPr/>
          <p:nvPr/>
        </p:nvSpPr>
        <p:spPr>
          <a:xfrm>
            <a:off x="10040112" y="3657600"/>
            <a:ext cx="1691640" cy="960120"/>
          </a:xfrm>
          <a:prstGeom prst="chevron">
            <a:avLst/>
          </a:prstGeom>
          <a:solidFill>
            <a:schemeClr val="accent2">
              <a:alpha val="65000"/>
            </a:schemeClr>
          </a:solidFill>
          <a:ln w="25400">
            <a:solidFill>
              <a:schemeClr val="bg2"/>
            </a:solidFill>
            <a:prstDash val="solid"/>
          </a:ln>
        </p:spPr>
      </p:sp>
      <p:sp>
        <p:nvSpPr>
          <p:cNvPr id="30" name="text-586"/>
          <p:cNvSpPr txBox="1"/>
          <p:nvPr/>
        </p:nvSpPr>
        <p:spPr>
          <a:xfrm>
            <a:off x="10314432" y="3246120"/>
            <a:ext cx="1097280" cy="365760"/>
          </a:xfrm>
          <a:prstGeom prst="rect">
            <a:avLst/>
          </a:prstGeom>
          <a:noFill/>
          <a:ln/>
        </p:spPr>
        <p:txBody>
          <a:bodyPr wrap="square" lIns="0" tIns="0" rIns="0" bIns="0" rtlCol="0" anchor="ctr"/>
          <a:lstStyle/>
          <a:p>
            <a:pPr algn="ctr" indent="0" marL="0">
              <a:buNone/>
            </a:pPr>
            <a:r>
              <a:rPr lang="en-US" sz="1400" b="1" dirty="0">
                <a:solidFill>
                  <a:schemeClr val="accent4"/>
                </a:solidFill>
              </a:rPr>
              <a:t>7</a:t>
            </a:r>
            <a:endParaRPr lang="en-US" sz="1400" dirty="0"/>
          </a:p>
        </p:txBody>
      </p:sp>
      <p:sp>
        <p:nvSpPr>
          <p:cNvPr id="31" name="text-587"/>
          <p:cNvSpPr txBox="1"/>
          <p:nvPr/>
        </p:nvSpPr>
        <p:spPr>
          <a:xfrm>
            <a:off x="10314432" y="3657600"/>
            <a:ext cx="1143000" cy="960120"/>
          </a:xfrm>
          <a:prstGeom prst="rect">
            <a:avLst/>
          </a:prstGeom>
          <a:noFill/>
          <a:ln/>
        </p:spPr>
        <p:txBody>
          <a:bodyPr wrap="square" lIns="0" tIns="0" rIns="0" bIns="0" rtlCol="0" anchor="ctr"/>
          <a:lstStyle/>
          <a:p>
            <a:pPr algn="ctr" indent="0" marL="0">
              <a:buNone/>
            </a:pPr>
            <a:r>
              <a:rPr lang="en-US" sz="1400" b="1" dirty="0">
                <a:solidFill>
                  <a:schemeClr val="tx1"/>
                </a:solidFill>
                <a:latin typeface="Roboto Mono" pitchFamily="34" charset="0"/>
                <a:ea typeface="Roboto Mono" pitchFamily="34" charset="-122"/>
                <a:cs typeface="Roboto Mono" pitchFamily="34" charset="-120"/>
              </a:rPr>
              <a:t>LIMIT</a:t>
            </a:r>
            <a:endParaRPr lang="en-US" sz="1400" dirty="0"/>
          </a:p>
        </p:txBody>
      </p:sp>
      <p:sp>
        <p:nvSpPr>
          <p:cNvPr id="32" name="dot-588"/>
          <p:cNvSpPr/>
          <p:nvPr/>
        </p:nvSpPr>
        <p:spPr>
          <a:xfrm>
            <a:off x="548640" y="5166360"/>
            <a:ext cx="411480" cy="411480"/>
          </a:xfrm>
          <a:prstGeom prst="ellipse">
            <a:avLst/>
          </a:prstGeom>
          <a:solidFill>
            <a:schemeClr val="accent1"/>
          </a:solidFill>
          <a:ln/>
        </p:spPr>
      </p:sp>
      <p:sp>
        <p:nvSpPr>
          <p:cNvPr id="33" name="text-589"/>
          <p:cNvSpPr txBox="1"/>
          <p:nvPr/>
        </p:nvSpPr>
        <p:spPr>
          <a:xfrm>
            <a:off x="1097280" y="5166360"/>
            <a:ext cx="4572000" cy="411480"/>
          </a:xfrm>
          <a:prstGeom prst="rect">
            <a:avLst/>
          </a:prstGeom>
          <a:noFill/>
          <a:ln/>
        </p:spPr>
        <p:txBody>
          <a:bodyPr wrap="square" lIns="0" tIns="0" rIns="0" bIns="0" rtlCol="0" anchor="ctr"/>
          <a:lstStyle/>
          <a:p>
            <a:pPr algn="l" indent="0" marL="0">
              <a:buNone/>
            </a:pPr>
            <a:r>
              <a:rPr lang="en-US" sz="1500" dirty="0">
                <a:solidFill>
                  <a:schemeClr val="tx1"/>
                </a:solidFill>
              </a:rPr>
              <a:t>a SELECT alias inside WHERE</a:t>
            </a:r>
            <a:endParaRPr lang="en-US" sz="1500" dirty="0"/>
          </a:p>
        </p:txBody>
      </p:sp>
      <p:sp>
        <p:nvSpPr>
          <p:cNvPr id="34" name="dot-590"/>
          <p:cNvSpPr/>
          <p:nvPr/>
        </p:nvSpPr>
        <p:spPr>
          <a:xfrm>
            <a:off x="6126480" y="5166360"/>
            <a:ext cx="411480" cy="411480"/>
          </a:xfrm>
          <a:prstGeom prst="ellipse">
            <a:avLst/>
          </a:prstGeom>
          <a:solidFill>
            <a:schemeClr val="accent1"/>
          </a:solidFill>
          <a:ln/>
        </p:spPr>
      </p:sp>
      <p:sp>
        <p:nvSpPr>
          <p:cNvPr id="35" name="text-591"/>
          <p:cNvSpPr txBox="1"/>
          <p:nvPr/>
        </p:nvSpPr>
        <p:spPr>
          <a:xfrm>
            <a:off x="6675120" y="5166360"/>
            <a:ext cx="4937760" cy="411480"/>
          </a:xfrm>
          <a:prstGeom prst="rect">
            <a:avLst/>
          </a:prstGeom>
          <a:noFill/>
          <a:ln/>
        </p:spPr>
        <p:txBody>
          <a:bodyPr wrap="square" lIns="0" tIns="0" rIns="0" bIns="0" rtlCol="0" anchor="ctr"/>
          <a:lstStyle/>
          <a:p>
            <a:pPr algn="l" indent="0" marL="0">
              <a:buNone/>
            </a:pPr>
            <a:r>
              <a:rPr lang="en-US" sz="1500" dirty="0">
                <a:solidFill>
                  <a:schemeClr val="tx1"/>
                </a:solidFill>
              </a:rPr>
              <a:t>an aggregate inside WHERE → use HAVING</a:t>
            </a:r>
            <a:endParaRPr lang="en-US" sz="1500" dirty="0"/>
          </a:p>
        </p:txBody>
      </p:sp>
      <p:pic>
        <p:nvPicPr>
          <p:cNvPr id="36" name="Image 0" descr="Search icon">    </p:cNvPr>
          <p:cNvPicPr>
            <a:picLocks noChangeAspect="1"/>
          </p:cNvPicPr>
          <p:nvPr/>
        </p:nvPicPr>
        <p:blipFill>
          <a:blip r:embed="rId1"/>
          <a:stretch>
            <a:fillRect/>
          </a:stretch>
        </p:blipFill>
        <p:spPr>
          <a:xfrm>
            <a:off x="640812" y="476220"/>
            <a:ext cx="199705" cy="199705"/>
          </a:xfrm>
          <a:prstGeom prst="rect">
            <a:avLst/>
          </a:prstGeom>
        </p:spPr>
      </p:pic>
      <p:pic>
        <p:nvPicPr>
          <p:cNvPr id="37" name="Image 1" descr="Times icon">    </p:cNvPr>
          <p:cNvPicPr>
            <a:picLocks noChangeAspect="1"/>
          </p:cNvPicPr>
          <p:nvPr/>
        </p:nvPicPr>
        <p:blipFill>
          <a:blip r:embed="rId2"/>
          <a:stretch>
            <a:fillRect/>
          </a:stretch>
        </p:blipFill>
        <p:spPr>
          <a:xfrm>
            <a:off x="647395" y="5265115"/>
            <a:ext cx="213970" cy="213970"/>
          </a:xfrm>
          <a:prstGeom prst="rect">
            <a:avLst/>
          </a:prstGeom>
        </p:spPr>
      </p:pic>
      <p:pic>
        <p:nvPicPr>
          <p:cNvPr id="38" name="Image 2" descr="Times icon">    </p:cNvPr>
          <p:cNvPicPr>
            <a:picLocks noChangeAspect="1"/>
          </p:cNvPicPr>
          <p:nvPr/>
        </p:nvPicPr>
        <p:blipFill>
          <a:blip r:embed="rId3"/>
          <a:stretch>
            <a:fillRect/>
          </a:stretch>
        </p:blipFill>
        <p:spPr>
          <a:xfrm>
            <a:off x="6225235" y="5265115"/>
            <a:ext cx="213970" cy="213970"/>
          </a:xfrm>
          <a:prstGeom prst="rect">
            <a:avLst/>
          </a:prstGeom>
        </p:spPr>
      </p:pic>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dot-592"/>
          <p:cNvSpPr/>
          <p:nvPr/>
        </p:nvSpPr>
        <p:spPr>
          <a:xfrm>
            <a:off x="548640" y="384048"/>
            <a:ext cx="384048" cy="384048"/>
          </a:xfrm>
          <a:prstGeom prst="ellipse">
            <a:avLst/>
          </a:prstGeom>
          <a:solidFill>
            <a:schemeClr val="accent2"/>
          </a:solidFill>
          <a:ln/>
        </p:spPr>
      </p:sp>
      <p:sp>
        <p:nvSpPr>
          <p:cNvPr id="3" name="Text 1"/>
          <p:cNvSpPr/>
          <p:nvPr>
            <p:ph idx="101" type="body" hasCustomPrompt="1"/>
          </p:nvPr>
        </p:nvSpPr>
        <p:spPr>
          <a:xfrm>
            <a:off x="1051560" y="384048"/>
            <a:ext cx="9601200" cy="384048"/>
          </a:xfrm>
          <a:prstGeom prst="rect">
            <a:avLst/>
          </a:prstGeom>
          <a:noFill/>
          <a:ln/>
        </p:spPr>
        <p:txBody>
          <a:bodyPr wrap="square" lIns="0" tIns="0" rIns="0" bIns="0" rtlCol="0" anchor="ctr"/>
          <a:lstStyle/>
          <a:p>
            <a:pPr indent="0" marL="0">
              <a:buNone/>
            </a:pPr>
            <a:r>
              <a:rPr lang="en-US" sz="1300" b="1" spc="300" kern="0" dirty="0">
                <a:solidFill>
                  <a:schemeClr val="tx2"/>
                </a:solidFill>
              </a:rPr>
              <a:t>L2  ·  QUERY  ·  3.7 JOINS</a:t>
            </a:r>
            <a:endParaRPr lang="en-US" sz="1300" dirty="0"/>
          </a:p>
        </p:txBody>
      </p:sp>
      <p:sp>
        <p:nvSpPr>
          <p:cNvPr id="4" name="Text 1"/>
          <p:cNvSpPr/>
          <p:nvPr>
            <p:ph idx="102" type="title" hasCustomPrompt="1"/>
          </p:nvPr>
        </p:nvSpPr>
        <p:spPr>
          <a:xfrm>
            <a:off x="548640" y="841248"/>
            <a:ext cx="11064240" cy="777240"/>
          </a:xfrm>
          <a:prstGeom prst="rect">
            <a:avLst/>
          </a:prstGeom>
          <a:noFill/>
          <a:ln/>
        </p:spPr>
        <p:txBody>
          <a:bodyPr wrap="square" lIns="0" tIns="0" rIns="0" bIns="0" rtlCol="0" anchor="ctr"/>
          <a:lstStyle/>
          <a:p>
            <a:pPr algn="l" indent="0" marL="0">
              <a:buNone/>
            </a:pPr>
            <a:r>
              <a:rPr lang="en-US" sz="3800" b="1" dirty="0">
                <a:solidFill>
                  <a:schemeClr val="tx1"/>
                </a:solidFill>
              </a:rPr>
              <a:t>Joins put normalised data back together</a:t>
            </a:r>
            <a:endParaRPr lang="en-US" sz="3800" dirty="0"/>
          </a:p>
        </p:txBody>
      </p:sp>
      <p:sp>
        <p:nvSpPr>
          <p:cNvPr id="5" name="Text 1"/>
          <p:cNvSpPr/>
          <p:nvPr>
            <p:ph idx="103" type="body" hasCustomPrompt="1"/>
          </p:nvPr>
        </p:nvSpPr>
        <p:spPr>
          <a:xfrm>
            <a:off x="548640" y="1627632"/>
            <a:ext cx="11064240" cy="457200"/>
          </a:xfrm>
          <a:prstGeom prst="rect">
            <a:avLst/>
          </a:prstGeom>
          <a:noFill/>
          <a:ln/>
        </p:spPr>
        <p:txBody>
          <a:bodyPr wrap="square" lIns="0" tIns="0" rIns="0" bIns="0" rtlCol="0" anchor="t"/>
          <a:lstStyle/>
          <a:p>
            <a:pPr indent="0" marL="0">
              <a:buNone/>
            </a:pPr>
            <a:r>
              <a:rPr lang="en-US" sz="2000" dirty="0">
                <a:solidFill>
                  <a:schemeClr val="tx2"/>
                </a:solidFill>
              </a:rPr>
              <a:t>INNER = matches only · LEFT = keep every left row</a:t>
            </a:r>
            <a:endParaRPr lang="en-US" sz="2000" dirty="0"/>
          </a:p>
        </p:txBody>
      </p:sp>
      <p:sp>
        <p:nvSpPr>
          <p:cNvPr id="7" name="box-593"/>
          <p:cNvSpPr/>
          <p:nvPr/>
        </p:nvSpPr>
        <p:spPr>
          <a:xfrm>
            <a:off x="548640" y="2286000"/>
            <a:ext cx="5394960" cy="3520440"/>
          </a:xfrm>
          <a:prstGeom prst="roundRect">
            <a:avLst>
              <a:gd name="adj" fmla="val 2078"/>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8" name="text-594"/>
          <p:cNvSpPr txBox="1"/>
          <p:nvPr/>
        </p:nvSpPr>
        <p:spPr>
          <a:xfrm>
            <a:off x="822960" y="2377440"/>
            <a:ext cx="3200400" cy="457200"/>
          </a:xfrm>
          <a:prstGeom prst="rect">
            <a:avLst/>
          </a:prstGeom>
          <a:noFill/>
          <a:ln/>
        </p:spPr>
        <p:txBody>
          <a:bodyPr wrap="square" lIns="0" tIns="0" rIns="0" bIns="0" rtlCol="0" anchor="ctr"/>
          <a:lstStyle/>
          <a:p>
            <a:pPr algn="l" indent="0" marL="0">
              <a:buNone/>
            </a:pPr>
            <a:r>
              <a:rPr lang="en-US" sz="2000" b="1" dirty="0">
                <a:solidFill>
                  <a:schemeClr val="tx1"/>
                </a:solidFill>
                <a:latin typeface="Roboto Mono" pitchFamily="34" charset="0"/>
                <a:ea typeface="Roboto Mono" pitchFamily="34" charset="-122"/>
                <a:cs typeface="Roboto Mono" pitchFamily="34" charset="-120"/>
              </a:rPr>
              <a:t>INNER JOIN</a:t>
            </a:r>
            <a:endParaRPr lang="en-US" sz="2000" dirty="0"/>
          </a:p>
        </p:txBody>
      </p:sp>
      <p:sp>
        <p:nvSpPr>
          <p:cNvPr id="9" name="text-595"/>
          <p:cNvSpPr txBox="1"/>
          <p:nvPr/>
        </p:nvSpPr>
        <p:spPr>
          <a:xfrm>
            <a:off x="4297680" y="2377440"/>
            <a:ext cx="1371600" cy="457200"/>
          </a:xfrm>
          <a:prstGeom prst="rect">
            <a:avLst/>
          </a:prstGeom>
          <a:noFill/>
          <a:ln/>
        </p:spPr>
        <p:txBody>
          <a:bodyPr wrap="square" lIns="0" tIns="0" rIns="0" bIns="0" rtlCol="0" anchor="ctr"/>
          <a:lstStyle/>
          <a:p>
            <a:pPr algn="r" indent="0" marL="0">
              <a:buNone/>
            </a:pPr>
            <a:r>
              <a:rPr lang="en-US" sz="1500" b="1" dirty="0">
                <a:solidFill>
                  <a:schemeClr val="accent6"/>
                </a:solidFill>
              </a:rPr>
              <a:t>2 rows</a:t>
            </a:r>
            <a:endParaRPr lang="en-US" sz="1500" dirty="0"/>
          </a:p>
        </p:txBody>
      </p:sp>
      <p:sp>
        <p:nvSpPr>
          <p:cNvPr id="10" name="text-596"/>
          <p:cNvSpPr txBox="1"/>
          <p:nvPr/>
        </p:nvSpPr>
        <p:spPr>
          <a:xfrm>
            <a:off x="914400" y="2880360"/>
            <a:ext cx="1463040" cy="274320"/>
          </a:xfrm>
          <a:prstGeom prst="rect">
            <a:avLst/>
          </a:prstGeom>
          <a:noFill/>
          <a:ln/>
        </p:spPr>
        <p:txBody>
          <a:bodyPr wrap="square" lIns="0" tIns="0" rIns="0" bIns="0" rtlCol="0" anchor="ctr"/>
          <a:lstStyle/>
          <a:p>
            <a:pPr algn="l" indent="0" marL="0">
              <a:buNone/>
            </a:pPr>
            <a:r>
              <a:rPr lang="en-US" sz="1100" b="1" spc="200" kern="0" dirty="0">
                <a:solidFill>
                  <a:schemeClr val="accent4"/>
                </a:solidFill>
              </a:rPr>
              <a:t>users</a:t>
            </a:r>
            <a:endParaRPr lang="en-US" sz="1100" dirty="0"/>
          </a:p>
        </p:txBody>
      </p:sp>
      <p:sp>
        <p:nvSpPr>
          <p:cNvPr id="11" name="text-597"/>
          <p:cNvSpPr txBox="1"/>
          <p:nvPr/>
        </p:nvSpPr>
        <p:spPr>
          <a:xfrm>
            <a:off x="3840480" y="2880360"/>
            <a:ext cx="1737360" cy="274320"/>
          </a:xfrm>
          <a:prstGeom prst="rect">
            <a:avLst/>
          </a:prstGeom>
          <a:noFill/>
          <a:ln/>
        </p:spPr>
        <p:txBody>
          <a:bodyPr wrap="square" lIns="0" tIns="0" rIns="0" bIns="0" rtlCol="0" anchor="ctr"/>
          <a:lstStyle/>
          <a:p>
            <a:pPr algn="l" indent="0" marL="0">
              <a:buNone/>
            </a:pPr>
            <a:r>
              <a:rPr lang="en-US" sz="1100" b="1" spc="200" kern="0" dirty="0">
                <a:solidFill>
                  <a:schemeClr val="accent4"/>
                </a:solidFill>
              </a:rPr>
              <a:t>orders</a:t>
            </a:r>
            <a:endParaRPr lang="en-US" sz="1100" dirty="0"/>
          </a:p>
        </p:txBody>
      </p:sp>
      <p:sp>
        <p:nvSpPr>
          <p:cNvPr id="12" name="box-598"/>
          <p:cNvSpPr/>
          <p:nvPr/>
        </p:nvSpPr>
        <p:spPr>
          <a:xfrm>
            <a:off x="914400" y="3200400"/>
            <a:ext cx="1463040" cy="457200"/>
          </a:xfrm>
          <a:prstGeom prst="roundRect">
            <a:avLst>
              <a:gd name="adj" fmla="val 16000"/>
            </a:avLst>
          </a:prstGeom>
          <a:solidFill>
            <a:schemeClr val="accent2">
              <a:alpha val="45000"/>
            </a:schemeClr>
          </a:solidFill>
          <a:ln w="12700">
            <a:solidFill>
              <a:schemeClr val="accent3"/>
            </a:solidFill>
            <a:prstDash val="solid"/>
          </a:ln>
        </p:spPr>
      </p:sp>
      <p:sp>
        <p:nvSpPr>
          <p:cNvPr id="13" name="text-599"/>
          <p:cNvSpPr txBox="1"/>
          <p:nvPr/>
        </p:nvSpPr>
        <p:spPr>
          <a:xfrm>
            <a:off x="914400" y="3200400"/>
            <a:ext cx="1463040" cy="457200"/>
          </a:xfrm>
          <a:prstGeom prst="rect">
            <a:avLst/>
          </a:prstGeom>
          <a:noFill/>
          <a:ln/>
        </p:spPr>
        <p:txBody>
          <a:bodyPr wrap="square" lIns="0" tIns="0" rIns="0" bIns="0" rtlCol="0" anchor="ctr"/>
          <a:lstStyle/>
          <a:p>
            <a:pPr algn="ctr" indent="0" marL="0">
              <a:buNone/>
            </a:pPr>
            <a:r>
              <a:rPr lang="en-US" sz="1400" b="1" dirty="0">
                <a:solidFill>
                  <a:schemeClr val="tx1"/>
                </a:solidFill>
              </a:rPr>
              <a:t>Ada</a:t>
            </a:r>
            <a:endParaRPr lang="en-US" sz="1400" dirty="0"/>
          </a:p>
        </p:txBody>
      </p:sp>
      <p:sp>
        <p:nvSpPr>
          <p:cNvPr id="14" name="line-600"/>
          <p:cNvSpPr/>
          <p:nvPr/>
        </p:nvSpPr>
        <p:spPr>
          <a:xfrm>
            <a:off x="2377440" y="3429000"/>
            <a:ext cx="1463040" cy="91"/>
          </a:xfrm>
          <a:prstGeom prst="line">
            <a:avLst/>
          </a:prstGeom>
          <a:noFill/>
          <a:ln w="25400">
            <a:solidFill>
              <a:schemeClr val="accent3"/>
            </a:solidFill>
            <a:prstDash val="solid"/>
          </a:ln>
        </p:spPr>
      </p:sp>
      <p:sp>
        <p:nvSpPr>
          <p:cNvPr id="15" name="box-601"/>
          <p:cNvSpPr/>
          <p:nvPr/>
        </p:nvSpPr>
        <p:spPr>
          <a:xfrm>
            <a:off x="3840480" y="3200400"/>
            <a:ext cx="1737360" cy="457200"/>
          </a:xfrm>
          <a:prstGeom prst="roundRect">
            <a:avLst>
              <a:gd name="adj" fmla="val 16000"/>
            </a:avLst>
          </a:prstGeom>
          <a:solidFill>
            <a:schemeClr val="accent2">
              <a:alpha val="45000"/>
            </a:schemeClr>
          </a:solidFill>
          <a:ln w="12700">
            <a:solidFill>
              <a:schemeClr val="accent3"/>
            </a:solidFill>
            <a:prstDash val="solid"/>
          </a:ln>
        </p:spPr>
      </p:sp>
      <p:sp>
        <p:nvSpPr>
          <p:cNvPr id="16" name="text-602"/>
          <p:cNvSpPr txBox="1"/>
          <p:nvPr/>
        </p:nvSpPr>
        <p:spPr>
          <a:xfrm>
            <a:off x="3840480" y="3200400"/>
            <a:ext cx="1737360" cy="457200"/>
          </a:xfrm>
          <a:prstGeom prst="rect">
            <a:avLst/>
          </a:prstGeom>
          <a:noFill/>
          <a:ln/>
        </p:spPr>
        <p:txBody>
          <a:bodyPr wrap="square" lIns="0" tIns="0" rIns="0" bIns="0" rtlCol="0" anchor="ctr"/>
          <a:lstStyle/>
          <a:p>
            <a:pPr algn="ctr" indent="0" marL="0">
              <a:buNone/>
            </a:pPr>
            <a:r>
              <a:rPr lang="en-US" sz="1400" dirty="0">
                <a:solidFill>
                  <a:schemeClr val="tx1"/>
                </a:solidFill>
                <a:latin typeface="Roboto Mono" pitchFamily="34" charset="0"/>
                <a:ea typeface="Roboto Mono" pitchFamily="34" charset="-122"/>
                <a:cs typeface="Roboto Mono" pitchFamily="34" charset="-120"/>
              </a:rPr>
              <a:t>#101</a:t>
            </a:r>
            <a:endParaRPr lang="en-US" sz="1400" dirty="0"/>
          </a:p>
        </p:txBody>
      </p:sp>
      <p:sp>
        <p:nvSpPr>
          <p:cNvPr id="17" name="box-603"/>
          <p:cNvSpPr/>
          <p:nvPr/>
        </p:nvSpPr>
        <p:spPr>
          <a:xfrm>
            <a:off x="914400" y="3822192"/>
            <a:ext cx="1463040" cy="457200"/>
          </a:xfrm>
          <a:prstGeom prst="roundRect">
            <a:avLst>
              <a:gd name="adj" fmla="val 16000"/>
            </a:avLst>
          </a:prstGeom>
          <a:solidFill>
            <a:schemeClr val="accent5"/>
          </a:solidFill>
          <a:ln/>
        </p:spPr>
      </p:sp>
      <p:sp>
        <p:nvSpPr>
          <p:cNvPr id="18" name="text-604"/>
          <p:cNvSpPr txBox="1"/>
          <p:nvPr/>
        </p:nvSpPr>
        <p:spPr>
          <a:xfrm>
            <a:off x="914400" y="3822192"/>
            <a:ext cx="1463040" cy="457200"/>
          </a:xfrm>
          <a:prstGeom prst="rect">
            <a:avLst/>
          </a:prstGeom>
          <a:noFill/>
          <a:ln/>
        </p:spPr>
        <p:txBody>
          <a:bodyPr wrap="square" lIns="0" tIns="0" rIns="0" bIns="0" rtlCol="0" anchor="ctr"/>
          <a:lstStyle/>
          <a:p>
            <a:pPr algn="ctr" indent="0" marL="0">
              <a:buNone/>
            </a:pPr>
            <a:r>
              <a:rPr lang="en-US" sz="1400" dirty="0">
                <a:solidFill>
                  <a:schemeClr val="accent4"/>
                </a:solidFill>
              </a:rPr>
              <a:t>Bola</a:t>
            </a:r>
            <a:endParaRPr lang="en-US" sz="1400" dirty="0"/>
          </a:p>
        </p:txBody>
      </p:sp>
      <p:sp>
        <p:nvSpPr>
          <p:cNvPr id="19" name="box-605"/>
          <p:cNvSpPr/>
          <p:nvPr/>
        </p:nvSpPr>
        <p:spPr>
          <a:xfrm>
            <a:off x="914400" y="4443984"/>
            <a:ext cx="1463040" cy="457200"/>
          </a:xfrm>
          <a:prstGeom prst="roundRect">
            <a:avLst>
              <a:gd name="adj" fmla="val 16000"/>
            </a:avLst>
          </a:prstGeom>
          <a:solidFill>
            <a:schemeClr val="accent2">
              <a:alpha val="45000"/>
            </a:schemeClr>
          </a:solidFill>
          <a:ln w="12700">
            <a:solidFill>
              <a:schemeClr val="accent3"/>
            </a:solidFill>
            <a:prstDash val="solid"/>
          </a:ln>
        </p:spPr>
      </p:sp>
      <p:sp>
        <p:nvSpPr>
          <p:cNvPr id="20" name="text-606"/>
          <p:cNvSpPr txBox="1"/>
          <p:nvPr/>
        </p:nvSpPr>
        <p:spPr>
          <a:xfrm>
            <a:off x="914400" y="4443984"/>
            <a:ext cx="1463040" cy="457200"/>
          </a:xfrm>
          <a:prstGeom prst="rect">
            <a:avLst/>
          </a:prstGeom>
          <a:noFill/>
          <a:ln/>
        </p:spPr>
        <p:txBody>
          <a:bodyPr wrap="square" lIns="0" tIns="0" rIns="0" bIns="0" rtlCol="0" anchor="ctr"/>
          <a:lstStyle/>
          <a:p>
            <a:pPr algn="ctr" indent="0" marL="0">
              <a:buNone/>
            </a:pPr>
            <a:r>
              <a:rPr lang="en-US" sz="1400" b="1" dirty="0">
                <a:solidFill>
                  <a:schemeClr val="tx1"/>
                </a:solidFill>
              </a:rPr>
              <a:t>Chidi</a:t>
            </a:r>
            <a:endParaRPr lang="en-US" sz="1400" dirty="0"/>
          </a:p>
        </p:txBody>
      </p:sp>
      <p:sp>
        <p:nvSpPr>
          <p:cNvPr id="21" name="line-607"/>
          <p:cNvSpPr/>
          <p:nvPr/>
        </p:nvSpPr>
        <p:spPr>
          <a:xfrm>
            <a:off x="2377440" y="4672584"/>
            <a:ext cx="1463040" cy="91"/>
          </a:xfrm>
          <a:prstGeom prst="line">
            <a:avLst/>
          </a:prstGeom>
          <a:noFill/>
          <a:ln w="25400">
            <a:solidFill>
              <a:schemeClr val="accent3"/>
            </a:solidFill>
            <a:prstDash val="solid"/>
          </a:ln>
        </p:spPr>
      </p:sp>
      <p:sp>
        <p:nvSpPr>
          <p:cNvPr id="22" name="box-608"/>
          <p:cNvSpPr/>
          <p:nvPr/>
        </p:nvSpPr>
        <p:spPr>
          <a:xfrm>
            <a:off x="3840480" y="4443984"/>
            <a:ext cx="1737360" cy="457200"/>
          </a:xfrm>
          <a:prstGeom prst="roundRect">
            <a:avLst>
              <a:gd name="adj" fmla="val 16000"/>
            </a:avLst>
          </a:prstGeom>
          <a:solidFill>
            <a:schemeClr val="accent2">
              <a:alpha val="45000"/>
            </a:schemeClr>
          </a:solidFill>
          <a:ln w="12700">
            <a:solidFill>
              <a:schemeClr val="accent3"/>
            </a:solidFill>
            <a:prstDash val="solid"/>
          </a:ln>
        </p:spPr>
      </p:sp>
      <p:sp>
        <p:nvSpPr>
          <p:cNvPr id="23" name="text-609"/>
          <p:cNvSpPr txBox="1"/>
          <p:nvPr/>
        </p:nvSpPr>
        <p:spPr>
          <a:xfrm>
            <a:off x="3840480" y="4443984"/>
            <a:ext cx="1737360" cy="457200"/>
          </a:xfrm>
          <a:prstGeom prst="rect">
            <a:avLst/>
          </a:prstGeom>
          <a:noFill/>
          <a:ln/>
        </p:spPr>
        <p:txBody>
          <a:bodyPr wrap="square" lIns="0" tIns="0" rIns="0" bIns="0" rtlCol="0" anchor="ctr"/>
          <a:lstStyle/>
          <a:p>
            <a:pPr algn="ctr" indent="0" marL="0">
              <a:buNone/>
            </a:pPr>
            <a:r>
              <a:rPr lang="en-US" sz="1400" dirty="0">
                <a:solidFill>
                  <a:schemeClr val="tx1"/>
                </a:solidFill>
                <a:latin typeface="Roboto Mono" pitchFamily="34" charset="0"/>
                <a:ea typeface="Roboto Mono" pitchFamily="34" charset="-122"/>
                <a:cs typeface="Roboto Mono" pitchFamily="34" charset="-120"/>
              </a:rPr>
              <a:t>#103</a:t>
            </a:r>
            <a:endParaRPr lang="en-US" sz="1400" dirty="0"/>
          </a:p>
        </p:txBody>
      </p:sp>
      <p:sp>
        <p:nvSpPr>
          <p:cNvPr id="24" name="box-610"/>
          <p:cNvSpPr/>
          <p:nvPr/>
        </p:nvSpPr>
        <p:spPr>
          <a:xfrm>
            <a:off x="914400" y="5065776"/>
            <a:ext cx="1463040" cy="457200"/>
          </a:xfrm>
          <a:prstGeom prst="roundRect">
            <a:avLst>
              <a:gd name="adj" fmla="val 16000"/>
            </a:avLst>
          </a:prstGeom>
          <a:solidFill>
            <a:schemeClr val="accent5"/>
          </a:solidFill>
          <a:ln/>
        </p:spPr>
      </p:sp>
      <p:sp>
        <p:nvSpPr>
          <p:cNvPr id="25" name="text-611"/>
          <p:cNvSpPr txBox="1"/>
          <p:nvPr/>
        </p:nvSpPr>
        <p:spPr>
          <a:xfrm>
            <a:off x="914400" y="5065776"/>
            <a:ext cx="1463040" cy="457200"/>
          </a:xfrm>
          <a:prstGeom prst="rect">
            <a:avLst/>
          </a:prstGeom>
          <a:noFill/>
          <a:ln/>
        </p:spPr>
        <p:txBody>
          <a:bodyPr wrap="square" lIns="0" tIns="0" rIns="0" bIns="0" rtlCol="0" anchor="ctr"/>
          <a:lstStyle/>
          <a:p>
            <a:pPr algn="ctr" indent="0" marL="0">
              <a:buNone/>
            </a:pPr>
            <a:r>
              <a:rPr lang="en-US" sz="1400" dirty="0">
                <a:solidFill>
                  <a:schemeClr val="accent4"/>
                </a:solidFill>
              </a:rPr>
              <a:t>Dayo</a:t>
            </a:r>
            <a:endParaRPr lang="en-US" sz="1400" dirty="0"/>
          </a:p>
        </p:txBody>
      </p:sp>
      <p:sp>
        <p:nvSpPr>
          <p:cNvPr id="26" name="box-612"/>
          <p:cNvSpPr/>
          <p:nvPr/>
        </p:nvSpPr>
        <p:spPr>
          <a:xfrm>
            <a:off x="6217920" y="2286000"/>
            <a:ext cx="5394960" cy="3520440"/>
          </a:xfrm>
          <a:prstGeom prst="roundRect">
            <a:avLst>
              <a:gd name="adj" fmla="val 2078"/>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27" name="text-613"/>
          <p:cNvSpPr txBox="1"/>
          <p:nvPr/>
        </p:nvSpPr>
        <p:spPr>
          <a:xfrm>
            <a:off x="6492240" y="2377440"/>
            <a:ext cx="3200400" cy="457200"/>
          </a:xfrm>
          <a:prstGeom prst="rect">
            <a:avLst/>
          </a:prstGeom>
          <a:noFill/>
          <a:ln/>
        </p:spPr>
        <p:txBody>
          <a:bodyPr wrap="square" lIns="0" tIns="0" rIns="0" bIns="0" rtlCol="0" anchor="ctr"/>
          <a:lstStyle/>
          <a:p>
            <a:pPr algn="l" indent="0" marL="0">
              <a:buNone/>
            </a:pPr>
            <a:r>
              <a:rPr lang="en-US" sz="2000" b="1" dirty="0">
                <a:solidFill>
                  <a:schemeClr val="tx1"/>
                </a:solidFill>
                <a:latin typeface="Roboto Mono" pitchFamily="34" charset="0"/>
                <a:ea typeface="Roboto Mono" pitchFamily="34" charset="-122"/>
                <a:cs typeface="Roboto Mono" pitchFamily="34" charset="-120"/>
              </a:rPr>
              <a:t>LEFT JOIN</a:t>
            </a:r>
            <a:endParaRPr lang="en-US" sz="2000" dirty="0"/>
          </a:p>
        </p:txBody>
      </p:sp>
      <p:sp>
        <p:nvSpPr>
          <p:cNvPr id="28" name="text-614"/>
          <p:cNvSpPr txBox="1"/>
          <p:nvPr/>
        </p:nvSpPr>
        <p:spPr>
          <a:xfrm>
            <a:off x="9966960" y="2377440"/>
            <a:ext cx="1371600" cy="457200"/>
          </a:xfrm>
          <a:prstGeom prst="rect">
            <a:avLst/>
          </a:prstGeom>
          <a:noFill/>
          <a:ln/>
        </p:spPr>
        <p:txBody>
          <a:bodyPr wrap="square" lIns="0" tIns="0" rIns="0" bIns="0" rtlCol="0" anchor="ctr"/>
          <a:lstStyle/>
          <a:p>
            <a:pPr algn="r" indent="0" marL="0">
              <a:buNone/>
            </a:pPr>
            <a:r>
              <a:rPr lang="en-US" sz="1500" b="1" dirty="0">
                <a:solidFill>
                  <a:schemeClr val="accent6"/>
                </a:solidFill>
              </a:rPr>
              <a:t>4 rows</a:t>
            </a:r>
            <a:endParaRPr lang="en-US" sz="1500" dirty="0"/>
          </a:p>
        </p:txBody>
      </p:sp>
      <p:sp>
        <p:nvSpPr>
          <p:cNvPr id="29" name="text-615"/>
          <p:cNvSpPr txBox="1"/>
          <p:nvPr/>
        </p:nvSpPr>
        <p:spPr>
          <a:xfrm>
            <a:off x="6583680" y="2880360"/>
            <a:ext cx="1463040" cy="274320"/>
          </a:xfrm>
          <a:prstGeom prst="rect">
            <a:avLst/>
          </a:prstGeom>
          <a:noFill/>
          <a:ln/>
        </p:spPr>
        <p:txBody>
          <a:bodyPr wrap="square" lIns="0" tIns="0" rIns="0" bIns="0" rtlCol="0" anchor="ctr"/>
          <a:lstStyle/>
          <a:p>
            <a:pPr algn="l" indent="0" marL="0">
              <a:buNone/>
            </a:pPr>
            <a:r>
              <a:rPr lang="en-US" sz="1100" b="1" spc="200" kern="0" dirty="0">
                <a:solidFill>
                  <a:schemeClr val="accent4"/>
                </a:solidFill>
              </a:rPr>
              <a:t>users</a:t>
            </a:r>
            <a:endParaRPr lang="en-US" sz="1100" dirty="0"/>
          </a:p>
        </p:txBody>
      </p:sp>
      <p:sp>
        <p:nvSpPr>
          <p:cNvPr id="30" name="text-616"/>
          <p:cNvSpPr txBox="1"/>
          <p:nvPr/>
        </p:nvSpPr>
        <p:spPr>
          <a:xfrm>
            <a:off x="9509760" y="2880360"/>
            <a:ext cx="1737360" cy="274320"/>
          </a:xfrm>
          <a:prstGeom prst="rect">
            <a:avLst/>
          </a:prstGeom>
          <a:noFill/>
          <a:ln/>
        </p:spPr>
        <p:txBody>
          <a:bodyPr wrap="square" lIns="0" tIns="0" rIns="0" bIns="0" rtlCol="0" anchor="ctr"/>
          <a:lstStyle/>
          <a:p>
            <a:pPr algn="l" indent="0" marL="0">
              <a:buNone/>
            </a:pPr>
            <a:r>
              <a:rPr lang="en-US" sz="1100" b="1" spc="200" kern="0" dirty="0">
                <a:solidFill>
                  <a:schemeClr val="accent4"/>
                </a:solidFill>
              </a:rPr>
              <a:t>orders</a:t>
            </a:r>
            <a:endParaRPr lang="en-US" sz="1100" dirty="0"/>
          </a:p>
        </p:txBody>
      </p:sp>
      <p:sp>
        <p:nvSpPr>
          <p:cNvPr id="31" name="box-617"/>
          <p:cNvSpPr/>
          <p:nvPr/>
        </p:nvSpPr>
        <p:spPr>
          <a:xfrm>
            <a:off x="6583680" y="3200400"/>
            <a:ext cx="1463040" cy="457200"/>
          </a:xfrm>
          <a:prstGeom prst="roundRect">
            <a:avLst>
              <a:gd name="adj" fmla="val 16000"/>
            </a:avLst>
          </a:prstGeom>
          <a:solidFill>
            <a:schemeClr val="accent2">
              <a:alpha val="45000"/>
            </a:schemeClr>
          </a:solidFill>
          <a:ln w="12700">
            <a:solidFill>
              <a:schemeClr val="accent3"/>
            </a:solidFill>
            <a:prstDash val="solid"/>
          </a:ln>
        </p:spPr>
      </p:sp>
      <p:sp>
        <p:nvSpPr>
          <p:cNvPr id="32" name="text-618"/>
          <p:cNvSpPr txBox="1"/>
          <p:nvPr/>
        </p:nvSpPr>
        <p:spPr>
          <a:xfrm>
            <a:off x="6583680" y="3200400"/>
            <a:ext cx="1463040" cy="457200"/>
          </a:xfrm>
          <a:prstGeom prst="rect">
            <a:avLst/>
          </a:prstGeom>
          <a:noFill/>
          <a:ln/>
        </p:spPr>
        <p:txBody>
          <a:bodyPr wrap="square" lIns="0" tIns="0" rIns="0" bIns="0" rtlCol="0" anchor="ctr"/>
          <a:lstStyle/>
          <a:p>
            <a:pPr algn="ctr" indent="0" marL="0">
              <a:buNone/>
            </a:pPr>
            <a:r>
              <a:rPr lang="en-US" sz="1400" b="1" dirty="0">
                <a:solidFill>
                  <a:schemeClr val="tx1"/>
                </a:solidFill>
              </a:rPr>
              <a:t>Ada</a:t>
            </a:r>
            <a:endParaRPr lang="en-US" sz="1400" dirty="0"/>
          </a:p>
        </p:txBody>
      </p:sp>
      <p:sp>
        <p:nvSpPr>
          <p:cNvPr id="33" name="line-619"/>
          <p:cNvSpPr/>
          <p:nvPr/>
        </p:nvSpPr>
        <p:spPr>
          <a:xfrm>
            <a:off x="8046720" y="3429000"/>
            <a:ext cx="1463040" cy="91"/>
          </a:xfrm>
          <a:prstGeom prst="line">
            <a:avLst/>
          </a:prstGeom>
          <a:noFill/>
          <a:ln w="25400">
            <a:solidFill>
              <a:schemeClr val="accent3"/>
            </a:solidFill>
            <a:prstDash val="solid"/>
          </a:ln>
        </p:spPr>
      </p:sp>
      <p:sp>
        <p:nvSpPr>
          <p:cNvPr id="34" name="box-620"/>
          <p:cNvSpPr/>
          <p:nvPr/>
        </p:nvSpPr>
        <p:spPr>
          <a:xfrm>
            <a:off x="9509760" y="3200400"/>
            <a:ext cx="1737360" cy="457200"/>
          </a:xfrm>
          <a:prstGeom prst="roundRect">
            <a:avLst>
              <a:gd name="adj" fmla="val 16000"/>
            </a:avLst>
          </a:prstGeom>
          <a:solidFill>
            <a:schemeClr val="accent2">
              <a:alpha val="45000"/>
            </a:schemeClr>
          </a:solidFill>
          <a:ln w="12700">
            <a:solidFill>
              <a:schemeClr val="accent3"/>
            </a:solidFill>
            <a:prstDash val="solid"/>
          </a:ln>
        </p:spPr>
      </p:sp>
      <p:sp>
        <p:nvSpPr>
          <p:cNvPr id="35" name="text-621"/>
          <p:cNvSpPr txBox="1"/>
          <p:nvPr/>
        </p:nvSpPr>
        <p:spPr>
          <a:xfrm>
            <a:off x="9509760" y="3200400"/>
            <a:ext cx="1737360" cy="457200"/>
          </a:xfrm>
          <a:prstGeom prst="rect">
            <a:avLst/>
          </a:prstGeom>
          <a:noFill/>
          <a:ln/>
        </p:spPr>
        <p:txBody>
          <a:bodyPr wrap="square" lIns="0" tIns="0" rIns="0" bIns="0" rtlCol="0" anchor="ctr"/>
          <a:lstStyle/>
          <a:p>
            <a:pPr algn="ctr" indent="0" marL="0">
              <a:buNone/>
            </a:pPr>
            <a:r>
              <a:rPr lang="en-US" sz="1400" dirty="0">
                <a:solidFill>
                  <a:schemeClr val="tx1"/>
                </a:solidFill>
                <a:latin typeface="Roboto Mono" pitchFamily="34" charset="0"/>
                <a:ea typeface="Roboto Mono" pitchFamily="34" charset="-122"/>
                <a:cs typeface="Roboto Mono" pitchFamily="34" charset="-120"/>
              </a:rPr>
              <a:t>#101</a:t>
            </a:r>
            <a:endParaRPr lang="en-US" sz="1400" dirty="0"/>
          </a:p>
        </p:txBody>
      </p:sp>
      <p:sp>
        <p:nvSpPr>
          <p:cNvPr id="36" name="box-622"/>
          <p:cNvSpPr/>
          <p:nvPr/>
        </p:nvSpPr>
        <p:spPr>
          <a:xfrm>
            <a:off x="6583680" y="3822192"/>
            <a:ext cx="1463040" cy="457200"/>
          </a:xfrm>
          <a:prstGeom prst="roundRect">
            <a:avLst>
              <a:gd name="adj" fmla="val 16000"/>
            </a:avLst>
          </a:prstGeom>
          <a:solidFill>
            <a:schemeClr val="accent2">
              <a:alpha val="45000"/>
            </a:schemeClr>
          </a:solidFill>
          <a:ln w="12700">
            <a:solidFill>
              <a:schemeClr val="accent3"/>
            </a:solidFill>
            <a:prstDash val="solid"/>
          </a:ln>
        </p:spPr>
      </p:sp>
      <p:sp>
        <p:nvSpPr>
          <p:cNvPr id="37" name="text-623"/>
          <p:cNvSpPr txBox="1"/>
          <p:nvPr/>
        </p:nvSpPr>
        <p:spPr>
          <a:xfrm>
            <a:off x="6583680" y="3822192"/>
            <a:ext cx="1463040" cy="457200"/>
          </a:xfrm>
          <a:prstGeom prst="rect">
            <a:avLst/>
          </a:prstGeom>
          <a:noFill/>
          <a:ln/>
        </p:spPr>
        <p:txBody>
          <a:bodyPr wrap="square" lIns="0" tIns="0" rIns="0" bIns="0" rtlCol="0" anchor="ctr"/>
          <a:lstStyle/>
          <a:p>
            <a:pPr algn="ctr" indent="0" marL="0">
              <a:buNone/>
            </a:pPr>
            <a:r>
              <a:rPr lang="en-US" sz="1400" b="1" dirty="0">
                <a:solidFill>
                  <a:schemeClr val="tx1"/>
                </a:solidFill>
              </a:rPr>
              <a:t>Bola</a:t>
            </a:r>
            <a:endParaRPr lang="en-US" sz="1400" dirty="0"/>
          </a:p>
        </p:txBody>
      </p:sp>
      <p:sp>
        <p:nvSpPr>
          <p:cNvPr id="38" name="line-624"/>
          <p:cNvSpPr/>
          <p:nvPr/>
        </p:nvSpPr>
        <p:spPr>
          <a:xfrm>
            <a:off x="8046720" y="4050792"/>
            <a:ext cx="1463040" cy="91"/>
          </a:xfrm>
          <a:prstGeom prst="line">
            <a:avLst/>
          </a:prstGeom>
          <a:noFill/>
          <a:ln w="12700">
            <a:solidFill>
              <a:schemeClr val="accent4"/>
            </a:solidFill>
            <a:prstDash val="dash"/>
          </a:ln>
        </p:spPr>
      </p:sp>
      <p:sp>
        <p:nvSpPr>
          <p:cNvPr id="39" name="box-625"/>
          <p:cNvSpPr/>
          <p:nvPr/>
        </p:nvSpPr>
        <p:spPr>
          <a:xfrm>
            <a:off x="9509760" y="3822192"/>
            <a:ext cx="1737360" cy="457200"/>
          </a:xfrm>
          <a:prstGeom prst="roundRect">
            <a:avLst>
              <a:gd name="adj" fmla="val 16000"/>
            </a:avLst>
          </a:prstGeom>
          <a:ln w="12700">
            <a:solidFill>
              <a:schemeClr val="accent4"/>
            </a:solidFill>
            <a:prstDash val="dash"/>
          </a:ln>
        </p:spPr>
      </p:sp>
      <p:sp>
        <p:nvSpPr>
          <p:cNvPr id="40" name="text-626"/>
          <p:cNvSpPr txBox="1"/>
          <p:nvPr/>
        </p:nvSpPr>
        <p:spPr>
          <a:xfrm>
            <a:off x="9509760" y="3822192"/>
            <a:ext cx="1737360" cy="457200"/>
          </a:xfrm>
          <a:prstGeom prst="rect">
            <a:avLst/>
          </a:prstGeom>
          <a:noFill/>
          <a:ln/>
        </p:spPr>
        <p:txBody>
          <a:bodyPr wrap="square" lIns="0" tIns="0" rIns="0" bIns="0" rtlCol="0" anchor="ctr"/>
          <a:lstStyle/>
          <a:p>
            <a:pPr algn="ctr" indent="0" marL="0">
              <a:buNone/>
            </a:pPr>
            <a:r>
              <a:rPr lang="en-US" sz="1400" dirty="0">
                <a:solidFill>
                  <a:schemeClr val="accent4"/>
                </a:solidFill>
                <a:latin typeface="Roboto Mono" pitchFamily="34" charset="0"/>
                <a:ea typeface="Roboto Mono" pitchFamily="34" charset="-122"/>
                <a:cs typeface="Roboto Mono" pitchFamily="34" charset="-120"/>
              </a:rPr>
              <a:t>NULL</a:t>
            </a:r>
            <a:endParaRPr lang="en-US" sz="1400" dirty="0"/>
          </a:p>
        </p:txBody>
      </p:sp>
      <p:sp>
        <p:nvSpPr>
          <p:cNvPr id="41" name="box-627"/>
          <p:cNvSpPr/>
          <p:nvPr/>
        </p:nvSpPr>
        <p:spPr>
          <a:xfrm>
            <a:off x="6583680" y="4443984"/>
            <a:ext cx="1463040" cy="457200"/>
          </a:xfrm>
          <a:prstGeom prst="roundRect">
            <a:avLst>
              <a:gd name="adj" fmla="val 16000"/>
            </a:avLst>
          </a:prstGeom>
          <a:solidFill>
            <a:schemeClr val="accent2">
              <a:alpha val="45000"/>
            </a:schemeClr>
          </a:solidFill>
          <a:ln w="12700">
            <a:solidFill>
              <a:schemeClr val="accent3"/>
            </a:solidFill>
            <a:prstDash val="solid"/>
          </a:ln>
        </p:spPr>
      </p:sp>
      <p:sp>
        <p:nvSpPr>
          <p:cNvPr id="42" name="text-628"/>
          <p:cNvSpPr txBox="1"/>
          <p:nvPr/>
        </p:nvSpPr>
        <p:spPr>
          <a:xfrm>
            <a:off x="6583680" y="4443984"/>
            <a:ext cx="1463040" cy="457200"/>
          </a:xfrm>
          <a:prstGeom prst="rect">
            <a:avLst/>
          </a:prstGeom>
          <a:noFill/>
          <a:ln/>
        </p:spPr>
        <p:txBody>
          <a:bodyPr wrap="square" lIns="0" tIns="0" rIns="0" bIns="0" rtlCol="0" anchor="ctr"/>
          <a:lstStyle/>
          <a:p>
            <a:pPr algn="ctr" indent="0" marL="0">
              <a:buNone/>
            </a:pPr>
            <a:r>
              <a:rPr lang="en-US" sz="1400" b="1" dirty="0">
                <a:solidFill>
                  <a:schemeClr val="tx1"/>
                </a:solidFill>
              </a:rPr>
              <a:t>Chidi</a:t>
            </a:r>
            <a:endParaRPr lang="en-US" sz="1400" dirty="0"/>
          </a:p>
        </p:txBody>
      </p:sp>
      <p:sp>
        <p:nvSpPr>
          <p:cNvPr id="43" name="line-629"/>
          <p:cNvSpPr/>
          <p:nvPr/>
        </p:nvSpPr>
        <p:spPr>
          <a:xfrm>
            <a:off x="8046720" y="4672584"/>
            <a:ext cx="1463040" cy="91"/>
          </a:xfrm>
          <a:prstGeom prst="line">
            <a:avLst/>
          </a:prstGeom>
          <a:noFill/>
          <a:ln w="25400">
            <a:solidFill>
              <a:schemeClr val="accent3"/>
            </a:solidFill>
            <a:prstDash val="solid"/>
          </a:ln>
        </p:spPr>
      </p:sp>
      <p:sp>
        <p:nvSpPr>
          <p:cNvPr id="44" name="box-630"/>
          <p:cNvSpPr/>
          <p:nvPr/>
        </p:nvSpPr>
        <p:spPr>
          <a:xfrm>
            <a:off x="9509760" y="4443984"/>
            <a:ext cx="1737360" cy="457200"/>
          </a:xfrm>
          <a:prstGeom prst="roundRect">
            <a:avLst>
              <a:gd name="adj" fmla="val 16000"/>
            </a:avLst>
          </a:prstGeom>
          <a:solidFill>
            <a:schemeClr val="accent2">
              <a:alpha val="45000"/>
            </a:schemeClr>
          </a:solidFill>
          <a:ln w="12700">
            <a:solidFill>
              <a:schemeClr val="accent3"/>
            </a:solidFill>
            <a:prstDash val="solid"/>
          </a:ln>
        </p:spPr>
      </p:sp>
      <p:sp>
        <p:nvSpPr>
          <p:cNvPr id="45" name="text-631"/>
          <p:cNvSpPr txBox="1"/>
          <p:nvPr/>
        </p:nvSpPr>
        <p:spPr>
          <a:xfrm>
            <a:off x="9509760" y="4443984"/>
            <a:ext cx="1737360" cy="457200"/>
          </a:xfrm>
          <a:prstGeom prst="rect">
            <a:avLst/>
          </a:prstGeom>
          <a:noFill/>
          <a:ln/>
        </p:spPr>
        <p:txBody>
          <a:bodyPr wrap="square" lIns="0" tIns="0" rIns="0" bIns="0" rtlCol="0" anchor="ctr"/>
          <a:lstStyle/>
          <a:p>
            <a:pPr algn="ctr" indent="0" marL="0">
              <a:buNone/>
            </a:pPr>
            <a:r>
              <a:rPr lang="en-US" sz="1400" dirty="0">
                <a:solidFill>
                  <a:schemeClr val="tx1"/>
                </a:solidFill>
                <a:latin typeface="Roboto Mono" pitchFamily="34" charset="0"/>
                <a:ea typeface="Roboto Mono" pitchFamily="34" charset="-122"/>
                <a:cs typeface="Roboto Mono" pitchFamily="34" charset="-120"/>
              </a:rPr>
              <a:t>#103</a:t>
            </a:r>
            <a:endParaRPr lang="en-US" sz="1400" dirty="0"/>
          </a:p>
        </p:txBody>
      </p:sp>
      <p:sp>
        <p:nvSpPr>
          <p:cNvPr id="46" name="box-632"/>
          <p:cNvSpPr/>
          <p:nvPr/>
        </p:nvSpPr>
        <p:spPr>
          <a:xfrm>
            <a:off x="6583680" y="5065776"/>
            <a:ext cx="1463040" cy="457200"/>
          </a:xfrm>
          <a:prstGeom prst="roundRect">
            <a:avLst>
              <a:gd name="adj" fmla="val 16000"/>
            </a:avLst>
          </a:prstGeom>
          <a:solidFill>
            <a:schemeClr val="accent2">
              <a:alpha val="45000"/>
            </a:schemeClr>
          </a:solidFill>
          <a:ln w="12700">
            <a:solidFill>
              <a:schemeClr val="accent3"/>
            </a:solidFill>
            <a:prstDash val="solid"/>
          </a:ln>
        </p:spPr>
      </p:sp>
      <p:sp>
        <p:nvSpPr>
          <p:cNvPr id="47" name="text-633"/>
          <p:cNvSpPr txBox="1"/>
          <p:nvPr/>
        </p:nvSpPr>
        <p:spPr>
          <a:xfrm>
            <a:off x="6583680" y="5065776"/>
            <a:ext cx="1463040" cy="457200"/>
          </a:xfrm>
          <a:prstGeom prst="rect">
            <a:avLst/>
          </a:prstGeom>
          <a:noFill/>
          <a:ln/>
        </p:spPr>
        <p:txBody>
          <a:bodyPr wrap="square" lIns="0" tIns="0" rIns="0" bIns="0" rtlCol="0" anchor="ctr"/>
          <a:lstStyle/>
          <a:p>
            <a:pPr algn="ctr" indent="0" marL="0">
              <a:buNone/>
            </a:pPr>
            <a:r>
              <a:rPr lang="en-US" sz="1400" b="1" dirty="0">
                <a:solidFill>
                  <a:schemeClr val="tx1"/>
                </a:solidFill>
              </a:rPr>
              <a:t>Dayo</a:t>
            </a:r>
            <a:endParaRPr lang="en-US" sz="1400" dirty="0"/>
          </a:p>
        </p:txBody>
      </p:sp>
      <p:sp>
        <p:nvSpPr>
          <p:cNvPr id="48" name="line-634"/>
          <p:cNvSpPr/>
          <p:nvPr/>
        </p:nvSpPr>
        <p:spPr>
          <a:xfrm>
            <a:off x="8046720" y="5294376"/>
            <a:ext cx="1463040" cy="91"/>
          </a:xfrm>
          <a:prstGeom prst="line">
            <a:avLst/>
          </a:prstGeom>
          <a:noFill/>
          <a:ln w="12700">
            <a:solidFill>
              <a:schemeClr val="accent4"/>
            </a:solidFill>
            <a:prstDash val="dash"/>
          </a:ln>
        </p:spPr>
      </p:sp>
      <p:sp>
        <p:nvSpPr>
          <p:cNvPr id="49" name="box-635"/>
          <p:cNvSpPr/>
          <p:nvPr/>
        </p:nvSpPr>
        <p:spPr>
          <a:xfrm>
            <a:off x="9509760" y="5065776"/>
            <a:ext cx="1737360" cy="457200"/>
          </a:xfrm>
          <a:prstGeom prst="roundRect">
            <a:avLst>
              <a:gd name="adj" fmla="val 16000"/>
            </a:avLst>
          </a:prstGeom>
          <a:ln w="12700">
            <a:solidFill>
              <a:schemeClr val="accent4"/>
            </a:solidFill>
            <a:prstDash val="dash"/>
          </a:ln>
        </p:spPr>
      </p:sp>
      <p:sp>
        <p:nvSpPr>
          <p:cNvPr id="50" name="text-636"/>
          <p:cNvSpPr txBox="1"/>
          <p:nvPr/>
        </p:nvSpPr>
        <p:spPr>
          <a:xfrm>
            <a:off x="9509760" y="5065776"/>
            <a:ext cx="1737360" cy="457200"/>
          </a:xfrm>
          <a:prstGeom prst="rect">
            <a:avLst/>
          </a:prstGeom>
          <a:noFill/>
          <a:ln/>
        </p:spPr>
        <p:txBody>
          <a:bodyPr wrap="square" lIns="0" tIns="0" rIns="0" bIns="0" rtlCol="0" anchor="ctr"/>
          <a:lstStyle/>
          <a:p>
            <a:pPr algn="ctr" indent="0" marL="0">
              <a:buNone/>
            </a:pPr>
            <a:r>
              <a:rPr lang="en-US" sz="1400" dirty="0">
                <a:solidFill>
                  <a:schemeClr val="accent4"/>
                </a:solidFill>
                <a:latin typeface="Roboto Mono" pitchFamily="34" charset="0"/>
                <a:ea typeface="Roboto Mono" pitchFamily="34" charset="-122"/>
                <a:cs typeface="Roboto Mono" pitchFamily="34" charset="-120"/>
              </a:rPr>
              <a:t>NULL</a:t>
            </a:r>
            <a:endParaRPr lang="en-US" sz="1400" dirty="0"/>
          </a:p>
        </p:txBody>
      </p:sp>
      <p:sp>
        <p:nvSpPr>
          <p:cNvPr id="51" name="box-637"/>
          <p:cNvSpPr/>
          <p:nvPr/>
        </p:nvSpPr>
        <p:spPr>
          <a:xfrm>
            <a:off x="548640" y="5925312"/>
            <a:ext cx="1097280" cy="329184"/>
          </a:xfrm>
          <a:prstGeom prst="roundRect">
            <a:avLst>
              <a:gd name="adj" fmla="val 33333"/>
            </a:avLst>
          </a:prstGeom>
          <a:solidFill>
            <a:schemeClr val="accent5"/>
          </a:solidFill>
          <a:ln/>
        </p:spPr>
      </p:sp>
      <p:sp>
        <p:nvSpPr>
          <p:cNvPr id="52" name="text-638"/>
          <p:cNvSpPr txBox="1"/>
          <p:nvPr/>
        </p:nvSpPr>
        <p:spPr>
          <a:xfrm>
            <a:off x="621792" y="5925312"/>
            <a:ext cx="950976" cy="329184"/>
          </a:xfrm>
          <a:prstGeom prst="rect">
            <a:avLst/>
          </a:prstGeom>
          <a:noFill/>
          <a:ln/>
        </p:spPr>
        <p:txBody>
          <a:bodyPr wrap="square" lIns="0" tIns="0" rIns="0" bIns="0" rtlCol="0" anchor="ctr"/>
          <a:lstStyle/>
          <a:p>
            <a:pPr algn="ctr" indent="0" marL="0">
              <a:buNone/>
            </a:pPr>
            <a:r>
              <a:rPr lang="en-US" sz="1100" b="1" dirty="0">
                <a:solidFill>
                  <a:schemeClr val="tx1"/>
                </a:solidFill>
                <a:latin typeface="Roboto Mono" pitchFamily="34" charset="0"/>
                <a:ea typeface="Roboto Mono" pitchFamily="34" charset="-122"/>
                <a:cs typeface="Roboto Mono" pitchFamily="34" charset="-120"/>
              </a:rPr>
              <a:t>RIGHT</a:t>
            </a:r>
            <a:endParaRPr lang="en-US" sz="1100" dirty="0"/>
          </a:p>
        </p:txBody>
      </p:sp>
      <p:sp>
        <p:nvSpPr>
          <p:cNvPr id="53" name="box-639"/>
          <p:cNvSpPr/>
          <p:nvPr/>
        </p:nvSpPr>
        <p:spPr>
          <a:xfrm>
            <a:off x="1783080" y="5925312"/>
            <a:ext cx="1097280" cy="329184"/>
          </a:xfrm>
          <a:prstGeom prst="roundRect">
            <a:avLst>
              <a:gd name="adj" fmla="val 33333"/>
            </a:avLst>
          </a:prstGeom>
          <a:solidFill>
            <a:schemeClr val="accent5"/>
          </a:solidFill>
          <a:ln/>
        </p:spPr>
      </p:sp>
      <p:sp>
        <p:nvSpPr>
          <p:cNvPr id="54" name="text-640"/>
          <p:cNvSpPr txBox="1"/>
          <p:nvPr/>
        </p:nvSpPr>
        <p:spPr>
          <a:xfrm>
            <a:off x="1856232" y="5925312"/>
            <a:ext cx="950976" cy="329184"/>
          </a:xfrm>
          <a:prstGeom prst="rect">
            <a:avLst/>
          </a:prstGeom>
          <a:noFill/>
          <a:ln/>
        </p:spPr>
        <p:txBody>
          <a:bodyPr wrap="square" lIns="0" tIns="0" rIns="0" bIns="0" rtlCol="0" anchor="ctr"/>
          <a:lstStyle/>
          <a:p>
            <a:pPr algn="ctr" indent="0" marL="0">
              <a:buNone/>
            </a:pPr>
            <a:r>
              <a:rPr lang="en-US" sz="1100" b="1" dirty="0">
                <a:solidFill>
                  <a:schemeClr val="tx1"/>
                </a:solidFill>
                <a:latin typeface="Roboto Mono" pitchFamily="34" charset="0"/>
                <a:ea typeface="Roboto Mono" pitchFamily="34" charset="-122"/>
                <a:cs typeface="Roboto Mono" pitchFamily="34" charset="-120"/>
              </a:rPr>
              <a:t>FULL</a:t>
            </a:r>
            <a:endParaRPr lang="en-US" sz="1100" dirty="0"/>
          </a:p>
        </p:txBody>
      </p:sp>
      <p:sp>
        <p:nvSpPr>
          <p:cNvPr id="55" name="box-641"/>
          <p:cNvSpPr/>
          <p:nvPr/>
        </p:nvSpPr>
        <p:spPr>
          <a:xfrm>
            <a:off x="3017520" y="5925312"/>
            <a:ext cx="1097280" cy="329184"/>
          </a:xfrm>
          <a:prstGeom prst="roundRect">
            <a:avLst>
              <a:gd name="adj" fmla="val 33333"/>
            </a:avLst>
          </a:prstGeom>
          <a:solidFill>
            <a:schemeClr val="accent5"/>
          </a:solidFill>
          <a:ln/>
        </p:spPr>
      </p:sp>
      <p:sp>
        <p:nvSpPr>
          <p:cNvPr id="56" name="text-642"/>
          <p:cNvSpPr txBox="1"/>
          <p:nvPr/>
        </p:nvSpPr>
        <p:spPr>
          <a:xfrm>
            <a:off x="3090672" y="5925312"/>
            <a:ext cx="950976" cy="329184"/>
          </a:xfrm>
          <a:prstGeom prst="rect">
            <a:avLst/>
          </a:prstGeom>
          <a:noFill/>
          <a:ln/>
        </p:spPr>
        <p:txBody>
          <a:bodyPr wrap="square" lIns="0" tIns="0" rIns="0" bIns="0" rtlCol="0" anchor="ctr"/>
          <a:lstStyle/>
          <a:p>
            <a:pPr algn="ctr" indent="0" marL="0">
              <a:buNone/>
            </a:pPr>
            <a:r>
              <a:rPr lang="en-US" sz="1100" b="1" dirty="0">
                <a:solidFill>
                  <a:schemeClr val="tx1"/>
                </a:solidFill>
                <a:latin typeface="Roboto Mono" pitchFamily="34" charset="0"/>
                <a:ea typeface="Roboto Mono" pitchFamily="34" charset="-122"/>
                <a:cs typeface="Roboto Mono" pitchFamily="34" charset="-120"/>
              </a:rPr>
              <a:t>CROSS</a:t>
            </a:r>
            <a:endParaRPr lang="en-US" sz="1100" dirty="0"/>
          </a:p>
        </p:txBody>
      </p:sp>
      <p:sp>
        <p:nvSpPr>
          <p:cNvPr id="57" name="box-643"/>
          <p:cNvSpPr/>
          <p:nvPr/>
        </p:nvSpPr>
        <p:spPr>
          <a:xfrm>
            <a:off x="4251960" y="5925312"/>
            <a:ext cx="1097280" cy="329184"/>
          </a:xfrm>
          <a:prstGeom prst="roundRect">
            <a:avLst>
              <a:gd name="adj" fmla="val 33333"/>
            </a:avLst>
          </a:prstGeom>
          <a:solidFill>
            <a:schemeClr val="accent5"/>
          </a:solidFill>
          <a:ln/>
        </p:spPr>
      </p:sp>
      <p:sp>
        <p:nvSpPr>
          <p:cNvPr id="58" name="text-644"/>
          <p:cNvSpPr txBox="1"/>
          <p:nvPr/>
        </p:nvSpPr>
        <p:spPr>
          <a:xfrm>
            <a:off x="4325112" y="5925312"/>
            <a:ext cx="950976" cy="329184"/>
          </a:xfrm>
          <a:prstGeom prst="rect">
            <a:avLst/>
          </a:prstGeom>
          <a:noFill/>
          <a:ln/>
        </p:spPr>
        <p:txBody>
          <a:bodyPr wrap="square" lIns="0" tIns="0" rIns="0" bIns="0" rtlCol="0" anchor="ctr"/>
          <a:lstStyle/>
          <a:p>
            <a:pPr algn="ctr" indent="0" marL="0">
              <a:buNone/>
            </a:pPr>
            <a:r>
              <a:rPr lang="en-US" sz="1100" b="1" dirty="0">
                <a:solidFill>
                  <a:schemeClr val="tx1"/>
                </a:solidFill>
                <a:latin typeface="Roboto Mono" pitchFamily="34" charset="0"/>
                <a:ea typeface="Roboto Mono" pitchFamily="34" charset="-122"/>
                <a:cs typeface="Roboto Mono" pitchFamily="34" charset="-120"/>
              </a:rPr>
              <a:t>SELF</a:t>
            </a:r>
            <a:endParaRPr lang="en-US" sz="1100" dirty="0"/>
          </a:p>
        </p:txBody>
      </p:sp>
      <p:sp>
        <p:nvSpPr>
          <p:cNvPr id="59" name="text-645"/>
          <p:cNvSpPr txBox="1"/>
          <p:nvPr/>
        </p:nvSpPr>
        <p:spPr>
          <a:xfrm>
            <a:off x="5532120" y="5925312"/>
            <a:ext cx="1828800" cy="329184"/>
          </a:xfrm>
          <a:prstGeom prst="rect">
            <a:avLst/>
          </a:prstGeom>
          <a:noFill/>
          <a:ln/>
        </p:spPr>
        <p:txBody>
          <a:bodyPr wrap="square" lIns="0" tIns="0" rIns="0" bIns="0" rtlCol="0" anchor="ctr"/>
          <a:lstStyle/>
          <a:p>
            <a:pPr algn="l" indent="0" marL="0">
              <a:buNone/>
            </a:pPr>
            <a:r>
              <a:rPr lang="en-US" sz="1200" dirty="0">
                <a:solidFill>
                  <a:schemeClr val="accent4"/>
                </a:solidFill>
              </a:rPr>
              <a:t>also exist</a:t>
            </a:r>
            <a:endParaRPr lang="en-US" sz="1200" dirty="0"/>
          </a:p>
        </p:txBody>
      </p:sp>
      <p:pic>
        <p:nvPicPr>
          <p:cNvPr id="60" name="Image 0" descr="Search icon">    </p:cNvPr>
          <p:cNvPicPr>
            <a:picLocks noChangeAspect="1"/>
          </p:cNvPicPr>
          <p:nvPr/>
        </p:nvPicPr>
        <p:blipFill>
          <a:blip r:embed="rId1"/>
          <a:stretch>
            <a:fillRect/>
          </a:stretch>
        </p:blipFill>
        <p:spPr>
          <a:xfrm>
            <a:off x="640812" y="476220"/>
            <a:ext cx="199705" cy="199705"/>
          </a:xfrm>
          <a:prstGeom prst="rect">
            <a:avLst/>
          </a:prstGeom>
        </p:spPr>
      </p:pic>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dot-646"/>
          <p:cNvSpPr/>
          <p:nvPr/>
        </p:nvSpPr>
        <p:spPr>
          <a:xfrm>
            <a:off x="548640" y="384048"/>
            <a:ext cx="384048" cy="384048"/>
          </a:xfrm>
          <a:prstGeom prst="ellipse">
            <a:avLst/>
          </a:prstGeom>
          <a:solidFill>
            <a:schemeClr val="accent2"/>
          </a:solidFill>
          <a:ln/>
        </p:spPr>
      </p:sp>
      <p:sp>
        <p:nvSpPr>
          <p:cNvPr id="3" name="Text 1"/>
          <p:cNvSpPr/>
          <p:nvPr>
            <p:ph idx="101" type="body" hasCustomPrompt="1"/>
          </p:nvPr>
        </p:nvSpPr>
        <p:spPr>
          <a:xfrm>
            <a:off x="1051560" y="384048"/>
            <a:ext cx="9601200" cy="384048"/>
          </a:xfrm>
          <a:prstGeom prst="rect">
            <a:avLst/>
          </a:prstGeom>
          <a:noFill/>
          <a:ln/>
        </p:spPr>
        <p:txBody>
          <a:bodyPr wrap="square" lIns="0" tIns="0" rIns="0" bIns="0" rtlCol="0" anchor="ctr"/>
          <a:lstStyle/>
          <a:p>
            <a:pPr indent="0" marL="0">
              <a:buNone/>
            </a:pPr>
            <a:r>
              <a:rPr lang="en-US" sz="1300" b="1" spc="300" kern="0" dirty="0">
                <a:solidFill>
                  <a:schemeClr val="tx2"/>
                </a:solidFill>
              </a:rPr>
              <a:t>L2  ·  QUERY  ·  3.7 JOINS</a:t>
            </a:r>
            <a:endParaRPr lang="en-US" sz="1300" dirty="0"/>
          </a:p>
        </p:txBody>
      </p:sp>
      <p:sp>
        <p:nvSpPr>
          <p:cNvPr id="4" name="Text 1"/>
          <p:cNvSpPr/>
          <p:nvPr>
            <p:ph idx="102" type="title" hasCustomPrompt="1"/>
          </p:nvPr>
        </p:nvSpPr>
        <p:spPr>
          <a:xfrm>
            <a:off x="548640" y="841248"/>
            <a:ext cx="11064240" cy="777240"/>
          </a:xfrm>
          <a:prstGeom prst="rect">
            <a:avLst/>
          </a:prstGeom>
          <a:noFill/>
          <a:ln/>
        </p:spPr>
        <p:txBody>
          <a:bodyPr wrap="square" lIns="0" tIns="0" rIns="0" bIns="0" rtlCol="0" anchor="ctr"/>
          <a:lstStyle/>
          <a:p>
            <a:pPr algn="l" indent="0" marL="0">
              <a:buNone/>
            </a:pPr>
            <a:r>
              <a:rPr lang="en-US" sz="3800" b="1" dirty="0">
                <a:solidFill>
                  <a:schemeClr val="tx1"/>
                </a:solidFill>
              </a:rPr>
              <a:t>Filter in ON, not WHERE</a:t>
            </a:r>
            <a:endParaRPr lang="en-US" sz="3800" dirty="0"/>
          </a:p>
        </p:txBody>
      </p:sp>
      <p:sp>
        <p:nvSpPr>
          <p:cNvPr id="5" name="Text 1"/>
          <p:cNvSpPr/>
          <p:nvPr>
            <p:ph idx="103" type="body" hasCustomPrompt="1"/>
          </p:nvPr>
        </p:nvSpPr>
        <p:spPr>
          <a:xfrm>
            <a:off x="548640" y="1627632"/>
            <a:ext cx="11064240" cy="457200"/>
          </a:xfrm>
          <a:prstGeom prst="rect">
            <a:avLst/>
          </a:prstGeom>
          <a:noFill/>
          <a:ln/>
        </p:spPr>
        <p:txBody>
          <a:bodyPr wrap="square" lIns="0" tIns="0" rIns="0" bIns="0" rtlCol="0" anchor="t"/>
          <a:lstStyle/>
          <a:p>
            <a:pPr indent="0" marL="0">
              <a:buNone/>
            </a:pPr>
            <a:r>
              <a:rPr lang="en-US" sz="2000" dirty="0">
                <a:solidFill>
                  <a:schemeClr val="tx2"/>
                </a:solidFill>
              </a:rPr>
              <a:t>WHERE on the right table turns LEFT into INNER</a:t>
            </a:r>
            <a:endParaRPr lang="en-US" sz="2000" dirty="0"/>
          </a:p>
        </p:txBody>
      </p:sp>
      <p:sp>
        <p:nvSpPr>
          <p:cNvPr id="7" name="box-647"/>
          <p:cNvSpPr/>
          <p:nvPr/>
        </p:nvSpPr>
        <p:spPr>
          <a:xfrm>
            <a:off x="548640" y="2240280"/>
            <a:ext cx="5394960" cy="1463040"/>
          </a:xfrm>
          <a:prstGeom prst="roundRect">
            <a:avLst>
              <a:gd name="adj" fmla="val 6250"/>
            </a:avLst>
          </a:prstGeom>
          <a:solidFill>
            <a:schemeClr val="tx1"/>
          </a:solidFill>
          <a:ln/>
        </p:spPr>
      </p:sp>
      <p:sp>
        <p:nvSpPr>
          <p:cNvPr id="8" name="code-648"/>
          <p:cNvSpPr txBox="1"/>
          <p:nvPr/>
        </p:nvSpPr>
        <p:spPr>
          <a:xfrm>
            <a:off x="822960" y="2423160"/>
            <a:ext cx="4846320" cy="1097280"/>
          </a:xfrm>
          <a:prstGeom prst="rect">
            <a:avLst/>
          </a:prstGeom>
          <a:noFill/>
          <a:ln/>
        </p:spPr>
        <p:txBody>
          <a:bodyPr wrap="square" lIns="0" tIns="0" rIns="0" bIns="0" rtlCol="0" anchor="ctr"/>
          <a:lstStyle/>
          <a:p>
            <a:pPr indent="0" marL="0">
              <a:lnSpc>
                <a:spcPct val="125000"/>
              </a:lnSpc>
              <a:buNone/>
            </a:pPr>
            <a:r>
              <a:rPr lang="en-US" sz="1600" dirty="0">
                <a:solidFill>
                  <a:srgbClr val="E4E6E3"/>
                </a:solidFill>
                <a:latin typeface="Roboto Mono" pitchFamily="34" charset="0"/>
                <a:ea typeface="Roboto Mono" pitchFamily="34" charset="-122"/>
                <a:cs typeface="Roboto Mono" pitchFamily="34" charset="-120"/>
              </a:rPr>
              <a:t>LEFT JOIN orders o</a:t>
            </a:r>
            <a:endParaRPr lang="en-US" sz="1600" dirty="0"/>
          </a:p>
          <a:p>
            <a:pPr indent="0" marL="0">
              <a:lnSpc>
                <a:spcPct val="125000"/>
              </a:lnSpc>
              <a:buNone/>
            </a:pPr>
            <a:r>
              <a:rPr lang="en-US" sz="1600" dirty="0">
                <a:solidFill>
                  <a:srgbClr val="E4E6E3"/>
                </a:solidFill>
                <a:latin typeface="Roboto Mono" pitchFamily="34" charset="0"/>
                <a:ea typeface="Roboto Mono" pitchFamily="34" charset="-122"/>
                <a:cs typeface="Roboto Mono" pitchFamily="34" charset="-120"/>
              </a:rPr>
              <a:t>  ON o.user_id = u.id</a:t>
            </a:r>
            <a:endParaRPr lang="en-US" sz="1600" dirty="0"/>
          </a:p>
          <a:p>
            <a:pPr indent="0" marL="0">
              <a:lnSpc>
                <a:spcPct val="125000"/>
              </a:lnSpc>
              <a:buNone/>
            </a:pPr>
            <a:r>
              <a:rPr lang="en-US" sz="1600" dirty="0">
                <a:solidFill>
                  <a:srgbClr val="FE7801"/>
                </a:solidFill>
                <a:latin typeface="Roboto Mono" pitchFamily="34" charset="0"/>
                <a:ea typeface="Roboto Mono" pitchFamily="34" charset="-122"/>
                <a:cs typeface="Roboto Mono" pitchFamily="34" charset="-120"/>
              </a:rPr>
              <a:t>WHERE o.status = 'paid'</a:t>
            </a:r>
            <a:endParaRPr lang="en-US" sz="1600" dirty="0"/>
          </a:p>
        </p:txBody>
      </p:sp>
      <p:sp>
        <p:nvSpPr>
          <p:cNvPr id="9" name="box-649"/>
          <p:cNvSpPr/>
          <p:nvPr/>
        </p:nvSpPr>
        <p:spPr>
          <a:xfrm>
            <a:off x="6217920" y="2240280"/>
            <a:ext cx="5394960" cy="1463040"/>
          </a:xfrm>
          <a:prstGeom prst="roundRect">
            <a:avLst>
              <a:gd name="adj" fmla="val 6250"/>
            </a:avLst>
          </a:prstGeom>
          <a:solidFill>
            <a:schemeClr val="tx1"/>
          </a:solidFill>
          <a:ln/>
        </p:spPr>
      </p:sp>
      <p:sp>
        <p:nvSpPr>
          <p:cNvPr id="10" name="code-650"/>
          <p:cNvSpPr txBox="1"/>
          <p:nvPr/>
        </p:nvSpPr>
        <p:spPr>
          <a:xfrm>
            <a:off x="6492240" y="2423160"/>
            <a:ext cx="4846320" cy="1097280"/>
          </a:xfrm>
          <a:prstGeom prst="rect">
            <a:avLst/>
          </a:prstGeom>
          <a:noFill/>
          <a:ln/>
        </p:spPr>
        <p:txBody>
          <a:bodyPr wrap="square" lIns="0" tIns="0" rIns="0" bIns="0" rtlCol="0" anchor="ctr"/>
          <a:lstStyle/>
          <a:p>
            <a:pPr indent="0" marL="0">
              <a:lnSpc>
                <a:spcPct val="125000"/>
              </a:lnSpc>
              <a:buNone/>
            </a:pPr>
            <a:r>
              <a:rPr lang="en-US" sz="1600" dirty="0">
                <a:solidFill>
                  <a:srgbClr val="E4E6E3"/>
                </a:solidFill>
                <a:latin typeface="Roboto Mono" pitchFamily="34" charset="0"/>
                <a:ea typeface="Roboto Mono" pitchFamily="34" charset="-122"/>
                <a:cs typeface="Roboto Mono" pitchFamily="34" charset="-120"/>
              </a:rPr>
              <a:t>LEFT JOIN orders o</a:t>
            </a:r>
            <a:endParaRPr lang="en-US" sz="1600" dirty="0"/>
          </a:p>
          <a:p>
            <a:pPr indent="0" marL="0">
              <a:lnSpc>
                <a:spcPct val="125000"/>
              </a:lnSpc>
              <a:buNone/>
            </a:pPr>
            <a:r>
              <a:rPr lang="en-US" sz="1600" dirty="0">
                <a:solidFill>
                  <a:srgbClr val="E4E6E3"/>
                </a:solidFill>
                <a:latin typeface="Roboto Mono" pitchFamily="34" charset="0"/>
                <a:ea typeface="Roboto Mono" pitchFamily="34" charset="-122"/>
                <a:cs typeface="Roboto Mono" pitchFamily="34" charset="-120"/>
              </a:rPr>
              <a:t>  ON o.user_id = u.id</a:t>
            </a:r>
            <a:endParaRPr lang="en-US" sz="1600" dirty="0"/>
          </a:p>
          <a:p>
            <a:pPr indent="0" marL="0">
              <a:lnSpc>
                <a:spcPct val="125000"/>
              </a:lnSpc>
              <a:buNone/>
            </a:pPr>
            <a:r>
              <a:rPr lang="en-US" sz="1600" dirty="0">
                <a:solidFill>
                  <a:srgbClr val="9EC421"/>
                </a:solidFill>
                <a:latin typeface="Roboto Mono" pitchFamily="34" charset="0"/>
                <a:ea typeface="Roboto Mono" pitchFamily="34" charset="-122"/>
                <a:cs typeface="Roboto Mono" pitchFamily="34" charset="-120"/>
              </a:rPr>
              <a:t> AND o.status = 'paid'</a:t>
            </a:r>
            <a:endParaRPr lang="en-US" sz="1600" dirty="0"/>
          </a:p>
        </p:txBody>
      </p:sp>
      <p:sp>
        <p:nvSpPr>
          <p:cNvPr id="11" name="box-651"/>
          <p:cNvSpPr/>
          <p:nvPr/>
        </p:nvSpPr>
        <p:spPr>
          <a:xfrm>
            <a:off x="548640" y="3931920"/>
            <a:ext cx="2743200" cy="411480"/>
          </a:xfrm>
          <a:prstGeom prst="rect">
            <a:avLst>
              <a:gd name="adj" fmla="val 17778"/>
            </a:avLst>
          </a:prstGeom>
          <a:solidFill>
            <a:schemeClr val="tx1"/>
          </a:solidFill>
          <a:ln w="9525">
            <a:solidFill>
              <a:schemeClr val="accent5"/>
            </a:solidFill>
            <a:prstDash val="solid"/>
          </a:ln>
        </p:spPr>
      </p:sp>
      <p:sp>
        <p:nvSpPr>
          <p:cNvPr id="12" name="text-652"/>
          <p:cNvSpPr txBox="1"/>
          <p:nvPr/>
        </p:nvSpPr>
        <p:spPr>
          <a:xfrm>
            <a:off x="640080" y="3931920"/>
            <a:ext cx="2560320" cy="411480"/>
          </a:xfrm>
          <a:prstGeom prst="rect">
            <a:avLst/>
          </a:prstGeom>
          <a:noFill/>
          <a:ln/>
        </p:spPr>
        <p:txBody>
          <a:bodyPr wrap="square" lIns="0" tIns="0" rIns="0" bIns="0" rtlCol="0" anchor="ctr"/>
          <a:lstStyle/>
          <a:p>
            <a:pPr algn="l" indent="0" marL="0">
              <a:buNone/>
            </a:pPr>
            <a:r>
              <a:rPr lang="en-US" sz="1400" b="1" dirty="0">
                <a:solidFill>
                  <a:schemeClr val="bg1"/>
                </a:solidFill>
              </a:rPr>
              <a:t>email</a:t>
            </a:r>
            <a:endParaRPr lang="en-US" sz="1400" dirty="0"/>
          </a:p>
        </p:txBody>
      </p:sp>
      <p:sp>
        <p:nvSpPr>
          <p:cNvPr id="13" name="box-653"/>
          <p:cNvSpPr/>
          <p:nvPr/>
        </p:nvSpPr>
        <p:spPr>
          <a:xfrm>
            <a:off x="3291840" y="3931920"/>
            <a:ext cx="2103120" cy="411480"/>
          </a:xfrm>
          <a:prstGeom prst="rect">
            <a:avLst>
              <a:gd name="adj" fmla="val 17778"/>
            </a:avLst>
          </a:prstGeom>
          <a:solidFill>
            <a:schemeClr val="tx1"/>
          </a:solidFill>
          <a:ln w="9525">
            <a:solidFill>
              <a:schemeClr val="accent5"/>
            </a:solidFill>
            <a:prstDash val="solid"/>
          </a:ln>
        </p:spPr>
      </p:sp>
      <p:sp>
        <p:nvSpPr>
          <p:cNvPr id="14" name="text-654"/>
          <p:cNvSpPr txBox="1"/>
          <p:nvPr/>
        </p:nvSpPr>
        <p:spPr>
          <a:xfrm>
            <a:off x="3383280" y="3931920"/>
            <a:ext cx="1920240" cy="411480"/>
          </a:xfrm>
          <a:prstGeom prst="rect">
            <a:avLst/>
          </a:prstGeom>
          <a:noFill/>
          <a:ln/>
        </p:spPr>
        <p:txBody>
          <a:bodyPr wrap="square" lIns="0" tIns="0" rIns="0" bIns="0" rtlCol="0" anchor="ctr"/>
          <a:lstStyle/>
          <a:p>
            <a:pPr algn="l" indent="0" marL="0">
              <a:buNone/>
            </a:pPr>
            <a:r>
              <a:rPr lang="en-US" sz="1400" b="1" dirty="0">
                <a:solidFill>
                  <a:schemeClr val="bg1"/>
                </a:solidFill>
              </a:rPr>
              <a:t>paid_orders</a:t>
            </a:r>
            <a:endParaRPr lang="en-US" sz="1400" dirty="0"/>
          </a:p>
        </p:txBody>
      </p:sp>
      <p:sp>
        <p:nvSpPr>
          <p:cNvPr id="15" name="box-655"/>
          <p:cNvSpPr/>
          <p:nvPr/>
        </p:nvSpPr>
        <p:spPr>
          <a:xfrm>
            <a:off x="548640" y="4343400"/>
            <a:ext cx="2743200" cy="411480"/>
          </a:xfrm>
          <a:prstGeom prst="rect">
            <a:avLst>
              <a:gd name="adj" fmla="val 17778"/>
            </a:avLst>
          </a:prstGeom>
          <a:solidFill>
            <a:schemeClr val="bg1"/>
          </a:solidFill>
          <a:ln w="9525">
            <a:solidFill>
              <a:schemeClr val="accent5"/>
            </a:solidFill>
            <a:prstDash val="solid"/>
          </a:ln>
        </p:spPr>
      </p:sp>
      <p:sp>
        <p:nvSpPr>
          <p:cNvPr id="16" name="text-656"/>
          <p:cNvSpPr txBox="1"/>
          <p:nvPr/>
        </p:nvSpPr>
        <p:spPr>
          <a:xfrm>
            <a:off x="640080" y="4343400"/>
            <a:ext cx="2560320" cy="411480"/>
          </a:xfrm>
          <a:prstGeom prst="rect">
            <a:avLst/>
          </a:prstGeom>
          <a:noFill/>
          <a:ln/>
        </p:spPr>
        <p:txBody>
          <a:bodyPr wrap="square" lIns="0" tIns="0" rIns="0" bIns="0" rtlCol="0" anchor="ctr"/>
          <a:lstStyle/>
          <a:p>
            <a:pPr algn="l" indent="0" marL="0">
              <a:buNone/>
            </a:pPr>
            <a:r>
              <a:rPr lang="en-US" sz="1400" dirty="0">
                <a:solidFill>
                  <a:schemeClr val="tx1"/>
                </a:solidFill>
                <a:latin typeface="Roboto Mono" pitchFamily="34" charset="0"/>
                <a:ea typeface="Roboto Mono" pitchFamily="34" charset="-122"/>
                <a:cs typeface="Roboto Mono" pitchFamily="34" charset="-120"/>
              </a:rPr>
              <a:t>Ada</a:t>
            </a:r>
            <a:endParaRPr lang="en-US" sz="1400" dirty="0"/>
          </a:p>
        </p:txBody>
      </p:sp>
      <p:sp>
        <p:nvSpPr>
          <p:cNvPr id="17" name="box-657"/>
          <p:cNvSpPr/>
          <p:nvPr/>
        </p:nvSpPr>
        <p:spPr>
          <a:xfrm>
            <a:off x="3291840" y="4343400"/>
            <a:ext cx="2103120" cy="411480"/>
          </a:xfrm>
          <a:prstGeom prst="rect">
            <a:avLst>
              <a:gd name="adj" fmla="val 17778"/>
            </a:avLst>
          </a:prstGeom>
          <a:solidFill>
            <a:schemeClr val="bg1"/>
          </a:solidFill>
          <a:ln w="9525">
            <a:solidFill>
              <a:schemeClr val="accent5"/>
            </a:solidFill>
            <a:prstDash val="solid"/>
          </a:ln>
        </p:spPr>
      </p:sp>
      <p:sp>
        <p:nvSpPr>
          <p:cNvPr id="18" name="text-658"/>
          <p:cNvSpPr txBox="1"/>
          <p:nvPr/>
        </p:nvSpPr>
        <p:spPr>
          <a:xfrm>
            <a:off x="3383280" y="4343400"/>
            <a:ext cx="1920240" cy="411480"/>
          </a:xfrm>
          <a:prstGeom prst="rect">
            <a:avLst/>
          </a:prstGeom>
          <a:noFill/>
          <a:ln/>
        </p:spPr>
        <p:txBody>
          <a:bodyPr wrap="square" lIns="0" tIns="0" rIns="0" bIns="0" rtlCol="0" anchor="ctr"/>
          <a:lstStyle/>
          <a:p>
            <a:pPr algn="l" indent="0" marL="0">
              <a:buNone/>
            </a:pPr>
            <a:r>
              <a:rPr lang="en-US" sz="1400" dirty="0">
                <a:solidFill>
                  <a:schemeClr val="tx1"/>
                </a:solidFill>
                <a:latin typeface="Roboto Mono" pitchFamily="34" charset="0"/>
                <a:ea typeface="Roboto Mono" pitchFamily="34" charset="-122"/>
                <a:cs typeface="Roboto Mono" pitchFamily="34" charset="-120"/>
              </a:rPr>
              <a:t>2</a:t>
            </a:r>
            <a:endParaRPr lang="en-US" sz="1400" dirty="0"/>
          </a:p>
        </p:txBody>
      </p:sp>
      <p:sp>
        <p:nvSpPr>
          <p:cNvPr id="19" name="box-659"/>
          <p:cNvSpPr/>
          <p:nvPr/>
        </p:nvSpPr>
        <p:spPr>
          <a:xfrm>
            <a:off x="548640" y="4754880"/>
            <a:ext cx="2743200" cy="411480"/>
          </a:xfrm>
          <a:prstGeom prst="rect">
            <a:avLst>
              <a:gd name="adj" fmla="val 17778"/>
            </a:avLst>
          </a:prstGeom>
          <a:solidFill>
            <a:schemeClr val="bg1"/>
          </a:solidFill>
          <a:ln w="9525">
            <a:solidFill>
              <a:schemeClr val="accent5"/>
            </a:solidFill>
            <a:prstDash val="solid"/>
          </a:ln>
        </p:spPr>
      </p:sp>
      <p:sp>
        <p:nvSpPr>
          <p:cNvPr id="20" name="text-660"/>
          <p:cNvSpPr txBox="1"/>
          <p:nvPr/>
        </p:nvSpPr>
        <p:spPr>
          <a:xfrm>
            <a:off x="640080" y="4754880"/>
            <a:ext cx="2560320" cy="411480"/>
          </a:xfrm>
          <a:prstGeom prst="rect">
            <a:avLst/>
          </a:prstGeom>
          <a:noFill/>
          <a:ln/>
        </p:spPr>
        <p:txBody>
          <a:bodyPr wrap="square" lIns="0" tIns="0" rIns="0" bIns="0" rtlCol="0" anchor="ctr"/>
          <a:lstStyle/>
          <a:p>
            <a:pPr algn="l" indent="0" marL="0">
              <a:buNone/>
            </a:pPr>
            <a:r>
              <a:rPr lang="en-US" sz="1400" dirty="0">
                <a:solidFill>
                  <a:schemeClr val="tx1"/>
                </a:solidFill>
                <a:latin typeface="Roboto Mono" pitchFamily="34" charset="0"/>
                <a:ea typeface="Roboto Mono" pitchFamily="34" charset="-122"/>
                <a:cs typeface="Roboto Mono" pitchFamily="34" charset="-120"/>
              </a:rPr>
              <a:t>Chidi</a:t>
            </a:r>
            <a:endParaRPr lang="en-US" sz="1400" dirty="0"/>
          </a:p>
        </p:txBody>
      </p:sp>
      <p:sp>
        <p:nvSpPr>
          <p:cNvPr id="21" name="box-661"/>
          <p:cNvSpPr/>
          <p:nvPr/>
        </p:nvSpPr>
        <p:spPr>
          <a:xfrm>
            <a:off x="3291840" y="4754880"/>
            <a:ext cx="2103120" cy="411480"/>
          </a:xfrm>
          <a:prstGeom prst="rect">
            <a:avLst>
              <a:gd name="adj" fmla="val 17778"/>
            </a:avLst>
          </a:prstGeom>
          <a:solidFill>
            <a:schemeClr val="bg1"/>
          </a:solidFill>
          <a:ln w="9525">
            <a:solidFill>
              <a:schemeClr val="accent5"/>
            </a:solidFill>
            <a:prstDash val="solid"/>
          </a:ln>
        </p:spPr>
      </p:sp>
      <p:sp>
        <p:nvSpPr>
          <p:cNvPr id="22" name="text-662"/>
          <p:cNvSpPr txBox="1"/>
          <p:nvPr/>
        </p:nvSpPr>
        <p:spPr>
          <a:xfrm>
            <a:off x="3383280" y="4754880"/>
            <a:ext cx="1920240" cy="411480"/>
          </a:xfrm>
          <a:prstGeom prst="rect">
            <a:avLst/>
          </a:prstGeom>
          <a:noFill/>
          <a:ln/>
        </p:spPr>
        <p:txBody>
          <a:bodyPr wrap="square" lIns="0" tIns="0" rIns="0" bIns="0" rtlCol="0" anchor="ctr"/>
          <a:lstStyle/>
          <a:p>
            <a:pPr algn="l" indent="0" marL="0">
              <a:buNone/>
            </a:pPr>
            <a:r>
              <a:rPr lang="en-US" sz="1400" dirty="0">
                <a:solidFill>
                  <a:schemeClr val="tx1"/>
                </a:solidFill>
                <a:latin typeface="Roboto Mono" pitchFamily="34" charset="0"/>
                <a:ea typeface="Roboto Mono" pitchFamily="34" charset="-122"/>
                <a:cs typeface="Roboto Mono" pitchFamily="34" charset="-120"/>
              </a:rPr>
              <a:t>1</a:t>
            </a:r>
            <a:endParaRPr lang="en-US" sz="1400" dirty="0"/>
          </a:p>
        </p:txBody>
      </p:sp>
      <p:sp>
        <p:nvSpPr>
          <p:cNvPr id="23" name="box-663"/>
          <p:cNvSpPr/>
          <p:nvPr/>
        </p:nvSpPr>
        <p:spPr>
          <a:xfrm>
            <a:off x="548640" y="5166360"/>
            <a:ext cx="4846320" cy="411480"/>
          </a:xfrm>
          <a:prstGeom prst="rect">
            <a:avLst>
              <a:gd name="adj" fmla="val 17778"/>
            </a:avLst>
          </a:prstGeom>
          <a:ln w="12700">
            <a:solidFill>
              <a:schemeClr val="accent4"/>
            </a:solidFill>
            <a:prstDash val="dash"/>
          </a:ln>
        </p:spPr>
      </p:sp>
      <p:sp>
        <p:nvSpPr>
          <p:cNvPr id="24" name="text-664"/>
          <p:cNvSpPr txBox="1"/>
          <p:nvPr/>
        </p:nvSpPr>
        <p:spPr>
          <a:xfrm>
            <a:off x="640080" y="5166360"/>
            <a:ext cx="3657600" cy="411480"/>
          </a:xfrm>
          <a:prstGeom prst="rect">
            <a:avLst/>
          </a:prstGeom>
          <a:noFill/>
          <a:ln/>
        </p:spPr>
        <p:txBody>
          <a:bodyPr wrap="square" lIns="0" tIns="0" rIns="0" bIns="0" rtlCol="0" anchor="ctr"/>
          <a:lstStyle/>
          <a:p>
            <a:pPr algn="l" indent="0" marL="0">
              <a:buNone/>
            </a:pPr>
            <a:r>
              <a:rPr lang="en-US" sz="1300" i="1" dirty="0">
                <a:solidFill>
                  <a:schemeClr val="accent4"/>
                </a:solidFill>
              </a:rPr>
              <a:t>Bola  — gone</a:t>
            </a:r>
            <a:endParaRPr lang="en-US" sz="1300" dirty="0"/>
          </a:p>
        </p:txBody>
      </p:sp>
      <p:sp>
        <p:nvSpPr>
          <p:cNvPr id="25" name="box-665"/>
          <p:cNvSpPr/>
          <p:nvPr/>
        </p:nvSpPr>
        <p:spPr>
          <a:xfrm>
            <a:off x="548640" y="5577840"/>
            <a:ext cx="4846320" cy="411480"/>
          </a:xfrm>
          <a:prstGeom prst="rect">
            <a:avLst>
              <a:gd name="adj" fmla="val 17778"/>
            </a:avLst>
          </a:prstGeom>
          <a:ln w="12700">
            <a:solidFill>
              <a:schemeClr val="accent4"/>
            </a:solidFill>
            <a:prstDash val="dash"/>
          </a:ln>
        </p:spPr>
      </p:sp>
      <p:sp>
        <p:nvSpPr>
          <p:cNvPr id="26" name="text-666"/>
          <p:cNvSpPr txBox="1"/>
          <p:nvPr/>
        </p:nvSpPr>
        <p:spPr>
          <a:xfrm>
            <a:off x="640080" y="5577840"/>
            <a:ext cx="3657600" cy="411480"/>
          </a:xfrm>
          <a:prstGeom prst="rect">
            <a:avLst/>
          </a:prstGeom>
          <a:noFill/>
          <a:ln/>
        </p:spPr>
        <p:txBody>
          <a:bodyPr wrap="square" lIns="0" tIns="0" rIns="0" bIns="0" rtlCol="0" anchor="ctr"/>
          <a:lstStyle/>
          <a:p>
            <a:pPr algn="l" indent="0" marL="0">
              <a:buNone/>
            </a:pPr>
            <a:r>
              <a:rPr lang="en-US" sz="1300" i="1" dirty="0">
                <a:solidFill>
                  <a:schemeClr val="accent4"/>
                </a:solidFill>
              </a:rPr>
              <a:t>Dayo  — gone</a:t>
            </a:r>
            <a:endParaRPr lang="en-US" sz="1300" dirty="0"/>
          </a:p>
        </p:txBody>
      </p:sp>
      <p:sp>
        <p:nvSpPr>
          <p:cNvPr id="27" name="dot-667"/>
          <p:cNvSpPr/>
          <p:nvPr/>
        </p:nvSpPr>
        <p:spPr>
          <a:xfrm>
            <a:off x="5532120" y="3931920"/>
            <a:ext cx="457200" cy="457200"/>
          </a:xfrm>
          <a:prstGeom prst="ellipse">
            <a:avLst/>
          </a:prstGeom>
          <a:solidFill>
            <a:schemeClr val="accent1"/>
          </a:solidFill>
          <a:ln/>
        </p:spPr>
      </p:sp>
      <p:sp>
        <p:nvSpPr>
          <p:cNvPr id="28" name="dot-668"/>
          <p:cNvSpPr/>
          <p:nvPr/>
        </p:nvSpPr>
        <p:spPr>
          <a:xfrm>
            <a:off x="11201400" y="3931920"/>
            <a:ext cx="457200" cy="457200"/>
          </a:xfrm>
          <a:prstGeom prst="ellipse">
            <a:avLst/>
          </a:prstGeom>
          <a:solidFill>
            <a:schemeClr val="accent2"/>
          </a:solidFill>
          <a:ln/>
        </p:spPr>
      </p:sp>
      <p:sp>
        <p:nvSpPr>
          <p:cNvPr id="29" name="box-669"/>
          <p:cNvSpPr/>
          <p:nvPr/>
        </p:nvSpPr>
        <p:spPr>
          <a:xfrm>
            <a:off x="6217920" y="3931920"/>
            <a:ext cx="2743200" cy="411480"/>
          </a:xfrm>
          <a:prstGeom prst="rect">
            <a:avLst>
              <a:gd name="adj" fmla="val 17778"/>
            </a:avLst>
          </a:prstGeom>
          <a:solidFill>
            <a:schemeClr val="tx1"/>
          </a:solidFill>
          <a:ln w="9525">
            <a:solidFill>
              <a:schemeClr val="accent5"/>
            </a:solidFill>
            <a:prstDash val="solid"/>
          </a:ln>
        </p:spPr>
      </p:sp>
      <p:sp>
        <p:nvSpPr>
          <p:cNvPr id="30" name="text-670"/>
          <p:cNvSpPr txBox="1"/>
          <p:nvPr/>
        </p:nvSpPr>
        <p:spPr>
          <a:xfrm>
            <a:off x="6309360" y="3931920"/>
            <a:ext cx="2560320" cy="411480"/>
          </a:xfrm>
          <a:prstGeom prst="rect">
            <a:avLst/>
          </a:prstGeom>
          <a:noFill/>
          <a:ln/>
        </p:spPr>
        <p:txBody>
          <a:bodyPr wrap="square" lIns="0" tIns="0" rIns="0" bIns="0" rtlCol="0" anchor="ctr"/>
          <a:lstStyle/>
          <a:p>
            <a:pPr algn="l" indent="0" marL="0">
              <a:buNone/>
            </a:pPr>
            <a:r>
              <a:rPr lang="en-US" sz="1400" b="1" dirty="0">
                <a:solidFill>
                  <a:schemeClr val="bg1"/>
                </a:solidFill>
              </a:rPr>
              <a:t>email</a:t>
            </a:r>
            <a:endParaRPr lang="en-US" sz="1400" dirty="0"/>
          </a:p>
        </p:txBody>
      </p:sp>
      <p:sp>
        <p:nvSpPr>
          <p:cNvPr id="31" name="box-671"/>
          <p:cNvSpPr/>
          <p:nvPr/>
        </p:nvSpPr>
        <p:spPr>
          <a:xfrm>
            <a:off x="8961120" y="3931920"/>
            <a:ext cx="2103120" cy="411480"/>
          </a:xfrm>
          <a:prstGeom prst="rect">
            <a:avLst>
              <a:gd name="adj" fmla="val 17778"/>
            </a:avLst>
          </a:prstGeom>
          <a:solidFill>
            <a:schemeClr val="tx1"/>
          </a:solidFill>
          <a:ln w="9525">
            <a:solidFill>
              <a:schemeClr val="accent5"/>
            </a:solidFill>
            <a:prstDash val="solid"/>
          </a:ln>
        </p:spPr>
      </p:sp>
      <p:sp>
        <p:nvSpPr>
          <p:cNvPr id="32" name="text-672"/>
          <p:cNvSpPr txBox="1"/>
          <p:nvPr/>
        </p:nvSpPr>
        <p:spPr>
          <a:xfrm>
            <a:off x="9052560" y="3931920"/>
            <a:ext cx="1920240" cy="411480"/>
          </a:xfrm>
          <a:prstGeom prst="rect">
            <a:avLst/>
          </a:prstGeom>
          <a:noFill/>
          <a:ln/>
        </p:spPr>
        <p:txBody>
          <a:bodyPr wrap="square" lIns="0" tIns="0" rIns="0" bIns="0" rtlCol="0" anchor="ctr"/>
          <a:lstStyle/>
          <a:p>
            <a:pPr algn="l" indent="0" marL="0">
              <a:buNone/>
            </a:pPr>
            <a:r>
              <a:rPr lang="en-US" sz="1400" b="1" dirty="0">
                <a:solidFill>
                  <a:schemeClr val="bg1"/>
                </a:solidFill>
              </a:rPr>
              <a:t>paid_orders</a:t>
            </a:r>
            <a:endParaRPr lang="en-US" sz="1400" dirty="0"/>
          </a:p>
        </p:txBody>
      </p:sp>
      <p:sp>
        <p:nvSpPr>
          <p:cNvPr id="33" name="box-673"/>
          <p:cNvSpPr/>
          <p:nvPr/>
        </p:nvSpPr>
        <p:spPr>
          <a:xfrm>
            <a:off x="6217920" y="4343400"/>
            <a:ext cx="2743200" cy="411480"/>
          </a:xfrm>
          <a:prstGeom prst="rect">
            <a:avLst>
              <a:gd name="adj" fmla="val 17778"/>
            </a:avLst>
          </a:prstGeom>
          <a:solidFill>
            <a:schemeClr val="bg1"/>
          </a:solidFill>
          <a:ln w="9525">
            <a:solidFill>
              <a:schemeClr val="accent5"/>
            </a:solidFill>
            <a:prstDash val="solid"/>
          </a:ln>
        </p:spPr>
      </p:sp>
      <p:sp>
        <p:nvSpPr>
          <p:cNvPr id="34" name="text-674"/>
          <p:cNvSpPr txBox="1"/>
          <p:nvPr/>
        </p:nvSpPr>
        <p:spPr>
          <a:xfrm>
            <a:off x="6309360" y="4343400"/>
            <a:ext cx="2560320" cy="411480"/>
          </a:xfrm>
          <a:prstGeom prst="rect">
            <a:avLst/>
          </a:prstGeom>
          <a:noFill/>
          <a:ln/>
        </p:spPr>
        <p:txBody>
          <a:bodyPr wrap="square" lIns="0" tIns="0" rIns="0" bIns="0" rtlCol="0" anchor="ctr"/>
          <a:lstStyle/>
          <a:p>
            <a:pPr algn="l" indent="0" marL="0">
              <a:buNone/>
            </a:pPr>
            <a:r>
              <a:rPr lang="en-US" sz="1400" dirty="0">
                <a:solidFill>
                  <a:schemeClr val="tx1"/>
                </a:solidFill>
                <a:latin typeface="Roboto Mono" pitchFamily="34" charset="0"/>
                <a:ea typeface="Roboto Mono" pitchFamily="34" charset="-122"/>
                <a:cs typeface="Roboto Mono" pitchFamily="34" charset="-120"/>
              </a:rPr>
              <a:t>Ada</a:t>
            </a:r>
            <a:endParaRPr lang="en-US" sz="1400" dirty="0"/>
          </a:p>
        </p:txBody>
      </p:sp>
      <p:sp>
        <p:nvSpPr>
          <p:cNvPr id="35" name="box-675"/>
          <p:cNvSpPr/>
          <p:nvPr/>
        </p:nvSpPr>
        <p:spPr>
          <a:xfrm>
            <a:off x="8961120" y="4343400"/>
            <a:ext cx="2103120" cy="411480"/>
          </a:xfrm>
          <a:prstGeom prst="rect">
            <a:avLst>
              <a:gd name="adj" fmla="val 17778"/>
            </a:avLst>
          </a:prstGeom>
          <a:solidFill>
            <a:schemeClr val="bg1"/>
          </a:solidFill>
          <a:ln w="9525">
            <a:solidFill>
              <a:schemeClr val="accent5"/>
            </a:solidFill>
            <a:prstDash val="solid"/>
          </a:ln>
        </p:spPr>
      </p:sp>
      <p:sp>
        <p:nvSpPr>
          <p:cNvPr id="36" name="text-676"/>
          <p:cNvSpPr txBox="1"/>
          <p:nvPr/>
        </p:nvSpPr>
        <p:spPr>
          <a:xfrm>
            <a:off x="9052560" y="4343400"/>
            <a:ext cx="1920240" cy="411480"/>
          </a:xfrm>
          <a:prstGeom prst="rect">
            <a:avLst/>
          </a:prstGeom>
          <a:noFill/>
          <a:ln/>
        </p:spPr>
        <p:txBody>
          <a:bodyPr wrap="square" lIns="0" tIns="0" rIns="0" bIns="0" rtlCol="0" anchor="ctr"/>
          <a:lstStyle/>
          <a:p>
            <a:pPr algn="l" indent="0" marL="0">
              <a:buNone/>
            </a:pPr>
            <a:r>
              <a:rPr lang="en-US" sz="1400" dirty="0">
                <a:solidFill>
                  <a:schemeClr val="tx1"/>
                </a:solidFill>
                <a:latin typeface="Roboto Mono" pitchFamily="34" charset="0"/>
                <a:ea typeface="Roboto Mono" pitchFamily="34" charset="-122"/>
                <a:cs typeface="Roboto Mono" pitchFamily="34" charset="-120"/>
              </a:rPr>
              <a:t>2</a:t>
            </a:r>
            <a:endParaRPr lang="en-US" sz="1400" dirty="0"/>
          </a:p>
        </p:txBody>
      </p:sp>
      <p:sp>
        <p:nvSpPr>
          <p:cNvPr id="37" name="box-677"/>
          <p:cNvSpPr/>
          <p:nvPr/>
        </p:nvSpPr>
        <p:spPr>
          <a:xfrm>
            <a:off x="6217920" y="4754880"/>
            <a:ext cx="2743200" cy="411480"/>
          </a:xfrm>
          <a:prstGeom prst="rect">
            <a:avLst>
              <a:gd name="adj" fmla="val 17778"/>
            </a:avLst>
          </a:prstGeom>
          <a:solidFill>
            <a:schemeClr val="bg1"/>
          </a:solidFill>
          <a:ln w="9525">
            <a:solidFill>
              <a:schemeClr val="accent5"/>
            </a:solidFill>
            <a:prstDash val="solid"/>
          </a:ln>
        </p:spPr>
      </p:sp>
      <p:sp>
        <p:nvSpPr>
          <p:cNvPr id="38" name="text-678"/>
          <p:cNvSpPr txBox="1"/>
          <p:nvPr/>
        </p:nvSpPr>
        <p:spPr>
          <a:xfrm>
            <a:off x="6309360" y="4754880"/>
            <a:ext cx="2560320" cy="411480"/>
          </a:xfrm>
          <a:prstGeom prst="rect">
            <a:avLst/>
          </a:prstGeom>
          <a:noFill/>
          <a:ln/>
        </p:spPr>
        <p:txBody>
          <a:bodyPr wrap="square" lIns="0" tIns="0" rIns="0" bIns="0" rtlCol="0" anchor="ctr"/>
          <a:lstStyle/>
          <a:p>
            <a:pPr algn="l" indent="0" marL="0">
              <a:buNone/>
            </a:pPr>
            <a:r>
              <a:rPr lang="en-US" sz="1400" dirty="0">
                <a:solidFill>
                  <a:schemeClr val="tx1"/>
                </a:solidFill>
                <a:latin typeface="Roboto Mono" pitchFamily="34" charset="0"/>
                <a:ea typeface="Roboto Mono" pitchFamily="34" charset="-122"/>
                <a:cs typeface="Roboto Mono" pitchFamily="34" charset="-120"/>
              </a:rPr>
              <a:t>Bola</a:t>
            </a:r>
            <a:endParaRPr lang="en-US" sz="1400" dirty="0"/>
          </a:p>
        </p:txBody>
      </p:sp>
      <p:sp>
        <p:nvSpPr>
          <p:cNvPr id="39" name="box-679"/>
          <p:cNvSpPr/>
          <p:nvPr/>
        </p:nvSpPr>
        <p:spPr>
          <a:xfrm>
            <a:off x="8961120" y="4754880"/>
            <a:ext cx="2103120" cy="411480"/>
          </a:xfrm>
          <a:prstGeom prst="rect">
            <a:avLst>
              <a:gd name="adj" fmla="val 17778"/>
            </a:avLst>
          </a:prstGeom>
          <a:solidFill>
            <a:schemeClr val="accent2">
              <a:alpha val="30000"/>
            </a:schemeClr>
          </a:solidFill>
          <a:ln w="9525">
            <a:solidFill>
              <a:schemeClr val="accent5"/>
            </a:solidFill>
            <a:prstDash val="solid"/>
          </a:ln>
        </p:spPr>
      </p:sp>
      <p:sp>
        <p:nvSpPr>
          <p:cNvPr id="40" name="text-680"/>
          <p:cNvSpPr txBox="1"/>
          <p:nvPr/>
        </p:nvSpPr>
        <p:spPr>
          <a:xfrm>
            <a:off x="9052560" y="4754880"/>
            <a:ext cx="1920240" cy="411480"/>
          </a:xfrm>
          <a:prstGeom prst="rect">
            <a:avLst/>
          </a:prstGeom>
          <a:noFill/>
          <a:ln/>
        </p:spPr>
        <p:txBody>
          <a:bodyPr wrap="square" lIns="0" tIns="0" rIns="0" bIns="0" rtlCol="0" anchor="ctr"/>
          <a:lstStyle/>
          <a:p>
            <a:pPr algn="l" indent="0" marL="0">
              <a:buNone/>
            </a:pPr>
            <a:r>
              <a:rPr lang="en-US" sz="1400" dirty="0">
                <a:solidFill>
                  <a:schemeClr val="tx1"/>
                </a:solidFill>
                <a:latin typeface="Roboto Mono" pitchFamily="34" charset="0"/>
                <a:ea typeface="Roboto Mono" pitchFamily="34" charset="-122"/>
                <a:cs typeface="Roboto Mono" pitchFamily="34" charset="-120"/>
              </a:rPr>
              <a:t>0</a:t>
            </a:r>
            <a:endParaRPr lang="en-US" sz="1400" dirty="0"/>
          </a:p>
        </p:txBody>
      </p:sp>
      <p:sp>
        <p:nvSpPr>
          <p:cNvPr id="41" name="box-681"/>
          <p:cNvSpPr/>
          <p:nvPr/>
        </p:nvSpPr>
        <p:spPr>
          <a:xfrm>
            <a:off x="6217920" y="5166360"/>
            <a:ext cx="2743200" cy="411480"/>
          </a:xfrm>
          <a:prstGeom prst="rect">
            <a:avLst>
              <a:gd name="adj" fmla="val 17778"/>
            </a:avLst>
          </a:prstGeom>
          <a:solidFill>
            <a:schemeClr val="bg1"/>
          </a:solidFill>
          <a:ln w="9525">
            <a:solidFill>
              <a:schemeClr val="accent5"/>
            </a:solidFill>
            <a:prstDash val="solid"/>
          </a:ln>
        </p:spPr>
      </p:sp>
      <p:sp>
        <p:nvSpPr>
          <p:cNvPr id="42" name="text-682"/>
          <p:cNvSpPr txBox="1"/>
          <p:nvPr/>
        </p:nvSpPr>
        <p:spPr>
          <a:xfrm>
            <a:off x="6309360" y="5166360"/>
            <a:ext cx="2560320" cy="411480"/>
          </a:xfrm>
          <a:prstGeom prst="rect">
            <a:avLst/>
          </a:prstGeom>
          <a:noFill/>
          <a:ln/>
        </p:spPr>
        <p:txBody>
          <a:bodyPr wrap="square" lIns="0" tIns="0" rIns="0" bIns="0" rtlCol="0" anchor="ctr"/>
          <a:lstStyle/>
          <a:p>
            <a:pPr algn="l" indent="0" marL="0">
              <a:buNone/>
            </a:pPr>
            <a:r>
              <a:rPr lang="en-US" sz="1400" dirty="0">
                <a:solidFill>
                  <a:schemeClr val="tx1"/>
                </a:solidFill>
                <a:latin typeface="Roboto Mono" pitchFamily="34" charset="0"/>
                <a:ea typeface="Roboto Mono" pitchFamily="34" charset="-122"/>
                <a:cs typeface="Roboto Mono" pitchFamily="34" charset="-120"/>
              </a:rPr>
              <a:t>Chidi</a:t>
            </a:r>
            <a:endParaRPr lang="en-US" sz="1400" dirty="0"/>
          </a:p>
        </p:txBody>
      </p:sp>
      <p:sp>
        <p:nvSpPr>
          <p:cNvPr id="43" name="box-683"/>
          <p:cNvSpPr/>
          <p:nvPr/>
        </p:nvSpPr>
        <p:spPr>
          <a:xfrm>
            <a:off x="8961120" y="5166360"/>
            <a:ext cx="2103120" cy="411480"/>
          </a:xfrm>
          <a:prstGeom prst="rect">
            <a:avLst>
              <a:gd name="adj" fmla="val 17778"/>
            </a:avLst>
          </a:prstGeom>
          <a:solidFill>
            <a:schemeClr val="bg1"/>
          </a:solidFill>
          <a:ln w="9525">
            <a:solidFill>
              <a:schemeClr val="accent5"/>
            </a:solidFill>
            <a:prstDash val="solid"/>
          </a:ln>
        </p:spPr>
      </p:sp>
      <p:sp>
        <p:nvSpPr>
          <p:cNvPr id="44" name="text-684"/>
          <p:cNvSpPr txBox="1"/>
          <p:nvPr/>
        </p:nvSpPr>
        <p:spPr>
          <a:xfrm>
            <a:off x="9052560" y="5166360"/>
            <a:ext cx="1920240" cy="411480"/>
          </a:xfrm>
          <a:prstGeom prst="rect">
            <a:avLst/>
          </a:prstGeom>
          <a:noFill/>
          <a:ln/>
        </p:spPr>
        <p:txBody>
          <a:bodyPr wrap="square" lIns="0" tIns="0" rIns="0" bIns="0" rtlCol="0" anchor="ctr"/>
          <a:lstStyle/>
          <a:p>
            <a:pPr algn="l" indent="0" marL="0">
              <a:buNone/>
            </a:pPr>
            <a:r>
              <a:rPr lang="en-US" sz="1400" dirty="0">
                <a:solidFill>
                  <a:schemeClr val="tx1"/>
                </a:solidFill>
                <a:latin typeface="Roboto Mono" pitchFamily="34" charset="0"/>
                <a:ea typeface="Roboto Mono" pitchFamily="34" charset="-122"/>
                <a:cs typeface="Roboto Mono" pitchFamily="34" charset="-120"/>
              </a:rPr>
              <a:t>1</a:t>
            </a:r>
            <a:endParaRPr lang="en-US" sz="1400" dirty="0"/>
          </a:p>
        </p:txBody>
      </p:sp>
      <p:sp>
        <p:nvSpPr>
          <p:cNvPr id="45" name="box-685"/>
          <p:cNvSpPr/>
          <p:nvPr/>
        </p:nvSpPr>
        <p:spPr>
          <a:xfrm>
            <a:off x="6217920" y="5577840"/>
            <a:ext cx="2743200" cy="411480"/>
          </a:xfrm>
          <a:prstGeom prst="rect">
            <a:avLst>
              <a:gd name="adj" fmla="val 17778"/>
            </a:avLst>
          </a:prstGeom>
          <a:solidFill>
            <a:schemeClr val="bg1"/>
          </a:solidFill>
          <a:ln w="9525">
            <a:solidFill>
              <a:schemeClr val="accent5"/>
            </a:solidFill>
            <a:prstDash val="solid"/>
          </a:ln>
        </p:spPr>
      </p:sp>
      <p:sp>
        <p:nvSpPr>
          <p:cNvPr id="46" name="text-686"/>
          <p:cNvSpPr txBox="1"/>
          <p:nvPr/>
        </p:nvSpPr>
        <p:spPr>
          <a:xfrm>
            <a:off x="6309360" y="5577840"/>
            <a:ext cx="2560320" cy="411480"/>
          </a:xfrm>
          <a:prstGeom prst="rect">
            <a:avLst/>
          </a:prstGeom>
          <a:noFill/>
          <a:ln/>
        </p:spPr>
        <p:txBody>
          <a:bodyPr wrap="square" lIns="0" tIns="0" rIns="0" bIns="0" rtlCol="0" anchor="ctr"/>
          <a:lstStyle/>
          <a:p>
            <a:pPr algn="l" indent="0" marL="0">
              <a:buNone/>
            </a:pPr>
            <a:r>
              <a:rPr lang="en-US" sz="1400" dirty="0">
                <a:solidFill>
                  <a:schemeClr val="tx1"/>
                </a:solidFill>
                <a:latin typeface="Roboto Mono" pitchFamily="34" charset="0"/>
                <a:ea typeface="Roboto Mono" pitchFamily="34" charset="-122"/>
                <a:cs typeface="Roboto Mono" pitchFamily="34" charset="-120"/>
              </a:rPr>
              <a:t>Dayo</a:t>
            </a:r>
            <a:endParaRPr lang="en-US" sz="1400" dirty="0"/>
          </a:p>
        </p:txBody>
      </p:sp>
      <p:sp>
        <p:nvSpPr>
          <p:cNvPr id="47" name="box-687"/>
          <p:cNvSpPr/>
          <p:nvPr/>
        </p:nvSpPr>
        <p:spPr>
          <a:xfrm>
            <a:off x="8961120" y="5577840"/>
            <a:ext cx="2103120" cy="411480"/>
          </a:xfrm>
          <a:prstGeom prst="rect">
            <a:avLst>
              <a:gd name="adj" fmla="val 17778"/>
            </a:avLst>
          </a:prstGeom>
          <a:solidFill>
            <a:schemeClr val="accent2">
              <a:alpha val="30000"/>
            </a:schemeClr>
          </a:solidFill>
          <a:ln w="9525">
            <a:solidFill>
              <a:schemeClr val="accent5"/>
            </a:solidFill>
            <a:prstDash val="solid"/>
          </a:ln>
        </p:spPr>
      </p:sp>
      <p:sp>
        <p:nvSpPr>
          <p:cNvPr id="48" name="text-688"/>
          <p:cNvSpPr txBox="1"/>
          <p:nvPr/>
        </p:nvSpPr>
        <p:spPr>
          <a:xfrm>
            <a:off x="9052560" y="5577840"/>
            <a:ext cx="1920240" cy="411480"/>
          </a:xfrm>
          <a:prstGeom prst="rect">
            <a:avLst/>
          </a:prstGeom>
          <a:noFill/>
          <a:ln/>
        </p:spPr>
        <p:txBody>
          <a:bodyPr wrap="square" lIns="0" tIns="0" rIns="0" bIns="0" rtlCol="0" anchor="ctr"/>
          <a:lstStyle/>
          <a:p>
            <a:pPr algn="l" indent="0" marL="0">
              <a:buNone/>
            </a:pPr>
            <a:r>
              <a:rPr lang="en-US" sz="1400" dirty="0">
                <a:solidFill>
                  <a:schemeClr val="tx1"/>
                </a:solidFill>
                <a:latin typeface="Roboto Mono" pitchFamily="34" charset="0"/>
                <a:ea typeface="Roboto Mono" pitchFamily="34" charset="-122"/>
                <a:cs typeface="Roboto Mono" pitchFamily="34" charset="-120"/>
              </a:rPr>
              <a:t>0</a:t>
            </a:r>
            <a:endParaRPr lang="en-US" sz="1400" dirty="0"/>
          </a:p>
        </p:txBody>
      </p:sp>
      <p:pic>
        <p:nvPicPr>
          <p:cNvPr id="49" name="Image 0" descr="Search icon">    </p:cNvPr>
          <p:cNvPicPr>
            <a:picLocks noChangeAspect="1"/>
          </p:cNvPicPr>
          <p:nvPr/>
        </p:nvPicPr>
        <p:blipFill>
          <a:blip r:embed="rId1"/>
          <a:stretch>
            <a:fillRect/>
          </a:stretch>
        </p:blipFill>
        <p:spPr>
          <a:xfrm>
            <a:off x="640812" y="476220"/>
            <a:ext cx="199705" cy="199705"/>
          </a:xfrm>
          <a:prstGeom prst="rect">
            <a:avLst/>
          </a:prstGeom>
        </p:spPr>
      </p:pic>
      <p:pic>
        <p:nvPicPr>
          <p:cNvPr id="50" name="Image 1" descr="Times icon">    </p:cNvPr>
          <p:cNvPicPr>
            <a:picLocks noChangeAspect="1"/>
          </p:cNvPicPr>
          <p:nvPr/>
        </p:nvPicPr>
        <p:blipFill>
          <a:blip r:embed="rId2"/>
          <a:stretch>
            <a:fillRect/>
          </a:stretch>
        </p:blipFill>
        <p:spPr>
          <a:xfrm>
            <a:off x="5641848" y="4041648"/>
            <a:ext cx="237744" cy="237744"/>
          </a:xfrm>
          <a:prstGeom prst="rect">
            <a:avLst/>
          </a:prstGeom>
        </p:spPr>
      </p:pic>
      <p:pic>
        <p:nvPicPr>
          <p:cNvPr id="51" name="Image 2" descr="Check icon">    </p:cNvPr>
          <p:cNvPicPr>
            <a:picLocks noChangeAspect="1"/>
          </p:cNvPicPr>
          <p:nvPr/>
        </p:nvPicPr>
        <p:blipFill>
          <a:blip r:embed="rId3"/>
          <a:stretch>
            <a:fillRect/>
          </a:stretch>
        </p:blipFill>
        <p:spPr>
          <a:xfrm>
            <a:off x="11311128" y="4041648"/>
            <a:ext cx="237744" cy="237744"/>
          </a:xfrm>
          <a:prstGeom prst="rect">
            <a:avLst/>
          </a:prstGeom>
        </p:spPr>
      </p:pic>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dot-689"/>
          <p:cNvSpPr/>
          <p:nvPr/>
        </p:nvSpPr>
        <p:spPr>
          <a:xfrm>
            <a:off x="548640" y="384048"/>
            <a:ext cx="384048" cy="384048"/>
          </a:xfrm>
          <a:prstGeom prst="ellipse">
            <a:avLst/>
          </a:prstGeom>
          <a:solidFill>
            <a:schemeClr val="accent2"/>
          </a:solidFill>
          <a:ln/>
        </p:spPr>
      </p:sp>
      <p:sp>
        <p:nvSpPr>
          <p:cNvPr id="3" name="Text 1"/>
          <p:cNvSpPr/>
          <p:nvPr>
            <p:ph idx="101" type="body" hasCustomPrompt="1"/>
          </p:nvPr>
        </p:nvSpPr>
        <p:spPr>
          <a:xfrm>
            <a:off x="1051560" y="384048"/>
            <a:ext cx="9601200" cy="384048"/>
          </a:xfrm>
          <a:prstGeom prst="rect">
            <a:avLst/>
          </a:prstGeom>
          <a:noFill/>
          <a:ln/>
        </p:spPr>
        <p:txBody>
          <a:bodyPr wrap="square" lIns="0" tIns="0" rIns="0" bIns="0" rtlCol="0" anchor="ctr"/>
          <a:lstStyle/>
          <a:p>
            <a:pPr indent="0" marL="0">
              <a:buNone/>
            </a:pPr>
            <a:r>
              <a:rPr lang="en-US" sz="1300" b="1" spc="300" kern="0" dirty="0">
                <a:solidFill>
                  <a:schemeClr val="tx2"/>
                </a:solidFill>
              </a:rPr>
              <a:t>L2  ·  QUERY  ·  3.7 JOINS</a:t>
            </a:r>
            <a:endParaRPr lang="en-US" sz="1300" dirty="0"/>
          </a:p>
        </p:txBody>
      </p:sp>
      <p:sp>
        <p:nvSpPr>
          <p:cNvPr id="4" name="Text 1"/>
          <p:cNvSpPr/>
          <p:nvPr>
            <p:ph idx="102" type="title" hasCustomPrompt="1"/>
          </p:nvPr>
        </p:nvSpPr>
        <p:spPr>
          <a:xfrm>
            <a:off x="548640" y="841248"/>
            <a:ext cx="11064240" cy="777240"/>
          </a:xfrm>
          <a:prstGeom prst="rect">
            <a:avLst/>
          </a:prstGeom>
          <a:noFill/>
          <a:ln/>
        </p:spPr>
        <p:txBody>
          <a:bodyPr wrap="square" lIns="0" tIns="0" rIns="0" bIns="0" rtlCol="0" anchor="ctr"/>
          <a:lstStyle/>
          <a:p>
            <a:pPr algn="l" indent="0" marL="0">
              <a:buNone/>
            </a:pPr>
            <a:r>
              <a:rPr lang="en-US" sz="3800" b="1" dirty="0">
                <a:solidFill>
                  <a:schemeClr val="tx1"/>
                </a:solidFill>
              </a:rPr>
              <a:t>3 orders × 2 payments = 6 rows</a:t>
            </a:r>
            <a:endParaRPr lang="en-US" sz="3800" dirty="0"/>
          </a:p>
        </p:txBody>
      </p:sp>
      <p:sp>
        <p:nvSpPr>
          <p:cNvPr id="5" name="Text 1"/>
          <p:cNvSpPr/>
          <p:nvPr>
            <p:ph idx="103" type="body" hasCustomPrompt="1"/>
          </p:nvPr>
        </p:nvSpPr>
        <p:spPr>
          <a:xfrm>
            <a:off x="548640" y="1627632"/>
            <a:ext cx="11064240" cy="457200"/>
          </a:xfrm>
          <a:prstGeom prst="rect">
            <a:avLst/>
          </a:prstGeom>
          <a:noFill/>
          <a:ln/>
        </p:spPr>
        <p:txBody>
          <a:bodyPr wrap="square" lIns="0" tIns="0" rIns="0" bIns="0" rtlCol="0" anchor="t"/>
          <a:lstStyle/>
          <a:p>
            <a:pPr indent="0" marL="0">
              <a:buNone/>
            </a:pPr>
            <a:r>
              <a:rPr lang="en-US" sz="2000" dirty="0">
                <a:solidFill>
                  <a:schemeClr val="tx2"/>
                </a:solidFill>
              </a:rPr>
              <a:t>Aggregate each side first, then join</a:t>
            </a:r>
            <a:endParaRPr lang="en-US" sz="2000" dirty="0"/>
          </a:p>
        </p:txBody>
      </p:sp>
      <p:sp>
        <p:nvSpPr>
          <p:cNvPr id="7" name="text-690"/>
          <p:cNvSpPr txBox="1"/>
          <p:nvPr/>
        </p:nvSpPr>
        <p:spPr>
          <a:xfrm>
            <a:off x="548640" y="2240280"/>
            <a:ext cx="1828800" cy="320040"/>
          </a:xfrm>
          <a:prstGeom prst="rect">
            <a:avLst/>
          </a:prstGeom>
          <a:noFill/>
          <a:ln/>
        </p:spPr>
        <p:txBody>
          <a:bodyPr wrap="square" lIns="0" tIns="0" rIns="0" bIns="0" rtlCol="0" anchor="ctr"/>
          <a:lstStyle/>
          <a:p>
            <a:pPr algn="l" indent="0" marL="0">
              <a:buNone/>
            </a:pPr>
            <a:r>
              <a:rPr lang="en-US" sz="1200" b="1" spc="300" kern="0" dirty="0">
                <a:solidFill>
                  <a:schemeClr val="accent6"/>
                </a:solidFill>
              </a:rPr>
              <a:t>PROBLEM</a:t>
            </a:r>
            <a:endParaRPr lang="en-US" sz="1200" dirty="0"/>
          </a:p>
        </p:txBody>
      </p:sp>
      <p:sp>
        <p:nvSpPr>
          <p:cNvPr id="8" name="box-691"/>
          <p:cNvSpPr/>
          <p:nvPr/>
        </p:nvSpPr>
        <p:spPr>
          <a:xfrm>
            <a:off x="548640" y="2880360"/>
            <a:ext cx="1280160" cy="548640"/>
          </a:xfrm>
          <a:prstGeom prst="roundRect">
            <a:avLst>
              <a:gd name="adj" fmla="val 20000"/>
            </a:avLst>
          </a:prstGeom>
          <a:solidFill>
            <a:schemeClr val="bg1"/>
          </a:solidFill>
          <a:ln w="12700">
            <a:solidFill>
              <a:schemeClr val="tx2"/>
            </a:solidFill>
            <a:prstDash val="solid"/>
          </a:ln>
        </p:spPr>
      </p:sp>
      <p:sp>
        <p:nvSpPr>
          <p:cNvPr id="9" name="text-692"/>
          <p:cNvSpPr txBox="1"/>
          <p:nvPr/>
        </p:nvSpPr>
        <p:spPr>
          <a:xfrm>
            <a:off x="621792" y="2880360"/>
            <a:ext cx="1133856" cy="548640"/>
          </a:xfrm>
          <a:prstGeom prst="rect">
            <a:avLst/>
          </a:prstGeom>
          <a:noFill/>
          <a:ln/>
        </p:spPr>
        <p:txBody>
          <a:bodyPr wrap="square" lIns="0" tIns="0" rIns="0" bIns="0" rtlCol="0" anchor="ctr"/>
          <a:lstStyle/>
          <a:p>
            <a:pPr algn="ctr" indent="0" marL="0">
              <a:buNone/>
            </a:pPr>
            <a:r>
              <a:rPr lang="en-US" sz="1400" b="1" dirty="0">
                <a:solidFill>
                  <a:schemeClr val="tx1"/>
                </a:solidFill>
              </a:rPr>
              <a:t>Ada</a:t>
            </a:r>
            <a:endParaRPr lang="en-US" sz="1400" dirty="0"/>
          </a:p>
        </p:txBody>
      </p:sp>
      <p:sp>
        <p:nvSpPr>
          <p:cNvPr id="10" name="box-693"/>
          <p:cNvSpPr/>
          <p:nvPr/>
        </p:nvSpPr>
        <p:spPr>
          <a:xfrm>
            <a:off x="2286000" y="2331720"/>
            <a:ext cx="1325880" cy="411480"/>
          </a:xfrm>
          <a:prstGeom prst="roundRect">
            <a:avLst>
              <a:gd name="adj" fmla="val 26667"/>
            </a:avLst>
          </a:prstGeom>
          <a:solidFill>
            <a:schemeClr val="accent2">
              <a:alpha val="40000"/>
            </a:schemeClr>
          </a:solidFill>
          <a:ln/>
        </p:spPr>
      </p:sp>
      <p:sp>
        <p:nvSpPr>
          <p:cNvPr id="11" name="text-694"/>
          <p:cNvSpPr txBox="1"/>
          <p:nvPr/>
        </p:nvSpPr>
        <p:spPr>
          <a:xfrm>
            <a:off x="2359152" y="2331720"/>
            <a:ext cx="1179576" cy="411480"/>
          </a:xfrm>
          <a:prstGeom prst="rect">
            <a:avLst/>
          </a:prstGeom>
          <a:noFill/>
          <a:ln/>
        </p:spPr>
        <p:txBody>
          <a:bodyPr wrap="square" lIns="0" tIns="0" rIns="0" bIns="0" rtlCol="0" anchor="ctr"/>
          <a:lstStyle/>
          <a:p>
            <a:pPr algn="ctr" indent="0" marL="0">
              <a:buNone/>
            </a:pPr>
            <a:r>
              <a:rPr lang="en-US" sz="1200" dirty="0">
                <a:solidFill>
                  <a:schemeClr val="tx1"/>
                </a:solidFill>
                <a:latin typeface="Roboto Mono" pitchFamily="34" charset="0"/>
                <a:ea typeface="Roboto Mono" pitchFamily="34" charset="-122"/>
                <a:cs typeface="Roboto Mono" pitchFamily="34" charset="-120"/>
              </a:rPr>
              <a:t>order 1</a:t>
            </a:r>
            <a:endParaRPr lang="en-US" sz="1200" dirty="0"/>
          </a:p>
        </p:txBody>
      </p:sp>
      <p:sp>
        <p:nvSpPr>
          <p:cNvPr id="12" name="line-695"/>
          <p:cNvSpPr/>
          <p:nvPr/>
        </p:nvSpPr>
        <p:spPr>
          <a:xfrm flipV="1">
            <a:off x="1828800" y="2542032"/>
            <a:ext cx="457200" cy="612648"/>
          </a:xfrm>
          <a:prstGeom prst="line">
            <a:avLst/>
          </a:prstGeom>
          <a:noFill/>
          <a:ln w="12700">
            <a:solidFill>
              <a:schemeClr val="accent4"/>
            </a:solidFill>
            <a:prstDash val="solid"/>
          </a:ln>
        </p:spPr>
      </p:sp>
      <p:sp>
        <p:nvSpPr>
          <p:cNvPr id="13" name="box-696"/>
          <p:cNvSpPr/>
          <p:nvPr/>
        </p:nvSpPr>
        <p:spPr>
          <a:xfrm>
            <a:off x="2286000" y="2880360"/>
            <a:ext cx="1325880" cy="411480"/>
          </a:xfrm>
          <a:prstGeom prst="roundRect">
            <a:avLst>
              <a:gd name="adj" fmla="val 26667"/>
            </a:avLst>
          </a:prstGeom>
          <a:solidFill>
            <a:schemeClr val="accent2">
              <a:alpha val="40000"/>
            </a:schemeClr>
          </a:solidFill>
          <a:ln/>
        </p:spPr>
      </p:sp>
      <p:sp>
        <p:nvSpPr>
          <p:cNvPr id="14" name="text-697"/>
          <p:cNvSpPr txBox="1"/>
          <p:nvPr/>
        </p:nvSpPr>
        <p:spPr>
          <a:xfrm>
            <a:off x="2359152" y="2880360"/>
            <a:ext cx="1179576" cy="411480"/>
          </a:xfrm>
          <a:prstGeom prst="rect">
            <a:avLst/>
          </a:prstGeom>
          <a:noFill/>
          <a:ln/>
        </p:spPr>
        <p:txBody>
          <a:bodyPr wrap="square" lIns="0" tIns="0" rIns="0" bIns="0" rtlCol="0" anchor="ctr"/>
          <a:lstStyle/>
          <a:p>
            <a:pPr algn="ctr" indent="0" marL="0">
              <a:buNone/>
            </a:pPr>
            <a:r>
              <a:rPr lang="en-US" sz="1200" dirty="0">
                <a:solidFill>
                  <a:schemeClr val="tx1"/>
                </a:solidFill>
                <a:latin typeface="Roboto Mono" pitchFamily="34" charset="0"/>
                <a:ea typeface="Roboto Mono" pitchFamily="34" charset="-122"/>
                <a:cs typeface="Roboto Mono" pitchFamily="34" charset="-120"/>
              </a:rPr>
              <a:t>order 2</a:t>
            </a:r>
            <a:endParaRPr lang="en-US" sz="1200" dirty="0"/>
          </a:p>
        </p:txBody>
      </p:sp>
      <p:sp>
        <p:nvSpPr>
          <p:cNvPr id="15" name="line-698"/>
          <p:cNvSpPr/>
          <p:nvPr/>
        </p:nvSpPr>
        <p:spPr>
          <a:xfrm flipV="1">
            <a:off x="1828800" y="3090672"/>
            <a:ext cx="457200" cy="64008"/>
          </a:xfrm>
          <a:prstGeom prst="line">
            <a:avLst/>
          </a:prstGeom>
          <a:noFill/>
          <a:ln w="12700">
            <a:solidFill>
              <a:schemeClr val="accent4"/>
            </a:solidFill>
            <a:prstDash val="solid"/>
          </a:ln>
        </p:spPr>
      </p:sp>
      <p:sp>
        <p:nvSpPr>
          <p:cNvPr id="16" name="box-699"/>
          <p:cNvSpPr/>
          <p:nvPr/>
        </p:nvSpPr>
        <p:spPr>
          <a:xfrm>
            <a:off x="2286000" y="3429000"/>
            <a:ext cx="1325880" cy="411480"/>
          </a:xfrm>
          <a:prstGeom prst="roundRect">
            <a:avLst>
              <a:gd name="adj" fmla="val 26667"/>
            </a:avLst>
          </a:prstGeom>
          <a:solidFill>
            <a:schemeClr val="accent2">
              <a:alpha val="40000"/>
            </a:schemeClr>
          </a:solidFill>
          <a:ln/>
        </p:spPr>
      </p:sp>
      <p:sp>
        <p:nvSpPr>
          <p:cNvPr id="17" name="text-700"/>
          <p:cNvSpPr txBox="1"/>
          <p:nvPr/>
        </p:nvSpPr>
        <p:spPr>
          <a:xfrm>
            <a:off x="2359152" y="3429000"/>
            <a:ext cx="1179576" cy="411480"/>
          </a:xfrm>
          <a:prstGeom prst="rect">
            <a:avLst/>
          </a:prstGeom>
          <a:noFill/>
          <a:ln/>
        </p:spPr>
        <p:txBody>
          <a:bodyPr wrap="square" lIns="0" tIns="0" rIns="0" bIns="0" rtlCol="0" anchor="ctr"/>
          <a:lstStyle/>
          <a:p>
            <a:pPr algn="ctr" indent="0" marL="0">
              <a:buNone/>
            </a:pPr>
            <a:r>
              <a:rPr lang="en-US" sz="1200" dirty="0">
                <a:solidFill>
                  <a:schemeClr val="tx1"/>
                </a:solidFill>
                <a:latin typeface="Roboto Mono" pitchFamily="34" charset="0"/>
                <a:ea typeface="Roboto Mono" pitchFamily="34" charset="-122"/>
                <a:cs typeface="Roboto Mono" pitchFamily="34" charset="-120"/>
              </a:rPr>
              <a:t>order 3</a:t>
            </a:r>
            <a:endParaRPr lang="en-US" sz="1200" dirty="0"/>
          </a:p>
        </p:txBody>
      </p:sp>
      <p:sp>
        <p:nvSpPr>
          <p:cNvPr id="18" name="line-701"/>
          <p:cNvSpPr/>
          <p:nvPr/>
        </p:nvSpPr>
        <p:spPr>
          <a:xfrm>
            <a:off x="1828800" y="3154680"/>
            <a:ext cx="457200" cy="484632"/>
          </a:xfrm>
          <a:prstGeom prst="line">
            <a:avLst/>
          </a:prstGeom>
          <a:noFill/>
          <a:ln w="12700">
            <a:solidFill>
              <a:schemeClr val="accent4"/>
            </a:solidFill>
            <a:prstDash val="solid"/>
          </a:ln>
        </p:spPr>
      </p:sp>
      <p:sp>
        <p:nvSpPr>
          <p:cNvPr id="19" name="box-702"/>
          <p:cNvSpPr/>
          <p:nvPr/>
        </p:nvSpPr>
        <p:spPr>
          <a:xfrm>
            <a:off x="3886200" y="2606040"/>
            <a:ext cx="1188720" cy="411480"/>
          </a:xfrm>
          <a:prstGeom prst="roundRect">
            <a:avLst>
              <a:gd name="adj" fmla="val 26667"/>
            </a:avLst>
          </a:prstGeom>
          <a:solidFill>
            <a:schemeClr val="accent1">
              <a:alpha val="30000"/>
            </a:schemeClr>
          </a:solidFill>
          <a:ln/>
        </p:spPr>
      </p:sp>
      <p:sp>
        <p:nvSpPr>
          <p:cNvPr id="20" name="text-703"/>
          <p:cNvSpPr txBox="1"/>
          <p:nvPr/>
        </p:nvSpPr>
        <p:spPr>
          <a:xfrm>
            <a:off x="3959352" y="2606040"/>
            <a:ext cx="1042416" cy="411480"/>
          </a:xfrm>
          <a:prstGeom prst="rect">
            <a:avLst/>
          </a:prstGeom>
          <a:noFill/>
          <a:ln/>
        </p:spPr>
        <p:txBody>
          <a:bodyPr wrap="square" lIns="0" tIns="0" rIns="0" bIns="0" rtlCol="0" anchor="ctr"/>
          <a:lstStyle/>
          <a:p>
            <a:pPr algn="ctr" indent="0" marL="0">
              <a:buNone/>
            </a:pPr>
            <a:r>
              <a:rPr lang="en-US" sz="1200" dirty="0">
                <a:solidFill>
                  <a:schemeClr val="tx1"/>
                </a:solidFill>
                <a:latin typeface="Roboto Mono" pitchFamily="34" charset="0"/>
                <a:ea typeface="Roboto Mono" pitchFamily="34" charset="-122"/>
                <a:cs typeface="Roboto Mono" pitchFamily="34" charset="-120"/>
              </a:rPr>
              <a:t>pay 1</a:t>
            </a:r>
            <a:endParaRPr lang="en-US" sz="1200" dirty="0"/>
          </a:p>
        </p:txBody>
      </p:sp>
      <p:sp>
        <p:nvSpPr>
          <p:cNvPr id="21" name="box-704"/>
          <p:cNvSpPr/>
          <p:nvPr/>
        </p:nvSpPr>
        <p:spPr>
          <a:xfrm>
            <a:off x="3886200" y="3154680"/>
            <a:ext cx="1188720" cy="411480"/>
          </a:xfrm>
          <a:prstGeom prst="roundRect">
            <a:avLst>
              <a:gd name="adj" fmla="val 26667"/>
            </a:avLst>
          </a:prstGeom>
          <a:solidFill>
            <a:schemeClr val="accent1">
              <a:alpha val="30000"/>
            </a:schemeClr>
          </a:solidFill>
          <a:ln/>
        </p:spPr>
      </p:sp>
      <p:sp>
        <p:nvSpPr>
          <p:cNvPr id="22" name="text-705"/>
          <p:cNvSpPr txBox="1"/>
          <p:nvPr/>
        </p:nvSpPr>
        <p:spPr>
          <a:xfrm>
            <a:off x="3959352" y="3154680"/>
            <a:ext cx="1042416" cy="411480"/>
          </a:xfrm>
          <a:prstGeom prst="rect">
            <a:avLst/>
          </a:prstGeom>
          <a:noFill/>
          <a:ln/>
        </p:spPr>
        <p:txBody>
          <a:bodyPr wrap="square" lIns="0" tIns="0" rIns="0" bIns="0" rtlCol="0" anchor="ctr"/>
          <a:lstStyle/>
          <a:p>
            <a:pPr algn="ctr" indent="0" marL="0">
              <a:buNone/>
            </a:pPr>
            <a:r>
              <a:rPr lang="en-US" sz="1200" dirty="0">
                <a:solidFill>
                  <a:schemeClr val="tx1"/>
                </a:solidFill>
                <a:latin typeface="Roboto Mono" pitchFamily="34" charset="0"/>
                <a:ea typeface="Roboto Mono" pitchFamily="34" charset="-122"/>
                <a:cs typeface="Roboto Mono" pitchFamily="34" charset="-120"/>
              </a:rPr>
              <a:t>pay 2</a:t>
            </a:r>
            <a:endParaRPr lang="en-US" sz="1200" dirty="0"/>
          </a:p>
        </p:txBody>
      </p:sp>
      <p:sp>
        <p:nvSpPr>
          <p:cNvPr id="23" name="text-706"/>
          <p:cNvSpPr txBox="1"/>
          <p:nvPr/>
        </p:nvSpPr>
        <p:spPr>
          <a:xfrm>
            <a:off x="3611880" y="2697480"/>
            <a:ext cx="274320" cy="548640"/>
          </a:xfrm>
          <a:prstGeom prst="rect">
            <a:avLst/>
          </a:prstGeom>
          <a:noFill/>
          <a:ln/>
        </p:spPr>
        <p:txBody>
          <a:bodyPr wrap="square" lIns="0" tIns="0" rIns="0" bIns="0" rtlCol="0" anchor="ctr"/>
          <a:lstStyle/>
          <a:p>
            <a:pPr algn="ctr" indent="0" marL="0">
              <a:buNone/>
            </a:pPr>
            <a:r>
              <a:rPr lang="en-US" sz="2200" b="1" dirty="0">
                <a:solidFill>
                  <a:schemeClr val="tx1"/>
                </a:solidFill>
              </a:rPr>
              <a:t>×</a:t>
            </a:r>
            <a:endParaRPr lang="en-US" sz="2200" dirty="0"/>
          </a:p>
        </p:txBody>
      </p:sp>
      <p:sp>
        <p:nvSpPr>
          <p:cNvPr id="24" name="arrow-707"/>
          <p:cNvSpPr/>
          <p:nvPr/>
        </p:nvSpPr>
        <p:spPr>
          <a:xfrm>
            <a:off x="5303520" y="2880360"/>
            <a:ext cx="548640" cy="411480"/>
          </a:xfrm>
          <a:prstGeom prst="rightArrow">
            <a:avLst/>
          </a:prstGeom>
          <a:solidFill>
            <a:schemeClr val="accent5"/>
          </a:solidFill>
          <a:ln/>
        </p:spPr>
      </p:sp>
      <p:sp>
        <p:nvSpPr>
          <p:cNvPr id="25" name="box-708"/>
          <p:cNvSpPr/>
          <p:nvPr/>
        </p:nvSpPr>
        <p:spPr>
          <a:xfrm>
            <a:off x="6035040" y="2286000"/>
            <a:ext cx="2560320" cy="237744"/>
          </a:xfrm>
          <a:prstGeom prst="roundRect">
            <a:avLst>
              <a:gd name="adj" fmla="val 7692"/>
            </a:avLst>
          </a:prstGeom>
          <a:solidFill>
            <a:schemeClr val="bg1"/>
          </a:solidFill>
          <a:ln w="12700">
            <a:solidFill>
              <a:schemeClr val="accent5"/>
            </a:solidFill>
            <a:prstDash val="solid"/>
          </a:ln>
        </p:spPr>
      </p:sp>
      <p:sp>
        <p:nvSpPr>
          <p:cNvPr id="26" name="text-709"/>
          <p:cNvSpPr txBox="1"/>
          <p:nvPr/>
        </p:nvSpPr>
        <p:spPr>
          <a:xfrm>
            <a:off x="6108192" y="2286000"/>
            <a:ext cx="2414016" cy="237744"/>
          </a:xfrm>
          <a:prstGeom prst="rect">
            <a:avLst/>
          </a:prstGeom>
          <a:noFill/>
          <a:ln/>
        </p:spPr>
        <p:txBody>
          <a:bodyPr wrap="square" lIns="0" tIns="0" rIns="0" bIns="0" rtlCol="0" anchor="ctr"/>
          <a:lstStyle/>
          <a:p>
            <a:pPr algn="ctr" indent="0" marL="0">
              <a:buNone/>
            </a:pPr>
            <a:r>
              <a:rPr lang="en-US" sz="1000" dirty="0">
                <a:solidFill>
                  <a:schemeClr val="tx1"/>
                </a:solidFill>
                <a:latin typeface="Roboto Mono" pitchFamily="34" charset="0"/>
                <a:ea typeface="Roboto Mono" pitchFamily="34" charset="-122"/>
                <a:cs typeface="Roboto Mono" pitchFamily="34" charset="-120"/>
              </a:rPr>
              <a:t>order 1  ·  pay 1</a:t>
            </a:r>
            <a:endParaRPr lang="en-US" sz="1000" dirty="0"/>
          </a:p>
        </p:txBody>
      </p:sp>
      <p:sp>
        <p:nvSpPr>
          <p:cNvPr id="27" name="box-710"/>
          <p:cNvSpPr/>
          <p:nvPr/>
        </p:nvSpPr>
        <p:spPr>
          <a:xfrm>
            <a:off x="6035040" y="2551176"/>
            <a:ext cx="2560320" cy="237744"/>
          </a:xfrm>
          <a:prstGeom prst="roundRect">
            <a:avLst>
              <a:gd name="adj" fmla="val 7692"/>
            </a:avLst>
          </a:prstGeom>
          <a:solidFill>
            <a:schemeClr val="bg1"/>
          </a:solidFill>
          <a:ln w="12700">
            <a:solidFill>
              <a:schemeClr val="accent5"/>
            </a:solidFill>
            <a:prstDash val="solid"/>
          </a:ln>
        </p:spPr>
      </p:sp>
      <p:sp>
        <p:nvSpPr>
          <p:cNvPr id="28" name="text-711"/>
          <p:cNvSpPr txBox="1"/>
          <p:nvPr/>
        </p:nvSpPr>
        <p:spPr>
          <a:xfrm>
            <a:off x="6108192" y="2551176"/>
            <a:ext cx="2414016" cy="237744"/>
          </a:xfrm>
          <a:prstGeom prst="rect">
            <a:avLst/>
          </a:prstGeom>
          <a:noFill/>
          <a:ln/>
        </p:spPr>
        <p:txBody>
          <a:bodyPr wrap="square" lIns="0" tIns="0" rIns="0" bIns="0" rtlCol="0" anchor="ctr"/>
          <a:lstStyle/>
          <a:p>
            <a:pPr algn="ctr" indent="0" marL="0">
              <a:buNone/>
            </a:pPr>
            <a:r>
              <a:rPr lang="en-US" sz="1000" dirty="0">
                <a:solidFill>
                  <a:schemeClr val="tx1"/>
                </a:solidFill>
                <a:latin typeface="Roboto Mono" pitchFamily="34" charset="0"/>
                <a:ea typeface="Roboto Mono" pitchFamily="34" charset="-122"/>
                <a:cs typeface="Roboto Mono" pitchFamily="34" charset="-120"/>
              </a:rPr>
              <a:t>order 1  ·  pay 2</a:t>
            </a:r>
            <a:endParaRPr lang="en-US" sz="1000" dirty="0"/>
          </a:p>
        </p:txBody>
      </p:sp>
      <p:sp>
        <p:nvSpPr>
          <p:cNvPr id="29" name="box-712"/>
          <p:cNvSpPr/>
          <p:nvPr/>
        </p:nvSpPr>
        <p:spPr>
          <a:xfrm>
            <a:off x="6035040" y="2816352"/>
            <a:ext cx="2560320" cy="237744"/>
          </a:xfrm>
          <a:prstGeom prst="roundRect">
            <a:avLst>
              <a:gd name="adj" fmla="val 7692"/>
            </a:avLst>
          </a:prstGeom>
          <a:solidFill>
            <a:schemeClr val="bg1"/>
          </a:solidFill>
          <a:ln w="12700">
            <a:solidFill>
              <a:schemeClr val="accent5"/>
            </a:solidFill>
            <a:prstDash val="solid"/>
          </a:ln>
        </p:spPr>
      </p:sp>
      <p:sp>
        <p:nvSpPr>
          <p:cNvPr id="30" name="text-713"/>
          <p:cNvSpPr txBox="1"/>
          <p:nvPr/>
        </p:nvSpPr>
        <p:spPr>
          <a:xfrm>
            <a:off x="6108192" y="2816352"/>
            <a:ext cx="2414016" cy="237744"/>
          </a:xfrm>
          <a:prstGeom prst="rect">
            <a:avLst/>
          </a:prstGeom>
          <a:noFill/>
          <a:ln/>
        </p:spPr>
        <p:txBody>
          <a:bodyPr wrap="square" lIns="0" tIns="0" rIns="0" bIns="0" rtlCol="0" anchor="ctr"/>
          <a:lstStyle/>
          <a:p>
            <a:pPr algn="ctr" indent="0" marL="0">
              <a:buNone/>
            </a:pPr>
            <a:r>
              <a:rPr lang="en-US" sz="1000" dirty="0">
                <a:solidFill>
                  <a:schemeClr val="tx1"/>
                </a:solidFill>
                <a:latin typeface="Roboto Mono" pitchFamily="34" charset="0"/>
                <a:ea typeface="Roboto Mono" pitchFamily="34" charset="-122"/>
                <a:cs typeface="Roboto Mono" pitchFamily="34" charset="-120"/>
              </a:rPr>
              <a:t>order 2  ·  pay 1</a:t>
            </a:r>
            <a:endParaRPr lang="en-US" sz="1000" dirty="0"/>
          </a:p>
        </p:txBody>
      </p:sp>
      <p:sp>
        <p:nvSpPr>
          <p:cNvPr id="31" name="box-714"/>
          <p:cNvSpPr/>
          <p:nvPr/>
        </p:nvSpPr>
        <p:spPr>
          <a:xfrm>
            <a:off x="6035040" y="3081528"/>
            <a:ext cx="2560320" cy="237744"/>
          </a:xfrm>
          <a:prstGeom prst="roundRect">
            <a:avLst>
              <a:gd name="adj" fmla="val 7692"/>
            </a:avLst>
          </a:prstGeom>
          <a:solidFill>
            <a:schemeClr val="bg1"/>
          </a:solidFill>
          <a:ln w="12700">
            <a:solidFill>
              <a:schemeClr val="accent5"/>
            </a:solidFill>
            <a:prstDash val="solid"/>
          </a:ln>
        </p:spPr>
      </p:sp>
      <p:sp>
        <p:nvSpPr>
          <p:cNvPr id="32" name="text-715"/>
          <p:cNvSpPr txBox="1"/>
          <p:nvPr/>
        </p:nvSpPr>
        <p:spPr>
          <a:xfrm>
            <a:off x="6108192" y="3081528"/>
            <a:ext cx="2414016" cy="237744"/>
          </a:xfrm>
          <a:prstGeom prst="rect">
            <a:avLst/>
          </a:prstGeom>
          <a:noFill/>
          <a:ln/>
        </p:spPr>
        <p:txBody>
          <a:bodyPr wrap="square" lIns="0" tIns="0" rIns="0" bIns="0" rtlCol="0" anchor="ctr"/>
          <a:lstStyle/>
          <a:p>
            <a:pPr algn="ctr" indent="0" marL="0">
              <a:buNone/>
            </a:pPr>
            <a:r>
              <a:rPr lang="en-US" sz="1000" dirty="0">
                <a:solidFill>
                  <a:schemeClr val="tx1"/>
                </a:solidFill>
                <a:latin typeface="Roboto Mono" pitchFamily="34" charset="0"/>
                <a:ea typeface="Roboto Mono" pitchFamily="34" charset="-122"/>
                <a:cs typeface="Roboto Mono" pitchFamily="34" charset="-120"/>
              </a:rPr>
              <a:t>order 2  ·  pay 2</a:t>
            </a:r>
            <a:endParaRPr lang="en-US" sz="1000" dirty="0"/>
          </a:p>
        </p:txBody>
      </p:sp>
      <p:sp>
        <p:nvSpPr>
          <p:cNvPr id="33" name="box-716"/>
          <p:cNvSpPr/>
          <p:nvPr/>
        </p:nvSpPr>
        <p:spPr>
          <a:xfrm>
            <a:off x="6035040" y="3346704"/>
            <a:ext cx="2560320" cy="237744"/>
          </a:xfrm>
          <a:prstGeom prst="roundRect">
            <a:avLst>
              <a:gd name="adj" fmla="val 7692"/>
            </a:avLst>
          </a:prstGeom>
          <a:solidFill>
            <a:schemeClr val="bg1"/>
          </a:solidFill>
          <a:ln w="12700">
            <a:solidFill>
              <a:schemeClr val="accent5"/>
            </a:solidFill>
            <a:prstDash val="solid"/>
          </a:ln>
        </p:spPr>
      </p:sp>
      <p:sp>
        <p:nvSpPr>
          <p:cNvPr id="34" name="text-717"/>
          <p:cNvSpPr txBox="1"/>
          <p:nvPr/>
        </p:nvSpPr>
        <p:spPr>
          <a:xfrm>
            <a:off x="6108192" y="3346704"/>
            <a:ext cx="2414016" cy="237744"/>
          </a:xfrm>
          <a:prstGeom prst="rect">
            <a:avLst/>
          </a:prstGeom>
          <a:noFill/>
          <a:ln/>
        </p:spPr>
        <p:txBody>
          <a:bodyPr wrap="square" lIns="0" tIns="0" rIns="0" bIns="0" rtlCol="0" anchor="ctr"/>
          <a:lstStyle/>
          <a:p>
            <a:pPr algn="ctr" indent="0" marL="0">
              <a:buNone/>
            </a:pPr>
            <a:r>
              <a:rPr lang="en-US" sz="1000" dirty="0">
                <a:solidFill>
                  <a:schemeClr val="tx1"/>
                </a:solidFill>
                <a:latin typeface="Roboto Mono" pitchFamily="34" charset="0"/>
                <a:ea typeface="Roboto Mono" pitchFamily="34" charset="-122"/>
                <a:cs typeface="Roboto Mono" pitchFamily="34" charset="-120"/>
              </a:rPr>
              <a:t>order 3  ·  pay 1</a:t>
            </a:r>
            <a:endParaRPr lang="en-US" sz="1000" dirty="0"/>
          </a:p>
        </p:txBody>
      </p:sp>
      <p:sp>
        <p:nvSpPr>
          <p:cNvPr id="35" name="box-718"/>
          <p:cNvSpPr/>
          <p:nvPr/>
        </p:nvSpPr>
        <p:spPr>
          <a:xfrm>
            <a:off x="6035040" y="3611880"/>
            <a:ext cx="2560320" cy="237744"/>
          </a:xfrm>
          <a:prstGeom prst="roundRect">
            <a:avLst>
              <a:gd name="adj" fmla="val 7692"/>
            </a:avLst>
          </a:prstGeom>
          <a:solidFill>
            <a:schemeClr val="bg1"/>
          </a:solidFill>
          <a:ln w="12700">
            <a:solidFill>
              <a:schemeClr val="accent5"/>
            </a:solidFill>
            <a:prstDash val="solid"/>
          </a:ln>
        </p:spPr>
      </p:sp>
      <p:sp>
        <p:nvSpPr>
          <p:cNvPr id="36" name="text-719"/>
          <p:cNvSpPr txBox="1"/>
          <p:nvPr/>
        </p:nvSpPr>
        <p:spPr>
          <a:xfrm>
            <a:off x="6108192" y="3611880"/>
            <a:ext cx="2414016" cy="237744"/>
          </a:xfrm>
          <a:prstGeom prst="rect">
            <a:avLst/>
          </a:prstGeom>
          <a:noFill/>
          <a:ln/>
        </p:spPr>
        <p:txBody>
          <a:bodyPr wrap="square" lIns="0" tIns="0" rIns="0" bIns="0" rtlCol="0" anchor="ctr"/>
          <a:lstStyle/>
          <a:p>
            <a:pPr algn="ctr" indent="0" marL="0">
              <a:buNone/>
            </a:pPr>
            <a:r>
              <a:rPr lang="en-US" sz="1000" dirty="0">
                <a:solidFill>
                  <a:schemeClr val="tx1"/>
                </a:solidFill>
                <a:latin typeface="Roboto Mono" pitchFamily="34" charset="0"/>
                <a:ea typeface="Roboto Mono" pitchFamily="34" charset="-122"/>
                <a:cs typeface="Roboto Mono" pitchFamily="34" charset="-120"/>
              </a:rPr>
              <a:t>order 3  ·  pay 2</a:t>
            </a:r>
            <a:endParaRPr lang="en-US" sz="1000" dirty="0"/>
          </a:p>
        </p:txBody>
      </p:sp>
      <p:sp>
        <p:nvSpPr>
          <p:cNvPr id="37" name="box-720"/>
          <p:cNvSpPr/>
          <p:nvPr/>
        </p:nvSpPr>
        <p:spPr>
          <a:xfrm>
            <a:off x="8869680" y="2697480"/>
            <a:ext cx="2468880" cy="548640"/>
          </a:xfrm>
          <a:prstGeom prst="roundRect">
            <a:avLst>
              <a:gd name="adj" fmla="val 20000"/>
            </a:avLst>
          </a:prstGeom>
          <a:solidFill>
            <a:schemeClr val="accent1"/>
          </a:solidFill>
          <a:ln/>
        </p:spPr>
      </p:sp>
      <p:sp>
        <p:nvSpPr>
          <p:cNvPr id="38" name="text-721"/>
          <p:cNvSpPr txBox="1"/>
          <p:nvPr/>
        </p:nvSpPr>
        <p:spPr>
          <a:xfrm>
            <a:off x="8942832" y="2697480"/>
            <a:ext cx="2322576" cy="548640"/>
          </a:xfrm>
          <a:prstGeom prst="rect">
            <a:avLst/>
          </a:prstGeom>
          <a:noFill/>
          <a:ln/>
        </p:spPr>
        <p:txBody>
          <a:bodyPr wrap="square" lIns="0" tIns="0" rIns="0" bIns="0" rtlCol="0" anchor="ctr"/>
          <a:lstStyle/>
          <a:p>
            <a:pPr algn="ctr" indent="0" marL="0">
              <a:buNone/>
            </a:pPr>
            <a:r>
              <a:rPr lang="en-US" sz="1400" b="1" dirty="0">
                <a:solidFill>
                  <a:schemeClr val="tx1"/>
                </a:solidFill>
              </a:rPr>
              <a:t>6 rows → SUM inflated</a:t>
            </a:r>
            <a:endParaRPr lang="en-US" sz="1400" dirty="0"/>
          </a:p>
        </p:txBody>
      </p:sp>
      <p:sp>
        <p:nvSpPr>
          <p:cNvPr id="39" name="dot-722"/>
          <p:cNvSpPr/>
          <p:nvPr/>
        </p:nvSpPr>
        <p:spPr>
          <a:xfrm>
            <a:off x="11155680" y="2286000"/>
            <a:ext cx="411480" cy="411480"/>
          </a:xfrm>
          <a:prstGeom prst="ellipse">
            <a:avLst/>
          </a:prstGeom>
          <a:solidFill>
            <a:schemeClr val="accent1"/>
          </a:solidFill>
          <a:ln/>
        </p:spPr>
      </p:sp>
      <p:sp>
        <p:nvSpPr>
          <p:cNvPr id="40" name="text-723"/>
          <p:cNvSpPr txBox="1"/>
          <p:nvPr/>
        </p:nvSpPr>
        <p:spPr>
          <a:xfrm>
            <a:off x="548640" y="4160520"/>
            <a:ext cx="1828800" cy="320040"/>
          </a:xfrm>
          <a:prstGeom prst="rect">
            <a:avLst/>
          </a:prstGeom>
          <a:noFill/>
          <a:ln/>
        </p:spPr>
        <p:txBody>
          <a:bodyPr wrap="square" lIns="0" tIns="0" rIns="0" bIns="0" rtlCol="0" anchor="ctr"/>
          <a:lstStyle/>
          <a:p>
            <a:pPr algn="l" indent="0" marL="0">
              <a:buNone/>
            </a:pPr>
            <a:r>
              <a:rPr lang="en-US" sz="1200" b="1" spc="300" kern="0" dirty="0">
                <a:solidFill>
                  <a:schemeClr val="accent3"/>
                </a:solidFill>
              </a:rPr>
              <a:t>FIX</a:t>
            </a:r>
            <a:endParaRPr lang="en-US" sz="1200" dirty="0"/>
          </a:p>
        </p:txBody>
      </p:sp>
      <p:sp>
        <p:nvSpPr>
          <p:cNvPr id="41" name="box-724"/>
          <p:cNvSpPr/>
          <p:nvPr/>
        </p:nvSpPr>
        <p:spPr>
          <a:xfrm>
            <a:off x="548640" y="4572000"/>
            <a:ext cx="3840480" cy="502920"/>
          </a:xfrm>
          <a:prstGeom prst="roundRect">
            <a:avLst>
              <a:gd name="adj" fmla="val 21818"/>
            </a:avLst>
          </a:prstGeom>
          <a:solidFill>
            <a:schemeClr val="accent2">
              <a:alpha val="40000"/>
            </a:schemeClr>
          </a:solidFill>
          <a:ln/>
        </p:spPr>
      </p:sp>
      <p:sp>
        <p:nvSpPr>
          <p:cNvPr id="42" name="text-725"/>
          <p:cNvSpPr txBox="1"/>
          <p:nvPr/>
        </p:nvSpPr>
        <p:spPr>
          <a:xfrm>
            <a:off x="621792" y="4572000"/>
            <a:ext cx="3694176" cy="502920"/>
          </a:xfrm>
          <a:prstGeom prst="rect">
            <a:avLst/>
          </a:prstGeom>
          <a:noFill/>
          <a:ln/>
        </p:spPr>
        <p:txBody>
          <a:bodyPr wrap="square" lIns="0" tIns="0" rIns="0" bIns="0" rtlCol="0" anchor="ctr"/>
          <a:lstStyle/>
          <a:p>
            <a:pPr algn="ctr" indent="0" marL="0">
              <a:buNone/>
            </a:pPr>
            <a:r>
              <a:rPr lang="en-US" sz="1400" b="1" dirty="0">
                <a:solidFill>
                  <a:schemeClr val="tx1"/>
                </a:solidFill>
              </a:rPr>
              <a:t>CTE: orders → SUM  (1 row)</a:t>
            </a:r>
            <a:endParaRPr lang="en-US" sz="1400" dirty="0"/>
          </a:p>
        </p:txBody>
      </p:sp>
      <p:sp>
        <p:nvSpPr>
          <p:cNvPr id="43" name="box-726"/>
          <p:cNvSpPr/>
          <p:nvPr/>
        </p:nvSpPr>
        <p:spPr>
          <a:xfrm>
            <a:off x="548640" y="5303520"/>
            <a:ext cx="3840480" cy="502920"/>
          </a:xfrm>
          <a:prstGeom prst="roundRect">
            <a:avLst>
              <a:gd name="adj" fmla="val 21818"/>
            </a:avLst>
          </a:prstGeom>
          <a:solidFill>
            <a:schemeClr val="accent1">
              <a:alpha val="30000"/>
            </a:schemeClr>
          </a:solidFill>
          <a:ln/>
        </p:spPr>
      </p:sp>
      <p:sp>
        <p:nvSpPr>
          <p:cNvPr id="44" name="text-727"/>
          <p:cNvSpPr txBox="1"/>
          <p:nvPr/>
        </p:nvSpPr>
        <p:spPr>
          <a:xfrm>
            <a:off x="621792" y="5303520"/>
            <a:ext cx="3694176" cy="502920"/>
          </a:xfrm>
          <a:prstGeom prst="rect">
            <a:avLst/>
          </a:prstGeom>
          <a:noFill/>
          <a:ln/>
        </p:spPr>
        <p:txBody>
          <a:bodyPr wrap="square" lIns="0" tIns="0" rIns="0" bIns="0" rtlCol="0" anchor="ctr"/>
          <a:lstStyle/>
          <a:p>
            <a:pPr algn="ctr" indent="0" marL="0">
              <a:buNone/>
            </a:pPr>
            <a:r>
              <a:rPr lang="en-US" sz="1400" b="1" dirty="0">
                <a:solidFill>
                  <a:schemeClr val="tx1"/>
                </a:solidFill>
              </a:rPr>
              <a:t>CTE: payments → SUM  (1 row)</a:t>
            </a:r>
            <a:endParaRPr lang="en-US" sz="1400" dirty="0"/>
          </a:p>
        </p:txBody>
      </p:sp>
      <p:sp>
        <p:nvSpPr>
          <p:cNvPr id="45" name="line-728"/>
          <p:cNvSpPr/>
          <p:nvPr/>
        </p:nvSpPr>
        <p:spPr>
          <a:xfrm>
            <a:off x="4389120" y="4828032"/>
            <a:ext cx="548640" cy="91"/>
          </a:xfrm>
          <a:prstGeom prst="line">
            <a:avLst/>
          </a:prstGeom>
          <a:noFill/>
          <a:ln w="19050">
            <a:solidFill>
              <a:schemeClr val="tx2"/>
            </a:solidFill>
            <a:prstDash val="solid"/>
          </a:ln>
        </p:spPr>
      </p:sp>
      <p:sp>
        <p:nvSpPr>
          <p:cNvPr id="46" name="line-729"/>
          <p:cNvSpPr/>
          <p:nvPr/>
        </p:nvSpPr>
        <p:spPr>
          <a:xfrm>
            <a:off x="4937760" y="4828032"/>
            <a:ext cx="91" cy="338328"/>
          </a:xfrm>
          <a:prstGeom prst="line">
            <a:avLst/>
          </a:prstGeom>
          <a:noFill/>
          <a:ln w="19050">
            <a:solidFill>
              <a:schemeClr val="tx2"/>
            </a:solidFill>
            <a:prstDash val="solid"/>
          </a:ln>
        </p:spPr>
      </p:sp>
      <p:sp>
        <p:nvSpPr>
          <p:cNvPr id="47" name="line-730"/>
          <p:cNvSpPr/>
          <p:nvPr/>
        </p:nvSpPr>
        <p:spPr>
          <a:xfrm>
            <a:off x="4937760" y="5166360"/>
            <a:ext cx="548640" cy="91"/>
          </a:xfrm>
          <a:prstGeom prst="line">
            <a:avLst/>
          </a:prstGeom>
          <a:noFill/>
          <a:ln w="19050">
            <a:solidFill>
              <a:schemeClr val="tx2"/>
            </a:solidFill>
            <a:prstDash val="solid"/>
            <a:tailEnd type="triangle"/>
          </a:ln>
        </p:spPr>
      </p:sp>
      <p:sp>
        <p:nvSpPr>
          <p:cNvPr id="48" name="line-731"/>
          <p:cNvSpPr/>
          <p:nvPr/>
        </p:nvSpPr>
        <p:spPr>
          <a:xfrm>
            <a:off x="4389120" y="5559552"/>
            <a:ext cx="548640" cy="91"/>
          </a:xfrm>
          <a:prstGeom prst="line">
            <a:avLst/>
          </a:prstGeom>
          <a:noFill/>
          <a:ln w="19050">
            <a:solidFill>
              <a:schemeClr val="tx2"/>
            </a:solidFill>
            <a:prstDash val="solid"/>
          </a:ln>
        </p:spPr>
      </p:sp>
      <p:sp>
        <p:nvSpPr>
          <p:cNvPr id="49" name="line-732"/>
          <p:cNvSpPr/>
          <p:nvPr/>
        </p:nvSpPr>
        <p:spPr>
          <a:xfrm flipV="1">
            <a:off x="4937760" y="5166360"/>
            <a:ext cx="91" cy="393192"/>
          </a:xfrm>
          <a:prstGeom prst="line">
            <a:avLst/>
          </a:prstGeom>
          <a:noFill/>
          <a:ln w="19050">
            <a:solidFill>
              <a:schemeClr val="tx2"/>
            </a:solidFill>
            <a:prstDash val="solid"/>
          </a:ln>
        </p:spPr>
      </p:sp>
      <p:sp>
        <p:nvSpPr>
          <p:cNvPr id="50" name="box-733"/>
          <p:cNvSpPr/>
          <p:nvPr/>
        </p:nvSpPr>
        <p:spPr>
          <a:xfrm>
            <a:off x="5486400" y="4910328"/>
            <a:ext cx="2377440" cy="502920"/>
          </a:xfrm>
          <a:prstGeom prst="roundRect">
            <a:avLst>
              <a:gd name="adj" fmla="val 21818"/>
            </a:avLst>
          </a:prstGeom>
          <a:solidFill>
            <a:schemeClr val="bg1"/>
          </a:solidFill>
          <a:ln w="12700">
            <a:solidFill>
              <a:schemeClr val="tx2"/>
            </a:solidFill>
            <a:prstDash val="solid"/>
          </a:ln>
        </p:spPr>
      </p:sp>
      <p:sp>
        <p:nvSpPr>
          <p:cNvPr id="51" name="text-734"/>
          <p:cNvSpPr txBox="1"/>
          <p:nvPr/>
        </p:nvSpPr>
        <p:spPr>
          <a:xfrm>
            <a:off x="5559552" y="4910328"/>
            <a:ext cx="2231136" cy="502920"/>
          </a:xfrm>
          <a:prstGeom prst="rect">
            <a:avLst/>
          </a:prstGeom>
          <a:noFill/>
          <a:ln/>
        </p:spPr>
        <p:txBody>
          <a:bodyPr wrap="square" lIns="0" tIns="0" rIns="0" bIns="0" rtlCol="0" anchor="ctr"/>
          <a:lstStyle/>
          <a:p>
            <a:pPr algn="ctr" indent="0" marL="0">
              <a:buNone/>
            </a:pPr>
            <a:r>
              <a:rPr lang="en-US" sz="1400" dirty="0">
                <a:solidFill>
                  <a:schemeClr val="tx1"/>
                </a:solidFill>
              </a:rPr>
              <a:t>JOIN to the user</a:t>
            </a:r>
            <a:endParaRPr lang="en-US" sz="1400" dirty="0"/>
          </a:p>
        </p:txBody>
      </p:sp>
      <p:sp>
        <p:nvSpPr>
          <p:cNvPr id="52" name="line-735"/>
          <p:cNvSpPr/>
          <p:nvPr/>
        </p:nvSpPr>
        <p:spPr>
          <a:xfrm>
            <a:off x="7863840" y="5166360"/>
            <a:ext cx="640080" cy="91"/>
          </a:xfrm>
          <a:prstGeom prst="line">
            <a:avLst/>
          </a:prstGeom>
          <a:noFill/>
          <a:ln w="19050">
            <a:solidFill>
              <a:schemeClr val="tx2"/>
            </a:solidFill>
            <a:prstDash val="solid"/>
            <a:tailEnd type="triangle"/>
          </a:ln>
        </p:spPr>
      </p:sp>
      <p:sp>
        <p:nvSpPr>
          <p:cNvPr id="53" name="box-736"/>
          <p:cNvSpPr/>
          <p:nvPr/>
        </p:nvSpPr>
        <p:spPr>
          <a:xfrm>
            <a:off x="8503920" y="4910328"/>
            <a:ext cx="2743200" cy="502920"/>
          </a:xfrm>
          <a:prstGeom prst="roundRect">
            <a:avLst>
              <a:gd name="adj" fmla="val 21818"/>
            </a:avLst>
          </a:prstGeom>
          <a:solidFill>
            <a:schemeClr val="accent2"/>
          </a:solidFill>
          <a:ln/>
        </p:spPr>
      </p:sp>
      <p:sp>
        <p:nvSpPr>
          <p:cNvPr id="54" name="text-737"/>
          <p:cNvSpPr txBox="1"/>
          <p:nvPr/>
        </p:nvSpPr>
        <p:spPr>
          <a:xfrm>
            <a:off x="8577072" y="4910328"/>
            <a:ext cx="2596896" cy="502920"/>
          </a:xfrm>
          <a:prstGeom prst="rect">
            <a:avLst/>
          </a:prstGeom>
          <a:noFill/>
          <a:ln/>
        </p:spPr>
        <p:txBody>
          <a:bodyPr wrap="square" lIns="0" tIns="0" rIns="0" bIns="0" rtlCol="0" anchor="ctr"/>
          <a:lstStyle/>
          <a:p>
            <a:pPr algn="ctr" indent="0" marL="0">
              <a:buNone/>
            </a:pPr>
            <a:r>
              <a:rPr lang="en-US" sz="1400" b="1" dirty="0">
                <a:solidFill>
                  <a:schemeClr val="tx1"/>
                </a:solidFill>
              </a:rPr>
              <a:t>Ada · 1 row · true totals</a:t>
            </a:r>
            <a:endParaRPr lang="en-US" sz="1400" dirty="0"/>
          </a:p>
        </p:txBody>
      </p:sp>
      <p:sp>
        <p:nvSpPr>
          <p:cNvPr id="55" name="dot-738"/>
          <p:cNvSpPr/>
          <p:nvPr/>
        </p:nvSpPr>
        <p:spPr>
          <a:xfrm>
            <a:off x="11201400" y="4572000"/>
            <a:ext cx="411480" cy="411480"/>
          </a:xfrm>
          <a:prstGeom prst="ellipse">
            <a:avLst/>
          </a:prstGeom>
          <a:solidFill>
            <a:schemeClr val="accent2"/>
          </a:solidFill>
          <a:ln/>
        </p:spPr>
      </p:sp>
      <p:pic>
        <p:nvPicPr>
          <p:cNvPr id="56" name="Image 0" descr="Search icon">    </p:cNvPr>
          <p:cNvPicPr>
            <a:picLocks noChangeAspect="1"/>
          </p:cNvPicPr>
          <p:nvPr/>
        </p:nvPicPr>
        <p:blipFill>
          <a:blip r:embed="rId1"/>
          <a:stretch>
            <a:fillRect/>
          </a:stretch>
        </p:blipFill>
        <p:spPr>
          <a:xfrm>
            <a:off x="640812" y="476220"/>
            <a:ext cx="199705" cy="199705"/>
          </a:xfrm>
          <a:prstGeom prst="rect">
            <a:avLst/>
          </a:prstGeom>
        </p:spPr>
      </p:pic>
      <p:pic>
        <p:nvPicPr>
          <p:cNvPr id="57" name="Image 1" descr="Times icon">    </p:cNvPr>
          <p:cNvPicPr>
            <a:picLocks noChangeAspect="1"/>
          </p:cNvPicPr>
          <p:nvPr/>
        </p:nvPicPr>
        <p:blipFill>
          <a:blip r:embed="rId2"/>
          <a:stretch>
            <a:fillRect/>
          </a:stretch>
        </p:blipFill>
        <p:spPr>
          <a:xfrm>
            <a:off x="11254435" y="2384755"/>
            <a:ext cx="213970" cy="213970"/>
          </a:xfrm>
          <a:prstGeom prst="rect">
            <a:avLst/>
          </a:prstGeom>
        </p:spPr>
      </p:pic>
      <p:pic>
        <p:nvPicPr>
          <p:cNvPr id="58" name="Image 2" descr="Check icon">    </p:cNvPr>
          <p:cNvPicPr>
            <a:picLocks noChangeAspect="1"/>
          </p:cNvPicPr>
          <p:nvPr/>
        </p:nvPicPr>
        <p:blipFill>
          <a:blip r:embed="rId3"/>
          <a:stretch>
            <a:fillRect/>
          </a:stretch>
        </p:blipFill>
        <p:spPr>
          <a:xfrm>
            <a:off x="11300155" y="4670755"/>
            <a:ext cx="213970" cy="213970"/>
          </a:xfrm>
          <a:prstGeom prst="rect">
            <a:avLst/>
          </a:prstGeom>
        </p:spPr>
      </p:pic>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dot-739"/>
          <p:cNvSpPr/>
          <p:nvPr/>
        </p:nvSpPr>
        <p:spPr>
          <a:xfrm>
            <a:off x="548640" y="384048"/>
            <a:ext cx="384048" cy="384048"/>
          </a:xfrm>
          <a:prstGeom prst="ellipse">
            <a:avLst/>
          </a:prstGeom>
          <a:solidFill>
            <a:schemeClr val="accent2"/>
          </a:solidFill>
          <a:ln/>
        </p:spPr>
      </p:sp>
      <p:sp>
        <p:nvSpPr>
          <p:cNvPr id="3" name="Text 1"/>
          <p:cNvSpPr/>
          <p:nvPr>
            <p:ph idx="101" type="body" hasCustomPrompt="1"/>
          </p:nvPr>
        </p:nvSpPr>
        <p:spPr>
          <a:xfrm>
            <a:off x="1051560" y="384048"/>
            <a:ext cx="9601200" cy="384048"/>
          </a:xfrm>
          <a:prstGeom prst="rect">
            <a:avLst/>
          </a:prstGeom>
          <a:noFill/>
          <a:ln/>
        </p:spPr>
        <p:txBody>
          <a:bodyPr wrap="square" lIns="0" tIns="0" rIns="0" bIns="0" rtlCol="0" anchor="ctr"/>
          <a:lstStyle/>
          <a:p>
            <a:pPr indent="0" marL="0">
              <a:buNone/>
            </a:pPr>
            <a:r>
              <a:rPr lang="en-US" sz="1300" b="1" spc="300" kern="0" dirty="0">
                <a:solidFill>
                  <a:schemeClr val="tx2"/>
                </a:solidFill>
              </a:rPr>
              <a:t>L2  ·  QUERY  ·  3.8 AGGREGATES</a:t>
            </a:r>
            <a:endParaRPr lang="en-US" sz="1300" dirty="0"/>
          </a:p>
        </p:txBody>
      </p:sp>
      <p:sp>
        <p:nvSpPr>
          <p:cNvPr id="4" name="Text 1"/>
          <p:cNvSpPr/>
          <p:nvPr>
            <p:ph idx="102" type="title" hasCustomPrompt="1"/>
          </p:nvPr>
        </p:nvSpPr>
        <p:spPr>
          <a:xfrm>
            <a:off x="548640" y="841248"/>
            <a:ext cx="11064240" cy="777240"/>
          </a:xfrm>
          <a:prstGeom prst="rect">
            <a:avLst/>
          </a:prstGeom>
          <a:noFill/>
          <a:ln/>
        </p:spPr>
        <p:txBody>
          <a:bodyPr wrap="square" lIns="0" tIns="0" rIns="0" bIns="0" rtlCol="0" anchor="ctr"/>
          <a:lstStyle/>
          <a:p>
            <a:pPr algn="l" indent="0" marL="0">
              <a:buNone/>
            </a:pPr>
            <a:r>
              <a:rPr lang="en-US" sz="3800" b="1" dirty="0">
                <a:solidFill>
                  <a:schemeClr val="tx1"/>
                </a:solidFill>
              </a:rPr>
              <a:t>GROUP BY sorts receipts into piles</a:t>
            </a:r>
            <a:endParaRPr lang="en-US" sz="3800" dirty="0"/>
          </a:p>
        </p:txBody>
      </p:sp>
      <p:sp>
        <p:nvSpPr>
          <p:cNvPr id="5" name="Text 1"/>
          <p:cNvSpPr/>
          <p:nvPr>
            <p:ph idx="103" type="body" hasCustomPrompt="1"/>
          </p:nvPr>
        </p:nvSpPr>
        <p:spPr>
          <a:xfrm>
            <a:off x="548640" y="1627632"/>
            <a:ext cx="11064240" cy="457200"/>
          </a:xfrm>
          <a:prstGeom prst="rect">
            <a:avLst/>
          </a:prstGeom>
          <a:noFill/>
          <a:ln/>
        </p:spPr>
        <p:txBody>
          <a:bodyPr wrap="square" lIns="0" tIns="0" rIns="0" bIns="0" rtlCol="0" anchor="t"/>
          <a:lstStyle/>
          <a:p>
            <a:pPr indent="0" marL="0">
              <a:buNone/>
            </a:pPr>
            <a:r>
              <a:rPr lang="en-US" sz="2000" dirty="0">
                <a:solidFill>
                  <a:schemeClr val="tx2"/>
                </a:solidFill>
              </a:rPr>
              <a:t>WHERE filters rows · HAVING filters groups</a:t>
            </a:r>
            <a:endParaRPr lang="en-US" sz="2000" dirty="0"/>
          </a:p>
        </p:txBody>
      </p:sp>
      <p:sp>
        <p:nvSpPr>
          <p:cNvPr id="7" name="text-740"/>
          <p:cNvSpPr txBox="1"/>
          <p:nvPr/>
        </p:nvSpPr>
        <p:spPr>
          <a:xfrm>
            <a:off x="1115568" y="2697480"/>
            <a:ext cx="320040" cy="320040"/>
          </a:xfrm>
          <a:prstGeom prst="rect">
            <a:avLst/>
          </a:prstGeom>
          <a:noFill/>
          <a:ln/>
        </p:spPr>
        <p:txBody>
          <a:bodyPr wrap="square" lIns="0" tIns="0" rIns="0" bIns="0" rtlCol="0" anchor="ctr"/>
          <a:lstStyle/>
          <a:p>
            <a:pPr algn="l" indent="0" marL="0">
              <a:buNone/>
            </a:pPr>
            <a:r>
              <a:rPr lang="en-US" sz="1300" b="1" dirty="0">
                <a:solidFill>
                  <a:schemeClr val="tx1"/>
                </a:solidFill>
              </a:rPr>
              <a:t>A</a:t>
            </a:r>
            <a:endParaRPr lang="en-US" sz="1300" dirty="0"/>
          </a:p>
        </p:txBody>
      </p:sp>
      <p:sp>
        <p:nvSpPr>
          <p:cNvPr id="8" name="text-741"/>
          <p:cNvSpPr txBox="1"/>
          <p:nvPr/>
        </p:nvSpPr>
        <p:spPr>
          <a:xfrm>
            <a:off x="2167128" y="2697480"/>
            <a:ext cx="320040" cy="320040"/>
          </a:xfrm>
          <a:prstGeom prst="rect">
            <a:avLst/>
          </a:prstGeom>
          <a:noFill/>
          <a:ln/>
        </p:spPr>
        <p:txBody>
          <a:bodyPr wrap="square" lIns="0" tIns="0" rIns="0" bIns="0" rtlCol="0" anchor="ctr"/>
          <a:lstStyle/>
          <a:p>
            <a:pPr algn="l" indent="0" marL="0">
              <a:buNone/>
            </a:pPr>
            <a:r>
              <a:rPr lang="en-US" sz="1300" b="1" dirty="0">
                <a:solidFill>
                  <a:schemeClr val="tx1"/>
                </a:solidFill>
              </a:rPr>
              <a:t>B</a:t>
            </a:r>
            <a:endParaRPr lang="en-US" sz="1300" dirty="0"/>
          </a:p>
        </p:txBody>
      </p:sp>
      <p:sp>
        <p:nvSpPr>
          <p:cNvPr id="9" name="text-742"/>
          <p:cNvSpPr txBox="1"/>
          <p:nvPr/>
        </p:nvSpPr>
        <p:spPr>
          <a:xfrm>
            <a:off x="1115568" y="3566160"/>
            <a:ext cx="320040" cy="320040"/>
          </a:xfrm>
          <a:prstGeom prst="rect">
            <a:avLst/>
          </a:prstGeom>
          <a:noFill/>
          <a:ln/>
        </p:spPr>
        <p:txBody>
          <a:bodyPr wrap="square" lIns="0" tIns="0" rIns="0" bIns="0" rtlCol="0" anchor="ctr"/>
          <a:lstStyle/>
          <a:p>
            <a:pPr algn="l" indent="0" marL="0">
              <a:buNone/>
            </a:pPr>
            <a:r>
              <a:rPr lang="en-US" sz="1300" b="1" dirty="0">
                <a:solidFill>
                  <a:schemeClr val="tx1"/>
                </a:solidFill>
              </a:rPr>
              <a:t>A</a:t>
            </a:r>
            <a:endParaRPr lang="en-US" sz="1300" dirty="0"/>
          </a:p>
        </p:txBody>
      </p:sp>
      <p:sp>
        <p:nvSpPr>
          <p:cNvPr id="10" name="text-743"/>
          <p:cNvSpPr txBox="1"/>
          <p:nvPr/>
        </p:nvSpPr>
        <p:spPr>
          <a:xfrm>
            <a:off x="2167128" y="3566160"/>
            <a:ext cx="320040" cy="320040"/>
          </a:xfrm>
          <a:prstGeom prst="rect">
            <a:avLst/>
          </a:prstGeom>
          <a:noFill/>
          <a:ln/>
        </p:spPr>
        <p:txBody>
          <a:bodyPr wrap="square" lIns="0" tIns="0" rIns="0" bIns="0" rtlCol="0" anchor="ctr"/>
          <a:lstStyle/>
          <a:p>
            <a:pPr algn="l" indent="0" marL="0">
              <a:buNone/>
            </a:pPr>
            <a:r>
              <a:rPr lang="en-US" sz="1300" b="1" dirty="0">
                <a:solidFill>
                  <a:schemeClr val="tx1"/>
                </a:solidFill>
              </a:rPr>
              <a:t>C</a:t>
            </a:r>
            <a:endParaRPr lang="en-US" sz="1300" dirty="0"/>
          </a:p>
        </p:txBody>
      </p:sp>
      <p:sp>
        <p:nvSpPr>
          <p:cNvPr id="11" name="text-744"/>
          <p:cNvSpPr txBox="1"/>
          <p:nvPr/>
        </p:nvSpPr>
        <p:spPr>
          <a:xfrm>
            <a:off x="1115568" y="4434840"/>
            <a:ext cx="320040" cy="320040"/>
          </a:xfrm>
          <a:prstGeom prst="rect">
            <a:avLst/>
          </a:prstGeom>
          <a:noFill/>
          <a:ln/>
        </p:spPr>
        <p:txBody>
          <a:bodyPr wrap="square" lIns="0" tIns="0" rIns="0" bIns="0" rtlCol="0" anchor="ctr"/>
          <a:lstStyle/>
          <a:p>
            <a:pPr algn="l" indent="0" marL="0">
              <a:buNone/>
            </a:pPr>
            <a:r>
              <a:rPr lang="en-US" sz="1300" b="1" dirty="0">
                <a:solidFill>
                  <a:schemeClr val="tx1"/>
                </a:solidFill>
              </a:rPr>
              <a:t>B</a:t>
            </a:r>
            <a:endParaRPr lang="en-US" sz="1300" dirty="0"/>
          </a:p>
        </p:txBody>
      </p:sp>
      <p:sp>
        <p:nvSpPr>
          <p:cNvPr id="12" name="text-745"/>
          <p:cNvSpPr txBox="1"/>
          <p:nvPr/>
        </p:nvSpPr>
        <p:spPr>
          <a:xfrm>
            <a:off x="2167128" y="4434840"/>
            <a:ext cx="320040" cy="320040"/>
          </a:xfrm>
          <a:prstGeom prst="rect">
            <a:avLst/>
          </a:prstGeom>
          <a:noFill/>
          <a:ln/>
        </p:spPr>
        <p:txBody>
          <a:bodyPr wrap="square" lIns="0" tIns="0" rIns="0" bIns="0" rtlCol="0" anchor="ctr"/>
          <a:lstStyle/>
          <a:p>
            <a:pPr algn="l" indent="0" marL="0">
              <a:buNone/>
            </a:pPr>
            <a:r>
              <a:rPr lang="en-US" sz="1300" b="1" dirty="0">
                <a:solidFill>
                  <a:schemeClr val="tx1"/>
                </a:solidFill>
              </a:rPr>
              <a:t>A</a:t>
            </a:r>
            <a:endParaRPr lang="en-US" sz="1300" dirty="0"/>
          </a:p>
        </p:txBody>
      </p:sp>
      <p:sp>
        <p:nvSpPr>
          <p:cNvPr id="13" name="text-746"/>
          <p:cNvSpPr txBox="1"/>
          <p:nvPr/>
        </p:nvSpPr>
        <p:spPr>
          <a:xfrm>
            <a:off x="1115568" y="5303520"/>
            <a:ext cx="320040" cy="320040"/>
          </a:xfrm>
          <a:prstGeom prst="rect">
            <a:avLst/>
          </a:prstGeom>
          <a:noFill/>
          <a:ln/>
        </p:spPr>
        <p:txBody>
          <a:bodyPr wrap="square" lIns="0" tIns="0" rIns="0" bIns="0" rtlCol="0" anchor="ctr"/>
          <a:lstStyle/>
          <a:p>
            <a:pPr algn="l" indent="0" marL="0">
              <a:buNone/>
            </a:pPr>
            <a:r>
              <a:rPr lang="en-US" sz="1300" b="1" dirty="0">
                <a:solidFill>
                  <a:schemeClr val="tx1"/>
                </a:solidFill>
              </a:rPr>
              <a:t>C</a:t>
            </a:r>
            <a:endParaRPr lang="en-US" sz="1300" dirty="0"/>
          </a:p>
        </p:txBody>
      </p:sp>
      <p:sp>
        <p:nvSpPr>
          <p:cNvPr id="14" name="text-747"/>
          <p:cNvSpPr txBox="1"/>
          <p:nvPr/>
        </p:nvSpPr>
        <p:spPr>
          <a:xfrm>
            <a:off x="2167128" y="5303520"/>
            <a:ext cx="320040" cy="320040"/>
          </a:xfrm>
          <a:prstGeom prst="rect">
            <a:avLst/>
          </a:prstGeom>
          <a:noFill/>
          <a:ln/>
        </p:spPr>
        <p:txBody>
          <a:bodyPr wrap="square" lIns="0" tIns="0" rIns="0" bIns="0" rtlCol="0" anchor="ctr"/>
          <a:lstStyle/>
          <a:p>
            <a:pPr algn="l" indent="0" marL="0">
              <a:buNone/>
            </a:pPr>
            <a:r>
              <a:rPr lang="en-US" sz="1300" b="1" dirty="0">
                <a:solidFill>
                  <a:schemeClr val="tx1"/>
                </a:solidFill>
              </a:rPr>
              <a:t>A</a:t>
            </a:r>
            <a:endParaRPr lang="en-US" sz="1300" dirty="0"/>
          </a:p>
        </p:txBody>
      </p:sp>
      <p:sp>
        <p:nvSpPr>
          <p:cNvPr id="15" name="funnel-748"/>
          <p:cNvSpPr/>
          <p:nvPr/>
        </p:nvSpPr>
        <p:spPr>
          <a:xfrm>
            <a:off x="2926080" y="3017520"/>
            <a:ext cx="1188720" cy="1463040"/>
          </a:xfrm>
          <a:prstGeom prst="funnel">
            <a:avLst/>
          </a:prstGeom>
          <a:solidFill>
            <a:schemeClr val="accent2">
              <a:alpha val="70000"/>
            </a:schemeClr>
          </a:solidFill>
          <a:ln/>
        </p:spPr>
      </p:sp>
      <p:sp>
        <p:nvSpPr>
          <p:cNvPr id="16" name="text-749"/>
          <p:cNvSpPr txBox="1"/>
          <p:nvPr/>
        </p:nvSpPr>
        <p:spPr>
          <a:xfrm>
            <a:off x="2697480" y="4572000"/>
            <a:ext cx="1645920" cy="365760"/>
          </a:xfrm>
          <a:prstGeom prst="rect">
            <a:avLst/>
          </a:prstGeom>
          <a:noFill/>
          <a:ln/>
        </p:spPr>
        <p:txBody>
          <a:bodyPr wrap="square" lIns="0" tIns="0" rIns="0" bIns="0" rtlCol="0" anchor="ctr"/>
          <a:lstStyle/>
          <a:p>
            <a:pPr algn="ctr" indent="0" marL="0">
              <a:buNone/>
            </a:pPr>
            <a:r>
              <a:rPr lang="en-US" sz="1500" b="1" dirty="0">
                <a:solidFill>
                  <a:schemeClr val="tx1"/>
                </a:solidFill>
                <a:latin typeface="Roboto Mono" pitchFamily="34" charset="0"/>
                <a:ea typeface="Roboto Mono" pitchFamily="34" charset="-122"/>
                <a:cs typeface="Roboto Mono" pitchFamily="34" charset="-120"/>
              </a:rPr>
              <a:t>WHERE</a:t>
            </a:r>
            <a:endParaRPr lang="en-US" sz="1500" dirty="0"/>
          </a:p>
        </p:txBody>
      </p:sp>
      <p:sp>
        <p:nvSpPr>
          <p:cNvPr id="17" name="text-750"/>
          <p:cNvSpPr txBox="1"/>
          <p:nvPr/>
        </p:nvSpPr>
        <p:spPr>
          <a:xfrm>
            <a:off x="2697480" y="4937760"/>
            <a:ext cx="1645920" cy="320040"/>
          </a:xfrm>
          <a:prstGeom prst="rect">
            <a:avLst/>
          </a:prstGeom>
          <a:noFill/>
          <a:ln/>
        </p:spPr>
        <p:txBody>
          <a:bodyPr wrap="square" lIns="0" tIns="0" rIns="0" bIns="0" rtlCol="0" anchor="ctr"/>
          <a:lstStyle/>
          <a:p>
            <a:pPr algn="ctr" indent="0" marL="0">
              <a:buNone/>
            </a:pPr>
            <a:r>
              <a:rPr lang="en-US" sz="1200" dirty="0">
                <a:solidFill>
                  <a:schemeClr val="tx2"/>
                </a:solidFill>
              </a:rPr>
              <a:t>filters rows</a:t>
            </a:r>
            <a:endParaRPr lang="en-US" sz="1200" dirty="0"/>
          </a:p>
        </p:txBody>
      </p:sp>
      <p:sp>
        <p:nvSpPr>
          <p:cNvPr id="18" name="box-751"/>
          <p:cNvSpPr/>
          <p:nvPr/>
        </p:nvSpPr>
        <p:spPr>
          <a:xfrm>
            <a:off x="4526280" y="4206240"/>
            <a:ext cx="1005840" cy="457200"/>
          </a:xfrm>
          <a:prstGeom prst="roundRect">
            <a:avLst>
              <a:gd name="adj" fmla="val 8000"/>
            </a:avLst>
          </a:prstGeom>
          <a:solidFill>
            <a:schemeClr val="bg1"/>
          </a:solidFill>
          <a:ln w="9525">
            <a:solidFill>
              <a:schemeClr val="tx2"/>
            </a:solidFill>
            <a:prstDash val="solid"/>
          </a:ln>
        </p:spPr>
      </p:sp>
      <p:sp>
        <p:nvSpPr>
          <p:cNvPr id="19" name="box-752"/>
          <p:cNvSpPr/>
          <p:nvPr/>
        </p:nvSpPr>
        <p:spPr>
          <a:xfrm>
            <a:off x="4526280" y="4005072"/>
            <a:ext cx="1005840" cy="457200"/>
          </a:xfrm>
          <a:prstGeom prst="roundRect">
            <a:avLst>
              <a:gd name="adj" fmla="val 8000"/>
            </a:avLst>
          </a:prstGeom>
          <a:solidFill>
            <a:schemeClr val="bg1"/>
          </a:solidFill>
          <a:ln w="9525">
            <a:solidFill>
              <a:schemeClr val="tx2"/>
            </a:solidFill>
            <a:prstDash val="solid"/>
          </a:ln>
        </p:spPr>
      </p:sp>
      <p:sp>
        <p:nvSpPr>
          <p:cNvPr id="20" name="box-753"/>
          <p:cNvSpPr/>
          <p:nvPr/>
        </p:nvSpPr>
        <p:spPr>
          <a:xfrm>
            <a:off x="4526280" y="3803904"/>
            <a:ext cx="1005840" cy="457200"/>
          </a:xfrm>
          <a:prstGeom prst="roundRect">
            <a:avLst>
              <a:gd name="adj" fmla="val 8000"/>
            </a:avLst>
          </a:prstGeom>
          <a:solidFill>
            <a:schemeClr val="bg1"/>
          </a:solidFill>
          <a:ln w="9525">
            <a:solidFill>
              <a:schemeClr val="tx2"/>
            </a:solidFill>
            <a:prstDash val="solid"/>
          </a:ln>
        </p:spPr>
      </p:sp>
      <p:sp>
        <p:nvSpPr>
          <p:cNvPr id="21" name="box-754"/>
          <p:cNvSpPr/>
          <p:nvPr/>
        </p:nvSpPr>
        <p:spPr>
          <a:xfrm>
            <a:off x="4526280" y="3602736"/>
            <a:ext cx="1005840" cy="457200"/>
          </a:xfrm>
          <a:prstGeom prst="roundRect">
            <a:avLst>
              <a:gd name="adj" fmla="val 8000"/>
            </a:avLst>
          </a:prstGeom>
          <a:solidFill>
            <a:schemeClr val="bg1"/>
          </a:solidFill>
          <a:ln w="9525">
            <a:solidFill>
              <a:schemeClr val="tx2"/>
            </a:solidFill>
            <a:prstDash val="solid"/>
          </a:ln>
        </p:spPr>
      </p:sp>
      <p:sp>
        <p:nvSpPr>
          <p:cNvPr id="22" name="text-755"/>
          <p:cNvSpPr txBox="1"/>
          <p:nvPr/>
        </p:nvSpPr>
        <p:spPr>
          <a:xfrm>
            <a:off x="4526280" y="4709160"/>
            <a:ext cx="1005840" cy="365760"/>
          </a:xfrm>
          <a:prstGeom prst="rect">
            <a:avLst/>
          </a:prstGeom>
          <a:noFill/>
          <a:ln/>
        </p:spPr>
        <p:txBody>
          <a:bodyPr wrap="square" lIns="0" tIns="0" rIns="0" bIns="0" rtlCol="0" anchor="ctr"/>
          <a:lstStyle/>
          <a:p>
            <a:pPr algn="ctr" indent="0" marL="0">
              <a:buNone/>
            </a:pPr>
            <a:r>
              <a:rPr lang="en-US" sz="1600" b="1" dirty="0">
                <a:solidFill>
                  <a:schemeClr val="tx1"/>
                </a:solidFill>
              </a:rPr>
              <a:t>A</a:t>
            </a:r>
            <a:endParaRPr lang="en-US" sz="1600" dirty="0"/>
          </a:p>
        </p:txBody>
      </p:sp>
      <p:sp>
        <p:nvSpPr>
          <p:cNvPr id="23" name="box-756"/>
          <p:cNvSpPr/>
          <p:nvPr/>
        </p:nvSpPr>
        <p:spPr>
          <a:xfrm>
            <a:off x="4480560" y="5120640"/>
            <a:ext cx="1097280" cy="384048"/>
          </a:xfrm>
          <a:prstGeom prst="roundRect">
            <a:avLst>
              <a:gd name="adj" fmla="val 28571"/>
            </a:avLst>
          </a:prstGeom>
          <a:solidFill>
            <a:schemeClr val="accent2">
              <a:alpha val="50000"/>
            </a:schemeClr>
          </a:solidFill>
          <a:ln/>
        </p:spPr>
      </p:sp>
      <p:sp>
        <p:nvSpPr>
          <p:cNvPr id="24" name="text-757"/>
          <p:cNvSpPr txBox="1"/>
          <p:nvPr/>
        </p:nvSpPr>
        <p:spPr>
          <a:xfrm>
            <a:off x="4553712" y="5120640"/>
            <a:ext cx="950976" cy="384048"/>
          </a:xfrm>
          <a:prstGeom prst="rect">
            <a:avLst/>
          </a:prstGeom>
          <a:noFill/>
          <a:ln/>
        </p:spPr>
        <p:txBody>
          <a:bodyPr wrap="square" lIns="0" tIns="0" rIns="0" bIns="0" rtlCol="0" anchor="ctr"/>
          <a:lstStyle/>
          <a:p>
            <a:pPr algn="ctr" indent="0" marL="0">
              <a:buNone/>
            </a:pPr>
            <a:r>
              <a:rPr lang="en-US" sz="1200" b="1" dirty="0">
                <a:solidFill>
                  <a:schemeClr val="tx1"/>
                </a:solidFill>
              </a:rPr>
              <a:t>₦18,400</a:t>
            </a:r>
            <a:endParaRPr lang="en-US" sz="1200" dirty="0"/>
          </a:p>
        </p:txBody>
      </p:sp>
      <p:sp>
        <p:nvSpPr>
          <p:cNvPr id="25" name="box-758"/>
          <p:cNvSpPr/>
          <p:nvPr/>
        </p:nvSpPr>
        <p:spPr>
          <a:xfrm>
            <a:off x="5715000" y="4206240"/>
            <a:ext cx="1005840" cy="457200"/>
          </a:xfrm>
          <a:prstGeom prst="roundRect">
            <a:avLst>
              <a:gd name="adj" fmla="val 8000"/>
            </a:avLst>
          </a:prstGeom>
          <a:solidFill>
            <a:schemeClr val="bg1">
              <a:alpha val="50000"/>
            </a:schemeClr>
          </a:solidFill>
          <a:ln w="9525">
            <a:solidFill>
              <a:schemeClr val="tx2"/>
            </a:solidFill>
            <a:prstDash val="solid"/>
          </a:ln>
        </p:spPr>
      </p:sp>
      <p:sp>
        <p:nvSpPr>
          <p:cNvPr id="26" name="box-759"/>
          <p:cNvSpPr/>
          <p:nvPr/>
        </p:nvSpPr>
        <p:spPr>
          <a:xfrm>
            <a:off x="5715000" y="4005072"/>
            <a:ext cx="1005840" cy="457200"/>
          </a:xfrm>
          <a:prstGeom prst="roundRect">
            <a:avLst>
              <a:gd name="adj" fmla="val 8000"/>
            </a:avLst>
          </a:prstGeom>
          <a:solidFill>
            <a:schemeClr val="bg1">
              <a:alpha val="50000"/>
            </a:schemeClr>
          </a:solidFill>
          <a:ln w="9525">
            <a:solidFill>
              <a:schemeClr val="tx2"/>
            </a:solidFill>
            <a:prstDash val="solid"/>
          </a:ln>
        </p:spPr>
      </p:sp>
      <p:sp>
        <p:nvSpPr>
          <p:cNvPr id="27" name="text-760"/>
          <p:cNvSpPr txBox="1"/>
          <p:nvPr/>
        </p:nvSpPr>
        <p:spPr>
          <a:xfrm>
            <a:off x="5715000" y="4709160"/>
            <a:ext cx="1005840" cy="365760"/>
          </a:xfrm>
          <a:prstGeom prst="rect">
            <a:avLst/>
          </a:prstGeom>
          <a:noFill/>
          <a:ln/>
        </p:spPr>
        <p:txBody>
          <a:bodyPr wrap="square" lIns="0" tIns="0" rIns="0" bIns="0" rtlCol="0" anchor="ctr"/>
          <a:lstStyle/>
          <a:p>
            <a:pPr algn="ctr" indent="0" marL="0">
              <a:buNone/>
            </a:pPr>
            <a:r>
              <a:rPr lang="en-US" sz="1600" b="1" dirty="0">
                <a:solidFill>
                  <a:schemeClr val="accent4"/>
                </a:solidFill>
              </a:rPr>
              <a:t>B</a:t>
            </a:r>
            <a:endParaRPr lang="en-US" sz="1600" dirty="0"/>
          </a:p>
        </p:txBody>
      </p:sp>
      <p:sp>
        <p:nvSpPr>
          <p:cNvPr id="28" name="box-761"/>
          <p:cNvSpPr/>
          <p:nvPr/>
        </p:nvSpPr>
        <p:spPr>
          <a:xfrm>
            <a:off x="5669280" y="5120640"/>
            <a:ext cx="1097280" cy="384048"/>
          </a:xfrm>
          <a:prstGeom prst="roundRect">
            <a:avLst>
              <a:gd name="adj" fmla="val 28571"/>
            </a:avLst>
          </a:prstGeom>
          <a:solidFill>
            <a:schemeClr val="accent5"/>
          </a:solidFill>
          <a:ln/>
        </p:spPr>
      </p:sp>
      <p:sp>
        <p:nvSpPr>
          <p:cNvPr id="29" name="text-762"/>
          <p:cNvSpPr txBox="1"/>
          <p:nvPr/>
        </p:nvSpPr>
        <p:spPr>
          <a:xfrm>
            <a:off x="5742432" y="5120640"/>
            <a:ext cx="950976" cy="384048"/>
          </a:xfrm>
          <a:prstGeom prst="rect">
            <a:avLst/>
          </a:prstGeom>
          <a:noFill/>
          <a:ln/>
        </p:spPr>
        <p:txBody>
          <a:bodyPr wrap="square" lIns="0" tIns="0" rIns="0" bIns="0" rtlCol="0" anchor="ctr"/>
          <a:lstStyle/>
          <a:p>
            <a:pPr algn="ctr" indent="0" marL="0">
              <a:buNone/>
            </a:pPr>
            <a:r>
              <a:rPr lang="en-US" sz="1200" b="1" dirty="0">
                <a:solidFill>
                  <a:schemeClr val="tx1"/>
                </a:solidFill>
              </a:rPr>
              <a:t>₦3,100</a:t>
            </a:r>
            <a:endParaRPr lang="en-US" sz="1200" dirty="0"/>
          </a:p>
        </p:txBody>
      </p:sp>
      <p:sp>
        <p:nvSpPr>
          <p:cNvPr id="30" name="box-763"/>
          <p:cNvSpPr/>
          <p:nvPr/>
        </p:nvSpPr>
        <p:spPr>
          <a:xfrm>
            <a:off x="6903720" y="4206240"/>
            <a:ext cx="1005840" cy="457200"/>
          </a:xfrm>
          <a:prstGeom prst="roundRect">
            <a:avLst>
              <a:gd name="adj" fmla="val 8000"/>
            </a:avLst>
          </a:prstGeom>
          <a:solidFill>
            <a:schemeClr val="bg1"/>
          </a:solidFill>
          <a:ln w="9525">
            <a:solidFill>
              <a:schemeClr val="tx2"/>
            </a:solidFill>
            <a:prstDash val="solid"/>
          </a:ln>
        </p:spPr>
      </p:sp>
      <p:sp>
        <p:nvSpPr>
          <p:cNvPr id="31" name="box-764"/>
          <p:cNvSpPr/>
          <p:nvPr/>
        </p:nvSpPr>
        <p:spPr>
          <a:xfrm>
            <a:off x="6903720" y="4005072"/>
            <a:ext cx="1005840" cy="457200"/>
          </a:xfrm>
          <a:prstGeom prst="roundRect">
            <a:avLst>
              <a:gd name="adj" fmla="val 8000"/>
            </a:avLst>
          </a:prstGeom>
          <a:solidFill>
            <a:schemeClr val="bg1"/>
          </a:solidFill>
          <a:ln w="9525">
            <a:solidFill>
              <a:schemeClr val="tx2"/>
            </a:solidFill>
            <a:prstDash val="solid"/>
          </a:ln>
        </p:spPr>
      </p:sp>
      <p:sp>
        <p:nvSpPr>
          <p:cNvPr id="32" name="text-765"/>
          <p:cNvSpPr txBox="1"/>
          <p:nvPr/>
        </p:nvSpPr>
        <p:spPr>
          <a:xfrm>
            <a:off x="6903720" y="4709160"/>
            <a:ext cx="1005840" cy="365760"/>
          </a:xfrm>
          <a:prstGeom prst="rect">
            <a:avLst/>
          </a:prstGeom>
          <a:noFill/>
          <a:ln/>
        </p:spPr>
        <p:txBody>
          <a:bodyPr wrap="square" lIns="0" tIns="0" rIns="0" bIns="0" rtlCol="0" anchor="ctr"/>
          <a:lstStyle/>
          <a:p>
            <a:pPr algn="ctr" indent="0" marL="0">
              <a:buNone/>
            </a:pPr>
            <a:r>
              <a:rPr lang="en-US" sz="1600" b="1" dirty="0">
                <a:solidFill>
                  <a:schemeClr val="tx1"/>
                </a:solidFill>
              </a:rPr>
              <a:t>C</a:t>
            </a:r>
            <a:endParaRPr lang="en-US" sz="1600" dirty="0"/>
          </a:p>
        </p:txBody>
      </p:sp>
      <p:sp>
        <p:nvSpPr>
          <p:cNvPr id="33" name="box-766"/>
          <p:cNvSpPr/>
          <p:nvPr/>
        </p:nvSpPr>
        <p:spPr>
          <a:xfrm>
            <a:off x="6858000" y="5120640"/>
            <a:ext cx="1097280" cy="384048"/>
          </a:xfrm>
          <a:prstGeom prst="roundRect">
            <a:avLst>
              <a:gd name="adj" fmla="val 28571"/>
            </a:avLst>
          </a:prstGeom>
          <a:solidFill>
            <a:schemeClr val="accent2">
              <a:alpha val="50000"/>
            </a:schemeClr>
          </a:solidFill>
          <a:ln/>
        </p:spPr>
      </p:sp>
      <p:sp>
        <p:nvSpPr>
          <p:cNvPr id="34" name="text-767"/>
          <p:cNvSpPr txBox="1"/>
          <p:nvPr/>
        </p:nvSpPr>
        <p:spPr>
          <a:xfrm>
            <a:off x="6931152" y="5120640"/>
            <a:ext cx="950976" cy="384048"/>
          </a:xfrm>
          <a:prstGeom prst="rect">
            <a:avLst/>
          </a:prstGeom>
          <a:noFill/>
          <a:ln/>
        </p:spPr>
        <p:txBody>
          <a:bodyPr wrap="square" lIns="0" tIns="0" rIns="0" bIns="0" rtlCol="0" anchor="ctr"/>
          <a:lstStyle/>
          <a:p>
            <a:pPr algn="ctr" indent="0" marL="0">
              <a:buNone/>
            </a:pPr>
            <a:r>
              <a:rPr lang="en-US" sz="1200" b="1" dirty="0">
                <a:solidFill>
                  <a:schemeClr val="tx1"/>
                </a:solidFill>
              </a:rPr>
              <a:t>₦9,750</a:t>
            </a:r>
            <a:endParaRPr lang="en-US" sz="1200" dirty="0"/>
          </a:p>
        </p:txBody>
      </p:sp>
      <p:sp>
        <p:nvSpPr>
          <p:cNvPr id="35" name="text-768"/>
          <p:cNvSpPr txBox="1"/>
          <p:nvPr/>
        </p:nvSpPr>
        <p:spPr>
          <a:xfrm>
            <a:off x="4526280" y="5623560"/>
            <a:ext cx="3474720" cy="320040"/>
          </a:xfrm>
          <a:prstGeom prst="rect">
            <a:avLst/>
          </a:prstGeom>
          <a:noFill/>
          <a:ln/>
        </p:spPr>
        <p:txBody>
          <a:bodyPr wrap="square" lIns="0" tIns="0" rIns="0" bIns="0" rtlCol="0" anchor="ctr"/>
          <a:lstStyle/>
          <a:p>
            <a:pPr algn="ctr" indent="0" marL="0">
              <a:buNone/>
            </a:pPr>
            <a:r>
              <a:rPr lang="en-US" sz="1200" dirty="0">
                <a:solidFill>
                  <a:schemeClr val="tx2"/>
                </a:solidFill>
              </a:rPr>
              <a:t>SUM per pile</a:t>
            </a:r>
            <a:endParaRPr lang="en-US" sz="1200" dirty="0"/>
          </a:p>
        </p:txBody>
      </p:sp>
      <p:sp>
        <p:nvSpPr>
          <p:cNvPr id="36" name="funnel-769"/>
          <p:cNvSpPr/>
          <p:nvPr/>
        </p:nvSpPr>
        <p:spPr>
          <a:xfrm>
            <a:off x="8229600" y="3017520"/>
            <a:ext cx="1188720" cy="1463040"/>
          </a:xfrm>
          <a:prstGeom prst="funnel">
            <a:avLst/>
          </a:prstGeom>
          <a:solidFill>
            <a:schemeClr val="accent2">
              <a:alpha val="70000"/>
            </a:schemeClr>
          </a:solidFill>
          <a:ln/>
        </p:spPr>
      </p:sp>
      <p:sp>
        <p:nvSpPr>
          <p:cNvPr id="37" name="text-770"/>
          <p:cNvSpPr txBox="1"/>
          <p:nvPr/>
        </p:nvSpPr>
        <p:spPr>
          <a:xfrm>
            <a:off x="8001000" y="4572000"/>
            <a:ext cx="1645920" cy="365760"/>
          </a:xfrm>
          <a:prstGeom prst="rect">
            <a:avLst/>
          </a:prstGeom>
          <a:noFill/>
          <a:ln/>
        </p:spPr>
        <p:txBody>
          <a:bodyPr wrap="square" lIns="0" tIns="0" rIns="0" bIns="0" rtlCol="0" anchor="ctr"/>
          <a:lstStyle/>
          <a:p>
            <a:pPr algn="ctr" indent="0" marL="0">
              <a:buNone/>
            </a:pPr>
            <a:r>
              <a:rPr lang="en-US" sz="1500" b="1" dirty="0">
                <a:solidFill>
                  <a:schemeClr val="tx1"/>
                </a:solidFill>
                <a:latin typeface="Roboto Mono" pitchFamily="34" charset="0"/>
                <a:ea typeface="Roboto Mono" pitchFamily="34" charset="-122"/>
                <a:cs typeface="Roboto Mono" pitchFamily="34" charset="-120"/>
              </a:rPr>
              <a:t>HAVING</a:t>
            </a:r>
            <a:endParaRPr lang="en-US" sz="1500" dirty="0"/>
          </a:p>
        </p:txBody>
      </p:sp>
      <p:sp>
        <p:nvSpPr>
          <p:cNvPr id="38" name="text-771"/>
          <p:cNvSpPr txBox="1"/>
          <p:nvPr/>
        </p:nvSpPr>
        <p:spPr>
          <a:xfrm>
            <a:off x="8001000" y="4937760"/>
            <a:ext cx="1645920" cy="320040"/>
          </a:xfrm>
          <a:prstGeom prst="rect">
            <a:avLst/>
          </a:prstGeom>
          <a:noFill/>
          <a:ln/>
        </p:spPr>
        <p:txBody>
          <a:bodyPr wrap="square" lIns="0" tIns="0" rIns="0" bIns="0" rtlCol="0" anchor="ctr"/>
          <a:lstStyle/>
          <a:p>
            <a:pPr algn="ctr" indent="0" marL="0">
              <a:buNone/>
            </a:pPr>
            <a:r>
              <a:rPr lang="en-US" sz="1200" dirty="0">
                <a:solidFill>
                  <a:schemeClr val="tx2"/>
                </a:solidFill>
              </a:rPr>
              <a:t>filters groups</a:t>
            </a:r>
            <a:endParaRPr lang="en-US" sz="1200" dirty="0"/>
          </a:p>
        </p:txBody>
      </p:sp>
      <p:sp>
        <p:nvSpPr>
          <p:cNvPr id="39" name="box-772"/>
          <p:cNvSpPr/>
          <p:nvPr/>
        </p:nvSpPr>
        <p:spPr>
          <a:xfrm>
            <a:off x="9875520" y="3108960"/>
            <a:ext cx="1463040" cy="548640"/>
          </a:xfrm>
          <a:prstGeom prst="roundRect">
            <a:avLst>
              <a:gd name="adj" fmla="val 20000"/>
            </a:avLst>
          </a:prstGeom>
          <a:solidFill>
            <a:schemeClr val="accent2"/>
          </a:solidFill>
          <a:ln/>
        </p:spPr>
      </p:sp>
      <p:sp>
        <p:nvSpPr>
          <p:cNvPr id="40" name="text-773"/>
          <p:cNvSpPr txBox="1"/>
          <p:nvPr/>
        </p:nvSpPr>
        <p:spPr>
          <a:xfrm>
            <a:off x="9948672" y="3108960"/>
            <a:ext cx="1316736" cy="548640"/>
          </a:xfrm>
          <a:prstGeom prst="rect">
            <a:avLst/>
          </a:prstGeom>
          <a:noFill/>
          <a:ln/>
        </p:spPr>
        <p:txBody>
          <a:bodyPr wrap="square" lIns="0" tIns="0" rIns="0" bIns="0" rtlCol="0" anchor="ctr"/>
          <a:lstStyle/>
          <a:p>
            <a:pPr algn="ctr" indent="0" marL="0">
              <a:buNone/>
            </a:pPr>
            <a:r>
              <a:rPr lang="en-US" sz="1600" b="1" dirty="0">
                <a:solidFill>
                  <a:schemeClr val="tx1"/>
                </a:solidFill>
              </a:rPr>
              <a:t>A  ✓</a:t>
            </a:r>
            <a:endParaRPr lang="en-US" sz="1600" dirty="0"/>
          </a:p>
        </p:txBody>
      </p:sp>
      <p:sp>
        <p:nvSpPr>
          <p:cNvPr id="41" name="box-774"/>
          <p:cNvSpPr/>
          <p:nvPr/>
        </p:nvSpPr>
        <p:spPr>
          <a:xfrm>
            <a:off x="9875520" y="3886200"/>
            <a:ext cx="1463040" cy="548640"/>
          </a:xfrm>
          <a:prstGeom prst="roundRect">
            <a:avLst>
              <a:gd name="adj" fmla="val 20000"/>
            </a:avLst>
          </a:prstGeom>
          <a:solidFill>
            <a:schemeClr val="accent2"/>
          </a:solidFill>
          <a:ln/>
        </p:spPr>
      </p:sp>
      <p:sp>
        <p:nvSpPr>
          <p:cNvPr id="42" name="text-775"/>
          <p:cNvSpPr txBox="1"/>
          <p:nvPr/>
        </p:nvSpPr>
        <p:spPr>
          <a:xfrm>
            <a:off x="9948672" y="3886200"/>
            <a:ext cx="1316736" cy="548640"/>
          </a:xfrm>
          <a:prstGeom prst="rect">
            <a:avLst/>
          </a:prstGeom>
          <a:noFill/>
          <a:ln/>
        </p:spPr>
        <p:txBody>
          <a:bodyPr wrap="square" lIns="0" tIns="0" rIns="0" bIns="0" rtlCol="0" anchor="ctr"/>
          <a:lstStyle/>
          <a:p>
            <a:pPr algn="ctr" indent="0" marL="0">
              <a:buNone/>
            </a:pPr>
            <a:r>
              <a:rPr lang="en-US" sz="1600" b="1" dirty="0">
                <a:solidFill>
                  <a:schemeClr val="tx1"/>
                </a:solidFill>
              </a:rPr>
              <a:t>C  ✓</a:t>
            </a:r>
            <a:endParaRPr lang="en-US" sz="1600" dirty="0"/>
          </a:p>
        </p:txBody>
      </p:sp>
      <p:sp>
        <p:nvSpPr>
          <p:cNvPr id="43" name="text-776"/>
          <p:cNvSpPr txBox="1"/>
          <p:nvPr/>
        </p:nvSpPr>
        <p:spPr>
          <a:xfrm>
            <a:off x="9692640" y="4709160"/>
            <a:ext cx="1920240" cy="365760"/>
          </a:xfrm>
          <a:prstGeom prst="rect">
            <a:avLst/>
          </a:prstGeom>
          <a:noFill/>
          <a:ln/>
        </p:spPr>
        <p:txBody>
          <a:bodyPr wrap="square" lIns="0" tIns="0" rIns="0" bIns="0" rtlCol="0" anchor="ctr"/>
          <a:lstStyle/>
          <a:p>
            <a:pPr algn="ctr" indent="0" marL="0">
              <a:buNone/>
            </a:pPr>
            <a:r>
              <a:rPr lang="en-US" sz="1300" dirty="0">
                <a:solidFill>
                  <a:schemeClr val="tx2"/>
                </a:solidFill>
                <a:latin typeface="Roboto Mono" pitchFamily="34" charset="0"/>
                <a:ea typeface="Roboto Mono" pitchFamily="34" charset="-122"/>
                <a:cs typeface="Roboto Mono" pitchFamily="34" charset="-120"/>
              </a:rPr>
              <a:t>SUM &gt; ₦5,000</a:t>
            </a:r>
            <a:endParaRPr lang="en-US" sz="1300" dirty="0"/>
          </a:p>
        </p:txBody>
      </p:sp>
      <p:pic>
        <p:nvPicPr>
          <p:cNvPr id="44" name="Image 0" descr="Search icon">    </p:cNvPr>
          <p:cNvPicPr>
            <a:picLocks noChangeAspect="1"/>
          </p:cNvPicPr>
          <p:nvPr/>
        </p:nvPicPr>
        <p:blipFill>
          <a:blip r:embed="rId1"/>
          <a:stretch>
            <a:fillRect/>
          </a:stretch>
        </p:blipFill>
        <p:spPr>
          <a:xfrm>
            <a:off x="640812" y="476220"/>
            <a:ext cx="199705" cy="199705"/>
          </a:xfrm>
          <a:prstGeom prst="rect">
            <a:avLst/>
          </a:prstGeom>
        </p:spPr>
      </p:pic>
      <p:pic>
        <p:nvPicPr>
          <p:cNvPr id="45" name="Image 1" descr="Receipt icon">    </p:cNvPr>
          <p:cNvPicPr>
            <a:picLocks noChangeAspect="1"/>
          </p:cNvPicPr>
          <p:nvPr/>
        </p:nvPicPr>
        <p:blipFill>
          <a:blip r:embed="rId2"/>
          <a:stretch>
            <a:fillRect/>
          </a:stretch>
        </p:blipFill>
        <p:spPr>
          <a:xfrm>
            <a:off x="548640" y="2377440"/>
            <a:ext cx="640080" cy="640080"/>
          </a:xfrm>
          <a:prstGeom prst="rect">
            <a:avLst/>
          </a:prstGeom>
        </p:spPr>
      </p:pic>
      <p:pic>
        <p:nvPicPr>
          <p:cNvPr id="46" name="Image 2" descr="Receipt icon">    </p:cNvPr>
          <p:cNvPicPr>
            <a:picLocks noChangeAspect="1"/>
          </p:cNvPicPr>
          <p:nvPr/>
        </p:nvPicPr>
        <p:blipFill>
          <a:blip r:embed="rId3"/>
          <a:stretch>
            <a:fillRect/>
          </a:stretch>
        </p:blipFill>
        <p:spPr>
          <a:xfrm>
            <a:off x="1600200" y="2377440"/>
            <a:ext cx="640080" cy="640080"/>
          </a:xfrm>
          <a:prstGeom prst="rect">
            <a:avLst/>
          </a:prstGeom>
        </p:spPr>
      </p:pic>
      <p:pic>
        <p:nvPicPr>
          <p:cNvPr id="47" name="Image 3" descr="Receipt icon">    </p:cNvPr>
          <p:cNvPicPr>
            <a:picLocks noChangeAspect="1"/>
          </p:cNvPicPr>
          <p:nvPr/>
        </p:nvPicPr>
        <p:blipFill>
          <a:blip r:embed="rId4"/>
          <a:stretch>
            <a:fillRect/>
          </a:stretch>
        </p:blipFill>
        <p:spPr>
          <a:xfrm>
            <a:off x="548640" y="3246120"/>
            <a:ext cx="640080" cy="640080"/>
          </a:xfrm>
          <a:prstGeom prst="rect">
            <a:avLst/>
          </a:prstGeom>
        </p:spPr>
      </p:pic>
      <p:pic>
        <p:nvPicPr>
          <p:cNvPr id="48" name="Image 4" descr="Receipt icon">    </p:cNvPr>
          <p:cNvPicPr>
            <a:picLocks noChangeAspect="1"/>
          </p:cNvPicPr>
          <p:nvPr/>
        </p:nvPicPr>
        <p:blipFill>
          <a:blip r:embed="rId5"/>
          <a:stretch>
            <a:fillRect/>
          </a:stretch>
        </p:blipFill>
        <p:spPr>
          <a:xfrm>
            <a:off x="1600200" y="3246120"/>
            <a:ext cx="640080" cy="640080"/>
          </a:xfrm>
          <a:prstGeom prst="rect">
            <a:avLst/>
          </a:prstGeom>
        </p:spPr>
      </p:pic>
      <p:pic>
        <p:nvPicPr>
          <p:cNvPr id="49" name="Image 5" descr="Receipt icon">    </p:cNvPr>
          <p:cNvPicPr>
            <a:picLocks noChangeAspect="1"/>
          </p:cNvPicPr>
          <p:nvPr/>
        </p:nvPicPr>
        <p:blipFill>
          <a:blip r:embed="rId6"/>
          <a:stretch>
            <a:fillRect/>
          </a:stretch>
        </p:blipFill>
        <p:spPr>
          <a:xfrm>
            <a:off x="548640" y="4114800"/>
            <a:ext cx="640080" cy="640080"/>
          </a:xfrm>
          <a:prstGeom prst="rect">
            <a:avLst/>
          </a:prstGeom>
        </p:spPr>
      </p:pic>
      <p:pic>
        <p:nvPicPr>
          <p:cNvPr id="50" name="Image 6" descr="Receipt icon">    </p:cNvPr>
          <p:cNvPicPr>
            <a:picLocks noChangeAspect="1"/>
          </p:cNvPicPr>
          <p:nvPr/>
        </p:nvPicPr>
        <p:blipFill>
          <a:blip r:embed="rId7"/>
          <a:stretch>
            <a:fillRect/>
          </a:stretch>
        </p:blipFill>
        <p:spPr>
          <a:xfrm>
            <a:off x="1600200" y="4114800"/>
            <a:ext cx="640080" cy="640080"/>
          </a:xfrm>
          <a:prstGeom prst="rect">
            <a:avLst/>
          </a:prstGeom>
        </p:spPr>
      </p:pic>
      <p:pic>
        <p:nvPicPr>
          <p:cNvPr id="51" name="Image 7" descr="Receipt icon">    </p:cNvPr>
          <p:cNvPicPr>
            <a:picLocks noChangeAspect="1"/>
          </p:cNvPicPr>
          <p:nvPr/>
        </p:nvPicPr>
        <p:blipFill>
          <a:blip r:embed="rId8"/>
          <a:stretch>
            <a:fillRect/>
          </a:stretch>
        </p:blipFill>
        <p:spPr>
          <a:xfrm>
            <a:off x="548640" y="4983480"/>
            <a:ext cx="640080" cy="640080"/>
          </a:xfrm>
          <a:prstGeom prst="rect">
            <a:avLst/>
          </a:prstGeom>
        </p:spPr>
      </p:pic>
      <p:pic>
        <p:nvPicPr>
          <p:cNvPr id="52" name="Image 8" descr="Receipt icon">    </p:cNvPr>
          <p:cNvPicPr>
            <a:picLocks noChangeAspect="1"/>
          </p:cNvPicPr>
          <p:nvPr/>
        </p:nvPicPr>
        <p:blipFill>
          <a:blip r:embed="rId9"/>
          <a:stretch>
            <a:fillRect/>
          </a:stretch>
        </p:blipFill>
        <p:spPr>
          <a:xfrm>
            <a:off x="1600200" y="4983480"/>
            <a:ext cx="640080" cy="640080"/>
          </a:xfrm>
          <a:prstGeom prst="rect">
            <a:avLst/>
          </a:prstGeom>
        </p:spPr>
      </p:pic>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dot-777"/>
          <p:cNvSpPr/>
          <p:nvPr/>
        </p:nvSpPr>
        <p:spPr>
          <a:xfrm>
            <a:off x="548640" y="384048"/>
            <a:ext cx="384048" cy="384048"/>
          </a:xfrm>
          <a:prstGeom prst="ellipse">
            <a:avLst/>
          </a:prstGeom>
          <a:solidFill>
            <a:schemeClr val="accent2"/>
          </a:solidFill>
          <a:ln/>
        </p:spPr>
      </p:sp>
      <p:sp>
        <p:nvSpPr>
          <p:cNvPr id="3" name="Text 1"/>
          <p:cNvSpPr/>
          <p:nvPr>
            <p:ph idx="101" type="body" hasCustomPrompt="1"/>
          </p:nvPr>
        </p:nvSpPr>
        <p:spPr>
          <a:xfrm>
            <a:off x="1051560" y="384048"/>
            <a:ext cx="9601200" cy="384048"/>
          </a:xfrm>
          <a:prstGeom prst="rect">
            <a:avLst/>
          </a:prstGeom>
          <a:noFill/>
          <a:ln/>
        </p:spPr>
        <p:txBody>
          <a:bodyPr wrap="square" lIns="0" tIns="0" rIns="0" bIns="0" rtlCol="0" anchor="ctr"/>
          <a:lstStyle/>
          <a:p>
            <a:pPr indent="0" marL="0">
              <a:buNone/>
            </a:pPr>
            <a:r>
              <a:rPr lang="en-US" sz="1300" b="1" spc="300" kern="0" dirty="0">
                <a:solidFill>
                  <a:schemeClr val="tx2"/>
                </a:solidFill>
              </a:rPr>
              <a:t>L2  ·  QUERY  ·  3.9 SUBQUERIES &amp; CTEs</a:t>
            </a:r>
            <a:endParaRPr lang="en-US" sz="1300" dirty="0"/>
          </a:p>
        </p:txBody>
      </p:sp>
      <p:sp>
        <p:nvSpPr>
          <p:cNvPr id="4" name="Text 1"/>
          <p:cNvSpPr/>
          <p:nvPr>
            <p:ph idx="102" type="title" hasCustomPrompt="1"/>
          </p:nvPr>
        </p:nvSpPr>
        <p:spPr>
          <a:xfrm>
            <a:off x="548640" y="841248"/>
            <a:ext cx="11064240" cy="777240"/>
          </a:xfrm>
          <a:prstGeom prst="rect">
            <a:avLst/>
          </a:prstGeom>
          <a:noFill/>
          <a:ln/>
        </p:spPr>
        <p:txBody>
          <a:bodyPr wrap="square" lIns="0" tIns="0" rIns="0" bIns="0" rtlCol="0" anchor="ctr"/>
          <a:lstStyle/>
          <a:p>
            <a:pPr algn="l" indent="0" marL="0">
              <a:buNone/>
            </a:pPr>
            <a:r>
              <a:rPr lang="en-US" sz="3800" b="1" dirty="0">
                <a:solidFill>
                  <a:schemeClr val="tx1"/>
                </a:solidFill>
              </a:rPr>
              <a:t>A question inside a question</a:t>
            </a:r>
            <a:endParaRPr lang="en-US" sz="3800" dirty="0"/>
          </a:p>
        </p:txBody>
      </p:sp>
      <p:sp>
        <p:nvSpPr>
          <p:cNvPr id="5" name="Text 1"/>
          <p:cNvSpPr/>
          <p:nvPr>
            <p:ph idx="103" type="body" hasCustomPrompt="1"/>
          </p:nvPr>
        </p:nvSpPr>
        <p:spPr>
          <a:xfrm>
            <a:off x="548640" y="1627632"/>
            <a:ext cx="11064240" cy="457200"/>
          </a:xfrm>
          <a:prstGeom prst="rect">
            <a:avLst/>
          </a:prstGeom>
          <a:noFill/>
          <a:ln/>
        </p:spPr>
        <p:txBody>
          <a:bodyPr wrap="square" lIns="0" tIns="0" rIns="0" bIns="0" rtlCol="0" anchor="t"/>
          <a:lstStyle/>
          <a:p>
            <a:pPr indent="0" marL="0">
              <a:buNone/>
            </a:pPr>
            <a:r>
              <a:rPr lang="en-US" sz="2000" dirty="0">
                <a:solidFill>
                  <a:schemeClr val="tx2"/>
                </a:solidFill>
              </a:rPr>
              <a:t>Name each step with WITH   ·   Prefer NOT EXISTS over NOT IN</a:t>
            </a:r>
            <a:endParaRPr lang="en-US" sz="2000" dirty="0"/>
          </a:p>
        </p:txBody>
      </p:sp>
      <p:sp>
        <p:nvSpPr>
          <p:cNvPr id="7" name="box-778"/>
          <p:cNvSpPr/>
          <p:nvPr/>
        </p:nvSpPr>
        <p:spPr>
          <a:xfrm>
            <a:off x="548640" y="2286000"/>
            <a:ext cx="5486400" cy="3749040"/>
          </a:xfrm>
          <a:prstGeom prst="roundRect">
            <a:avLst>
              <a:gd name="adj" fmla="val 1463"/>
            </a:avLst>
          </a:prstGeom>
          <a:solidFill>
            <a:schemeClr val="accent1">
              <a:alpha val="12000"/>
            </a:schemeClr>
          </a:solidFill>
          <a:ln w="25400">
            <a:solidFill>
              <a:schemeClr val="accent1"/>
            </a:solidFill>
            <a:prstDash val="solid"/>
          </a:ln>
        </p:spPr>
      </p:sp>
      <p:sp>
        <p:nvSpPr>
          <p:cNvPr id="8" name="text-779"/>
          <p:cNvSpPr txBox="1"/>
          <p:nvPr/>
        </p:nvSpPr>
        <p:spPr>
          <a:xfrm>
            <a:off x="868680" y="2468880"/>
            <a:ext cx="4846320" cy="457200"/>
          </a:xfrm>
          <a:prstGeom prst="rect">
            <a:avLst/>
          </a:prstGeom>
          <a:noFill/>
          <a:ln/>
        </p:spPr>
        <p:txBody>
          <a:bodyPr wrap="square" lIns="0" tIns="0" rIns="0" bIns="0" rtlCol="0" anchor="ctr"/>
          <a:lstStyle/>
          <a:p>
            <a:pPr algn="l" indent="0" marL="0">
              <a:buNone/>
            </a:pPr>
            <a:r>
              <a:rPr lang="en-US" sz="2000" b="1" dirty="0">
                <a:solidFill>
                  <a:schemeClr val="tx1"/>
                </a:solidFill>
              </a:rPr>
              <a:t>Products priced above …</a:t>
            </a:r>
            <a:endParaRPr lang="en-US" sz="2000" dirty="0"/>
          </a:p>
        </p:txBody>
      </p:sp>
      <p:sp>
        <p:nvSpPr>
          <p:cNvPr id="9" name="box-780"/>
          <p:cNvSpPr/>
          <p:nvPr/>
        </p:nvSpPr>
        <p:spPr>
          <a:xfrm>
            <a:off x="1097280" y="3154680"/>
            <a:ext cx="4389120" cy="2377440"/>
          </a:xfrm>
          <a:prstGeom prst="roundRect">
            <a:avLst>
              <a:gd name="adj" fmla="val 3077"/>
            </a:avLst>
          </a:prstGeom>
          <a:solidFill>
            <a:schemeClr val="bg1"/>
          </a:solidFill>
          <a:ln w="12700">
            <a:solidFill>
              <a:schemeClr val="tx2"/>
            </a:solidFill>
            <a:prstDash val="solid"/>
          </a:ln>
        </p:spPr>
      </p:sp>
      <p:sp>
        <p:nvSpPr>
          <p:cNvPr id="10" name="dot-781"/>
          <p:cNvSpPr/>
          <p:nvPr/>
        </p:nvSpPr>
        <p:spPr>
          <a:xfrm>
            <a:off x="1325880" y="3383280"/>
            <a:ext cx="548640" cy="548640"/>
          </a:xfrm>
          <a:prstGeom prst="ellipse">
            <a:avLst/>
          </a:prstGeom>
          <a:solidFill>
            <a:schemeClr val="accent2"/>
          </a:solidFill>
          <a:ln/>
        </p:spPr>
      </p:sp>
      <p:sp>
        <p:nvSpPr>
          <p:cNvPr id="11" name="text-782"/>
          <p:cNvSpPr txBox="1"/>
          <p:nvPr/>
        </p:nvSpPr>
        <p:spPr>
          <a:xfrm>
            <a:off x="2011680" y="3383280"/>
            <a:ext cx="3383280" cy="548640"/>
          </a:xfrm>
          <a:prstGeom prst="rect">
            <a:avLst/>
          </a:prstGeom>
          <a:noFill/>
          <a:ln/>
        </p:spPr>
        <p:txBody>
          <a:bodyPr wrap="square" lIns="0" tIns="0" rIns="0" bIns="0" rtlCol="0" anchor="ctr"/>
          <a:lstStyle/>
          <a:p>
            <a:pPr algn="l" indent="0" marL="0">
              <a:buNone/>
            </a:pPr>
            <a:r>
              <a:rPr lang="en-US" sz="1700" b="1" dirty="0">
                <a:solidFill>
                  <a:schemeClr val="tx1"/>
                </a:solidFill>
              </a:rPr>
              <a:t>What is the average?</a:t>
            </a:r>
            <a:endParaRPr lang="en-US" sz="1700" dirty="0"/>
          </a:p>
        </p:txBody>
      </p:sp>
      <p:sp>
        <p:nvSpPr>
          <p:cNvPr id="12" name="text-783"/>
          <p:cNvSpPr txBox="1"/>
          <p:nvPr/>
        </p:nvSpPr>
        <p:spPr>
          <a:xfrm>
            <a:off x="1325880" y="4160520"/>
            <a:ext cx="4023360" cy="1097280"/>
          </a:xfrm>
          <a:prstGeom prst="rect">
            <a:avLst/>
          </a:prstGeom>
          <a:noFill/>
          <a:ln/>
        </p:spPr>
        <p:txBody>
          <a:bodyPr wrap="square" lIns="0" tIns="0" rIns="0" bIns="0" rtlCol="0" anchor="t"/>
          <a:lstStyle/>
          <a:p>
            <a:pPr algn="l" indent="0" marL="0">
              <a:buNone/>
            </a:pPr>
            <a:r>
              <a:rPr lang="en-US" sz="1500" dirty="0">
                <a:solidFill>
                  <a:schemeClr val="tx1"/>
                </a:solidFill>
                <a:latin typeface="Roboto Mono" pitchFamily="34" charset="0"/>
                <a:ea typeface="Roboto Mono" pitchFamily="34" charset="-122"/>
                <a:cs typeface="Roboto Mono" pitchFamily="34" charset="-120"/>
              </a:rPr>
              <a:t>(SELECT AVG(price_cents)</a:t>
            </a:r>
            <a:endParaRPr lang="en-US" sz="1500" dirty="0"/>
          </a:p>
          <a:p>
            <a:pPr algn="l" indent="0" marL="0">
              <a:buNone/>
            </a:pPr>
            <a:r>
              <a:rPr lang="en-US" sz="1500" dirty="0">
                <a:solidFill>
                  <a:schemeClr val="tx1"/>
                </a:solidFill>
                <a:latin typeface="Roboto Mono" pitchFamily="34" charset="0"/>
                <a:ea typeface="Roboto Mono" pitchFamily="34" charset="-122"/>
                <a:cs typeface="Roboto Mono" pitchFamily="34" charset="-120"/>
              </a:rPr>
              <a:t>   FROM products)</a:t>
            </a:r>
            <a:endParaRPr lang="en-US" sz="1500" dirty="0"/>
          </a:p>
        </p:txBody>
      </p:sp>
      <p:sp>
        <p:nvSpPr>
          <p:cNvPr id="13" name="box-784"/>
          <p:cNvSpPr/>
          <p:nvPr/>
        </p:nvSpPr>
        <p:spPr>
          <a:xfrm>
            <a:off x="6400800" y="2286000"/>
            <a:ext cx="5212080" cy="1828800"/>
          </a:xfrm>
          <a:prstGeom prst="roundRect">
            <a:avLst>
              <a:gd name="adj" fmla="val 5000"/>
            </a:avLst>
          </a:prstGeom>
          <a:solidFill>
            <a:schemeClr val="tx1"/>
          </a:solidFill>
          <a:ln/>
        </p:spPr>
      </p:sp>
      <p:sp>
        <p:nvSpPr>
          <p:cNvPr id="14" name="code-785"/>
          <p:cNvSpPr txBox="1"/>
          <p:nvPr/>
        </p:nvSpPr>
        <p:spPr>
          <a:xfrm>
            <a:off x="6675120" y="2468880"/>
            <a:ext cx="4663440" cy="1463040"/>
          </a:xfrm>
          <a:prstGeom prst="rect">
            <a:avLst/>
          </a:prstGeom>
          <a:noFill/>
          <a:ln/>
        </p:spPr>
        <p:txBody>
          <a:bodyPr wrap="square" lIns="0" tIns="0" rIns="0" bIns="0" rtlCol="0" anchor="ctr"/>
          <a:lstStyle/>
          <a:p>
            <a:pPr indent="0" marL="0">
              <a:lnSpc>
                <a:spcPct val="125000"/>
              </a:lnSpc>
              <a:buNone/>
            </a:pPr>
            <a:r>
              <a:rPr lang="en-US" sz="1400" dirty="0">
                <a:solidFill>
                  <a:srgbClr val="E4E6E3"/>
                </a:solidFill>
                <a:latin typeface="Roboto Mono" pitchFamily="34" charset="0"/>
                <a:ea typeface="Roboto Mono" pitchFamily="34" charset="-122"/>
                <a:cs typeface="Roboto Mono" pitchFamily="34" charset="-120"/>
              </a:rPr>
              <a:t>WITH order_totals AS (</a:t>
            </a:r>
            <a:endParaRPr lang="en-US" sz="1400" dirty="0"/>
          </a:p>
          <a:p>
            <a:pPr indent="0" marL="0">
              <a:lnSpc>
                <a:spcPct val="125000"/>
              </a:lnSpc>
              <a:buNone/>
            </a:pPr>
            <a:r>
              <a:rPr lang="en-US" sz="1400" dirty="0">
                <a:solidFill>
                  <a:srgbClr val="E4E6E3"/>
                </a:solidFill>
                <a:latin typeface="Roboto Mono" pitchFamily="34" charset="0"/>
                <a:ea typeface="Roboto Mono" pitchFamily="34" charset="-122"/>
                <a:cs typeface="Roboto Mono" pitchFamily="34" charset="-120"/>
              </a:rPr>
              <a:t>  SELECT order_id, SUM(…)</a:t>
            </a:r>
            <a:endParaRPr lang="en-US" sz="1400" dirty="0"/>
          </a:p>
          <a:p>
            <a:pPr indent="0" marL="0">
              <a:lnSpc>
                <a:spcPct val="125000"/>
              </a:lnSpc>
              <a:buNone/>
            </a:pPr>
            <a:r>
              <a:rPr lang="en-US" sz="1400" dirty="0">
                <a:solidFill>
                  <a:srgbClr val="E4E6E3"/>
                </a:solidFill>
                <a:latin typeface="Roboto Mono" pitchFamily="34" charset="0"/>
                <a:ea typeface="Roboto Mono" pitchFamily="34" charset="-122"/>
                <a:cs typeface="Roboto Mono" pitchFamily="34" charset="-120"/>
              </a:rPr>
              <a:t>  FROM order_items</a:t>
            </a:r>
            <a:endParaRPr lang="en-US" sz="1400" dirty="0"/>
          </a:p>
          <a:p>
            <a:pPr indent="0" marL="0">
              <a:lnSpc>
                <a:spcPct val="125000"/>
              </a:lnSpc>
              <a:buNone/>
            </a:pPr>
            <a:r>
              <a:rPr lang="en-US" sz="1400" dirty="0">
                <a:solidFill>
                  <a:srgbClr val="E4E6E3"/>
                </a:solidFill>
                <a:latin typeface="Roboto Mono" pitchFamily="34" charset="0"/>
                <a:ea typeface="Roboto Mono" pitchFamily="34" charset="-122"/>
                <a:cs typeface="Roboto Mono" pitchFamily="34" charset="-120"/>
              </a:rPr>
              <a:t>  GROUP BY order_id )</a:t>
            </a:r>
            <a:endParaRPr lang="en-US" sz="1400" dirty="0"/>
          </a:p>
        </p:txBody>
      </p:sp>
      <p:sp>
        <p:nvSpPr>
          <p:cNvPr id="15" name="line-786"/>
          <p:cNvSpPr/>
          <p:nvPr/>
        </p:nvSpPr>
        <p:spPr>
          <a:xfrm>
            <a:off x="9006840" y="4114800"/>
            <a:ext cx="91" cy="365760"/>
          </a:xfrm>
          <a:prstGeom prst="line">
            <a:avLst/>
          </a:prstGeom>
          <a:noFill/>
          <a:ln w="19050">
            <a:solidFill>
              <a:schemeClr val="tx2"/>
            </a:solidFill>
            <a:prstDash val="solid"/>
            <a:tailEnd type="triangle"/>
          </a:ln>
        </p:spPr>
      </p:sp>
      <p:sp>
        <p:nvSpPr>
          <p:cNvPr id="16" name="box-787"/>
          <p:cNvSpPr/>
          <p:nvPr/>
        </p:nvSpPr>
        <p:spPr>
          <a:xfrm>
            <a:off x="6400800" y="4480560"/>
            <a:ext cx="5212080" cy="548640"/>
          </a:xfrm>
          <a:prstGeom prst="roundRect">
            <a:avLst>
              <a:gd name="adj" fmla="val 20000"/>
            </a:avLst>
          </a:prstGeom>
          <a:solidFill>
            <a:schemeClr val="bg1"/>
          </a:solidFill>
          <a:ln w="12700">
            <a:solidFill>
              <a:schemeClr val="tx2"/>
            </a:solidFill>
            <a:prstDash val="solid"/>
          </a:ln>
        </p:spPr>
      </p:sp>
      <p:sp>
        <p:nvSpPr>
          <p:cNvPr id="17" name="text-788"/>
          <p:cNvSpPr txBox="1"/>
          <p:nvPr/>
        </p:nvSpPr>
        <p:spPr>
          <a:xfrm>
            <a:off x="6473952" y="4480560"/>
            <a:ext cx="5065776" cy="548640"/>
          </a:xfrm>
          <a:prstGeom prst="rect">
            <a:avLst/>
          </a:prstGeom>
          <a:noFill/>
          <a:ln/>
        </p:spPr>
        <p:txBody>
          <a:bodyPr wrap="square" lIns="0" tIns="0" rIns="0" bIns="0" rtlCol="0" anchor="ctr"/>
          <a:lstStyle/>
          <a:p>
            <a:pPr algn="ctr" indent="0" marL="0">
              <a:buNone/>
            </a:pPr>
            <a:r>
              <a:rPr lang="en-US" sz="1400" dirty="0">
                <a:solidFill>
                  <a:schemeClr val="tx1"/>
                </a:solidFill>
                <a:latin typeface="Roboto Mono" pitchFamily="34" charset="0"/>
                <a:ea typeface="Roboto Mono" pitchFamily="34" charset="-122"/>
                <a:cs typeface="Roboto Mono" pitchFamily="34" charset="-120"/>
              </a:rPr>
              <a:t>main query: JOIN order_totals</a:t>
            </a:r>
            <a:endParaRPr lang="en-US" sz="1400" dirty="0"/>
          </a:p>
        </p:txBody>
      </p:sp>
      <p:sp>
        <p:nvSpPr>
          <p:cNvPr id="18" name="box-789"/>
          <p:cNvSpPr/>
          <p:nvPr/>
        </p:nvSpPr>
        <p:spPr>
          <a:xfrm>
            <a:off x="6400800" y="5303520"/>
            <a:ext cx="5212080" cy="731520"/>
          </a:xfrm>
          <a:prstGeom prst="roundRect">
            <a:avLst>
              <a:gd name="adj" fmla="val 15000"/>
            </a:avLst>
          </a:prstGeom>
          <a:solidFill>
            <a:schemeClr val="accent1"/>
          </a:solidFill>
          <a:ln/>
        </p:spPr>
      </p:sp>
      <p:sp>
        <p:nvSpPr>
          <p:cNvPr id="19" name="text-790"/>
          <p:cNvSpPr txBox="1"/>
          <p:nvPr/>
        </p:nvSpPr>
        <p:spPr>
          <a:xfrm>
            <a:off x="7132320" y="5303520"/>
            <a:ext cx="4389120" cy="731520"/>
          </a:xfrm>
          <a:prstGeom prst="rect">
            <a:avLst/>
          </a:prstGeom>
          <a:noFill/>
          <a:ln/>
        </p:spPr>
        <p:txBody>
          <a:bodyPr wrap="square" lIns="0" tIns="0" rIns="0" bIns="0" rtlCol="0" anchor="ctr"/>
          <a:lstStyle/>
          <a:p>
            <a:pPr algn="l" indent="0" marL="0">
              <a:buNone/>
            </a:pPr>
            <a:r>
              <a:rPr lang="en-US" sz="1400" b="1" dirty="0">
                <a:solidFill>
                  <a:schemeClr val="tx1"/>
                </a:solidFill>
              </a:rPr>
              <a:t>NOT IN + one NULL = zero rows → NOT EXISTS</a:t>
            </a:r>
            <a:endParaRPr lang="en-US" sz="1400" dirty="0"/>
          </a:p>
        </p:txBody>
      </p:sp>
      <p:pic>
        <p:nvPicPr>
          <p:cNvPr id="20" name="Image 0" descr="Search icon">    </p:cNvPr>
          <p:cNvPicPr>
            <a:picLocks noChangeAspect="1"/>
          </p:cNvPicPr>
          <p:nvPr/>
        </p:nvPicPr>
        <p:blipFill>
          <a:blip r:embed="rId1"/>
          <a:stretch>
            <a:fillRect/>
          </a:stretch>
        </p:blipFill>
        <p:spPr>
          <a:xfrm>
            <a:off x="640812" y="476220"/>
            <a:ext cx="199705" cy="199705"/>
          </a:xfrm>
          <a:prstGeom prst="rect">
            <a:avLst/>
          </a:prstGeom>
        </p:spPr>
      </p:pic>
      <p:pic>
        <p:nvPicPr>
          <p:cNvPr id="21" name="Image 1" descr="Question icon">    </p:cNvPr>
          <p:cNvPicPr>
            <a:picLocks noChangeAspect="1"/>
          </p:cNvPicPr>
          <p:nvPr/>
        </p:nvPicPr>
        <p:blipFill>
          <a:blip r:embed="rId2"/>
          <a:stretch>
            <a:fillRect/>
          </a:stretch>
        </p:blipFill>
        <p:spPr>
          <a:xfrm>
            <a:off x="1457554" y="3514954"/>
            <a:ext cx="285293" cy="285293"/>
          </a:xfrm>
          <a:prstGeom prst="rect">
            <a:avLst/>
          </a:prstGeom>
        </p:spPr>
      </p:pic>
      <p:pic>
        <p:nvPicPr>
          <p:cNvPr id="22" name="Image 2" descr="ExclamationTriangle icon">    </p:cNvPr>
          <p:cNvPicPr>
            <a:picLocks noChangeAspect="1"/>
          </p:cNvPicPr>
          <p:nvPr/>
        </p:nvPicPr>
        <p:blipFill>
          <a:blip r:embed="rId3"/>
          <a:stretch>
            <a:fillRect/>
          </a:stretch>
        </p:blipFill>
        <p:spPr>
          <a:xfrm>
            <a:off x="6583680" y="5468112"/>
            <a:ext cx="411480" cy="411480"/>
          </a:xfrm>
          <a:prstGeom prst="rect">
            <a:avLst/>
          </a:prstGeom>
        </p:spPr>
      </p:pic>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731520" y="2331720"/>
            <a:ext cx="6400800" cy="365760"/>
          </a:xfrm>
          <a:prstGeom prst="rect">
            <a:avLst/>
          </a:prstGeom>
          <a:noFill/>
          <a:ln/>
        </p:spPr>
        <p:txBody>
          <a:bodyPr wrap="square" lIns="0" tIns="0" rIns="0" bIns="0" rtlCol="0"/>
          <a:lstStyle/>
          <a:p>
            <a:pPr indent="0" marL="0">
              <a:buNone/>
            </a:pPr>
            <a:r>
              <a:rPr lang="en-US" sz="1400" b="1" spc="400" kern="0" dirty="0">
                <a:solidFill>
                  <a:schemeClr val="bg1"/>
                </a:solidFill>
              </a:rPr>
              <a:t>LAYER 3 OF 4</a:t>
            </a:r>
            <a:endParaRPr lang="en-US" sz="1400" dirty="0"/>
          </a:p>
        </p:txBody>
      </p:sp>
      <p:sp>
        <p:nvSpPr>
          <p:cNvPr id="3" name="Text 0"/>
          <p:cNvSpPr/>
          <p:nvPr>
            <p:ph idx="101" type="title" hasCustomPrompt="1"/>
          </p:nvPr>
        </p:nvSpPr>
        <p:spPr>
          <a:xfrm>
            <a:off x="731520" y="2697480"/>
            <a:ext cx="7772400" cy="1005840"/>
          </a:xfrm>
          <a:prstGeom prst="rect">
            <a:avLst/>
          </a:prstGeom>
          <a:noFill/>
          <a:ln/>
        </p:spPr>
        <p:txBody>
          <a:bodyPr wrap="square" lIns="0" tIns="0" rIns="0" bIns="0" rtlCol="0" anchor="ctr"/>
          <a:lstStyle/>
          <a:p>
            <a:pPr algn="l" indent="0" marL="0">
              <a:buNone/>
            </a:pPr>
            <a:r>
              <a:rPr lang="en-US" sz="5400" b="1" dirty="0">
                <a:solidFill>
                  <a:schemeClr val="bg1"/>
                </a:solidFill>
              </a:rPr>
              <a:t>Safety</a:t>
            </a:r>
            <a:endParaRPr lang="en-US" sz="5400" dirty="0"/>
          </a:p>
        </p:txBody>
      </p:sp>
      <p:sp>
        <p:nvSpPr>
          <p:cNvPr id="4" name="Text 0"/>
          <p:cNvSpPr/>
          <p:nvPr>
            <p:ph idx="102" type="body" hasCustomPrompt="1"/>
          </p:nvPr>
        </p:nvSpPr>
        <p:spPr>
          <a:xfrm>
            <a:off x="731520" y="3749040"/>
            <a:ext cx="6400800" cy="822960"/>
          </a:xfrm>
          <a:prstGeom prst="rect">
            <a:avLst/>
          </a:prstGeom>
          <a:noFill/>
          <a:ln/>
        </p:spPr>
        <p:txBody>
          <a:bodyPr wrap="square" lIns="0" tIns="0" rIns="0" bIns="0" rtlCol="0" anchor="t"/>
          <a:lstStyle/>
          <a:p>
            <a:pPr indent="0" marL="0">
              <a:buNone/>
            </a:pPr>
            <a:r>
              <a:rPr lang="en-US" sz="2400" dirty="0">
                <a:solidFill>
                  <a:schemeClr val="accent2"/>
                </a:solidFill>
              </a:rPr>
              <a:t>How do I keep it correct under failure and concurrency?</a:t>
            </a:r>
            <a:endParaRPr lang="en-US" sz="2400" dirty="0"/>
          </a:p>
        </p:txBody>
      </p:sp>
      <p:sp>
        <p:nvSpPr>
          <p:cNvPr id="5" name="text-791"/>
          <p:cNvSpPr txBox="1"/>
          <p:nvPr/>
        </p:nvSpPr>
        <p:spPr>
          <a:xfrm>
            <a:off x="731520" y="4892040"/>
            <a:ext cx="5486400" cy="320040"/>
          </a:xfrm>
          <a:prstGeom prst="rect">
            <a:avLst/>
          </a:prstGeom>
          <a:noFill/>
          <a:ln/>
        </p:spPr>
        <p:txBody>
          <a:bodyPr wrap="square" lIns="0" tIns="0" rIns="0" bIns="0" rtlCol="0" anchor="ctr"/>
          <a:lstStyle/>
          <a:p>
            <a:pPr algn="l" indent="0" marL="0">
              <a:buNone/>
            </a:pPr>
            <a:r>
              <a:rPr lang="en-US" sz="1400" b="1" spc="200" kern="0" dirty="0">
                <a:solidFill>
                  <a:schemeClr val="bg1"/>
                </a:solidFill>
              </a:rPr>
              <a:t>SECTIONS 3.4 RULES  ·  3.10</a:t>
            </a:r>
            <a:endParaRPr lang="en-US" sz="1400" dirty="0"/>
          </a:p>
        </p:txBody>
      </p:sp>
      <p:sp>
        <p:nvSpPr>
          <p:cNvPr id="6" name="box-792"/>
          <p:cNvSpPr/>
          <p:nvPr/>
        </p:nvSpPr>
        <p:spPr>
          <a:xfrm>
            <a:off x="7315200" y="4114800"/>
            <a:ext cx="4013302" cy="330098"/>
          </a:xfrm>
          <a:prstGeom prst="roundRect">
            <a:avLst>
              <a:gd name="adj" fmla="val 11080"/>
            </a:avLst>
          </a:prstGeom>
          <a:solidFill>
            <a:schemeClr val="bg1">
              <a:alpha val="35000"/>
            </a:schemeClr>
          </a:solidFill>
          <a:ln/>
        </p:spPr>
      </p:sp>
      <p:sp>
        <p:nvSpPr>
          <p:cNvPr id="7" name="box-793"/>
          <p:cNvSpPr/>
          <p:nvPr/>
        </p:nvSpPr>
        <p:spPr>
          <a:xfrm>
            <a:off x="7315200" y="4479646"/>
            <a:ext cx="4013302" cy="451714"/>
          </a:xfrm>
          <a:prstGeom prst="roundRect">
            <a:avLst>
              <a:gd name="adj" fmla="val 8097"/>
            </a:avLst>
          </a:prstGeom>
          <a:solidFill>
            <a:schemeClr val="bg1">
              <a:alpha val="35000"/>
            </a:schemeClr>
          </a:solidFill>
          <a:ln/>
        </p:spPr>
      </p:sp>
      <p:sp>
        <p:nvSpPr>
          <p:cNvPr id="8" name="box-794"/>
          <p:cNvSpPr/>
          <p:nvPr/>
        </p:nvSpPr>
        <p:spPr>
          <a:xfrm>
            <a:off x="7315200" y="4966106"/>
            <a:ext cx="4013302" cy="330098"/>
          </a:xfrm>
          <a:prstGeom prst="roundRect">
            <a:avLst>
              <a:gd name="adj" fmla="val 11080"/>
            </a:avLst>
          </a:prstGeom>
          <a:solidFill>
            <a:schemeClr val="bg1"/>
          </a:solidFill>
          <a:ln/>
        </p:spPr>
      </p:sp>
      <p:sp>
        <p:nvSpPr>
          <p:cNvPr id="9" name="box-795"/>
          <p:cNvSpPr/>
          <p:nvPr/>
        </p:nvSpPr>
        <p:spPr>
          <a:xfrm>
            <a:off x="7315200" y="5330952"/>
            <a:ext cx="4013302" cy="330098"/>
          </a:xfrm>
          <a:prstGeom prst="roundRect">
            <a:avLst>
              <a:gd name="adj" fmla="val 11080"/>
            </a:avLst>
          </a:prstGeom>
          <a:solidFill>
            <a:schemeClr val="bg1">
              <a:alpha val="35000"/>
            </a:schemeClr>
          </a:solidFill>
          <a:ln/>
        </p:spPr>
      </p:sp>
      <p:sp>
        <p:nvSpPr>
          <p:cNvPr id="10" name="box-796"/>
          <p:cNvSpPr/>
          <p:nvPr/>
        </p:nvSpPr>
        <p:spPr>
          <a:xfrm>
            <a:off x="7384694" y="4208617"/>
            <a:ext cx="747065" cy="215433"/>
          </a:xfrm>
          <a:prstGeom prst="roundRect">
            <a:avLst>
              <a:gd name="adj" fmla="val 12733"/>
            </a:avLst>
          </a:prstGeom>
          <a:solidFill>
            <a:schemeClr val="tx1">
              <a:alpha val="80000"/>
            </a:schemeClr>
          </a:solidFill>
          <a:ln/>
        </p:spPr>
      </p:sp>
      <p:sp>
        <p:nvSpPr>
          <p:cNvPr id="11" name="box-797"/>
          <p:cNvSpPr/>
          <p:nvPr/>
        </p:nvSpPr>
        <p:spPr>
          <a:xfrm>
            <a:off x="8253374" y="4208617"/>
            <a:ext cx="660197" cy="215433"/>
          </a:xfrm>
          <a:prstGeom prst="roundRect">
            <a:avLst>
              <a:gd name="adj" fmla="val 12733"/>
            </a:avLst>
          </a:prstGeom>
          <a:solidFill>
            <a:schemeClr val="tx1">
              <a:alpha val="80000"/>
            </a:schemeClr>
          </a:solidFill>
          <a:ln/>
        </p:spPr>
      </p:sp>
      <p:sp>
        <p:nvSpPr>
          <p:cNvPr id="12" name="box-798"/>
          <p:cNvSpPr/>
          <p:nvPr/>
        </p:nvSpPr>
        <p:spPr>
          <a:xfrm>
            <a:off x="9035186" y="4208617"/>
            <a:ext cx="660197" cy="215433"/>
          </a:xfrm>
          <a:prstGeom prst="roundRect">
            <a:avLst>
              <a:gd name="adj" fmla="val 12733"/>
            </a:avLst>
          </a:prstGeom>
          <a:solidFill>
            <a:schemeClr val="tx1">
              <a:alpha val="80000"/>
            </a:schemeClr>
          </a:solidFill>
          <a:ln/>
        </p:spPr>
      </p:sp>
      <p:sp>
        <p:nvSpPr>
          <p:cNvPr id="13" name="box-799"/>
          <p:cNvSpPr/>
          <p:nvPr/>
        </p:nvSpPr>
        <p:spPr>
          <a:xfrm>
            <a:off x="9816998" y="4208617"/>
            <a:ext cx="660197" cy="215433"/>
          </a:xfrm>
          <a:prstGeom prst="roundRect">
            <a:avLst>
              <a:gd name="adj" fmla="val 12733"/>
            </a:avLst>
          </a:prstGeom>
          <a:solidFill>
            <a:schemeClr val="tx1">
              <a:alpha val="80000"/>
            </a:schemeClr>
          </a:solidFill>
          <a:ln/>
        </p:spPr>
      </p:sp>
      <p:sp>
        <p:nvSpPr>
          <p:cNvPr id="14" name="box-800"/>
          <p:cNvSpPr/>
          <p:nvPr/>
        </p:nvSpPr>
        <p:spPr>
          <a:xfrm>
            <a:off x="10598810" y="4208617"/>
            <a:ext cx="660197" cy="215433"/>
          </a:xfrm>
          <a:prstGeom prst="roundRect">
            <a:avLst>
              <a:gd name="adj" fmla="val 12733"/>
            </a:avLst>
          </a:prstGeom>
          <a:solidFill>
            <a:schemeClr val="tx1">
              <a:alpha val="80000"/>
            </a:schemeClr>
          </a:solidFill>
          <a:ln/>
        </p:spPr>
      </p:sp>
      <p:sp>
        <p:nvSpPr>
          <p:cNvPr id="15" name="line-801"/>
          <p:cNvSpPr/>
          <p:nvPr/>
        </p:nvSpPr>
        <p:spPr>
          <a:xfrm>
            <a:off x="8131759" y="4316334"/>
            <a:ext cx="121615" cy="91"/>
          </a:xfrm>
          <a:prstGeom prst="line">
            <a:avLst/>
          </a:prstGeom>
          <a:noFill/>
          <a:ln w="9525">
            <a:solidFill>
              <a:schemeClr val="tx1"/>
            </a:solidFill>
            <a:prstDash val="solid"/>
          </a:ln>
        </p:spPr>
      </p:sp>
      <p:sp>
        <p:nvSpPr>
          <p:cNvPr id="16" name="line-802"/>
          <p:cNvSpPr/>
          <p:nvPr/>
        </p:nvSpPr>
        <p:spPr>
          <a:xfrm>
            <a:off x="8913571" y="4316334"/>
            <a:ext cx="121615" cy="91"/>
          </a:xfrm>
          <a:prstGeom prst="line">
            <a:avLst/>
          </a:prstGeom>
          <a:noFill/>
          <a:ln w="9525">
            <a:solidFill>
              <a:schemeClr val="tx1"/>
            </a:solidFill>
            <a:prstDash val="solid"/>
          </a:ln>
        </p:spPr>
      </p:sp>
      <p:sp>
        <p:nvSpPr>
          <p:cNvPr id="17" name="line-803"/>
          <p:cNvSpPr/>
          <p:nvPr/>
        </p:nvSpPr>
        <p:spPr>
          <a:xfrm>
            <a:off x="9695383" y="4316334"/>
            <a:ext cx="121615" cy="91"/>
          </a:xfrm>
          <a:prstGeom prst="line">
            <a:avLst/>
          </a:prstGeom>
          <a:noFill/>
          <a:ln w="9525">
            <a:solidFill>
              <a:schemeClr val="tx1"/>
            </a:solidFill>
            <a:prstDash val="solid"/>
          </a:ln>
        </p:spPr>
      </p:sp>
      <p:sp>
        <p:nvSpPr>
          <p:cNvPr id="18" name="line-804"/>
          <p:cNvSpPr/>
          <p:nvPr/>
        </p:nvSpPr>
        <p:spPr>
          <a:xfrm>
            <a:off x="10477195" y="4316334"/>
            <a:ext cx="121615" cy="91"/>
          </a:xfrm>
          <a:prstGeom prst="line">
            <a:avLst/>
          </a:prstGeom>
          <a:noFill/>
          <a:ln w="9525">
            <a:solidFill>
              <a:schemeClr val="tx1"/>
            </a:solidFill>
            <a:prstDash val="solid"/>
          </a:ln>
        </p:spPr>
      </p:sp>
      <p:sp>
        <p:nvSpPr>
          <p:cNvPr id="19" name="box-805"/>
          <p:cNvSpPr/>
          <p:nvPr/>
        </p:nvSpPr>
        <p:spPr>
          <a:xfrm>
            <a:off x="7384694" y="4670755"/>
            <a:ext cx="555955" cy="215433"/>
          </a:xfrm>
          <a:prstGeom prst="roundRect">
            <a:avLst>
              <a:gd name="adj" fmla="val 12733"/>
            </a:avLst>
          </a:prstGeom>
          <a:solidFill>
            <a:schemeClr val="tx1">
              <a:alpha val="80000"/>
            </a:schemeClr>
          </a:solidFill>
          <a:ln/>
        </p:spPr>
      </p:sp>
      <p:sp>
        <p:nvSpPr>
          <p:cNvPr id="20" name="box-806"/>
          <p:cNvSpPr/>
          <p:nvPr/>
        </p:nvSpPr>
        <p:spPr>
          <a:xfrm>
            <a:off x="8062265" y="4583887"/>
            <a:ext cx="3196742" cy="319674"/>
          </a:xfrm>
          <a:prstGeom prst="roundRect">
            <a:avLst>
              <a:gd name="adj" fmla="val 8581"/>
            </a:avLst>
          </a:prstGeom>
          <a:ln w="6350">
            <a:solidFill>
              <a:schemeClr val="tx1"/>
            </a:solidFill>
            <a:prstDash val="dash"/>
          </a:ln>
        </p:spPr>
      </p:sp>
      <p:sp>
        <p:nvSpPr>
          <p:cNvPr id="21" name="box-807"/>
          <p:cNvSpPr/>
          <p:nvPr/>
        </p:nvSpPr>
        <p:spPr>
          <a:xfrm>
            <a:off x="8131759" y="4670755"/>
            <a:ext cx="948599" cy="215433"/>
          </a:xfrm>
          <a:prstGeom prst="roundRect">
            <a:avLst>
              <a:gd name="adj" fmla="val 12733"/>
            </a:avLst>
          </a:prstGeom>
          <a:solidFill>
            <a:schemeClr val="tx1">
              <a:alpha val="80000"/>
            </a:schemeClr>
          </a:solidFill>
          <a:ln/>
        </p:spPr>
      </p:sp>
      <p:sp>
        <p:nvSpPr>
          <p:cNvPr id="22" name="box-808"/>
          <p:cNvSpPr/>
          <p:nvPr/>
        </p:nvSpPr>
        <p:spPr>
          <a:xfrm>
            <a:off x="9184599" y="4670755"/>
            <a:ext cx="948599" cy="215433"/>
          </a:xfrm>
          <a:prstGeom prst="roundRect">
            <a:avLst>
              <a:gd name="adj" fmla="val 12733"/>
            </a:avLst>
          </a:prstGeom>
          <a:solidFill>
            <a:schemeClr val="tx1">
              <a:alpha val="80000"/>
            </a:schemeClr>
          </a:solidFill>
          <a:ln/>
        </p:spPr>
      </p:sp>
      <p:sp>
        <p:nvSpPr>
          <p:cNvPr id="23" name="box-809"/>
          <p:cNvSpPr/>
          <p:nvPr/>
        </p:nvSpPr>
        <p:spPr>
          <a:xfrm>
            <a:off x="10237440" y="4670755"/>
            <a:ext cx="948599" cy="215433"/>
          </a:xfrm>
          <a:prstGeom prst="roundRect">
            <a:avLst>
              <a:gd name="adj" fmla="val 12733"/>
            </a:avLst>
          </a:prstGeom>
          <a:solidFill>
            <a:schemeClr val="tx1">
              <a:alpha val="80000"/>
            </a:schemeClr>
          </a:solidFill>
          <a:ln/>
        </p:spPr>
      </p:sp>
      <p:sp>
        <p:nvSpPr>
          <p:cNvPr id="24" name="line-810"/>
          <p:cNvSpPr/>
          <p:nvPr/>
        </p:nvSpPr>
        <p:spPr>
          <a:xfrm>
            <a:off x="10928909" y="4424050"/>
            <a:ext cx="91" cy="38222"/>
          </a:xfrm>
          <a:prstGeom prst="line">
            <a:avLst/>
          </a:prstGeom>
          <a:noFill/>
          <a:ln w="9525">
            <a:solidFill>
              <a:schemeClr val="tx1"/>
            </a:solidFill>
            <a:prstDash val="solid"/>
          </a:ln>
        </p:spPr>
      </p:sp>
      <p:sp>
        <p:nvSpPr>
          <p:cNvPr id="25" name="line-811"/>
          <p:cNvSpPr/>
          <p:nvPr/>
        </p:nvSpPr>
        <p:spPr>
          <a:xfrm flipH="1">
            <a:off x="7662672" y="4462272"/>
            <a:ext cx="3266237" cy="91"/>
          </a:xfrm>
          <a:prstGeom prst="line">
            <a:avLst/>
          </a:prstGeom>
          <a:noFill/>
          <a:ln w="9525">
            <a:solidFill>
              <a:schemeClr val="tx1"/>
            </a:solidFill>
            <a:prstDash val="solid"/>
          </a:ln>
        </p:spPr>
      </p:sp>
      <p:sp>
        <p:nvSpPr>
          <p:cNvPr id="26" name="line-812"/>
          <p:cNvSpPr/>
          <p:nvPr/>
        </p:nvSpPr>
        <p:spPr>
          <a:xfrm>
            <a:off x="7662672" y="4462272"/>
            <a:ext cx="91" cy="208483"/>
          </a:xfrm>
          <a:prstGeom prst="line">
            <a:avLst/>
          </a:prstGeom>
          <a:noFill/>
          <a:ln w="9525">
            <a:solidFill>
              <a:schemeClr val="tx1"/>
            </a:solidFill>
            <a:prstDash val="solid"/>
          </a:ln>
        </p:spPr>
      </p:sp>
      <p:sp>
        <p:nvSpPr>
          <p:cNvPr id="27" name="line-813"/>
          <p:cNvSpPr/>
          <p:nvPr/>
        </p:nvSpPr>
        <p:spPr>
          <a:xfrm>
            <a:off x="7940650" y="4778472"/>
            <a:ext cx="121615" cy="91"/>
          </a:xfrm>
          <a:prstGeom prst="line">
            <a:avLst/>
          </a:prstGeom>
          <a:noFill/>
          <a:ln w="9525">
            <a:solidFill>
              <a:schemeClr val="tx1"/>
            </a:solidFill>
            <a:prstDash val="solid"/>
          </a:ln>
        </p:spPr>
      </p:sp>
      <p:sp>
        <p:nvSpPr>
          <p:cNvPr id="28" name="box-814"/>
          <p:cNvSpPr/>
          <p:nvPr/>
        </p:nvSpPr>
        <p:spPr>
          <a:xfrm>
            <a:off x="7384694" y="5059924"/>
            <a:ext cx="903427" cy="215433"/>
          </a:xfrm>
          <a:prstGeom prst="roundRect">
            <a:avLst>
              <a:gd name="adj" fmla="val 12733"/>
            </a:avLst>
          </a:prstGeom>
          <a:solidFill>
            <a:schemeClr val="tx1">
              <a:alpha val="80000"/>
            </a:schemeClr>
          </a:solidFill>
          <a:ln/>
        </p:spPr>
      </p:sp>
      <p:sp>
        <p:nvSpPr>
          <p:cNvPr id="29" name="box-815"/>
          <p:cNvSpPr/>
          <p:nvPr/>
        </p:nvSpPr>
        <p:spPr>
          <a:xfrm>
            <a:off x="8444484" y="5059924"/>
            <a:ext cx="1111910" cy="215433"/>
          </a:xfrm>
          <a:prstGeom prst="roundRect">
            <a:avLst>
              <a:gd name="adj" fmla="val 12733"/>
            </a:avLst>
          </a:prstGeom>
          <a:solidFill>
            <a:schemeClr val="tx1">
              <a:alpha val="80000"/>
            </a:schemeClr>
          </a:solidFill>
          <a:ln/>
        </p:spPr>
      </p:sp>
      <p:sp>
        <p:nvSpPr>
          <p:cNvPr id="30" name="line-816"/>
          <p:cNvSpPr/>
          <p:nvPr/>
        </p:nvSpPr>
        <p:spPr>
          <a:xfrm>
            <a:off x="9000439" y="4903561"/>
            <a:ext cx="91" cy="156362"/>
          </a:xfrm>
          <a:prstGeom prst="line">
            <a:avLst/>
          </a:prstGeom>
          <a:noFill/>
          <a:ln w="9525">
            <a:solidFill>
              <a:schemeClr val="tx1"/>
            </a:solidFill>
            <a:prstDash val="solid"/>
          </a:ln>
        </p:spPr>
      </p:sp>
      <p:sp>
        <p:nvSpPr>
          <p:cNvPr id="31" name="line-817"/>
          <p:cNvSpPr/>
          <p:nvPr/>
        </p:nvSpPr>
        <p:spPr>
          <a:xfrm>
            <a:off x="8288122" y="5167640"/>
            <a:ext cx="156362" cy="91"/>
          </a:xfrm>
          <a:prstGeom prst="line">
            <a:avLst/>
          </a:prstGeom>
          <a:noFill/>
          <a:ln w="9525">
            <a:solidFill>
              <a:schemeClr val="tx1"/>
            </a:solidFill>
            <a:prstDash val="solid"/>
          </a:ln>
        </p:spPr>
      </p:sp>
      <p:sp>
        <p:nvSpPr>
          <p:cNvPr id="32" name="box-818"/>
          <p:cNvSpPr/>
          <p:nvPr/>
        </p:nvSpPr>
        <p:spPr>
          <a:xfrm>
            <a:off x="7384694" y="5424769"/>
            <a:ext cx="903427" cy="215433"/>
          </a:xfrm>
          <a:prstGeom prst="roundRect">
            <a:avLst>
              <a:gd name="adj" fmla="val 12733"/>
            </a:avLst>
          </a:prstGeom>
          <a:solidFill>
            <a:schemeClr val="tx1">
              <a:alpha val="80000"/>
            </a:schemeClr>
          </a:solidFill>
          <a:ln/>
        </p:spPr>
      </p:sp>
      <p:sp>
        <p:nvSpPr>
          <p:cNvPr id="33" name="box-819"/>
          <p:cNvSpPr/>
          <p:nvPr/>
        </p:nvSpPr>
        <p:spPr>
          <a:xfrm>
            <a:off x="8444484" y="5424769"/>
            <a:ext cx="903427" cy="215433"/>
          </a:xfrm>
          <a:prstGeom prst="roundRect">
            <a:avLst>
              <a:gd name="adj" fmla="val 12733"/>
            </a:avLst>
          </a:prstGeom>
          <a:solidFill>
            <a:schemeClr val="tx1">
              <a:alpha val="80000"/>
            </a:schemeClr>
          </a:solidFill>
          <a:ln/>
        </p:spPr>
      </p:sp>
      <p:sp>
        <p:nvSpPr>
          <p:cNvPr id="34" name="box-820"/>
          <p:cNvSpPr/>
          <p:nvPr/>
        </p:nvSpPr>
        <p:spPr>
          <a:xfrm>
            <a:off x="9504274" y="5424769"/>
            <a:ext cx="1007669" cy="215433"/>
          </a:xfrm>
          <a:prstGeom prst="roundRect">
            <a:avLst>
              <a:gd name="adj" fmla="val 12733"/>
            </a:avLst>
          </a:prstGeom>
          <a:solidFill>
            <a:schemeClr val="tx1">
              <a:alpha val="80000"/>
            </a:schemeClr>
          </a:solidFill>
          <a:ln/>
        </p:spPr>
      </p:sp>
      <p:sp>
        <p:nvSpPr>
          <p:cNvPr id="35" name="line-821"/>
          <p:cNvSpPr/>
          <p:nvPr/>
        </p:nvSpPr>
        <p:spPr>
          <a:xfrm>
            <a:off x="9000439" y="5275356"/>
            <a:ext cx="91" cy="38222"/>
          </a:xfrm>
          <a:prstGeom prst="line">
            <a:avLst/>
          </a:prstGeom>
          <a:noFill/>
          <a:ln w="9525">
            <a:solidFill>
              <a:schemeClr val="tx1"/>
            </a:solidFill>
            <a:prstDash val="solid"/>
          </a:ln>
        </p:spPr>
      </p:sp>
      <p:sp>
        <p:nvSpPr>
          <p:cNvPr id="36" name="line-822"/>
          <p:cNvSpPr/>
          <p:nvPr/>
        </p:nvSpPr>
        <p:spPr>
          <a:xfrm flipH="1">
            <a:off x="7836408" y="5313578"/>
            <a:ext cx="1164031" cy="91"/>
          </a:xfrm>
          <a:prstGeom prst="line">
            <a:avLst/>
          </a:prstGeom>
          <a:noFill/>
          <a:ln w="9525">
            <a:solidFill>
              <a:schemeClr val="tx1"/>
            </a:solidFill>
            <a:prstDash val="solid"/>
          </a:ln>
        </p:spPr>
      </p:sp>
      <p:sp>
        <p:nvSpPr>
          <p:cNvPr id="37" name="line-823"/>
          <p:cNvSpPr/>
          <p:nvPr/>
        </p:nvSpPr>
        <p:spPr>
          <a:xfrm>
            <a:off x="7836408" y="5313578"/>
            <a:ext cx="91" cy="111191"/>
          </a:xfrm>
          <a:prstGeom prst="line">
            <a:avLst/>
          </a:prstGeom>
          <a:noFill/>
          <a:ln w="9525">
            <a:solidFill>
              <a:schemeClr val="tx1"/>
            </a:solidFill>
            <a:prstDash val="solid"/>
          </a:ln>
        </p:spPr>
      </p:sp>
      <p:sp>
        <p:nvSpPr>
          <p:cNvPr id="38" name="line-824"/>
          <p:cNvSpPr/>
          <p:nvPr/>
        </p:nvSpPr>
        <p:spPr>
          <a:xfrm>
            <a:off x="8288122" y="5532486"/>
            <a:ext cx="156362" cy="91"/>
          </a:xfrm>
          <a:prstGeom prst="line">
            <a:avLst/>
          </a:prstGeom>
          <a:noFill/>
          <a:ln w="9525">
            <a:solidFill>
              <a:schemeClr val="tx1"/>
            </a:solidFill>
            <a:prstDash val="solid"/>
          </a:ln>
        </p:spPr>
      </p:sp>
      <p:sp>
        <p:nvSpPr>
          <p:cNvPr id="39" name="line-825"/>
          <p:cNvSpPr/>
          <p:nvPr/>
        </p:nvSpPr>
        <p:spPr>
          <a:xfrm>
            <a:off x="9347911" y="5532486"/>
            <a:ext cx="156362" cy="91"/>
          </a:xfrm>
          <a:prstGeom prst="line">
            <a:avLst/>
          </a:prstGeom>
          <a:noFill/>
          <a:ln w="9525">
            <a:solidFill>
              <a:schemeClr val="tx1"/>
            </a:solidFill>
            <a:prstDash val="solid"/>
          </a:ln>
        </p:spPr>
      </p:sp>
      <p:sp>
        <p:nvSpPr>
          <p:cNvPr id="40" name="line-826"/>
          <p:cNvSpPr/>
          <p:nvPr/>
        </p:nvSpPr>
        <p:spPr>
          <a:xfrm>
            <a:off x="10008108" y="5640202"/>
            <a:ext cx="91" cy="100767"/>
          </a:xfrm>
          <a:prstGeom prst="line">
            <a:avLst/>
          </a:prstGeom>
          <a:noFill/>
          <a:ln w="9525">
            <a:solidFill>
              <a:schemeClr val="accent1"/>
            </a:solidFill>
            <a:prstDash val="dash"/>
          </a:ln>
        </p:spPr>
      </p:sp>
      <p:sp>
        <p:nvSpPr>
          <p:cNvPr id="41" name="line-827"/>
          <p:cNvSpPr/>
          <p:nvPr/>
        </p:nvSpPr>
        <p:spPr>
          <a:xfrm flipH="1">
            <a:off x="8896198" y="5740969"/>
            <a:ext cx="1111910" cy="91"/>
          </a:xfrm>
          <a:prstGeom prst="line">
            <a:avLst/>
          </a:prstGeom>
          <a:noFill/>
          <a:ln w="9525">
            <a:solidFill>
              <a:schemeClr val="accent1"/>
            </a:solidFill>
            <a:prstDash val="dash"/>
          </a:ln>
        </p:spPr>
      </p:sp>
      <p:sp>
        <p:nvSpPr>
          <p:cNvPr id="42" name="line-828"/>
          <p:cNvSpPr/>
          <p:nvPr/>
        </p:nvSpPr>
        <p:spPr>
          <a:xfrm flipV="1">
            <a:off x="8896198" y="5640202"/>
            <a:ext cx="91" cy="100767"/>
          </a:xfrm>
          <a:prstGeom prst="line">
            <a:avLst/>
          </a:prstGeom>
          <a:noFill/>
          <a:ln w="9525">
            <a:solidFill>
              <a:schemeClr val="accent1"/>
            </a:solidFill>
            <a:prstDash val="dash"/>
          </a:ln>
        </p:spPr>
      </p:sp>
      <p:sp>
        <p:nvSpPr>
          <p:cNvPr id="43" name="line-829"/>
          <p:cNvSpPr/>
          <p:nvPr/>
        </p:nvSpPr>
        <p:spPr>
          <a:xfrm>
            <a:off x="10511942" y="5532486"/>
            <a:ext cx="920801" cy="91"/>
          </a:xfrm>
          <a:prstGeom prst="line">
            <a:avLst/>
          </a:prstGeom>
          <a:noFill/>
          <a:ln w="9525">
            <a:solidFill>
              <a:schemeClr val="accent1"/>
            </a:solidFill>
            <a:prstDash val="dash"/>
          </a:ln>
        </p:spPr>
      </p:sp>
      <p:sp>
        <p:nvSpPr>
          <p:cNvPr id="44" name="line-830"/>
          <p:cNvSpPr/>
          <p:nvPr/>
        </p:nvSpPr>
        <p:spPr>
          <a:xfrm flipV="1">
            <a:off x="11432743" y="4316334"/>
            <a:ext cx="91" cy="1216152"/>
          </a:xfrm>
          <a:prstGeom prst="line">
            <a:avLst/>
          </a:prstGeom>
          <a:noFill/>
          <a:ln w="9525">
            <a:solidFill>
              <a:schemeClr val="accent1"/>
            </a:solidFill>
            <a:prstDash val="dash"/>
          </a:ln>
        </p:spPr>
      </p:sp>
      <p:sp>
        <p:nvSpPr>
          <p:cNvPr id="45" name="line-831"/>
          <p:cNvSpPr/>
          <p:nvPr/>
        </p:nvSpPr>
        <p:spPr>
          <a:xfrm flipH="1">
            <a:off x="11259007" y="4316334"/>
            <a:ext cx="173736" cy="91"/>
          </a:xfrm>
          <a:prstGeom prst="line">
            <a:avLst/>
          </a:prstGeom>
          <a:noFill/>
          <a:ln w="9525">
            <a:solidFill>
              <a:schemeClr val="accent1"/>
            </a:solidFill>
            <a:prstDash val="dash"/>
          </a:ln>
        </p:spPr>
      </p:sp>
      <p:sp>
        <p:nvSpPr>
          <p:cNvPr id="46" name="text-832"/>
          <p:cNvSpPr txBox="1"/>
          <p:nvPr/>
        </p:nvSpPr>
        <p:spPr>
          <a:xfrm>
            <a:off x="7315200" y="3703320"/>
            <a:ext cx="4206240" cy="274320"/>
          </a:xfrm>
          <a:prstGeom prst="rect">
            <a:avLst/>
          </a:prstGeom>
          <a:noFill/>
          <a:ln/>
        </p:spPr>
        <p:txBody>
          <a:bodyPr wrap="square" lIns="0" tIns="0" rIns="0" bIns="0" rtlCol="0" anchor="ctr"/>
          <a:lstStyle/>
          <a:p>
            <a:pPr algn="r" indent="0" marL="0">
              <a:buNone/>
            </a:pPr>
            <a:r>
              <a:rPr lang="en-US" sz="1100" b="1" spc="200" kern="0" dirty="0">
                <a:solidFill>
                  <a:schemeClr val="bg1"/>
                </a:solidFill>
              </a:rPr>
              <a:t>you are here</a:t>
            </a:r>
            <a:endParaRPr lang="en-US" sz="1100" dirty="0"/>
          </a:p>
        </p:txBody>
      </p:sp>
      <p:pic>
        <p:nvPicPr>
          <p:cNvPr id="48" name="Image 0" descr="ShieldAlt icon">    </p:cNvPr>
          <p:cNvPicPr>
            <a:picLocks noChangeAspect="1"/>
          </p:cNvPicPr>
          <p:nvPr/>
        </p:nvPicPr>
        <p:blipFill>
          <a:blip r:embed="rId1"/>
          <a:stretch>
            <a:fillRect/>
          </a:stretch>
        </p:blipFill>
        <p:spPr>
          <a:xfrm>
            <a:off x="731520" y="914400"/>
            <a:ext cx="1143000" cy="1143000"/>
          </a:xfrm>
          <a:prstGeom prst="rect">
            <a:avLst/>
          </a:prstGeom>
        </p:spPr>
      </p:pic>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dot-833"/>
          <p:cNvSpPr/>
          <p:nvPr/>
        </p:nvSpPr>
        <p:spPr>
          <a:xfrm>
            <a:off x="548640" y="384048"/>
            <a:ext cx="384048" cy="384048"/>
          </a:xfrm>
          <a:prstGeom prst="ellipse">
            <a:avLst/>
          </a:prstGeom>
          <a:solidFill>
            <a:schemeClr val="tx1"/>
          </a:solidFill>
          <a:ln/>
        </p:spPr>
      </p:sp>
      <p:sp>
        <p:nvSpPr>
          <p:cNvPr id="3" name="Text 1"/>
          <p:cNvSpPr/>
          <p:nvPr>
            <p:ph idx="101" type="body" hasCustomPrompt="1"/>
          </p:nvPr>
        </p:nvSpPr>
        <p:spPr>
          <a:xfrm>
            <a:off x="1051560" y="384048"/>
            <a:ext cx="9601200" cy="384048"/>
          </a:xfrm>
          <a:prstGeom prst="rect">
            <a:avLst/>
          </a:prstGeom>
          <a:noFill/>
          <a:ln/>
        </p:spPr>
        <p:txBody>
          <a:bodyPr wrap="square" lIns="0" tIns="0" rIns="0" bIns="0" rtlCol="0" anchor="ctr"/>
          <a:lstStyle/>
          <a:p>
            <a:pPr indent="0" marL="0">
              <a:buNone/>
            </a:pPr>
            <a:r>
              <a:rPr lang="en-US" sz="1300" b="1" spc="300" kern="0" dirty="0">
                <a:solidFill>
                  <a:schemeClr val="tx2"/>
                </a:solidFill>
              </a:rPr>
              <a:t>L3  ·  SAFETY  ·  3.10 TRANSACTIONS</a:t>
            </a:r>
            <a:endParaRPr lang="en-US" sz="1300" dirty="0"/>
          </a:p>
        </p:txBody>
      </p:sp>
      <p:sp>
        <p:nvSpPr>
          <p:cNvPr id="4" name="Text 1"/>
          <p:cNvSpPr/>
          <p:nvPr>
            <p:ph idx="102" type="title" hasCustomPrompt="1"/>
          </p:nvPr>
        </p:nvSpPr>
        <p:spPr>
          <a:xfrm>
            <a:off x="548640" y="841248"/>
            <a:ext cx="11064240" cy="777240"/>
          </a:xfrm>
          <a:prstGeom prst="rect">
            <a:avLst/>
          </a:prstGeom>
          <a:noFill/>
          <a:ln/>
        </p:spPr>
        <p:txBody>
          <a:bodyPr wrap="square" lIns="0" tIns="0" rIns="0" bIns="0" rtlCol="0" anchor="ctr"/>
          <a:lstStyle/>
          <a:p>
            <a:pPr algn="l" indent="0" marL="0">
              <a:buNone/>
            </a:pPr>
            <a:r>
              <a:rPr lang="en-US" sz="3800" b="1" dirty="0">
                <a:solidFill>
                  <a:schemeClr val="tx1"/>
                </a:solidFill>
              </a:rPr>
              <a:t>All or nothing</a:t>
            </a:r>
            <a:endParaRPr lang="en-US" sz="3800" dirty="0"/>
          </a:p>
        </p:txBody>
      </p:sp>
      <p:sp>
        <p:nvSpPr>
          <p:cNvPr id="5" name="Text 1"/>
          <p:cNvSpPr/>
          <p:nvPr>
            <p:ph idx="103" type="body" hasCustomPrompt="1"/>
          </p:nvPr>
        </p:nvSpPr>
        <p:spPr>
          <a:xfrm>
            <a:off x="548640" y="1627632"/>
            <a:ext cx="11064240" cy="457200"/>
          </a:xfrm>
          <a:prstGeom prst="rect">
            <a:avLst/>
          </a:prstGeom>
          <a:noFill/>
          <a:ln/>
        </p:spPr>
        <p:txBody>
          <a:bodyPr wrap="square" lIns="0" tIns="0" rIns="0" bIns="0" rtlCol="0" anchor="t"/>
          <a:lstStyle/>
          <a:p>
            <a:pPr indent="0" marL="0">
              <a:buNone/>
            </a:pPr>
            <a:r>
              <a:rPr lang="en-US" sz="2000" dirty="0">
                <a:solidFill>
                  <a:schemeClr val="tx2"/>
                </a:solidFill>
              </a:rPr>
              <a:t>Atomicity · Consistency · Isolation · Durability</a:t>
            </a:r>
            <a:endParaRPr lang="en-US" sz="2000" dirty="0"/>
          </a:p>
        </p:txBody>
      </p:sp>
      <p:sp>
        <p:nvSpPr>
          <p:cNvPr id="7" name="box-834"/>
          <p:cNvSpPr/>
          <p:nvPr/>
        </p:nvSpPr>
        <p:spPr>
          <a:xfrm>
            <a:off x="548640" y="2240280"/>
            <a:ext cx="5440680" cy="2514600"/>
          </a:xfrm>
          <a:prstGeom prst="roundRect">
            <a:avLst>
              <a:gd name="adj" fmla="val 2909"/>
            </a:avLst>
          </a:prstGeom>
          <a:solidFill>
            <a:schemeClr val="bg1"/>
          </a:solidFill>
          <a:ln w="25400">
            <a:solidFill>
              <a:schemeClr val="accent2"/>
            </a:solidFill>
            <a:prstDash val="solid"/>
          </a:ln>
          <a:effectLst>
            <a:outerShdw sx="100000" sy="100000" kx="0" ky="0" algn="bl" rotWithShape="0" blurRad="101600" dist="25400" dir="5400000">
              <a:srgbClr val="000000">
                <a:alpha val="8000"/>
              </a:srgbClr>
            </a:outerShdw>
          </a:effectLst>
        </p:spPr>
      </p:sp>
      <p:sp>
        <p:nvSpPr>
          <p:cNvPr id="8" name="text-835"/>
          <p:cNvSpPr txBox="1"/>
          <p:nvPr/>
        </p:nvSpPr>
        <p:spPr>
          <a:xfrm>
            <a:off x="822960" y="2331720"/>
            <a:ext cx="3657600" cy="411480"/>
          </a:xfrm>
          <a:prstGeom prst="rect">
            <a:avLst/>
          </a:prstGeom>
          <a:noFill/>
          <a:ln/>
        </p:spPr>
        <p:txBody>
          <a:bodyPr wrap="square" lIns="0" tIns="0" rIns="0" bIns="0" rtlCol="0" anchor="ctr"/>
          <a:lstStyle/>
          <a:p>
            <a:pPr algn="l" indent="0" marL="0">
              <a:buNone/>
            </a:pPr>
            <a:r>
              <a:rPr lang="en-US" sz="1500" b="1" dirty="0">
                <a:solidFill>
                  <a:schemeClr val="tx1"/>
                </a:solidFill>
                <a:latin typeface="Roboto Mono" pitchFamily="34" charset="0"/>
                <a:ea typeface="Roboto Mono" pitchFamily="34" charset="-122"/>
                <a:cs typeface="Roboto Mono" pitchFamily="34" charset="-120"/>
              </a:rPr>
              <a:t>BEGIN … COMMIT</a:t>
            </a:r>
            <a:endParaRPr lang="en-US" sz="1500" dirty="0"/>
          </a:p>
        </p:txBody>
      </p:sp>
      <p:sp>
        <p:nvSpPr>
          <p:cNvPr id="9" name="dot-836"/>
          <p:cNvSpPr/>
          <p:nvPr/>
        </p:nvSpPr>
        <p:spPr>
          <a:xfrm>
            <a:off x="5486400" y="2057400"/>
            <a:ext cx="457200" cy="457200"/>
          </a:xfrm>
          <a:prstGeom prst="ellipse">
            <a:avLst/>
          </a:prstGeom>
          <a:solidFill>
            <a:schemeClr val="accent2"/>
          </a:solidFill>
          <a:ln/>
        </p:spPr>
      </p:sp>
      <p:sp>
        <p:nvSpPr>
          <p:cNvPr id="10" name="box-837"/>
          <p:cNvSpPr/>
          <p:nvPr/>
        </p:nvSpPr>
        <p:spPr>
          <a:xfrm>
            <a:off x="822960" y="2926080"/>
            <a:ext cx="2286000" cy="594360"/>
          </a:xfrm>
          <a:prstGeom prst="roundRect">
            <a:avLst>
              <a:gd name="adj" fmla="val 18462"/>
            </a:avLst>
          </a:prstGeom>
          <a:solidFill>
            <a:schemeClr val="bg1"/>
          </a:solidFill>
          <a:ln w="12700">
            <a:solidFill>
              <a:schemeClr val="tx2"/>
            </a:solidFill>
            <a:prstDash val="solid"/>
          </a:ln>
        </p:spPr>
      </p:sp>
      <p:sp>
        <p:nvSpPr>
          <p:cNvPr id="11" name="text-838"/>
          <p:cNvSpPr txBox="1"/>
          <p:nvPr/>
        </p:nvSpPr>
        <p:spPr>
          <a:xfrm>
            <a:off x="896112" y="2926080"/>
            <a:ext cx="2139696" cy="594360"/>
          </a:xfrm>
          <a:prstGeom prst="rect">
            <a:avLst/>
          </a:prstGeom>
          <a:noFill/>
          <a:ln/>
        </p:spPr>
        <p:txBody>
          <a:bodyPr wrap="square" lIns="0" tIns="0" rIns="0" bIns="0" rtlCol="0" anchor="ctr"/>
          <a:lstStyle/>
          <a:p>
            <a:pPr algn="ctr" indent="0" marL="0">
              <a:buNone/>
            </a:pPr>
            <a:r>
              <a:rPr lang="en-US" sz="1400" b="1" dirty="0">
                <a:solidFill>
                  <a:schemeClr val="tx1"/>
                </a:solidFill>
              </a:rPr>
              <a:t>Account A  −₦5,000</a:t>
            </a:r>
            <a:endParaRPr lang="en-US" sz="1400" dirty="0"/>
          </a:p>
        </p:txBody>
      </p:sp>
      <p:sp>
        <p:nvSpPr>
          <p:cNvPr id="12" name="box-839"/>
          <p:cNvSpPr/>
          <p:nvPr/>
        </p:nvSpPr>
        <p:spPr>
          <a:xfrm>
            <a:off x="3429000" y="2926080"/>
            <a:ext cx="2286000" cy="594360"/>
          </a:xfrm>
          <a:prstGeom prst="roundRect">
            <a:avLst>
              <a:gd name="adj" fmla="val 18462"/>
            </a:avLst>
          </a:prstGeom>
          <a:solidFill>
            <a:schemeClr val="bg1"/>
          </a:solidFill>
          <a:ln w="12700">
            <a:solidFill>
              <a:schemeClr val="tx2"/>
            </a:solidFill>
            <a:prstDash val="solid"/>
          </a:ln>
        </p:spPr>
      </p:sp>
      <p:sp>
        <p:nvSpPr>
          <p:cNvPr id="13" name="text-840"/>
          <p:cNvSpPr txBox="1"/>
          <p:nvPr/>
        </p:nvSpPr>
        <p:spPr>
          <a:xfrm>
            <a:off x="3502152" y="2926080"/>
            <a:ext cx="2139696" cy="594360"/>
          </a:xfrm>
          <a:prstGeom prst="rect">
            <a:avLst/>
          </a:prstGeom>
          <a:noFill/>
          <a:ln/>
        </p:spPr>
        <p:txBody>
          <a:bodyPr wrap="square" lIns="0" tIns="0" rIns="0" bIns="0" rtlCol="0" anchor="ctr"/>
          <a:lstStyle/>
          <a:p>
            <a:pPr algn="ctr" indent="0" marL="0">
              <a:buNone/>
            </a:pPr>
            <a:r>
              <a:rPr lang="en-US" sz="1400" b="1" dirty="0">
                <a:solidFill>
                  <a:schemeClr val="tx1"/>
                </a:solidFill>
              </a:rPr>
              <a:t>Account B  +₦5,000</a:t>
            </a:r>
            <a:endParaRPr lang="en-US" sz="1400" dirty="0"/>
          </a:p>
        </p:txBody>
      </p:sp>
      <p:sp>
        <p:nvSpPr>
          <p:cNvPr id="14" name="line-841"/>
          <p:cNvSpPr/>
          <p:nvPr/>
        </p:nvSpPr>
        <p:spPr>
          <a:xfrm>
            <a:off x="3108960" y="3227832"/>
            <a:ext cx="320040" cy="91"/>
          </a:xfrm>
          <a:prstGeom prst="line">
            <a:avLst/>
          </a:prstGeom>
          <a:noFill/>
          <a:ln w="31750">
            <a:solidFill>
              <a:schemeClr val="accent3"/>
            </a:solidFill>
            <a:prstDash val="solid"/>
            <a:tailEnd type="triangle"/>
          </a:ln>
        </p:spPr>
      </p:sp>
      <p:sp>
        <p:nvSpPr>
          <p:cNvPr id="15" name="text-842"/>
          <p:cNvSpPr txBox="1"/>
          <p:nvPr/>
        </p:nvSpPr>
        <p:spPr>
          <a:xfrm>
            <a:off x="822960" y="3840480"/>
            <a:ext cx="4846320" cy="411480"/>
          </a:xfrm>
          <a:prstGeom prst="rect">
            <a:avLst/>
          </a:prstGeom>
          <a:noFill/>
          <a:ln/>
        </p:spPr>
        <p:txBody>
          <a:bodyPr wrap="square" lIns="0" tIns="0" rIns="0" bIns="0" rtlCol="0" anchor="ctr"/>
          <a:lstStyle/>
          <a:p>
            <a:pPr algn="ctr" indent="0" marL="0">
              <a:buNone/>
            </a:pPr>
            <a:r>
              <a:rPr lang="en-US" sz="1500" dirty="0">
                <a:solidFill>
                  <a:schemeClr val="tx2"/>
                </a:solidFill>
              </a:rPr>
              <a:t>both happen</a:t>
            </a:r>
            <a:endParaRPr lang="en-US" sz="1500" dirty="0"/>
          </a:p>
        </p:txBody>
      </p:sp>
      <p:sp>
        <p:nvSpPr>
          <p:cNvPr id="16" name="box-843"/>
          <p:cNvSpPr/>
          <p:nvPr/>
        </p:nvSpPr>
        <p:spPr>
          <a:xfrm>
            <a:off x="6172200" y="2240280"/>
            <a:ext cx="5440680" cy="2514600"/>
          </a:xfrm>
          <a:prstGeom prst="roundRect">
            <a:avLst>
              <a:gd name="adj" fmla="val 2909"/>
            </a:avLst>
          </a:prstGeom>
          <a:solidFill>
            <a:schemeClr val="bg1"/>
          </a:solidFill>
          <a:ln w="25400">
            <a:solidFill>
              <a:schemeClr val="accent1"/>
            </a:solidFill>
            <a:prstDash val="solid"/>
          </a:ln>
          <a:effectLst>
            <a:outerShdw sx="100000" sy="100000" kx="0" ky="0" algn="bl" rotWithShape="0" blurRad="101600" dist="25400" dir="5400000">
              <a:srgbClr val="000000">
                <a:alpha val="8000"/>
              </a:srgbClr>
            </a:outerShdw>
          </a:effectLst>
        </p:spPr>
      </p:sp>
      <p:sp>
        <p:nvSpPr>
          <p:cNvPr id="17" name="text-844"/>
          <p:cNvSpPr txBox="1"/>
          <p:nvPr/>
        </p:nvSpPr>
        <p:spPr>
          <a:xfrm>
            <a:off x="6446520" y="2331720"/>
            <a:ext cx="4572000" cy="411480"/>
          </a:xfrm>
          <a:prstGeom prst="rect">
            <a:avLst/>
          </a:prstGeom>
          <a:noFill/>
          <a:ln/>
        </p:spPr>
        <p:txBody>
          <a:bodyPr wrap="square" lIns="0" tIns="0" rIns="0" bIns="0" rtlCol="0" anchor="ctr"/>
          <a:lstStyle/>
          <a:p>
            <a:pPr algn="l" indent="0" marL="0">
              <a:buNone/>
            </a:pPr>
            <a:r>
              <a:rPr lang="en-US" sz="1500" b="1" dirty="0">
                <a:solidFill>
                  <a:schemeClr val="tx1"/>
                </a:solidFill>
              </a:rPr>
              <a:t>debit done, credit fails</a:t>
            </a:r>
            <a:endParaRPr lang="en-US" sz="1500" dirty="0"/>
          </a:p>
        </p:txBody>
      </p:sp>
      <p:sp>
        <p:nvSpPr>
          <p:cNvPr id="18" name="dot-845"/>
          <p:cNvSpPr/>
          <p:nvPr/>
        </p:nvSpPr>
        <p:spPr>
          <a:xfrm>
            <a:off x="11109960" y="2057400"/>
            <a:ext cx="457200" cy="457200"/>
          </a:xfrm>
          <a:prstGeom prst="ellipse">
            <a:avLst/>
          </a:prstGeom>
          <a:solidFill>
            <a:schemeClr val="accent1"/>
          </a:solidFill>
          <a:ln/>
        </p:spPr>
      </p:sp>
      <p:sp>
        <p:nvSpPr>
          <p:cNvPr id="19" name="box-846"/>
          <p:cNvSpPr/>
          <p:nvPr/>
        </p:nvSpPr>
        <p:spPr>
          <a:xfrm>
            <a:off x="6446520" y="2926080"/>
            <a:ext cx="2286000" cy="594360"/>
          </a:xfrm>
          <a:prstGeom prst="roundRect">
            <a:avLst>
              <a:gd name="adj" fmla="val 18462"/>
            </a:avLst>
          </a:prstGeom>
          <a:solidFill>
            <a:schemeClr val="bg1"/>
          </a:solidFill>
          <a:ln w="12700">
            <a:solidFill>
              <a:schemeClr val="tx2"/>
            </a:solidFill>
            <a:prstDash val="solid"/>
          </a:ln>
        </p:spPr>
      </p:sp>
      <p:sp>
        <p:nvSpPr>
          <p:cNvPr id="20" name="text-847"/>
          <p:cNvSpPr txBox="1"/>
          <p:nvPr/>
        </p:nvSpPr>
        <p:spPr>
          <a:xfrm>
            <a:off x="6519672" y="2926080"/>
            <a:ext cx="2139696" cy="594360"/>
          </a:xfrm>
          <a:prstGeom prst="rect">
            <a:avLst/>
          </a:prstGeom>
          <a:noFill/>
          <a:ln/>
        </p:spPr>
        <p:txBody>
          <a:bodyPr wrap="square" lIns="0" tIns="0" rIns="0" bIns="0" rtlCol="0" anchor="ctr"/>
          <a:lstStyle/>
          <a:p>
            <a:pPr algn="ctr" indent="0" marL="0">
              <a:buNone/>
            </a:pPr>
            <a:r>
              <a:rPr lang="en-US" sz="1400" b="1" dirty="0">
                <a:solidFill>
                  <a:schemeClr val="tx1"/>
                </a:solidFill>
              </a:rPr>
              <a:t>Account A  −₦5,000</a:t>
            </a:r>
            <a:endParaRPr lang="en-US" sz="1400" dirty="0"/>
          </a:p>
        </p:txBody>
      </p:sp>
      <p:sp>
        <p:nvSpPr>
          <p:cNvPr id="21" name="box-848"/>
          <p:cNvSpPr/>
          <p:nvPr/>
        </p:nvSpPr>
        <p:spPr>
          <a:xfrm>
            <a:off x="9052560" y="2926080"/>
            <a:ext cx="2286000" cy="594360"/>
          </a:xfrm>
          <a:prstGeom prst="roundRect">
            <a:avLst>
              <a:gd name="adj" fmla="val 18462"/>
            </a:avLst>
          </a:prstGeom>
          <a:solidFill>
            <a:schemeClr val="bg1"/>
          </a:solidFill>
          <a:ln w="12700">
            <a:solidFill>
              <a:schemeClr val="accent1"/>
            </a:solidFill>
            <a:prstDash val="dash"/>
          </a:ln>
        </p:spPr>
      </p:sp>
      <p:sp>
        <p:nvSpPr>
          <p:cNvPr id="22" name="text-849"/>
          <p:cNvSpPr txBox="1"/>
          <p:nvPr/>
        </p:nvSpPr>
        <p:spPr>
          <a:xfrm>
            <a:off x="9125712" y="2926080"/>
            <a:ext cx="2139696" cy="594360"/>
          </a:xfrm>
          <a:prstGeom prst="rect">
            <a:avLst/>
          </a:prstGeom>
          <a:noFill/>
          <a:ln/>
        </p:spPr>
        <p:txBody>
          <a:bodyPr wrap="square" lIns="0" tIns="0" rIns="0" bIns="0" rtlCol="0" anchor="ctr"/>
          <a:lstStyle/>
          <a:p>
            <a:pPr algn="ctr" indent="0" marL="0">
              <a:buNone/>
            </a:pPr>
            <a:r>
              <a:rPr lang="en-US" sz="1400" b="1" dirty="0">
                <a:solidFill>
                  <a:schemeClr val="tx1"/>
                </a:solidFill>
              </a:rPr>
              <a:t>Account B  ✗</a:t>
            </a:r>
            <a:endParaRPr lang="en-US" sz="1400" dirty="0"/>
          </a:p>
        </p:txBody>
      </p:sp>
      <p:sp>
        <p:nvSpPr>
          <p:cNvPr id="23" name="line-850"/>
          <p:cNvSpPr/>
          <p:nvPr/>
        </p:nvSpPr>
        <p:spPr>
          <a:xfrm>
            <a:off x="7589520" y="3520440"/>
            <a:ext cx="91" cy="594360"/>
          </a:xfrm>
          <a:prstGeom prst="line">
            <a:avLst/>
          </a:prstGeom>
          <a:noFill/>
          <a:ln w="31750">
            <a:solidFill>
              <a:schemeClr val="accent1"/>
            </a:solidFill>
            <a:prstDash val="solid"/>
          </a:ln>
        </p:spPr>
      </p:sp>
      <p:sp>
        <p:nvSpPr>
          <p:cNvPr id="24" name="line-851"/>
          <p:cNvSpPr/>
          <p:nvPr/>
        </p:nvSpPr>
        <p:spPr>
          <a:xfrm flipH="1">
            <a:off x="6629400" y="4114800"/>
            <a:ext cx="960120" cy="91"/>
          </a:xfrm>
          <a:prstGeom prst="line">
            <a:avLst/>
          </a:prstGeom>
          <a:noFill/>
          <a:ln w="31750">
            <a:solidFill>
              <a:schemeClr val="accent1"/>
            </a:solidFill>
            <a:prstDash val="solid"/>
          </a:ln>
        </p:spPr>
      </p:sp>
      <p:sp>
        <p:nvSpPr>
          <p:cNvPr id="25" name="line-852"/>
          <p:cNvSpPr/>
          <p:nvPr/>
        </p:nvSpPr>
        <p:spPr>
          <a:xfrm flipV="1">
            <a:off x="6629400" y="3520440"/>
            <a:ext cx="91" cy="594360"/>
          </a:xfrm>
          <a:prstGeom prst="line">
            <a:avLst/>
          </a:prstGeom>
          <a:noFill/>
          <a:ln w="31750">
            <a:solidFill>
              <a:schemeClr val="accent1"/>
            </a:solidFill>
            <a:prstDash val="solid"/>
            <a:tailEnd type="triangle"/>
          </a:ln>
        </p:spPr>
      </p:sp>
      <p:sp>
        <p:nvSpPr>
          <p:cNvPr id="26" name="text-853"/>
          <p:cNvSpPr txBox="1"/>
          <p:nvPr/>
        </p:nvSpPr>
        <p:spPr>
          <a:xfrm>
            <a:off x="7726680" y="3931920"/>
            <a:ext cx="2743200" cy="411480"/>
          </a:xfrm>
          <a:prstGeom prst="rect">
            <a:avLst/>
          </a:prstGeom>
          <a:noFill/>
          <a:ln/>
        </p:spPr>
        <p:txBody>
          <a:bodyPr wrap="square" lIns="0" tIns="0" rIns="0" bIns="0" rtlCol="0" anchor="ctr"/>
          <a:lstStyle/>
          <a:p>
            <a:pPr algn="l" indent="0" marL="0">
              <a:buNone/>
            </a:pPr>
            <a:r>
              <a:rPr lang="en-US" sz="1500" b="1" dirty="0">
                <a:solidFill>
                  <a:schemeClr val="tx1"/>
                </a:solidFill>
              </a:rPr>
              <a:t>ROLLBACK undoes it</a:t>
            </a:r>
            <a:endParaRPr lang="en-US" sz="1500" dirty="0"/>
          </a:p>
        </p:txBody>
      </p:sp>
      <p:sp>
        <p:nvSpPr>
          <p:cNvPr id="27" name="box-854"/>
          <p:cNvSpPr/>
          <p:nvPr/>
        </p:nvSpPr>
        <p:spPr>
          <a:xfrm>
            <a:off x="548640" y="4983480"/>
            <a:ext cx="2651760" cy="1188720"/>
          </a:xfrm>
          <a:prstGeom prst="roundRect">
            <a:avLst>
              <a:gd name="adj" fmla="val 6154"/>
            </a:avLst>
          </a:prstGeom>
          <a:solidFill>
            <a:schemeClr val="tx1"/>
          </a:solidFill>
          <a:ln w="12700">
            <a:solidFill>
              <a:schemeClr val="tx1"/>
            </a:solidFill>
            <a:prstDash val="solid"/>
          </a:ln>
          <a:effectLst>
            <a:outerShdw sx="100000" sy="100000" kx="0" ky="0" algn="bl" rotWithShape="0" blurRad="101600" dist="25400" dir="5400000">
              <a:srgbClr val="000000">
                <a:alpha val="8000"/>
              </a:srgbClr>
            </a:outerShdw>
          </a:effectLst>
        </p:spPr>
      </p:sp>
      <p:sp>
        <p:nvSpPr>
          <p:cNvPr id="28" name="text-855"/>
          <p:cNvSpPr txBox="1"/>
          <p:nvPr/>
        </p:nvSpPr>
        <p:spPr>
          <a:xfrm>
            <a:off x="731520" y="4983480"/>
            <a:ext cx="731520" cy="1188720"/>
          </a:xfrm>
          <a:prstGeom prst="rect">
            <a:avLst/>
          </a:prstGeom>
          <a:noFill/>
          <a:ln/>
        </p:spPr>
        <p:txBody>
          <a:bodyPr wrap="square" lIns="0" tIns="0" rIns="0" bIns="0" rtlCol="0" anchor="ctr"/>
          <a:lstStyle/>
          <a:p>
            <a:pPr algn="l" indent="0" marL="0">
              <a:buNone/>
            </a:pPr>
            <a:r>
              <a:rPr lang="en-US" sz="4400" b="1" dirty="0">
                <a:solidFill>
                  <a:schemeClr val="accent2"/>
                </a:solidFill>
              </a:rPr>
              <a:t>A</a:t>
            </a:r>
            <a:endParaRPr lang="en-US" sz="4400" dirty="0"/>
          </a:p>
        </p:txBody>
      </p:sp>
      <p:sp>
        <p:nvSpPr>
          <p:cNvPr id="29" name="text-856"/>
          <p:cNvSpPr txBox="1"/>
          <p:nvPr/>
        </p:nvSpPr>
        <p:spPr>
          <a:xfrm>
            <a:off x="1463040" y="5120640"/>
            <a:ext cx="1645920" cy="411480"/>
          </a:xfrm>
          <a:prstGeom prst="rect">
            <a:avLst/>
          </a:prstGeom>
          <a:noFill/>
          <a:ln/>
        </p:spPr>
        <p:txBody>
          <a:bodyPr wrap="square" lIns="0" tIns="0" rIns="0" bIns="0" rtlCol="0" anchor="ctr"/>
          <a:lstStyle/>
          <a:p>
            <a:pPr algn="l" indent="0" marL="0">
              <a:buNone/>
            </a:pPr>
            <a:r>
              <a:rPr lang="en-US" sz="1500" b="1" dirty="0">
                <a:solidFill>
                  <a:schemeClr val="bg1"/>
                </a:solidFill>
              </a:rPr>
              <a:t>Atomicity</a:t>
            </a:r>
            <a:endParaRPr lang="en-US" sz="1500" dirty="0"/>
          </a:p>
        </p:txBody>
      </p:sp>
      <p:sp>
        <p:nvSpPr>
          <p:cNvPr id="30" name="text-857"/>
          <p:cNvSpPr txBox="1"/>
          <p:nvPr/>
        </p:nvSpPr>
        <p:spPr>
          <a:xfrm>
            <a:off x="1463040" y="5532120"/>
            <a:ext cx="1645920" cy="411480"/>
          </a:xfrm>
          <a:prstGeom prst="rect">
            <a:avLst/>
          </a:prstGeom>
          <a:noFill/>
          <a:ln/>
        </p:spPr>
        <p:txBody>
          <a:bodyPr wrap="square" lIns="0" tIns="0" rIns="0" bIns="0" rtlCol="0" anchor="ctr"/>
          <a:lstStyle/>
          <a:p>
            <a:pPr algn="l" indent="0" marL="0">
              <a:buNone/>
            </a:pPr>
            <a:r>
              <a:rPr lang="en-US" sz="1200" dirty="0">
                <a:solidFill>
                  <a:schemeClr val="bg1"/>
                </a:solidFill>
              </a:rPr>
              <a:t>all or nothing</a:t>
            </a:r>
            <a:endParaRPr lang="en-US" sz="1200" dirty="0"/>
          </a:p>
        </p:txBody>
      </p:sp>
      <p:sp>
        <p:nvSpPr>
          <p:cNvPr id="31" name="box-858"/>
          <p:cNvSpPr/>
          <p:nvPr/>
        </p:nvSpPr>
        <p:spPr>
          <a:xfrm>
            <a:off x="3360420" y="4983480"/>
            <a:ext cx="2651760" cy="1188720"/>
          </a:xfrm>
          <a:prstGeom prst="roundRect">
            <a:avLst>
              <a:gd name="adj" fmla="val 6154"/>
            </a:avLst>
          </a:prstGeom>
          <a:solidFill>
            <a:schemeClr val="tx1"/>
          </a:solidFill>
          <a:ln w="12700">
            <a:solidFill>
              <a:schemeClr val="tx1"/>
            </a:solidFill>
            <a:prstDash val="solid"/>
          </a:ln>
          <a:effectLst>
            <a:outerShdw sx="100000" sy="100000" kx="0" ky="0" algn="bl" rotWithShape="0" blurRad="101600" dist="25400" dir="5400000">
              <a:srgbClr val="000000">
                <a:alpha val="8000"/>
              </a:srgbClr>
            </a:outerShdw>
          </a:effectLst>
        </p:spPr>
      </p:sp>
      <p:sp>
        <p:nvSpPr>
          <p:cNvPr id="32" name="text-859"/>
          <p:cNvSpPr txBox="1"/>
          <p:nvPr/>
        </p:nvSpPr>
        <p:spPr>
          <a:xfrm>
            <a:off x="3543300" y="4983480"/>
            <a:ext cx="731520" cy="1188720"/>
          </a:xfrm>
          <a:prstGeom prst="rect">
            <a:avLst/>
          </a:prstGeom>
          <a:noFill/>
          <a:ln/>
        </p:spPr>
        <p:txBody>
          <a:bodyPr wrap="square" lIns="0" tIns="0" rIns="0" bIns="0" rtlCol="0" anchor="ctr"/>
          <a:lstStyle/>
          <a:p>
            <a:pPr algn="l" indent="0" marL="0">
              <a:buNone/>
            </a:pPr>
            <a:r>
              <a:rPr lang="en-US" sz="4400" b="1" dirty="0">
                <a:solidFill>
                  <a:schemeClr val="accent2"/>
                </a:solidFill>
              </a:rPr>
              <a:t>C</a:t>
            </a:r>
            <a:endParaRPr lang="en-US" sz="4400" dirty="0"/>
          </a:p>
        </p:txBody>
      </p:sp>
      <p:sp>
        <p:nvSpPr>
          <p:cNvPr id="33" name="text-860"/>
          <p:cNvSpPr txBox="1"/>
          <p:nvPr/>
        </p:nvSpPr>
        <p:spPr>
          <a:xfrm>
            <a:off x="4274820" y="5120640"/>
            <a:ext cx="1645920" cy="411480"/>
          </a:xfrm>
          <a:prstGeom prst="rect">
            <a:avLst/>
          </a:prstGeom>
          <a:noFill/>
          <a:ln/>
        </p:spPr>
        <p:txBody>
          <a:bodyPr wrap="square" lIns="0" tIns="0" rIns="0" bIns="0" rtlCol="0" anchor="ctr"/>
          <a:lstStyle/>
          <a:p>
            <a:pPr algn="l" indent="0" marL="0">
              <a:buNone/>
            </a:pPr>
            <a:r>
              <a:rPr lang="en-US" sz="1500" b="1" dirty="0">
                <a:solidFill>
                  <a:schemeClr val="bg1"/>
                </a:solidFill>
              </a:rPr>
              <a:t>Consistency</a:t>
            </a:r>
            <a:endParaRPr lang="en-US" sz="1500" dirty="0"/>
          </a:p>
        </p:txBody>
      </p:sp>
      <p:sp>
        <p:nvSpPr>
          <p:cNvPr id="34" name="text-861"/>
          <p:cNvSpPr txBox="1"/>
          <p:nvPr/>
        </p:nvSpPr>
        <p:spPr>
          <a:xfrm>
            <a:off x="4274820" y="5532120"/>
            <a:ext cx="1645920" cy="411480"/>
          </a:xfrm>
          <a:prstGeom prst="rect">
            <a:avLst/>
          </a:prstGeom>
          <a:noFill/>
          <a:ln/>
        </p:spPr>
        <p:txBody>
          <a:bodyPr wrap="square" lIns="0" tIns="0" rIns="0" bIns="0" rtlCol="0" anchor="ctr"/>
          <a:lstStyle/>
          <a:p>
            <a:pPr algn="l" indent="0" marL="0">
              <a:buNone/>
            </a:pPr>
            <a:r>
              <a:rPr lang="en-US" sz="1200" dirty="0">
                <a:solidFill>
                  <a:schemeClr val="bg1"/>
                </a:solidFill>
              </a:rPr>
              <a:t>rules hold</a:t>
            </a:r>
            <a:endParaRPr lang="en-US" sz="1200" dirty="0"/>
          </a:p>
        </p:txBody>
      </p:sp>
      <p:sp>
        <p:nvSpPr>
          <p:cNvPr id="35" name="box-862"/>
          <p:cNvSpPr/>
          <p:nvPr/>
        </p:nvSpPr>
        <p:spPr>
          <a:xfrm>
            <a:off x="6172200" y="4983480"/>
            <a:ext cx="2651760" cy="1188720"/>
          </a:xfrm>
          <a:prstGeom prst="roundRect">
            <a:avLst>
              <a:gd name="adj" fmla="val 6154"/>
            </a:avLst>
          </a:prstGeom>
          <a:solidFill>
            <a:schemeClr val="tx1"/>
          </a:solidFill>
          <a:ln w="12700">
            <a:solidFill>
              <a:schemeClr val="tx1"/>
            </a:solidFill>
            <a:prstDash val="solid"/>
          </a:ln>
          <a:effectLst>
            <a:outerShdw sx="100000" sy="100000" kx="0" ky="0" algn="bl" rotWithShape="0" blurRad="101600" dist="25400" dir="5400000">
              <a:srgbClr val="000000">
                <a:alpha val="8000"/>
              </a:srgbClr>
            </a:outerShdw>
          </a:effectLst>
        </p:spPr>
      </p:sp>
      <p:sp>
        <p:nvSpPr>
          <p:cNvPr id="36" name="text-863"/>
          <p:cNvSpPr txBox="1"/>
          <p:nvPr/>
        </p:nvSpPr>
        <p:spPr>
          <a:xfrm>
            <a:off x="6355080" y="4983480"/>
            <a:ext cx="731520" cy="1188720"/>
          </a:xfrm>
          <a:prstGeom prst="rect">
            <a:avLst/>
          </a:prstGeom>
          <a:noFill/>
          <a:ln/>
        </p:spPr>
        <p:txBody>
          <a:bodyPr wrap="square" lIns="0" tIns="0" rIns="0" bIns="0" rtlCol="0" anchor="ctr"/>
          <a:lstStyle/>
          <a:p>
            <a:pPr algn="l" indent="0" marL="0">
              <a:buNone/>
            </a:pPr>
            <a:r>
              <a:rPr lang="en-US" sz="4400" b="1" dirty="0">
                <a:solidFill>
                  <a:schemeClr val="accent2"/>
                </a:solidFill>
              </a:rPr>
              <a:t>I</a:t>
            </a:r>
            <a:endParaRPr lang="en-US" sz="4400" dirty="0"/>
          </a:p>
        </p:txBody>
      </p:sp>
      <p:sp>
        <p:nvSpPr>
          <p:cNvPr id="37" name="text-864"/>
          <p:cNvSpPr txBox="1"/>
          <p:nvPr/>
        </p:nvSpPr>
        <p:spPr>
          <a:xfrm>
            <a:off x="7086600" y="5120640"/>
            <a:ext cx="1645920" cy="411480"/>
          </a:xfrm>
          <a:prstGeom prst="rect">
            <a:avLst/>
          </a:prstGeom>
          <a:noFill/>
          <a:ln/>
        </p:spPr>
        <p:txBody>
          <a:bodyPr wrap="square" lIns="0" tIns="0" rIns="0" bIns="0" rtlCol="0" anchor="ctr"/>
          <a:lstStyle/>
          <a:p>
            <a:pPr algn="l" indent="0" marL="0">
              <a:buNone/>
            </a:pPr>
            <a:r>
              <a:rPr lang="en-US" sz="1500" b="1" dirty="0">
                <a:solidFill>
                  <a:schemeClr val="bg1"/>
                </a:solidFill>
              </a:rPr>
              <a:t>Isolation</a:t>
            </a:r>
            <a:endParaRPr lang="en-US" sz="1500" dirty="0"/>
          </a:p>
        </p:txBody>
      </p:sp>
      <p:sp>
        <p:nvSpPr>
          <p:cNvPr id="38" name="text-865"/>
          <p:cNvSpPr txBox="1"/>
          <p:nvPr/>
        </p:nvSpPr>
        <p:spPr>
          <a:xfrm>
            <a:off x="7086600" y="5532120"/>
            <a:ext cx="1645920" cy="411480"/>
          </a:xfrm>
          <a:prstGeom prst="rect">
            <a:avLst/>
          </a:prstGeom>
          <a:noFill/>
          <a:ln/>
        </p:spPr>
        <p:txBody>
          <a:bodyPr wrap="square" lIns="0" tIns="0" rIns="0" bIns="0" rtlCol="0" anchor="ctr"/>
          <a:lstStyle/>
          <a:p>
            <a:pPr algn="l" indent="0" marL="0">
              <a:buNone/>
            </a:pPr>
            <a:r>
              <a:rPr lang="en-US" sz="1200" dirty="0">
                <a:solidFill>
                  <a:schemeClr val="bg1"/>
                </a:solidFill>
              </a:rPr>
              <a:t>no half-seen work</a:t>
            </a:r>
            <a:endParaRPr lang="en-US" sz="1200" dirty="0"/>
          </a:p>
        </p:txBody>
      </p:sp>
      <p:sp>
        <p:nvSpPr>
          <p:cNvPr id="39" name="box-866"/>
          <p:cNvSpPr/>
          <p:nvPr/>
        </p:nvSpPr>
        <p:spPr>
          <a:xfrm>
            <a:off x="8983980" y="4983480"/>
            <a:ext cx="2651760" cy="1188720"/>
          </a:xfrm>
          <a:prstGeom prst="roundRect">
            <a:avLst>
              <a:gd name="adj" fmla="val 6154"/>
            </a:avLst>
          </a:prstGeom>
          <a:solidFill>
            <a:schemeClr val="tx1"/>
          </a:solidFill>
          <a:ln w="12700">
            <a:solidFill>
              <a:schemeClr val="tx1"/>
            </a:solidFill>
            <a:prstDash val="solid"/>
          </a:ln>
          <a:effectLst>
            <a:outerShdw sx="100000" sy="100000" kx="0" ky="0" algn="bl" rotWithShape="0" blurRad="101600" dist="25400" dir="5400000">
              <a:srgbClr val="000000">
                <a:alpha val="8000"/>
              </a:srgbClr>
            </a:outerShdw>
          </a:effectLst>
        </p:spPr>
      </p:sp>
      <p:sp>
        <p:nvSpPr>
          <p:cNvPr id="40" name="text-867"/>
          <p:cNvSpPr txBox="1"/>
          <p:nvPr/>
        </p:nvSpPr>
        <p:spPr>
          <a:xfrm>
            <a:off x="9166860" y="4983480"/>
            <a:ext cx="731520" cy="1188720"/>
          </a:xfrm>
          <a:prstGeom prst="rect">
            <a:avLst/>
          </a:prstGeom>
          <a:noFill/>
          <a:ln/>
        </p:spPr>
        <p:txBody>
          <a:bodyPr wrap="square" lIns="0" tIns="0" rIns="0" bIns="0" rtlCol="0" anchor="ctr"/>
          <a:lstStyle/>
          <a:p>
            <a:pPr algn="l" indent="0" marL="0">
              <a:buNone/>
            </a:pPr>
            <a:r>
              <a:rPr lang="en-US" sz="4400" b="1" dirty="0">
                <a:solidFill>
                  <a:schemeClr val="accent2"/>
                </a:solidFill>
              </a:rPr>
              <a:t>D</a:t>
            </a:r>
            <a:endParaRPr lang="en-US" sz="4400" dirty="0"/>
          </a:p>
        </p:txBody>
      </p:sp>
      <p:sp>
        <p:nvSpPr>
          <p:cNvPr id="41" name="text-868"/>
          <p:cNvSpPr txBox="1"/>
          <p:nvPr/>
        </p:nvSpPr>
        <p:spPr>
          <a:xfrm>
            <a:off x="9898380" y="5120640"/>
            <a:ext cx="1645920" cy="411480"/>
          </a:xfrm>
          <a:prstGeom prst="rect">
            <a:avLst/>
          </a:prstGeom>
          <a:noFill/>
          <a:ln/>
        </p:spPr>
        <p:txBody>
          <a:bodyPr wrap="square" lIns="0" tIns="0" rIns="0" bIns="0" rtlCol="0" anchor="ctr"/>
          <a:lstStyle/>
          <a:p>
            <a:pPr algn="l" indent="0" marL="0">
              <a:buNone/>
            </a:pPr>
            <a:r>
              <a:rPr lang="en-US" sz="1500" b="1" dirty="0">
                <a:solidFill>
                  <a:schemeClr val="bg1"/>
                </a:solidFill>
              </a:rPr>
              <a:t>Durability</a:t>
            </a:r>
            <a:endParaRPr lang="en-US" sz="1500" dirty="0"/>
          </a:p>
        </p:txBody>
      </p:sp>
      <p:sp>
        <p:nvSpPr>
          <p:cNvPr id="42" name="text-869"/>
          <p:cNvSpPr txBox="1"/>
          <p:nvPr/>
        </p:nvSpPr>
        <p:spPr>
          <a:xfrm>
            <a:off x="9898380" y="5532120"/>
            <a:ext cx="1645920" cy="411480"/>
          </a:xfrm>
          <a:prstGeom prst="rect">
            <a:avLst/>
          </a:prstGeom>
          <a:noFill/>
          <a:ln/>
        </p:spPr>
        <p:txBody>
          <a:bodyPr wrap="square" lIns="0" tIns="0" rIns="0" bIns="0" rtlCol="0" anchor="ctr"/>
          <a:lstStyle/>
          <a:p>
            <a:pPr algn="l" indent="0" marL="0">
              <a:buNone/>
            </a:pPr>
            <a:r>
              <a:rPr lang="en-US" sz="1200" dirty="0">
                <a:solidFill>
                  <a:schemeClr val="bg1"/>
                </a:solidFill>
              </a:rPr>
              <a:t>survives a crash</a:t>
            </a:r>
            <a:endParaRPr lang="en-US" sz="1200" dirty="0"/>
          </a:p>
        </p:txBody>
      </p:sp>
      <p:pic>
        <p:nvPicPr>
          <p:cNvPr id="43" name="Image 0" descr="ShieldAlt icon">    </p:cNvPr>
          <p:cNvPicPr>
            <a:picLocks noChangeAspect="1"/>
          </p:cNvPicPr>
          <p:nvPr/>
        </p:nvPicPr>
        <p:blipFill>
          <a:blip r:embed="rId1"/>
          <a:stretch>
            <a:fillRect/>
          </a:stretch>
        </p:blipFill>
        <p:spPr>
          <a:xfrm>
            <a:off x="640812" y="476220"/>
            <a:ext cx="199705" cy="199705"/>
          </a:xfrm>
          <a:prstGeom prst="rect">
            <a:avLst/>
          </a:prstGeom>
        </p:spPr>
      </p:pic>
      <p:pic>
        <p:nvPicPr>
          <p:cNvPr id="44" name="Image 1" descr="Check icon">    </p:cNvPr>
          <p:cNvPicPr>
            <a:picLocks noChangeAspect="1"/>
          </p:cNvPicPr>
          <p:nvPr/>
        </p:nvPicPr>
        <p:blipFill>
          <a:blip r:embed="rId2"/>
          <a:stretch>
            <a:fillRect/>
          </a:stretch>
        </p:blipFill>
        <p:spPr>
          <a:xfrm>
            <a:off x="5596128" y="2167128"/>
            <a:ext cx="237744" cy="237744"/>
          </a:xfrm>
          <a:prstGeom prst="rect">
            <a:avLst/>
          </a:prstGeom>
        </p:spPr>
      </p:pic>
      <p:pic>
        <p:nvPicPr>
          <p:cNvPr id="45" name="Image 2" descr="Times icon">    </p:cNvPr>
          <p:cNvPicPr>
            <a:picLocks noChangeAspect="1"/>
          </p:cNvPicPr>
          <p:nvPr/>
        </p:nvPicPr>
        <p:blipFill>
          <a:blip r:embed="rId3"/>
          <a:stretch>
            <a:fillRect/>
          </a:stretch>
        </p:blipFill>
        <p:spPr>
          <a:xfrm>
            <a:off x="11219688" y="2167128"/>
            <a:ext cx="237744" cy="237744"/>
          </a:xfrm>
          <a:prstGeom prst="rect">
            <a:avLst/>
          </a:prstGeom>
        </p:spPr>
      </p:pic>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dot-870"/>
          <p:cNvSpPr/>
          <p:nvPr/>
        </p:nvSpPr>
        <p:spPr>
          <a:xfrm>
            <a:off x="548640" y="384048"/>
            <a:ext cx="384048" cy="384048"/>
          </a:xfrm>
          <a:prstGeom prst="ellipse">
            <a:avLst/>
          </a:prstGeom>
          <a:solidFill>
            <a:schemeClr val="tx1"/>
          </a:solidFill>
          <a:ln/>
        </p:spPr>
      </p:sp>
      <p:sp>
        <p:nvSpPr>
          <p:cNvPr id="3" name="Text 1"/>
          <p:cNvSpPr/>
          <p:nvPr>
            <p:ph idx="101" type="body" hasCustomPrompt="1"/>
          </p:nvPr>
        </p:nvSpPr>
        <p:spPr>
          <a:xfrm>
            <a:off x="1051560" y="384048"/>
            <a:ext cx="9601200" cy="384048"/>
          </a:xfrm>
          <a:prstGeom prst="rect">
            <a:avLst/>
          </a:prstGeom>
          <a:noFill/>
          <a:ln/>
        </p:spPr>
        <p:txBody>
          <a:bodyPr wrap="square" lIns="0" tIns="0" rIns="0" bIns="0" rtlCol="0" anchor="ctr"/>
          <a:lstStyle/>
          <a:p>
            <a:pPr indent="0" marL="0">
              <a:buNone/>
            </a:pPr>
            <a:r>
              <a:rPr lang="en-US" sz="1300" b="1" spc="300" kern="0" dirty="0">
                <a:solidFill>
                  <a:schemeClr val="tx2"/>
                </a:solidFill>
              </a:rPr>
              <a:t>L3  ·  SAFETY  ·  3.10 TRANSACTIONS</a:t>
            </a:r>
            <a:endParaRPr lang="en-US" sz="1300" dirty="0"/>
          </a:p>
        </p:txBody>
      </p:sp>
      <p:sp>
        <p:nvSpPr>
          <p:cNvPr id="4" name="Text 1"/>
          <p:cNvSpPr/>
          <p:nvPr>
            <p:ph idx="102" type="title" hasCustomPrompt="1"/>
          </p:nvPr>
        </p:nvSpPr>
        <p:spPr>
          <a:xfrm>
            <a:off x="548640" y="841248"/>
            <a:ext cx="11064240" cy="777240"/>
          </a:xfrm>
          <a:prstGeom prst="rect">
            <a:avLst/>
          </a:prstGeom>
          <a:noFill/>
          <a:ln/>
        </p:spPr>
        <p:txBody>
          <a:bodyPr wrap="square" lIns="0" tIns="0" rIns="0" bIns="0" rtlCol="0" anchor="ctr"/>
          <a:lstStyle/>
          <a:p>
            <a:pPr algn="l" indent="0" marL="0">
              <a:buNone/>
            </a:pPr>
            <a:r>
              <a:rPr lang="en-US" sz="3800" b="1" dirty="0">
                <a:solidFill>
                  <a:schemeClr val="tx1"/>
                </a:solidFill>
              </a:rPr>
              <a:t>One client. One transaction.</a:t>
            </a:r>
            <a:endParaRPr lang="en-US" sz="3800" dirty="0"/>
          </a:p>
        </p:txBody>
      </p:sp>
      <p:sp>
        <p:nvSpPr>
          <p:cNvPr id="5" name="Text 1"/>
          <p:cNvSpPr/>
          <p:nvPr>
            <p:ph idx="103" type="body" hasCustomPrompt="1"/>
          </p:nvPr>
        </p:nvSpPr>
        <p:spPr>
          <a:xfrm>
            <a:off x="548640" y="1627632"/>
            <a:ext cx="11064240" cy="457200"/>
          </a:xfrm>
          <a:prstGeom prst="rect">
            <a:avLst/>
          </a:prstGeom>
          <a:noFill/>
          <a:ln/>
        </p:spPr>
        <p:txBody>
          <a:bodyPr wrap="square" lIns="0" tIns="0" rIns="0" bIns="0" rtlCol="0" anchor="t"/>
          <a:lstStyle/>
          <a:p>
            <a:pPr indent="0" marL="0">
              <a:buNone/>
            </a:pPr>
            <a:r>
              <a:rPr lang="en-US" sz="2000" dirty="0">
                <a:solidFill>
                  <a:schemeClr val="tx2"/>
                </a:solidFill>
              </a:rPr>
              <a:t>connect → BEGIN → COMMIT / ROLLBACK → release</a:t>
            </a:r>
            <a:endParaRPr lang="en-US" sz="2000" dirty="0"/>
          </a:p>
        </p:txBody>
      </p:sp>
      <p:sp>
        <p:nvSpPr>
          <p:cNvPr id="7" name="text-871"/>
          <p:cNvSpPr txBox="1"/>
          <p:nvPr/>
        </p:nvSpPr>
        <p:spPr>
          <a:xfrm>
            <a:off x="548640" y="2286000"/>
            <a:ext cx="2194560" cy="274320"/>
          </a:xfrm>
          <a:prstGeom prst="rect">
            <a:avLst/>
          </a:prstGeom>
          <a:noFill/>
          <a:ln/>
        </p:spPr>
        <p:txBody>
          <a:bodyPr wrap="square" lIns="0" tIns="0" rIns="0" bIns="0" rtlCol="0" anchor="ctr"/>
          <a:lstStyle/>
          <a:p>
            <a:pPr algn="l" indent="0" marL="0">
              <a:buNone/>
            </a:pPr>
            <a:r>
              <a:rPr lang="en-US" sz="1100" b="1" spc="300" kern="0" dirty="0">
                <a:solidFill>
                  <a:schemeClr val="accent4"/>
                </a:solidFill>
              </a:rPr>
              <a:t>POOL</a:t>
            </a:r>
            <a:endParaRPr lang="en-US" sz="1100" dirty="0"/>
          </a:p>
        </p:txBody>
      </p:sp>
      <p:sp>
        <p:nvSpPr>
          <p:cNvPr id="8" name="box-872"/>
          <p:cNvSpPr/>
          <p:nvPr/>
        </p:nvSpPr>
        <p:spPr>
          <a:xfrm>
            <a:off x="548640" y="2651760"/>
            <a:ext cx="292608" cy="1143000"/>
          </a:xfrm>
          <a:prstGeom prst="roundRect">
            <a:avLst>
              <a:gd name="adj" fmla="val 156250"/>
            </a:avLst>
          </a:prstGeom>
          <a:solidFill>
            <a:schemeClr val="accent5"/>
          </a:solidFill>
          <a:ln/>
        </p:spPr>
      </p:sp>
      <p:sp>
        <p:nvSpPr>
          <p:cNvPr id="9" name="box-873"/>
          <p:cNvSpPr/>
          <p:nvPr/>
        </p:nvSpPr>
        <p:spPr>
          <a:xfrm>
            <a:off x="987552" y="2651760"/>
            <a:ext cx="292608" cy="1143000"/>
          </a:xfrm>
          <a:prstGeom prst="roundRect">
            <a:avLst>
              <a:gd name="adj" fmla="val 156250"/>
            </a:avLst>
          </a:prstGeom>
          <a:solidFill>
            <a:schemeClr val="accent5"/>
          </a:solidFill>
          <a:ln/>
        </p:spPr>
      </p:sp>
      <p:sp>
        <p:nvSpPr>
          <p:cNvPr id="10" name="box-874"/>
          <p:cNvSpPr/>
          <p:nvPr/>
        </p:nvSpPr>
        <p:spPr>
          <a:xfrm>
            <a:off x="1426464" y="2651760"/>
            <a:ext cx="292608" cy="1143000"/>
          </a:xfrm>
          <a:prstGeom prst="roundRect">
            <a:avLst>
              <a:gd name="adj" fmla="val 156250"/>
            </a:avLst>
          </a:prstGeom>
          <a:solidFill>
            <a:schemeClr val="accent2"/>
          </a:solidFill>
          <a:ln/>
        </p:spPr>
      </p:sp>
      <p:sp>
        <p:nvSpPr>
          <p:cNvPr id="11" name="box-875"/>
          <p:cNvSpPr/>
          <p:nvPr/>
        </p:nvSpPr>
        <p:spPr>
          <a:xfrm>
            <a:off x="1865376" y="2651760"/>
            <a:ext cx="292608" cy="1143000"/>
          </a:xfrm>
          <a:prstGeom prst="roundRect">
            <a:avLst>
              <a:gd name="adj" fmla="val 156250"/>
            </a:avLst>
          </a:prstGeom>
          <a:solidFill>
            <a:schemeClr val="accent5"/>
          </a:solidFill>
          <a:ln/>
        </p:spPr>
      </p:sp>
      <p:sp>
        <p:nvSpPr>
          <p:cNvPr id="12" name="box-876"/>
          <p:cNvSpPr/>
          <p:nvPr/>
        </p:nvSpPr>
        <p:spPr>
          <a:xfrm>
            <a:off x="2304288" y="2651760"/>
            <a:ext cx="292608" cy="1143000"/>
          </a:xfrm>
          <a:prstGeom prst="roundRect">
            <a:avLst>
              <a:gd name="adj" fmla="val 156250"/>
            </a:avLst>
          </a:prstGeom>
          <a:solidFill>
            <a:schemeClr val="accent5"/>
          </a:solidFill>
          <a:ln/>
        </p:spPr>
      </p:sp>
      <p:sp>
        <p:nvSpPr>
          <p:cNvPr id="13" name="text-877"/>
          <p:cNvSpPr txBox="1"/>
          <p:nvPr/>
        </p:nvSpPr>
        <p:spPr>
          <a:xfrm>
            <a:off x="1097280" y="3840480"/>
            <a:ext cx="1097280" cy="320040"/>
          </a:xfrm>
          <a:prstGeom prst="rect">
            <a:avLst/>
          </a:prstGeom>
          <a:noFill/>
          <a:ln/>
        </p:spPr>
        <p:txBody>
          <a:bodyPr wrap="square" lIns="0" tIns="0" rIns="0" bIns="0" rtlCol="0" anchor="ctr"/>
          <a:lstStyle/>
          <a:p>
            <a:pPr algn="ctr" indent="0" marL="0">
              <a:buNone/>
            </a:pPr>
            <a:r>
              <a:rPr lang="en-US" sz="1200" b="1" dirty="0">
                <a:solidFill>
                  <a:schemeClr val="accent3"/>
                </a:solidFill>
              </a:rPr>
              <a:t>client</a:t>
            </a:r>
            <a:endParaRPr lang="en-US" sz="1200" dirty="0"/>
          </a:p>
        </p:txBody>
      </p:sp>
      <p:sp>
        <p:nvSpPr>
          <p:cNvPr id="14" name="box-878"/>
          <p:cNvSpPr/>
          <p:nvPr/>
        </p:nvSpPr>
        <p:spPr>
          <a:xfrm>
            <a:off x="2926080" y="2926080"/>
            <a:ext cx="2057400" cy="594360"/>
          </a:xfrm>
          <a:prstGeom prst="roundRect">
            <a:avLst>
              <a:gd name="adj" fmla="val 18462"/>
            </a:avLst>
          </a:prstGeom>
          <a:solidFill>
            <a:schemeClr val="bg1"/>
          </a:solidFill>
          <a:ln w="12700">
            <a:solidFill>
              <a:schemeClr val="tx2"/>
            </a:solidFill>
            <a:prstDash val="solid"/>
          </a:ln>
        </p:spPr>
      </p:sp>
      <p:sp>
        <p:nvSpPr>
          <p:cNvPr id="15" name="text-879"/>
          <p:cNvSpPr txBox="1"/>
          <p:nvPr/>
        </p:nvSpPr>
        <p:spPr>
          <a:xfrm>
            <a:off x="2999232" y="2926080"/>
            <a:ext cx="1911096" cy="594360"/>
          </a:xfrm>
          <a:prstGeom prst="rect">
            <a:avLst/>
          </a:prstGeom>
          <a:noFill/>
          <a:ln/>
        </p:spPr>
        <p:txBody>
          <a:bodyPr wrap="square" lIns="0" tIns="0" rIns="0" bIns="0" rtlCol="0" anchor="ctr"/>
          <a:lstStyle/>
          <a:p>
            <a:pPr algn="ctr" indent="0" marL="0">
              <a:buNone/>
            </a:pPr>
            <a:r>
              <a:rPr lang="en-US" sz="1500" b="1" dirty="0">
                <a:solidFill>
                  <a:schemeClr val="tx1"/>
                </a:solidFill>
                <a:latin typeface="Roboto Mono" pitchFamily="34" charset="0"/>
                <a:ea typeface="Roboto Mono" pitchFamily="34" charset="-122"/>
                <a:cs typeface="Roboto Mono" pitchFamily="34" charset="-120"/>
              </a:rPr>
              <a:t>pool.connect()</a:t>
            </a:r>
            <a:endParaRPr lang="en-US" sz="1500" dirty="0"/>
          </a:p>
        </p:txBody>
      </p:sp>
      <p:sp>
        <p:nvSpPr>
          <p:cNvPr id="16" name="box-880"/>
          <p:cNvSpPr/>
          <p:nvPr/>
        </p:nvSpPr>
        <p:spPr>
          <a:xfrm>
            <a:off x="5303520" y="2926080"/>
            <a:ext cx="1691640" cy="594360"/>
          </a:xfrm>
          <a:prstGeom prst="roundRect">
            <a:avLst>
              <a:gd name="adj" fmla="val 18462"/>
            </a:avLst>
          </a:prstGeom>
          <a:solidFill>
            <a:schemeClr val="bg1"/>
          </a:solidFill>
          <a:ln w="12700">
            <a:solidFill>
              <a:schemeClr val="tx2"/>
            </a:solidFill>
            <a:prstDash val="solid"/>
          </a:ln>
        </p:spPr>
      </p:sp>
      <p:sp>
        <p:nvSpPr>
          <p:cNvPr id="17" name="text-881"/>
          <p:cNvSpPr txBox="1"/>
          <p:nvPr/>
        </p:nvSpPr>
        <p:spPr>
          <a:xfrm>
            <a:off x="5376672" y="2926080"/>
            <a:ext cx="1545336" cy="594360"/>
          </a:xfrm>
          <a:prstGeom prst="rect">
            <a:avLst/>
          </a:prstGeom>
          <a:noFill/>
          <a:ln/>
        </p:spPr>
        <p:txBody>
          <a:bodyPr wrap="square" lIns="0" tIns="0" rIns="0" bIns="0" rtlCol="0" anchor="ctr"/>
          <a:lstStyle/>
          <a:p>
            <a:pPr algn="ctr" indent="0" marL="0">
              <a:buNone/>
            </a:pPr>
            <a:r>
              <a:rPr lang="en-US" sz="1500" b="1" dirty="0">
                <a:solidFill>
                  <a:schemeClr val="tx1"/>
                </a:solidFill>
                <a:latin typeface="Roboto Mono" pitchFamily="34" charset="0"/>
                <a:ea typeface="Roboto Mono" pitchFamily="34" charset="-122"/>
                <a:cs typeface="Roboto Mono" pitchFamily="34" charset="-120"/>
              </a:rPr>
              <a:t>BEGIN</a:t>
            </a:r>
            <a:endParaRPr lang="en-US" sz="1500" dirty="0"/>
          </a:p>
        </p:txBody>
      </p:sp>
      <p:sp>
        <p:nvSpPr>
          <p:cNvPr id="18" name="line-882"/>
          <p:cNvSpPr/>
          <p:nvPr/>
        </p:nvSpPr>
        <p:spPr>
          <a:xfrm>
            <a:off x="4983480" y="3227832"/>
            <a:ext cx="320040" cy="91"/>
          </a:xfrm>
          <a:prstGeom prst="line">
            <a:avLst/>
          </a:prstGeom>
          <a:noFill/>
          <a:ln w="19050">
            <a:solidFill>
              <a:schemeClr val="tx2"/>
            </a:solidFill>
            <a:prstDash val="solid"/>
            <a:tailEnd type="triangle"/>
          </a:ln>
        </p:spPr>
      </p:sp>
      <p:sp>
        <p:nvSpPr>
          <p:cNvPr id="19" name="box-883"/>
          <p:cNvSpPr/>
          <p:nvPr/>
        </p:nvSpPr>
        <p:spPr>
          <a:xfrm>
            <a:off x="7269480" y="2926080"/>
            <a:ext cx="1691640" cy="594360"/>
          </a:xfrm>
          <a:prstGeom prst="roundRect">
            <a:avLst>
              <a:gd name="adj" fmla="val 18462"/>
            </a:avLst>
          </a:prstGeom>
          <a:solidFill>
            <a:schemeClr val="bg1"/>
          </a:solidFill>
          <a:ln w="12700">
            <a:solidFill>
              <a:schemeClr val="tx2"/>
            </a:solidFill>
            <a:prstDash val="solid"/>
          </a:ln>
        </p:spPr>
      </p:sp>
      <p:sp>
        <p:nvSpPr>
          <p:cNvPr id="20" name="text-884"/>
          <p:cNvSpPr txBox="1"/>
          <p:nvPr/>
        </p:nvSpPr>
        <p:spPr>
          <a:xfrm>
            <a:off x="7342632" y="2926080"/>
            <a:ext cx="1545336" cy="594360"/>
          </a:xfrm>
          <a:prstGeom prst="rect">
            <a:avLst/>
          </a:prstGeom>
          <a:noFill/>
          <a:ln/>
        </p:spPr>
        <p:txBody>
          <a:bodyPr wrap="square" lIns="0" tIns="0" rIns="0" bIns="0" rtlCol="0" anchor="ctr"/>
          <a:lstStyle/>
          <a:p>
            <a:pPr algn="ctr" indent="0" marL="0">
              <a:buNone/>
            </a:pPr>
            <a:r>
              <a:rPr lang="en-US" sz="1500" b="1" dirty="0">
                <a:solidFill>
                  <a:schemeClr val="tx1"/>
                </a:solidFill>
                <a:latin typeface="Roboto Mono" pitchFamily="34" charset="0"/>
                <a:ea typeface="Roboto Mono" pitchFamily="34" charset="-122"/>
                <a:cs typeface="Roboto Mono" pitchFamily="34" charset="-120"/>
              </a:rPr>
              <a:t>queries</a:t>
            </a:r>
            <a:endParaRPr lang="en-US" sz="1500" dirty="0"/>
          </a:p>
        </p:txBody>
      </p:sp>
      <p:sp>
        <p:nvSpPr>
          <p:cNvPr id="21" name="line-885"/>
          <p:cNvSpPr/>
          <p:nvPr/>
        </p:nvSpPr>
        <p:spPr>
          <a:xfrm>
            <a:off x="6995160" y="3227832"/>
            <a:ext cx="274320" cy="91"/>
          </a:xfrm>
          <a:prstGeom prst="line">
            <a:avLst/>
          </a:prstGeom>
          <a:noFill/>
          <a:ln w="19050">
            <a:solidFill>
              <a:schemeClr val="tx2"/>
            </a:solidFill>
            <a:prstDash val="solid"/>
            <a:tailEnd type="triangle"/>
          </a:ln>
        </p:spPr>
      </p:sp>
      <p:sp>
        <p:nvSpPr>
          <p:cNvPr id="22" name="box-886"/>
          <p:cNvSpPr/>
          <p:nvPr/>
        </p:nvSpPr>
        <p:spPr>
          <a:xfrm>
            <a:off x="9235440" y="2926080"/>
            <a:ext cx="1691640" cy="594360"/>
          </a:xfrm>
          <a:prstGeom prst="roundRect">
            <a:avLst>
              <a:gd name="adj" fmla="val 18462"/>
            </a:avLst>
          </a:prstGeom>
          <a:solidFill>
            <a:schemeClr val="accent2"/>
          </a:solidFill>
          <a:ln/>
        </p:spPr>
      </p:sp>
      <p:sp>
        <p:nvSpPr>
          <p:cNvPr id="23" name="text-887"/>
          <p:cNvSpPr txBox="1"/>
          <p:nvPr/>
        </p:nvSpPr>
        <p:spPr>
          <a:xfrm>
            <a:off x="9308592" y="2926080"/>
            <a:ext cx="1545336" cy="594360"/>
          </a:xfrm>
          <a:prstGeom prst="rect">
            <a:avLst/>
          </a:prstGeom>
          <a:noFill/>
          <a:ln/>
        </p:spPr>
        <p:txBody>
          <a:bodyPr wrap="square" lIns="0" tIns="0" rIns="0" bIns="0" rtlCol="0" anchor="ctr"/>
          <a:lstStyle/>
          <a:p>
            <a:pPr algn="ctr" indent="0" marL="0">
              <a:buNone/>
            </a:pPr>
            <a:r>
              <a:rPr lang="en-US" sz="1500" b="1" dirty="0">
                <a:solidFill>
                  <a:schemeClr val="tx1"/>
                </a:solidFill>
                <a:latin typeface="Roboto Mono" pitchFamily="34" charset="0"/>
                <a:ea typeface="Roboto Mono" pitchFamily="34" charset="-122"/>
                <a:cs typeface="Roboto Mono" pitchFamily="34" charset="-120"/>
              </a:rPr>
              <a:t>COMMIT</a:t>
            </a:r>
            <a:endParaRPr lang="en-US" sz="1500" dirty="0"/>
          </a:p>
        </p:txBody>
      </p:sp>
      <p:sp>
        <p:nvSpPr>
          <p:cNvPr id="24" name="line-888"/>
          <p:cNvSpPr/>
          <p:nvPr/>
        </p:nvSpPr>
        <p:spPr>
          <a:xfrm>
            <a:off x="8961120" y="3227832"/>
            <a:ext cx="274320" cy="91"/>
          </a:xfrm>
          <a:prstGeom prst="line">
            <a:avLst/>
          </a:prstGeom>
          <a:noFill/>
          <a:ln w="19050">
            <a:solidFill>
              <a:schemeClr val="tx2"/>
            </a:solidFill>
            <a:prstDash val="solid"/>
            <a:tailEnd type="triangle"/>
          </a:ln>
        </p:spPr>
      </p:sp>
      <p:sp>
        <p:nvSpPr>
          <p:cNvPr id="25" name="line-889"/>
          <p:cNvSpPr/>
          <p:nvPr/>
        </p:nvSpPr>
        <p:spPr>
          <a:xfrm>
            <a:off x="2651760" y="3227832"/>
            <a:ext cx="274320" cy="91"/>
          </a:xfrm>
          <a:prstGeom prst="line">
            <a:avLst/>
          </a:prstGeom>
          <a:noFill/>
          <a:ln w="19050">
            <a:solidFill>
              <a:schemeClr val="tx2"/>
            </a:solidFill>
            <a:prstDash val="solid"/>
            <a:tailEnd type="triangle"/>
          </a:ln>
        </p:spPr>
      </p:sp>
      <p:sp>
        <p:nvSpPr>
          <p:cNvPr id="26" name="line-890"/>
          <p:cNvSpPr/>
          <p:nvPr/>
        </p:nvSpPr>
        <p:spPr>
          <a:xfrm>
            <a:off x="8138160" y="3520440"/>
            <a:ext cx="91" cy="822960"/>
          </a:xfrm>
          <a:prstGeom prst="line">
            <a:avLst/>
          </a:prstGeom>
          <a:noFill/>
          <a:ln w="25400">
            <a:solidFill>
              <a:schemeClr val="accent1"/>
            </a:solidFill>
            <a:prstDash val="solid"/>
          </a:ln>
        </p:spPr>
      </p:sp>
      <p:sp>
        <p:nvSpPr>
          <p:cNvPr id="27" name="line-891"/>
          <p:cNvSpPr/>
          <p:nvPr/>
        </p:nvSpPr>
        <p:spPr>
          <a:xfrm>
            <a:off x="8138160" y="4343400"/>
            <a:ext cx="1097280" cy="91"/>
          </a:xfrm>
          <a:prstGeom prst="line">
            <a:avLst/>
          </a:prstGeom>
          <a:noFill/>
          <a:ln w="25400">
            <a:solidFill>
              <a:schemeClr val="accent1"/>
            </a:solidFill>
            <a:prstDash val="solid"/>
            <a:tailEnd type="triangle"/>
          </a:ln>
        </p:spPr>
      </p:sp>
      <p:sp>
        <p:nvSpPr>
          <p:cNvPr id="28" name="text-892"/>
          <p:cNvSpPr txBox="1"/>
          <p:nvPr/>
        </p:nvSpPr>
        <p:spPr>
          <a:xfrm>
            <a:off x="8183880" y="3931920"/>
            <a:ext cx="914400" cy="320040"/>
          </a:xfrm>
          <a:prstGeom prst="rect">
            <a:avLst/>
          </a:prstGeom>
          <a:noFill/>
          <a:ln/>
        </p:spPr>
        <p:txBody>
          <a:bodyPr wrap="square" lIns="0" tIns="0" rIns="0" bIns="0" rtlCol="0" anchor="ctr"/>
          <a:lstStyle/>
          <a:p>
            <a:pPr algn="l" indent="0" marL="0">
              <a:buNone/>
            </a:pPr>
            <a:r>
              <a:rPr lang="en-US" sz="1200" i="1" dirty="0">
                <a:solidFill>
                  <a:schemeClr val="tx2"/>
                </a:solidFill>
              </a:rPr>
              <a:t>catch</a:t>
            </a:r>
            <a:endParaRPr lang="en-US" sz="1200" dirty="0"/>
          </a:p>
        </p:txBody>
      </p:sp>
      <p:sp>
        <p:nvSpPr>
          <p:cNvPr id="29" name="box-893"/>
          <p:cNvSpPr/>
          <p:nvPr/>
        </p:nvSpPr>
        <p:spPr>
          <a:xfrm>
            <a:off x="9235440" y="4041648"/>
            <a:ext cx="1691640" cy="594360"/>
          </a:xfrm>
          <a:prstGeom prst="roundRect">
            <a:avLst>
              <a:gd name="adj" fmla="val 18462"/>
            </a:avLst>
          </a:prstGeom>
          <a:solidFill>
            <a:schemeClr val="accent1"/>
          </a:solidFill>
          <a:ln/>
        </p:spPr>
      </p:sp>
      <p:sp>
        <p:nvSpPr>
          <p:cNvPr id="30" name="text-894"/>
          <p:cNvSpPr txBox="1"/>
          <p:nvPr/>
        </p:nvSpPr>
        <p:spPr>
          <a:xfrm>
            <a:off x="9308592" y="4041648"/>
            <a:ext cx="1545336" cy="594360"/>
          </a:xfrm>
          <a:prstGeom prst="rect">
            <a:avLst/>
          </a:prstGeom>
          <a:noFill/>
          <a:ln/>
        </p:spPr>
        <p:txBody>
          <a:bodyPr wrap="square" lIns="0" tIns="0" rIns="0" bIns="0" rtlCol="0" anchor="ctr"/>
          <a:lstStyle/>
          <a:p>
            <a:pPr algn="ctr" indent="0" marL="0">
              <a:buNone/>
            </a:pPr>
            <a:r>
              <a:rPr lang="en-US" sz="1500" b="1" dirty="0">
                <a:solidFill>
                  <a:schemeClr val="tx1"/>
                </a:solidFill>
                <a:latin typeface="Roboto Mono" pitchFamily="34" charset="0"/>
                <a:ea typeface="Roboto Mono" pitchFamily="34" charset="-122"/>
                <a:cs typeface="Roboto Mono" pitchFamily="34" charset="-120"/>
              </a:rPr>
              <a:t>ROLLBACK</a:t>
            </a:r>
            <a:endParaRPr lang="en-US" sz="1500" dirty="0"/>
          </a:p>
        </p:txBody>
      </p:sp>
      <p:sp>
        <p:nvSpPr>
          <p:cNvPr id="31" name="line-895"/>
          <p:cNvSpPr/>
          <p:nvPr/>
        </p:nvSpPr>
        <p:spPr>
          <a:xfrm>
            <a:off x="10927080" y="3227832"/>
            <a:ext cx="457200" cy="91"/>
          </a:xfrm>
          <a:prstGeom prst="line">
            <a:avLst/>
          </a:prstGeom>
          <a:noFill/>
          <a:ln w="19050">
            <a:solidFill>
              <a:schemeClr val="tx2"/>
            </a:solidFill>
            <a:prstDash val="solid"/>
          </a:ln>
        </p:spPr>
      </p:sp>
      <p:sp>
        <p:nvSpPr>
          <p:cNvPr id="32" name="line-896"/>
          <p:cNvSpPr/>
          <p:nvPr/>
        </p:nvSpPr>
        <p:spPr>
          <a:xfrm>
            <a:off x="11384280" y="3227832"/>
            <a:ext cx="91" cy="2121408"/>
          </a:xfrm>
          <a:prstGeom prst="line">
            <a:avLst/>
          </a:prstGeom>
          <a:noFill/>
          <a:ln w="19050">
            <a:solidFill>
              <a:schemeClr val="tx2"/>
            </a:solidFill>
            <a:prstDash val="solid"/>
          </a:ln>
        </p:spPr>
      </p:sp>
      <p:sp>
        <p:nvSpPr>
          <p:cNvPr id="33" name="line-897"/>
          <p:cNvSpPr/>
          <p:nvPr/>
        </p:nvSpPr>
        <p:spPr>
          <a:xfrm flipH="1">
            <a:off x="10058400" y="5349240"/>
            <a:ext cx="1325880" cy="91"/>
          </a:xfrm>
          <a:prstGeom prst="line">
            <a:avLst/>
          </a:prstGeom>
          <a:noFill/>
          <a:ln w="19050">
            <a:solidFill>
              <a:schemeClr val="tx2"/>
            </a:solidFill>
            <a:prstDash val="solid"/>
            <a:tailEnd type="triangle"/>
          </a:ln>
        </p:spPr>
      </p:sp>
      <p:sp>
        <p:nvSpPr>
          <p:cNvPr id="34" name="line-898"/>
          <p:cNvSpPr/>
          <p:nvPr/>
        </p:nvSpPr>
        <p:spPr>
          <a:xfrm>
            <a:off x="10927080" y="4343400"/>
            <a:ext cx="457200" cy="91"/>
          </a:xfrm>
          <a:prstGeom prst="line">
            <a:avLst/>
          </a:prstGeom>
          <a:noFill/>
          <a:ln w="19050">
            <a:solidFill>
              <a:schemeClr val="tx2"/>
            </a:solidFill>
            <a:prstDash val="solid"/>
          </a:ln>
        </p:spPr>
      </p:sp>
      <p:sp>
        <p:nvSpPr>
          <p:cNvPr id="35" name="box-899"/>
          <p:cNvSpPr/>
          <p:nvPr/>
        </p:nvSpPr>
        <p:spPr>
          <a:xfrm>
            <a:off x="6035040" y="5074920"/>
            <a:ext cx="4023360" cy="548640"/>
          </a:xfrm>
          <a:prstGeom prst="roundRect">
            <a:avLst>
              <a:gd name="adj" fmla="val 20000"/>
            </a:avLst>
          </a:prstGeom>
          <a:solidFill>
            <a:schemeClr val="tx1"/>
          </a:solidFill>
          <a:ln/>
        </p:spPr>
      </p:sp>
      <p:sp>
        <p:nvSpPr>
          <p:cNvPr id="36" name="text-900"/>
          <p:cNvSpPr txBox="1"/>
          <p:nvPr/>
        </p:nvSpPr>
        <p:spPr>
          <a:xfrm>
            <a:off x="6108192" y="5074920"/>
            <a:ext cx="3877056" cy="548640"/>
          </a:xfrm>
          <a:prstGeom prst="rect">
            <a:avLst/>
          </a:prstGeom>
          <a:noFill/>
          <a:ln/>
        </p:spPr>
        <p:txBody>
          <a:bodyPr wrap="square" lIns="0" tIns="0" rIns="0" bIns="0" rtlCol="0" anchor="ctr"/>
          <a:lstStyle/>
          <a:p>
            <a:pPr algn="ctr" indent="0" marL="0">
              <a:buNone/>
            </a:pPr>
            <a:r>
              <a:rPr lang="en-US" sz="1500" b="1" dirty="0">
                <a:solidFill>
                  <a:schemeClr val="bg1"/>
                </a:solidFill>
                <a:latin typeface="Roboto Mono" pitchFamily="34" charset="0"/>
                <a:ea typeface="Roboto Mono" pitchFamily="34" charset="-122"/>
                <a:cs typeface="Roboto Mono" pitchFamily="34" charset="-120"/>
              </a:rPr>
              <a:t>finally: client.release()</a:t>
            </a:r>
            <a:endParaRPr lang="en-US" sz="1500" dirty="0"/>
          </a:p>
        </p:txBody>
      </p:sp>
      <p:sp>
        <p:nvSpPr>
          <p:cNvPr id="37" name="line-901"/>
          <p:cNvSpPr/>
          <p:nvPr/>
        </p:nvSpPr>
        <p:spPr>
          <a:xfrm flipH="1">
            <a:off x="1417320" y="5349240"/>
            <a:ext cx="4617720" cy="91"/>
          </a:xfrm>
          <a:prstGeom prst="line">
            <a:avLst/>
          </a:prstGeom>
          <a:noFill/>
          <a:ln w="25400">
            <a:solidFill>
              <a:schemeClr val="accent3"/>
            </a:solidFill>
            <a:prstDash val="dash"/>
          </a:ln>
        </p:spPr>
      </p:sp>
      <p:sp>
        <p:nvSpPr>
          <p:cNvPr id="38" name="line-902"/>
          <p:cNvSpPr/>
          <p:nvPr/>
        </p:nvSpPr>
        <p:spPr>
          <a:xfrm flipV="1">
            <a:off x="1417320" y="4206240"/>
            <a:ext cx="91" cy="1143000"/>
          </a:xfrm>
          <a:prstGeom prst="line">
            <a:avLst/>
          </a:prstGeom>
          <a:noFill/>
          <a:ln w="25400">
            <a:solidFill>
              <a:schemeClr val="accent3"/>
            </a:solidFill>
            <a:prstDash val="dash"/>
            <a:tailEnd type="triangle"/>
          </a:ln>
        </p:spPr>
      </p:sp>
      <p:sp>
        <p:nvSpPr>
          <p:cNvPr id="39" name="text-903"/>
          <p:cNvSpPr txBox="1"/>
          <p:nvPr/>
        </p:nvSpPr>
        <p:spPr>
          <a:xfrm>
            <a:off x="1828800" y="4983480"/>
            <a:ext cx="2377440" cy="320040"/>
          </a:xfrm>
          <a:prstGeom prst="rect">
            <a:avLst/>
          </a:prstGeom>
          <a:noFill/>
          <a:ln/>
        </p:spPr>
        <p:txBody>
          <a:bodyPr wrap="square" lIns="0" tIns="0" rIns="0" bIns="0" rtlCol="0" anchor="ctr"/>
          <a:lstStyle/>
          <a:p>
            <a:pPr algn="l" indent="0" marL="0">
              <a:buNone/>
            </a:pPr>
            <a:r>
              <a:rPr lang="en-US" sz="1200" b="1" dirty="0">
                <a:solidFill>
                  <a:schemeClr val="accent3"/>
                </a:solidFill>
              </a:rPr>
              <a:t>back to the pool</a:t>
            </a:r>
            <a:endParaRPr lang="en-US" sz="1200" dirty="0"/>
          </a:p>
        </p:txBody>
      </p:sp>
      <p:sp>
        <p:nvSpPr>
          <p:cNvPr id="40" name="dot-904"/>
          <p:cNvSpPr/>
          <p:nvPr/>
        </p:nvSpPr>
        <p:spPr>
          <a:xfrm>
            <a:off x="548640" y="5760720"/>
            <a:ext cx="365760" cy="365760"/>
          </a:xfrm>
          <a:prstGeom prst="ellipse">
            <a:avLst/>
          </a:prstGeom>
          <a:solidFill>
            <a:schemeClr val="accent1"/>
          </a:solidFill>
          <a:ln/>
        </p:spPr>
      </p:sp>
      <p:sp>
        <p:nvSpPr>
          <p:cNvPr id="41" name="text-905"/>
          <p:cNvSpPr txBox="1"/>
          <p:nvPr/>
        </p:nvSpPr>
        <p:spPr>
          <a:xfrm>
            <a:off x="1005840" y="5760720"/>
            <a:ext cx="7315200" cy="365760"/>
          </a:xfrm>
          <a:prstGeom prst="rect">
            <a:avLst/>
          </a:prstGeom>
          <a:noFill/>
          <a:ln/>
        </p:spPr>
        <p:txBody>
          <a:bodyPr wrap="square" lIns="0" tIns="0" rIns="0" bIns="0" rtlCol="0" anchor="ctr"/>
          <a:lstStyle/>
          <a:p>
            <a:pPr algn="l" indent="0" marL="0">
              <a:buNone/>
            </a:pPr>
            <a:r>
              <a:rPr lang="en-US" sz="1400" dirty="0">
                <a:solidFill>
                  <a:schemeClr val="tx1"/>
                </a:solidFill>
                <a:latin typeface="Roboto Mono" pitchFamily="34" charset="0"/>
                <a:ea typeface="Roboto Mono" pitchFamily="34" charset="-122"/>
                <a:cs typeface="Roboto Mono" pitchFamily="34" charset="-120"/>
              </a:rPr>
              <a:t>pool.query('BEGIN') may run on a different connection</a:t>
            </a:r>
            <a:endParaRPr lang="en-US" sz="1400" dirty="0"/>
          </a:p>
        </p:txBody>
      </p:sp>
      <p:pic>
        <p:nvPicPr>
          <p:cNvPr id="42" name="Image 0" descr="ShieldAlt icon">    </p:cNvPr>
          <p:cNvPicPr>
            <a:picLocks noChangeAspect="1"/>
          </p:cNvPicPr>
          <p:nvPr/>
        </p:nvPicPr>
        <p:blipFill>
          <a:blip r:embed="rId1"/>
          <a:stretch>
            <a:fillRect/>
          </a:stretch>
        </p:blipFill>
        <p:spPr>
          <a:xfrm>
            <a:off x="640812" y="476220"/>
            <a:ext cx="199705" cy="199705"/>
          </a:xfrm>
          <a:prstGeom prst="rect">
            <a:avLst/>
          </a:prstGeom>
        </p:spPr>
      </p:pic>
      <p:pic>
        <p:nvPicPr>
          <p:cNvPr id="43" name="Image 1" descr="Times icon">    </p:cNvPr>
          <p:cNvPicPr>
            <a:picLocks noChangeAspect="1"/>
          </p:cNvPicPr>
          <p:nvPr/>
        </p:nvPicPr>
        <p:blipFill>
          <a:blip r:embed="rId2"/>
          <a:stretch>
            <a:fillRect/>
          </a:stretch>
        </p:blipFill>
        <p:spPr>
          <a:xfrm>
            <a:off x="636422" y="5848502"/>
            <a:ext cx="190195" cy="190195"/>
          </a:xfrm>
          <a:prstGeom prst="rect">
            <a:avLst/>
          </a:prstGeom>
        </p:spPr>
      </p:pic>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dot-906"/>
          <p:cNvSpPr/>
          <p:nvPr/>
        </p:nvSpPr>
        <p:spPr>
          <a:xfrm>
            <a:off x="548640" y="384048"/>
            <a:ext cx="384048" cy="384048"/>
          </a:xfrm>
          <a:prstGeom prst="ellipse">
            <a:avLst/>
          </a:prstGeom>
          <a:solidFill>
            <a:schemeClr val="tx1"/>
          </a:solidFill>
          <a:ln/>
        </p:spPr>
      </p:sp>
      <p:sp>
        <p:nvSpPr>
          <p:cNvPr id="3" name="Text 1"/>
          <p:cNvSpPr/>
          <p:nvPr>
            <p:ph idx="101" type="body" hasCustomPrompt="1"/>
          </p:nvPr>
        </p:nvSpPr>
        <p:spPr>
          <a:xfrm>
            <a:off x="1051560" y="384048"/>
            <a:ext cx="9601200" cy="384048"/>
          </a:xfrm>
          <a:prstGeom prst="rect">
            <a:avLst/>
          </a:prstGeom>
          <a:noFill/>
          <a:ln/>
        </p:spPr>
        <p:txBody>
          <a:bodyPr wrap="square" lIns="0" tIns="0" rIns="0" bIns="0" rtlCol="0" anchor="ctr"/>
          <a:lstStyle/>
          <a:p>
            <a:pPr indent="0" marL="0">
              <a:buNone/>
            </a:pPr>
            <a:r>
              <a:rPr lang="en-US" sz="1300" b="1" spc="300" kern="0" dirty="0">
                <a:solidFill>
                  <a:schemeClr val="tx2"/>
                </a:solidFill>
              </a:rPr>
              <a:t>L3  ·  SAFETY  ·  3.10 TRANSACTIONS</a:t>
            </a:r>
            <a:endParaRPr lang="en-US" sz="1300" dirty="0"/>
          </a:p>
        </p:txBody>
      </p:sp>
      <p:sp>
        <p:nvSpPr>
          <p:cNvPr id="4" name="Text 1"/>
          <p:cNvSpPr/>
          <p:nvPr>
            <p:ph idx="102" type="title" hasCustomPrompt="1"/>
          </p:nvPr>
        </p:nvSpPr>
        <p:spPr>
          <a:xfrm>
            <a:off x="548640" y="841248"/>
            <a:ext cx="11064240" cy="777240"/>
          </a:xfrm>
          <a:prstGeom prst="rect">
            <a:avLst/>
          </a:prstGeom>
          <a:noFill/>
          <a:ln/>
        </p:spPr>
        <p:txBody>
          <a:bodyPr wrap="square" lIns="0" tIns="0" rIns="0" bIns="0" rtlCol="0" anchor="ctr"/>
          <a:lstStyle/>
          <a:p>
            <a:pPr algn="l" indent="0" marL="0">
              <a:buNone/>
            </a:pPr>
            <a:r>
              <a:rPr lang="en-US" sz="3800" b="1" dirty="0">
                <a:solidFill>
                  <a:schemeClr val="tx1"/>
                </a:solidFill>
              </a:rPr>
              <a:t>Two buyers, one item in stock</a:t>
            </a:r>
            <a:endParaRPr lang="en-US" sz="3800" dirty="0"/>
          </a:p>
        </p:txBody>
      </p:sp>
      <p:sp>
        <p:nvSpPr>
          <p:cNvPr id="5" name="Text 1"/>
          <p:cNvSpPr/>
          <p:nvPr>
            <p:ph idx="103" type="body" hasCustomPrompt="1"/>
          </p:nvPr>
        </p:nvSpPr>
        <p:spPr>
          <a:xfrm>
            <a:off x="548640" y="1627632"/>
            <a:ext cx="11064240" cy="457200"/>
          </a:xfrm>
          <a:prstGeom prst="rect">
            <a:avLst/>
          </a:prstGeom>
          <a:noFill/>
          <a:ln/>
        </p:spPr>
        <p:txBody>
          <a:bodyPr wrap="square" lIns="0" tIns="0" rIns="0" bIns="0" rtlCol="0" anchor="t"/>
          <a:lstStyle/>
          <a:p>
            <a:pPr indent="0" marL="0">
              <a:buNone/>
            </a:pPr>
            <a:r>
              <a:rPr lang="en-US" sz="2000" dirty="0">
                <a:solidFill>
                  <a:schemeClr val="tx2"/>
                </a:solidFill>
              </a:rPr>
              <a:t>Lock the row or update atomically</a:t>
            </a:r>
            <a:endParaRPr lang="en-US" sz="2000" dirty="0"/>
          </a:p>
        </p:txBody>
      </p:sp>
      <p:sp>
        <p:nvSpPr>
          <p:cNvPr id="7" name="dot-907"/>
          <p:cNvSpPr/>
          <p:nvPr/>
        </p:nvSpPr>
        <p:spPr>
          <a:xfrm>
            <a:off x="1188720" y="2514600"/>
            <a:ext cx="1097280" cy="1097280"/>
          </a:xfrm>
          <a:prstGeom prst="ellipse">
            <a:avLst/>
          </a:prstGeom>
          <a:solidFill>
            <a:schemeClr val="accent2"/>
          </a:solidFill>
          <a:ln/>
        </p:spPr>
      </p:sp>
      <p:sp>
        <p:nvSpPr>
          <p:cNvPr id="8" name="dot-908"/>
          <p:cNvSpPr/>
          <p:nvPr/>
        </p:nvSpPr>
        <p:spPr>
          <a:xfrm>
            <a:off x="9875520" y="2514600"/>
            <a:ext cx="1097280" cy="1097280"/>
          </a:xfrm>
          <a:prstGeom prst="ellipse">
            <a:avLst/>
          </a:prstGeom>
          <a:solidFill>
            <a:schemeClr val="accent1"/>
          </a:solidFill>
          <a:ln/>
        </p:spPr>
      </p:sp>
      <p:sp>
        <p:nvSpPr>
          <p:cNvPr id="9" name="box-909"/>
          <p:cNvSpPr/>
          <p:nvPr/>
        </p:nvSpPr>
        <p:spPr>
          <a:xfrm>
            <a:off x="2468880" y="2651760"/>
            <a:ext cx="2377440" cy="502920"/>
          </a:xfrm>
          <a:prstGeom prst="roundRect">
            <a:avLst>
              <a:gd name="adj" fmla="val 21818"/>
            </a:avLst>
          </a:prstGeom>
          <a:solidFill>
            <a:schemeClr val="bg1"/>
          </a:solidFill>
          <a:ln w="12700">
            <a:solidFill>
              <a:schemeClr val="accent5"/>
            </a:solidFill>
            <a:prstDash val="solid"/>
          </a:ln>
        </p:spPr>
      </p:sp>
      <p:sp>
        <p:nvSpPr>
          <p:cNvPr id="10" name="text-910"/>
          <p:cNvSpPr txBox="1"/>
          <p:nvPr/>
        </p:nvSpPr>
        <p:spPr>
          <a:xfrm>
            <a:off x="2542032" y="2651760"/>
            <a:ext cx="2231136" cy="502920"/>
          </a:xfrm>
          <a:prstGeom prst="rect">
            <a:avLst/>
          </a:prstGeom>
          <a:noFill/>
          <a:ln/>
        </p:spPr>
        <p:txBody>
          <a:bodyPr wrap="square" lIns="0" tIns="0" rIns="0" bIns="0" rtlCol="0" anchor="ctr"/>
          <a:lstStyle/>
          <a:p>
            <a:pPr algn="ctr" indent="0" marL="0">
              <a:buNone/>
            </a:pPr>
            <a:r>
              <a:rPr lang="en-US" sz="1400" dirty="0">
                <a:solidFill>
                  <a:schemeClr val="tx1"/>
                </a:solidFill>
                <a:latin typeface="Roboto Mono" pitchFamily="34" charset="0"/>
                <a:ea typeface="Roboto Mono" pitchFamily="34" charset="-122"/>
                <a:cs typeface="Roboto Mono" pitchFamily="34" charset="-120"/>
              </a:rPr>
              <a:t>reads stock = 1</a:t>
            </a:r>
            <a:endParaRPr lang="en-US" sz="1400" dirty="0"/>
          </a:p>
        </p:txBody>
      </p:sp>
      <p:sp>
        <p:nvSpPr>
          <p:cNvPr id="11" name="box-911"/>
          <p:cNvSpPr/>
          <p:nvPr/>
        </p:nvSpPr>
        <p:spPr>
          <a:xfrm>
            <a:off x="7315200" y="2651760"/>
            <a:ext cx="2377440" cy="502920"/>
          </a:xfrm>
          <a:prstGeom prst="roundRect">
            <a:avLst>
              <a:gd name="adj" fmla="val 21818"/>
            </a:avLst>
          </a:prstGeom>
          <a:solidFill>
            <a:schemeClr val="bg1"/>
          </a:solidFill>
          <a:ln w="12700">
            <a:solidFill>
              <a:schemeClr val="accent5"/>
            </a:solidFill>
            <a:prstDash val="solid"/>
          </a:ln>
        </p:spPr>
      </p:sp>
      <p:sp>
        <p:nvSpPr>
          <p:cNvPr id="12" name="text-912"/>
          <p:cNvSpPr txBox="1"/>
          <p:nvPr/>
        </p:nvSpPr>
        <p:spPr>
          <a:xfrm>
            <a:off x="7388352" y="2651760"/>
            <a:ext cx="2231136" cy="502920"/>
          </a:xfrm>
          <a:prstGeom prst="rect">
            <a:avLst/>
          </a:prstGeom>
          <a:noFill/>
          <a:ln/>
        </p:spPr>
        <p:txBody>
          <a:bodyPr wrap="square" lIns="0" tIns="0" rIns="0" bIns="0" rtlCol="0" anchor="ctr"/>
          <a:lstStyle/>
          <a:p>
            <a:pPr algn="ctr" indent="0" marL="0">
              <a:buNone/>
            </a:pPr>
            <a:r>
              <a:rPr lang="en-US" sz="1400" dirty="0">
                <a:solidFill>
                  <a:schemeClr val="tx1"/>
                </a:solidFill>
                <a:latin typeface="Roboto Mono" pitchFamily="34" charset="0"/>
                <a:ea typeface="Roboto Mono" pitchFamily="34" charset="-122"/>
                <a:cs typeface="Roboto Mono" pitchFamily="34" charset="-120"/>
              </a:rPr>
              <a:t>reads stock = 1</a:t>
            </a:r>
            <a:endParaRPr lang="en-US" sz="1400" dirty="0"/>
          </a:p>
        </p:txBody>
      </p:sp>
      <p:sp>
        <p:nvSpPr>
          <p:cNvPr id="13" name="box-913"/>
          <p:cNvSpPr/>
          <p:nvPr/>
        </p:nvSpPr>
        <p:spPr>
          <a:xfrm>
            <a:off x="5120640" y="2377440"/>
            <a:ext cx="1920240" cy="1463040"/>
          </a:xfrm>
          <a:prstGeom prst="roundRect">
            <a:avLst>
              <a:gd name="adj" fmla="val 3750"/>
            </a:avLst>
          </a:prstGeom>
          <a:solidFill>
            <a:schemeClr val="accent5"/>
          </a:solidFill>
          <a:ln/>
        </p:spPr>
      </p:sp>
      <p:sp>
        <p:nvSpPr>
          <p:cNvPr id="14" name="text-914"/>
          <p:cNvSpPr txBox="1"/>
          <p:nvPr/>
        </p:nvSpPr>
        <p:spPr>
          <a:xfrm>
            <a:off x="5120640" y="3383280"/>
            <a:ext cx="1920240" cy="365760"/>
          </a:xfrm>
          <a:prstGeom prst="rect">
            <a:avLst/>
          </a:prstGeom>
          <a:noFill/>
          <a:ln/>
        </p:spPr>
        <p:txBody>
          <a:bodyPr wrap="square" lIns="0" tIns="0" rIns="0" bIns="0" rtlCol="0" anchor="ctr"/>
          <a:lstStyle/>
          <a:p>
            <a:pPr algn="ctr" indent="0" marL="0">
              <a:buNone/>
            </a:pPr>
            <a:r>
              <a:rPr lang="en-US" sz="1300" b="1" dirty="0">
                <a:solidFill>
                  <a:schemeClr val="tx1"/>
                </a:solidFill>
              </a:rPr>
              <a:t>last one</a:t>
            </a:r>
            <a:endParaRPr lang="en-US" sz="1300" dirty="0"/>
          </a:p>
        </p:txBody>
      </p:sp>
      <p:sp>
        <p:nvSpPr>
          <p:cNvPr id="15" name="dot-915"/>
          <p:cNvSpPr/>
          <p:nvPr/>
        </p:nvSpPr>
        <p:spPr>
          <a:xfrm>
            <a:off x="5852160" y="3931920"/>
            <a:ext cx="457200" cy="457200"/>
          </a:xfrm>
          <a:prstGeom prst="ellipse">
            <a:avLst/>
          </a:prstGeom>
          <a:solidFill>
            <a:schemeClr val="accent1"/>
          </a:solidFill>
          <a:ln/>
        </p:spPr>
      </p:sp>
      <p:sp>
        <p:nvSpPr>
          <p:cNvPr id="16" name="text-916"/>
          <p:cNvSpPr txBox="1"/>
          <p:nvPr/>
        </p:nvSpPr>
        <p:spPr>
          <a:xfrm>
            <a:off x="4937760" y="4434840"/>
            <a:ext cx="2286000" cy="365760"/>
          </a:xfrm>
          <a:prstGeom prst="rect">
            <a:avLst/>
          </a:prstGeom>
          <a:noFill/>
          <a:ln/>
        </p:spPr>
        <p:txBody>
          <a:bodyPr wrap="square" lIns="0" tIns="0" rIns="0" bIns="0" rtlCol="0" anchor="ctr"/>
          <a:lstStyle/>
          <a:p>
            <a:pPr algn="ctr" indent="0" marL="0">
              <a:buNone/>
            </a:pPr>
            <a:r>
              <a:rPr lang="en-US" sz="1500" b="1" dirty="0">
                <a:solidFill>
                  <a:schemeClr val="tx1"/>
                </a:solidFill>
              </a:rPr>
              <a:t>both sell it</a:t>
            </a:r>
            <a:endParaRPr lang="en-US" sz="1500" dirty="0"/>
          </a:p>
        </p:txBody>
      </p:sp>
      <p:sp>
        <p:nvSpPr>
          <p:cNvPr id="17" name="box-917"/>
          <p:cNvSpPr/>
          <p:nvPr/>
        </p:nvSpPr>
        <p:spPr>
          <a:xfrm>
            <a:off x="548640" y="4983480"/>
            <a:ext cx="5440680" cy="1188720"/>
          </a:xfrm>
          <a:prstGeom prst="roundRect">
            <a:avLst>
              <a:gd name="adj" fmla="val 6154"/>
            </a:avLst>
          </a:prstGeom>
          <a:solidFill>
            <a:schemeClr val="bg1"/>
          </a:solidFill>
          <a:ln w="25400">
            <a:solidFill>
              <a:schemeClr val="accent3"/>
            </a:solidFill>
            <a:prstDash val="solid"/>
          </a:ln>
          <a:effectLst>
            <a:outerShdw sx="100000" sy="100000" kx="0" ky="0" algn="bl" rotWithShape="0" blurRad="101600" dist="25400" dir="5400000">
              <a:srgbClr val="000000">
                <a:alpha val="8000"/>
              </a:srgbClr>
            </a:outerShdw>
          </a:effectLst>
        </p:spPr>
      </p:sp>
      <p:sp>
        <p:nvSpPr>
          <p:cNvPr id="18" name="dot-918"/>
          <p:cNvSpPr/>
          <p:nvPr/>
        </p:nvSpPr>
        <p:spPr>
          <a:xfrm>
            <a:off x="777240" y="5257800"/>
            <a:ext cx="640080" cy="640080"/>
          </a:xfrm>
          <a:prstGeom prst="ellipse">
            <a:avLst/>
          </a:prstGeom>
          <a:solidFill>
            <a:schemeClr val="accent2"/>
          </a:solidFill>
          <a:ln/>
        </p:spPr>
      </p:sp>
      <p:sp>
        <p:nvSpPr>
          <p:cNvPr id="19" name="text-919"/>
          <p:cNvSpPr txBox="1"/>
          <p:nvPr/>
        </p:nvSpPr>
        <p:spPr>
          <a:xfrm>
            <a:off x="1600200" y="5074920"/>
            <a:ext cx="4206240" cy="502920"/>
          </a:xfrm>
          <a:prstGeom prst="rect">
            <a:avLst/>
          </a:prstGeom>
          <a:noFill/>
          <a:ln/>
        </p:spPr>
        <p:txBody>
          <a:bodyPr wrap="square" lIns="0" tIns="0" rIns="0" bIns="0" rtlCol="0" anchor="ctr"/>
          <a:lstStyle/>
          <a:p>
            <a:pPr algn="l" indent="0" marL="0">
              <a:buNone/>
            </a:pPr>
            <a:r>
              <a:rPr lang="en-US" sz="1600" b="1" dirty="0">
                <a:solidFill>
                  <a:schemeClr val="tx1"/>
                </a:solidFill>
                <a:latin typeface="Roboto Mono" pitchFamily="34" charset="0"/>
                <a:ea typeface="Roboto Mono" pitchFamily="34" charset="-122"/>
                <a:cs typeface="Roboto Mono" pitchFamily="34" charset="-120"/>
              </a:rPr>
              <a:t>SELECT … FOR UPDATE</a:t>
            </a:r>
            <a:endParaRPr lang="en-US" sz="1600" dirty="0"/>
          </a:p>
        </p:txBody>
      </p:sp>
      <p:sp>
        <p:nvSpPr>
          <p:cNvPr id="20" name="text-920"/>
          <p:cNvSpPr txBox="1"/>
          <p:nvPr/>
        </p:nvSpPr>
        <p:spPr>
          <a:xfrm>
            <a:off x="1600200" y="5577840"/>
            <a:ext cx="4206240" cy="411480"/>
          </a:xfrm>
          <a:prstGeom prst="rect">
            <a:avLst/>
          </a:prstGeom>
          <a:noFill/>
          <a:ln/>
        </p:spPr>
        <p:txBody>
          <a:bodyPr wrap="square" lIns="0" tIns="0" rIns="0" bIns="0" rtlCol="0" anchor="ctr"/>
          <a:lstStyle/>
          <a:p>
            <a:pPr algn="l" indent="0" marL="0">
              <a:buNone/>
            </a:pPr>
            <a:r>
              <a:rPr lang="en-US" sz="1400" dirty="0">
                <a:solidFill>
                  <a:schemeClr val="tx2"/>
                </a:solidFill>
              </a:rPr>
              <a:t>lock the row first</a:t>
            </a:r>
            <a:endParaRPr lang="en-US" sz="1400" dirty="0"/>
          </a:p>
        </p:txBody>
      </p:sp>
      <p:sp>
        <p:nvSpPr>
          <p:cNvPr id="21" name="box-921"/>
          <p:cNvSpPr/>
          <p:nvPr/>
        </p:nvSpPr>
        <p:spPr>
          <a:xfrm>
            <a:off x="6172200" y="4983480"/>
            <a:ext cx="5440680" cy="1188720"/>
          </a:xfrm>
          <a:prstGeom prst="roundRect">
            <a:avLst>
              <a:gd name="adj" fmla="val 6154"/>
            </a:avLst>
          </a:prstGeom>
          <a:solidFill>
            <a:schemeClr val="bg1"/>
          </a:solidFill>
          <a:ln w="25400">
            <a:solidFill>
              <a:schemeClr val="accent3"/>
            </a:solidFill>
            <a:prstDash val="solid"/>
          </a:ln>
          <a:effectLst>
            <a:outerShdw sx="100000" sy="100000" kx="0" ky="0" algn="bl" rotWithShape="0" blurRad="101600" dist="25400" dir="5400000">
              <a:srgbClr val="000000">
                <a:alpha val="8000"/>
              </a:srgbClr>
            </a:outerShdw>
          </a:effectLst>
        </p:spPr>
      </p:sp>
      <p:sp>
        <p:nvSpPr>
          <p:cNvPr id="22" name="dot-922"/>
          <p:cNvSpPr/>
          <p:nvPr/>
        </p:nvSpPr>
        <p:spPr>
          <a:xfrm>
            <a:off x="6400800" y="5257800"/>
            <a:ext cx="640080" cy="640080"/>
          </a:xfrm>
          <a:prstGeom prst="ellipse">
            <a:avLst/>
          </a:prstGeom>
          <a:solidFill>
            <a:schemeClr val="accent2"/>
          </a:solidFill>
          <a:ln/>
        </p:spPr>
      </p:sp>
      <p:sp>
        <p:nvSpPr>
          <p:cNvPr id="23" name="text-923"/>
          <p:cNvSpPr txBox="1"/>
          <p:nvPr/>
        </p:nvSpPr>
        <p:spPr>
          <a:xfrm>
            <a:off x="7223760" y="5074920"/>
            <a:ext cx="4297680" cy="502920"/>
          </a:xfrm>
          <a:prstGeom prst="rect">
            <a:avLst/>
          </a:prstGeom>
          <a:noFill/>
          <a:ln/>
        </p:spPr>
        <p:txBody>
          <a:bodyPr wrap="square" lIns="0" tIns="0" rIns="0" bIns="0" rtlCol="0" anchor="ctr"/>
          <a:lstStyle/>
          <a:p>
            <a:pPr algn="l" indent="0" marL="0">
              <a:buNone/>
            </a:pPr>
            <a:r>
              <a:rPr lang="en-US" sz="1300" b="1" dirty="0">
                <a:solidFill>
                  <a:schemeClr val="tx1"/>
                </a:solidFill>
                <a:latin typeface="Roboto Mono" pitchFamily="34" charset="0"/>
                <a:ea typeface="Roboto Mono" pitchFamily="34" charset="-122"/>
                <a:cs typeface="Roboto Mono" pitchFamily="34" charset="-120"/>
              </a:rPr>
              <a:t>SET stock = stock - 1 WHERE stock &gt; 0</a:t>
            </a:r>
            <a:endParaRPr lang="en-US" sz="1300" dirty="0"/>
          </a:p>
        </p:txBody>
      </p:sp>
      <p:sp>
        <p:nvSpPr>
          <p:cNvPr id="24" name="text-924"/>
          <p:cNvSpPr txBox="1"/>
          <p:nvPr/>
        </p:nvSpPr>
        <p:spPr>
          <a:xfrm>
            <a:off x="7223760" y="5577840"/>
            <a:ext cx="4206240" cy="411480"/>
          </a:xfrm>
          <a:prstGeom prst="rect">
            <a:avLst/>
          </a:prstGeom>
          <a:noFill/>
          <a:ln/>
        </p:spPr>
        <p:txBody>
          <a:bodyPr wrap="square" lIns="0" tIns="0" rIns="0" bIns="0" rtlCol="0" anchor="ctr"/>
          <a:lstStyle/>
          <a:p>
            <a:pPr algn="l" indent="0" marL="0">
              <a:buNone/>
            </a:pPr>
            <a:r>
              <a:rPr lang="en-US" sz="1400" dirty="0">
                <a:solidFill>
                  <a:schemeClr val="tx2"/>
                </a:solidFill>
              </a:rPr>
              <a:t>check and change in one step</a:t>
            </a:r>
            <a:endParaRPr lang="en-US" sz="1400" dirty="0"/>
          </a:p>
        </p:txBody>
      </p:sp>
      <p:pic>
        <p:nvPicPr>
          <p:cNvPr id="25" name="Image 0" descr="ShieldAlt icon">    </p:cNvPr>
          <p:cNvPicPr>
            <a:picLocks noChangeAspect="1"/>
          </p:cNvPicPr>
          <p:nvPr/>
        </p:nvPicPr>
        <p:blipFill>
          <a:blip r:embed="rId1"/>
          <a:stretch>
            <a:fillRect/>
          </a:stretch>
        </p:blipFill>
        <p:spPr>
          <a:xfrm>
            <a:off x="640812" y="476220"/>
            <a:ext cx="199705" cy="199705"/>
          </a:xfrm>
          <a:prstGeom prst="rect">
            <a:avLst/>
          </a:prstGeom>
        </p:spPr>
      </p:pic>
      <p:pic>
        <p:nvPicPr>
          <p:cNvPr id="26" name="Image 1" descr="User icon">    </p:cNvPr>
          <p:cNvPicPr>
            <a:picLocks noChangeAspect="1"/>
          </p:cNvPicPr>
          <p:nvPr/>
        </p:nvPicPr>
        <p:blipFill>
          <a:blip r:embed="rId2"/>
          <a:stretch>
            <a:fillRect/>
          </a:stretch>
        </p:blipFill>
        <p:spPr>
          <a:xfrm>
            <a:off x="1452067" y="2777947"/>
            <a:ext cx="570586" cy="570586"/>
          </a:xfrm>
          <a:prstGeom prst="rect">
            <a:avLst/>
          </a:prstGeom>
        </p:spPr>
      </p:pic>
      <p:pic>
        <p:nvPicPr>
          <p:cNvPr id="27" name="Image 2" descr="User icon">    </p:cNvPr>
          <p:cNvPicPr>
            <a:picLocks noChangeAspect="1"/>
          </p:cNvPicPr>
          <p:nvPr/>
        </p:nvPicPr>
        <p:blipFill>
          <a:blip r:embed="rId3"/>
          <a:stretch>
            <a:fillRect/>
          </a:stretch>
        </p:blipFill>
        <p:spPr>
          <a:xfrm>
            <a:off x="10138867" y="2777947"/>
            <a:ext cx="570586" cy="570586"/>
          </a:xfrm>
          <a:prstGeom prst="rect">
            <a:avLst/>
          </a:prstGeom>
        </p:spPr>
      </p:pic>
      <p:pic>
        <p:nvPicPr>
          <p:cNvPr id="28" name="Image 3" descr="Box icon">    </p:cNvPr>
          <p:cNvPicPr>
            <a:picLocks noChangeAspect="1"/>
          </p:cNvPicPr>
          <p:nvPr/>
        </p:nvPicPr>
        <p:blipFill>
          <a:blip r:embed="rId4"/>
          <a:stretch>
            <a:fillRect/>
          </a:stretch>
        </p:blipFill>
        <p:spPr>
          <a:xfrm>
            <a:off x="5715000" y="2606040"/>
            <a:ext cx="731520" cy="731520"/>
          </a:xfrm>
          <a:prstGeom prst="rect">
            <a:avLst/>
          </a:prstGeom>
        </p:spPr>
      </p:pic>
      <p:pic>
        <p:nvPicPr>
          <p:cNvPr id="29" name="Image 4" descr="Times icon">    </p:cNvPr>
          <p:cNvPicPr>
            <a:picLocks noChangeAspect="1"/>
          </p:cNvPicPr>
          <p:nvPr/>
        </p:nvPicPr>
        <p:blipFill>
          <a:blip r:embed="rId5"/>
          <a:stretch>
            <a:fillRect/>
          </a:stretch>
        </p:blipFill>
        <p:spPr>
          <a:xfrm>
            <a:off x="5961888" y="4041648"/>
            <a:ext cx="237744" cy="237744"/>
          </a:xfrm>
          <a:prstGeom prst="rect">
            <a:avLst/>
          </a:prstGeom>
        </p:spPr>
      </p:pic>
      <p:pic>
        <p:nvPicPr>
          <p:cNvPr id="30" name="Image 5" descr="Lock icon">    </p:cNvPr>
          <p:cNvPicPr>
            <a:picLocks noChangeAspect="1"/>
          </p:cNvPicPr>
          <p:nvPr/>
        </p:nvPicPr>
        <p:blipFill>
          <a:blip r:embed="rId6"/>
          <a:stretch>
            <a:fillRect/>
          </a:stretch>
        </p:blipFill>
        <p:spPr>
          <a:xfrm>
            <a:off x="930859" y="5411419"/>
            <a:ext cx="332842" cy="332842"/>
          </a:xfrm>
          <a:prstGeom prst="rect">
            <a:avLst/>
          </a:prstGeom>
        </p:spPr>
      </p:pic>
      <p:pic>
        <p:nvPicPr>
          <p:cNvPr id="31" name="Image 6" descr="Bolt icon">    </p:cNvPr>
          <p:cNvPicPr>
            <a:picLocks noChangeAspect="1"/>
          </p:cNvPicPr>
          <p:nvPr/>
        </p:nvPicPr>
        <p:blipFill>
          <a:blip r:embed="rId7"/>
          <a:stretch>
            <a:fillRect/>
          </a:stretch>
        </p:blipFill>
        <p:spPr>
          <a:xfrm>
            <a:off x="6554419" y="5411419"/>
            <a:ext cx="332842" cy="332842"/>
          </a:xfrm>
          <a:prstGeom prst="rect">
            <a:avLst/>
          </a:prstGeom>
        </p:spPr>
      </p:pic>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731520" y="2331720"/>
            <a:ext cx="6400800" cy="365760"/>
          </a:xfrm>
          <a:prstGeom prst="rect">
            <a:avLst/>
          </a:prstGeom>
          <a:noFill/>
          <a:ln/>
        </p:spPr>
        <p:txBody>
          <a:bodyPr wrap="square" lIns="0" tIns="0" rIns="0" bIns="0" rtlCol="0"/>
          <a:lstStyle/>
          <a:p>
            <a:pPr indent="0" marL="0">
              <a:buNone/>
            </a:pPr>
            <a:r>
              <a:rPr lang="en-US" sz="1400" b="1" spc="400" kern="0" dirty="0">
                <a:solidFill>
                  <a:schemeClr val="bg1"/>
                </a:solidFill>
              </a:rPr>
              <a:t>LAYER 4 OF 4</a:t>
            </a:r>
            <a:endParaRPr lang="en-US" sz="1400" dirty="0"/>
          </a:p>
        </p:txBody>
      </p:sp>
      <p:sp>
        <p:nvSpPr>
          <p:cNvPr id="3" name="Text 0"/>
          <p:cNvSpPr/>
          <p:nvPr>
            <p:ph idx="101" type="title" hasCustomPrompt="1"/>
          </p:nvPr>
        </p:nvSpPr>
        <p:spPr>
          <a:xfrm>
            <a:off x="731520" y="2697480"/>
            <a:ext cx="7772400" cy="1005840"/>
          </a:xfrm>
          <a:prstGeom prst="rect">
            <a:avLst/>
          </a:prstGeom>
          <a:noFill/>
          <a:ln/>
        </p:spPr>
        <p:txBody>
          <a:bodyPr wrap="square" lIns="0" tIns="0" rIns="0" bIns="0" rtlCol="0" anchor="ctr"/>
          <a:lstStyle/>
          <a:p>
            <a:pPr algn="l" indent="0" marL="0">
              <a:buNone/>
            </a:pPr>
            <a:r>
              <a:rPr lang="en-US" sz="5400" b="1" dirty="0">
                <a:solidFill>
                  <a:schemeClr val="bg1"/>
                </a:solidFill>
              </a:rPr>
              <a:t>Performance</a:t>
            </a:r>
            <a:endParaRPr lang="en-US" sz="5400" dirty="0"/>
          </a:p>
        </p:txBody>
      </p:sp>
      <p:sp>
        <p:nvSpPr>
          <p:cNvPr id="4" name="Text 0"/>
          <p:cNvSpPr/>
          <p:nvPr>
            <p:ph idx="102" type="body" hasCustomPrompt="1"/>
          </p:nvPr>
        </p:nvSpPr>
        <p:spPr>
          <a:xfrm>
            <a:off x="731520" y="3749040"/>
            <a:ext cx="6400800" cy="822960"/>
          </a:xfrm>
          <a:prstGeom prst="rect">
            <a:avLst/>
          </a:prstGeom>
          <a:noFill/>
          <a:ln/>
        </p:spPr>
        <p:txBody>
          <a:bodyPr wrap="square" lIns="0" tIns="0" rIns="0" bIns="0" rtlCol="0" anchor="t"/>
          <a:lstStyle/>
          <a:p>
            <a:pPr indent="0" marL="0">
              <a:buNone/>
            </a:pPr>
            <a:r>
              <a:rPr lang="en-US" sz="2400" dirty="0">
                <a:solidFill>
                  <a:schemeClr val="bg1"/>
                </a:solidFill>
              </a:rPr>
              <a:t>How do I make it fast, and prove it?</a:t>
            </a:r>
            <a:endParaRPr lang="en-US" sz="2400" dirty="0"/>
          </a:p>
        </p:txBody>
      </p:sp>
      <p:sp>
        <p:nvSpPr>
          <p:cNvPr id="5" name="text-925"/>
          <p:cNvSpPr txBox="1"/>
          <p:nvPr/>
        </p:nvSpPr>
        <p:spPr>
          <a:xfrm>
            <a:off x="731520" y="4892040"/>
            <a:ext cx="5486400" cy="320040"/>
          </a:xfrm>
          <a:prstGeom prst="rect">
            <a:avLst/>
          </a:prstGeom>
          <a:noFill/>
          <a:ln/>
        </p:spPr>
        <p:txBody>
          <a:bodyPr wrap="square" lIns="0" tIns="0" rIns="0" bIns="0" rtlCol="0" anchor="ctr"/>
          <a:lstStyle/>
          <a:p>
            <a:pPr algn="l" indent="0" marL="0">
              <a:buNone/>
            </a:pPr>
            <a:r>
              <a:rPr lang="en-US" sz="1400" b="1" spc="200" kern="0" dirty="0">
                <a:solidFill>
                  <a:schemeClr val="bg1"/>
                </a:solidFill>
              </a:rPr>
              <a:t>SECTIONS 3.11 – 3.13</a:t>
            </a:r>
            <a:endParaRPr lang="en-US" sz="1400" dirty="0"/>
          </a:p>
        </p:txBody>
      </p:sp>
      <p:sp>
        <p:nvSpPr>
          <p:cNvPr id="6" name="box-926"/>
          <p:cNvSpPr/>
          <p:nvPr/>
        </p:nvSpPr>
        <p:spPr>
          <a:xfrm>
            <a:off x="7315200" y="4114800"/>
            <a:ext cx="4013302" cy="330098"/>
          </a:xfrm>
          <a:prstGeom prst="roundRect">
            <a:avLst>
              <a:gd name="adj" fmla="val 11080"/>
            </a:avLst>
          </a:prstGeom>
          <a:solidFill>
            <a:schemeClr val="bg1">
              <a:alpha val="35000"/>
            </a:schemeClr>
          </a:solidFill>
          <a:ln/>
        </p:spPr>
      </p:sp>
      <p:sp>
        <p:nvSpPr>
          <p:cNvPr id="7" name="box-927"/>
          <p:cNvSpPr/>
          <p:nvPr/>
        </p:nvSpPr>
        <p:spPr>
          <a:xfrm>
            <a:off x="7315200" y="4479646"/>
            <a:ext cx="4013302" cy="451714"/>
          </a:xfrm>
          <a:prstGeom prst="roundRect">
            <a:avLst>
              <a:gd name="adj" fmla="val 8097"/>
            </a:avLst>
          </a:prstGeom>
          <a:solidFill>
            <a:schemeClr val="bg1">
              <a:alpha val="35000"/>
            </a:schemeClr>
          </a:solidFill>
          <a:ln/>
        </p:spPr>
      </p:sp>
      <p:sp>
        <p:nvSpPr>
          <p:cNvPr id="8" name="box-928"/>
          <p:cNvSpPr/>
          <p:nvPr/>
        </p:nvSpPr>
        <p:spPr>
          <a:xfrm>
            <a:off x="7315200" y="4966106"/>
            <a:ext cx="4013302" cy="330098"/>
          </a:xfrm>
          <a:prstGeom prst="roundRect">
            <a:avLst>
              <a:gd name="adj" fmla="val 11080"/>
            </a:avLst>
          </a:prstGeom>
          <a:solidFill>
            <a:schemeClr val="bg1">
              <a:alpha val="35000"/>
            </a:schemeClr>
          </a:solidFill>
          <a:ln/>
        </p:spPr>
      </p:sp>
      <p:sp>
        <p:nvSpPr>
          <p:cNvPr id="9" name="box-929"/>
          <p:cNvSpPr/>
          <p:nvPr/>
        </p:nvSpPr>
        <p:spPr>
          <a:xfrm>
            <a:off x="7315200" y="5330952"/>
            <a:ext cx="4013302" cy="330098"/>
          </a:xfrm>
          <a:prstGeom prst="roundRect">
            <a:avLst>
              <a:gd name="adj" fmla="val 11080"/>
            </a:avLst>
          </a:prstGeom>
          <a:solidFill>
            <a:schemeClr val="bg1"/>
          </a:solidFill>
          <a:ln/>
        </p:spPr>
      </p:sp>
      <p:sp>
        <p:nvSpPr>
          <p:cNvPr id="10" name="box-930"/>
          <p:cNvSpPr/>
          <p:nvPr/>
        </p:nvSpPr>
        <p:spPr>
          <a:xfrm>
            <a:off x="7384694" y="4208617"/>
            <a:ext cx="747065" cy="215433"/>
          </a:xfrm>
          <a:prstGeom prst="roundRect">
            <a:avLst>
              <a:gd name="adj" fmla="val 12733"/>
            </a:avLst>
          </a:prstGeom>
          <a:solidFill>
            <a:schemeClr val="tx1">
              <a:alpha val="80000"/>
            </a:schemeClr>
          </a:solidFill>
          <a:ln/>
        </p:spPr>
      </p:sp>
      <p:sp>
        <p:nvSpPr>
          <p:cNvPr id="11" name="box-931"/>
          <p:cNvSpPr/>
          <p:nvPr/>
        </p:nvSpPr>
        <p:spPr>
          <a:xfrm>
            <a:off x="8253374" y="4208617"/>
            <a:ext cx="660197" cy="215433"/>
          </a:xfrm>
          <a:prstGeom prst="roundRect">
            <a:avLst>
              <a:gd name="adj" fmla="val 12733"/>
            </a:avLst>
          </a:prstGeom>
          <a:solidFill>
            <a:schemeClr val="tx1">
              <a:alpha val="80000"/>
            </a:schemeClr>
          </a:solidFill>
          <a:ln/>
        </p:spPr>
      </p:sp>
      <p:sp>
        <p:nvSpPr>
          <p:cNvPr id="12" name="box-932"/>
          <p:cNvSpPr/>
          <p:nvPr/>
        </p:nvSpPr>
        <p:spPr>
          <a:xfrm>
            <a:off x="9035186" y="4208617"/>
            <a:ext cx="660197" cy="215433"/>
          </a:xfrm>
          <a:prstGeom prst="roundRect">
            <a:avLst>
              <a:gd name="adj" fmla="val 12733"/>
            </a:avLst>
          </a:prstGeom>
          <a:solidFill>
            <a:schemeClr val="tx1">
              <a:alpha val="80000"/>
            </a:schemeClr>
          </a:solidFill>
          <a:ln/>
        </p:spPr>
      </p:sp>
      <p:sp>
        <p:nvSpPr>
          <p:cNvPr id="13" name="box-933"/>
          <p:cNvSpPr/>
          <p:nvPr/>
        </p:nvSpPr>
        <p:spPr>
          <a:xfrm>
            <a:off x="9816998" y="4208617"/>
            <a:ext cx="660197" cy="215433"/>
          </a:xfrm>
          <a:prstGeom prst="roundRect">
            <a:avLst>
              <a:gd name="adj" fmla="val 12733"/>
            </a:avLst>
          </a:prstGeom>
          <a:solidFill>
            <a:schemeClr val="tx1">
              <a:alpha val="80000"/>
            </a:schemeClr>
          </a:solidFill>
          <a:ln/>
        </p:spPr>
      </p:sp>
      <p:sp>
        <p:nvSpPr>
          <p:cNvPr id="14" name="box-934"/>
          <p:cNvSpPr/>
          <p:nvPr/>
        </p:nvSpPr>
        <p:spPr>
          <a:xfrm>
            <a:off x="10598810" y="4208617"/>
            <a:ext cx="660197" cy="215433"/>
          </a:xfrm>
          <a:prstGeom prst="roundRect">
            <a:avLst>
              <a:gd name="adj" fmla="val 12733"/>
            </a:avLst>
          </a:prstGeom>
          <a:solidFill>
            <a:schemeClr val="tx1">
              <a:alpha val="80000"/>
            </a:schemeClr>
          </a:solidFill>
          <a:ln/>
        </p:spPr>
      </p:sp>
      <p:sp>
        <p:nvSpPr>
          <p:cNvPr id="15" name="line-935"/>
          <p:cNvSpPr/>
          <p:nvPr/>
        </p:nvSpPr>
        <p:spPr>
          <a:xfrm>
            <a:off x="8131759" y="4316334"/>
            <a:ext cx="121615" cy="91"/>
          </a:xfrm>
          <a:prstGeom prst="line">
            <a:avLst/>
          </a:prstGeom>
          <a:noFill/>
          <a:ln w="9525">
            <a:solidFill>
              <a:schemeClr val="tx1"/>
            </a:solidFill>
            <a:prstDash val="solid"/>
          </a:ln>
        </p:spPr>
      </p:sp>
      <p:sp>
        <p:nvSpPr>
          <p:cNvPr id="16" name="line-936"/>
          <p:cNvSpPr/>
          <p:nvPr/>
        </p:nvSpPr>
        <p:spPr>
          <a:xfrm>
            <a:off x="8913571" y="4316334"/>
            <a:ext cx="121615" cy="91"/>
          </a:xfrm>
          <a:prstGeom prst="line">
            <a:avLst/>
          </a:prstGeom>
          <a:noFill/>
          <a:ln w="9525">
            <a:solidFill>
              <a:schemeClr val="tx1"/>
            </a:solidFill>
            <a:prstDash val="solid"/>
          </a:ln>
        </p:spPr>
      </p:sp>
      <p:sp>
        <p:nvSpPr>
          <p:cNvPr id="17" name="line-937"/>
          <p:cNvSpPr/>
          <p:nvPr/>
        </p:nvSpPr>
        <p:spPr>
          <a:xfrm>
            <a:off x="9695383" y="4316334"/>
            <a:ext cx="121615" cy="91"/>
          </a:xfrm>
          <a:prstGeom prst="line">
            <a:avLst/>
          </a:prstGeom>
          <a:noFill/>
          <a:ln w="9525">
            <a:solidFill>
              <a:schemeClr val="tx1"/>
            </a:solidFill>
            <a:prstDash val="solid"/>
          </a:ln>
        </p:spPr>
      </p:sp>
      <p:sp>
        <p:nvSpPr>
          <p:cNvPr id="18" name="line-938"/>
          <p:cNvSpPr/>
          <p:nvPr/>
        </p:nvSpPr>
        <p:spPr>
          <a:xfrm>
            <a:off x="10477195" y="4316334"/>
            <a:ext cx="121615" cy="91"/>
          </a:xfrm>
          <a:prstGeom prst="line">
            <a:avLst/>
          </a:prstGeom>
          <a:noFill/>
          <a:ln w="9525">
            <a:solidFill>
              <a:schemeClr val="tx1"/>
            </a:solidFill>
            <a:prstDash val="solid"/>
          </a:ln>
        </p:spPr>
      </p:sp>
      <p:sp>
        <p:nvSpPr>
          <p:cNvPr id="19" name="box-939"/>
          <p:cNvSpPr/>
          <p:nvPr/>
        </p:nvSpPr>
        <p:spPr>
          <a:xfrm>
            <a:off x="7384694" y="4670755"/>
            <a:ext cx="555955" cy="215433"/>
          </a:xfrm>
          <a:prstGeom prst="roundRect">
            <a:avLst>
              <a:gd name="adj" fmla="val 12733"/>
            </a:avLst>
          </a:prstGeom>
          <a:solidFill>
            <a:schemeClr val="tx1">
              <a:alpha val="80000"/>
            </a:schemeClr>
          </a:solidFill>
          <a:ln/>
        </p:spPr>
      </p:sp>
      <p:sp>
        <p:nvSpPr>
          <p:cNvPr id="20" name="box-940"/>
          <p:cNvSpPr/>
          <p:nvPr/>
        </p:nvSpPr>
        <p:spPr>
          <a:xfrm>
            <a:off x="8062265" y="4583887"/>
            <a:ext cx="3196742" cy="319674"/>
          </a:xfrm>
          <a:prstGeom prst="roundRect">
            <a:avLst>
              <a:gd name="adj" fmla="val 8581"/>
            </a:avLst>
          </a:prstGeom>
          <a:ln w="6350">
            <a:solidFill>
              <a:schemeClr val="tx1"/>
            </a:solidFill>
            <a:prstDash val="dash"/>
          </a:ln>
        </p:spPr>
      </p:sp>
      <p:sp>
        <p:nvSpPr>
          <p:cNvPr id="21" name="box-941"/>
          <p:cNvSpPr/>
          <p:nvPr/>
        </p:nvSpPr>
        <p:spPr>
          <a:xfrm>
            <a:off x="8131759" y="4670755"/>
            <a:ext cx="948599" cy="215433"/>
          </a:xfrm>
          <a:prstGeom prst="roundRect">
            <a:avLst>
              <a:gd name="adj" fmla="val 12733"/>
            </a:avLst>
          </a:prstGeom>
          <a:solidFill>
            <a:schemeClr val="tx1">
              <a:alpha val="80000"/>
            </a:schemeClr>
          </a:solidFill>
          <a:ln/>
        </p:spPr>
      </p:sp>
      <p:sp>
        <p:nvSpPr>
          <p:cNvPr id="22" name="box-942"/>
          <p:cNvSpPr/>
          <p:nvPr/>
        </p:nvSpPr>
        <p:spPr>
          <a:xfrm>
            <a:off x="9184599" y="4670755"/>
            <a:ext cx="948599" cy="215433"/>
          </a:xfrm>
          <a:prstGeom prst="roundRect">
            <a:avLst>
              <a:gd name="adj" fmla="val 12733"/>
            </a:avLst>
          </a:prstGeom>
          <a:solidFill>
            <a:schemeClr val="tx1">
              <a:alpha val="80000"/>
            </a:schemeClr>
          </a:solidFill>
          <a:ln/>
        </p:spPr>
      </p:sp>
      <p:sp>
        <p:nvSpPr>
          <p:cNvPr id="23" name="box-943"/>
          <p:cNvSpPr/>
          <p:nvPr/>
        </p:nvSpPr>
        <p:spPr>
          <a:xfrm>
            <a:off x="10237440" y="4670755"/>
            <a:ext cx="948599" cy="215433"/>
          </a:xfrm>
          <a:prstGeom prst="roundRect">
            <a:avLst>
              <a:gd name="adj" fmla="val 12733"/>
            </a:avLst>
          </a:prstGeom>
          <a:solidFill>
            <a:schemeClr val="tx1">
              <a:alpha val="80000"/>
            </a:schemeClr>
          </a:solidFill>
          <a:ln/>
        </p:spPr>
      </p:sp>
      <p:sp>
        <p:nvSpPr>
          <p:cNvPr id="24" name="line-944"/>
          <p:cNvSpPr/>
          <p:nvPr/>
        </p:nvSpPr>
        <p:spPr>
          <a:xfrm>
            <a:off x="10928909" y="4424050"/>
            <a:ext cx="91" cy="38222"/>
          </a:xfrm>
          <a:prstGeom prst="line">
            <a:avLst/>
          </a:prstGeom>
          <a:noFill/>
          <a:ln w="9525">
            <a:solidFill>
              <a:schemeClr val="tx1"/>
            </a:solidFill>
            <a:prstDash val="solid"/>
          </a:ln>
        </p:spPr>
      </p:sp>
      <p:sp>
        <p:nvSpPr>
          <p:cNvPr id="25" name="line-945"/>
          <p:cNvSpPr/>
          <p:nvPr/>
        </p:nvSpPr>
        <p:spPr>
          <a:xfrm flipH="1">
            <a:off x="7662672" y="4462272"/>
            <a:ext cx="3266237" cy="91"/>
          </a:xfrm>
          <a:prstGeom prst="line">
            <a:avLst/>
          </a:prstGeom>
          <a:noFill/>
          <a:ln w="9525">
            <a:solidFill>
              <a:schemeClr val="tx1"/>
            </a:solidFill>
            <a:prstDash val="solid"/>
          </a:ln>
        </p:spPr>
      </p:sp>
      <p:sp>
        <p:nvSpPr>
          <p:cNvPr id="26" name="line-946"/>
          <p:cNvSpPr/>
          <p:nvPr/>
        </p:nvSpPr>
        <p:spPr>
          <a:xfrm>
            <a:off x="7662672" y="4462272"/>
            <a:ext cx="91" cy="208483"/>
          </a:xfrm>
          <a:prstGeom prst="line">
            <a:avLst/>
          </a:prstGeom>
          <a:noFill/>
          <a:ln w="9525">
            <a:solidFill>
              <a:schemeClr val="tx1"/>
            </a:solidFill>
            <a:prstDash val="solid"/>
          </a:ln>
        </p:spPr>
      </p:sp>
      <p:sp>
        <p:nvSpPr>
          <p:cNvPr id="27" name="line-947"/>
          <p:cNvSpPr/>
          <p:nvPr/>
        </p:nvSpPr>
        <p:spPr>
          <a:xfrm>
            <a:off x="7940650" y="4778472"/>
            <a:ext cx="121615" cy="91"/>
          </a:xfrm>
          <a:prstGeom prst="line">
            <a:avLst/>
          </a:prstGeom>
          <a:noFill/>
          <a:ln w="9525">
            <a:solidFill>
              <a:schemeClr val="tx1"/>
            </a:solidFill>
            <a:prstDash val="solid"/>
          </a:ln>
        </p:spPr>
      </p:sp>
      <p:sp>
        <p:nvSpPr>
          <p:cNvPr id="28" name="box-948"/>
          <p:cNvSpPr/>
          <p:nvPr/>
        </p:nvSpPr>
        <p:spPr>
          <a:xfrm>
            <a:off x="7384694" y="5059924"/>
            <a:ext cx="903427" cy="215433"/>
          </a:xfrm>
          <a:prstGeom prst="roundRect">
            <a:avLst>
              <a:gd name="adj" fmla="val 12733"/>
            </a:avLst>
          </a:prstGeom>
          <a:solidFill>
            <a:schemeClr val="tx1">
              <a:alpha val="80000"/>
            </a:schemeClr>
          </a:solidFill>
          <a:ln/>
        </p:spPr>
      </p:sp>
      <p:sp>
        <p:nvSpPr>
          <p:cNvPr id="29" name="box-949"/>
          <p:cNvSpPr/>
          <p:nvPr/>
        </p:nvSpPr>
        <p:spPr>
          <a:xfrm>
            <a:off x="8444484" y="5059924"/>
            <a:ext cx="1111910" cy="215433"/>
          </a:xfrm>
          <a:prstGeom prst="roundRect">
            <a:avLst>
              <a:gd name="adj" fmla="val 12733"/>
            </a:avLst>
          </a:prstGeom>
          <a:solidFill>
            <a:schemeClr val="tx1">
              <a:alpha val="80000"/>
            </a:schemeClr>
          </a:solidFill>
          <a:ln/>
        </p:spPr>
      </p:sp>
      <p:sp>
        <p:nvSpPr>
          <p:cNvPr id="30" name="line-950"/>
          <p:cNvSpPr/>
          <p:nvPr/>
        </p:nvSpPr>
        <p:spPr>
          <a:xfrm>
            <a:off x="9000439" y="4903561"/>
            <a:ext cx="91" cy="156362"/>
          </a:xfrm>
          <a:prstGeom prst="line">
            <a:avLst/>
          </a:prstGeom>
          <a:noFill/>
          <a:ln w="9525">
            <a:solidFill>
              <a:schemeClr val="tx1"/>
            </a:solidFill>
            <a:prstDash val="solid"/>
          </a:ln>
        </p:spPr>
      </p:sp>
      <p:sp>
        <p:nvSpPr>
          <p:cNvPr id="31" name="line-951"/>
          <p:cNvSpPr/>
          <p:nvPr/>
        </p:nvSpPr>
        <p:spPr>
          <a:xfrm>
            <a:off x="8288122" y="5167640"/>
            <a:ext cx="156362" cy="91"/>
          </a:xfrm>
          <a:prstGeom prst="line">
            <a:avLst/>
          </a:prstGeom>
          <a:noFill/>
          <a:ln w="9525">
            <a:solidFill>
              <a:schemeClr val="tx1"/>
            </a:solidFill>
            <a:prstDash val="solid"/>
          </a:ln>
        </p:spPr>
      </p:sp>
      <p:sp>
        <p:nvSpPr>
          <p:cNvPr id="32" name="box-952"/>
          <p:cNvSpPr/>
          <p:nvPr/>
        </p:nvSpPr>
        <p:spPr>
          <a:xfrm>
            <a:off x="7384694" y="5424769"/>
            <a:ext cx="903427" cy="215433"/>
          </a:xfrm>
          <a:prstGeom prst="roundRect">
            <a:avLst>
              <a:gd name="adj" fmla="val 12733"/>
            </a:avLst>
          </a:prstGeom>
          <a:solidFill>
            <a:schemeClr val="tx1">
              <a:alpha val="80000"/>
            </a:schemeClr>
          </a:solidFill>
          <a:ln/>
        </p:spPr>
      </p:sp>
      <p:sp>
        <p:nvSpPr>
          <p:cNvPr id="33" name="box-953"/>
          <p:cNvSpPr/>
          <p:nvPr/>
        </p:nvSpPr>
        <p:spPr>
          <a:xfrm>
            <a:off x="8444484" y="5424769"/>
            <a:ext cx="903427" cy="215433"/>
          </a:xfrm>
          <a:prstGeom prst="roundRect">
            <a:avLst>
              <a:gd name="adj" fmla="val 12733"/>
            </a:avLst>
          </a:prstGeom>
          <a:solidFill>
            <a:schemeClr val="tx1">
              <a:alpha val="80000"/>
            </a:schemeClr>
          </a:solidFill>
          <a:ln/>
        </p:spPr>
      </p:sp>
      <p:sp>
        <p:nvSpPr>
          <p:cNvPr id="34" name="box-954"/>
          <p:cNvSpPr/>
          <p:nvPr/>
        </p:nvSpPr>
        <p:spPr>
          <a:xfrm>
            <a:off x="9504274" y="5424769"/>
            <a:ext cx="1007669" cy="215433"/>
          </a:xfrm>
          <a:prstGeom prst="roundRect">
            <a:avLst>
              <a:gd name="adj" fmla="val 12733"/>
            </a:avLst>
          </a:prstGeom>
          <a:solidFill>
            <a:schemeClr val="tx1">
              <a:alpha val="80000"/>
            </a:schemeClr>
          </a:solidFill>
          <a:ln/>
        </p:spPr>
      </p:sp>
      <p:sp>
        <p:nvSpPr>
          <p:cNvPr id="35" name="line-955"/>
          <p:cNvSpPr/>
          <p:nvPr/>
        </p:nvSpPr>
        <p:spPr>
          <a:xfrm>
            <a:off x="9000439" y="5275356"/>
            <a:ext cx="91" cy="38222"/>
          </a:xfrm>
          <a:prstGeom prst="line">
            <a:avLst/>
          </a:prstGeom>
          <a:noFill/>
          <a:ln w="9525">
            <a:solidFill>
              <a:schemeClr val="tx1"/>
            </a:solidFill>
            <a:prstDash val="solid"/>
          </a:ln>
        </p:spPr>
      </p:sp>
      <p:sp>
        <p:nvSpPr>
          <p:cNvPr id="36" name="line-956"/>
          <p:cNvSpPr/>
          <p:nvPr/>
        </p:nvSpPr>
        <p:spPr>
          <a:xfrm flipH="1">
            <a:off x="7836408" y="5313578"/>
            <a:ext cx="1164031" cy="91"/>
          </a:xfrm>
          <a:prstGeom prst="line">
            <a:avLst/>
          </a:prstGeom>
          <a:noFill/>
          <a:ln w="9525">
            <a:solidFill>
              <a:schemeClr val="tx1"/>
            </a:solidFill>
            <a:prstDash val="solid"/>
          </a:ln>
        </p:spPr>
      </p:sp>
      <p:sp>
        <p:nvSpPr>
          <p:cNvPr id="37" name="line-957"/>
          <p:cNvSpPr/>
          <p:nvPr/>
        </p:nvSpPr>
        <p:spPr>
          <a:xfrm>
            <a:off x="7836408" y="5313578"/>
            <a:ext cx="91" cy="111191"/>
          </a:xfrm>
          <a:prstGeom prst="line">
            <a:avLst/>
          </a:prstGeom>
          <a:noFill/>
          <a:ln w="9525">
            <a:solidFill>
              <a:schemeClr val="tx1"/>
            </a:solidFill>
            <a:prstDash val="solid"/>
          </a:ln>
        </p:spPr>
      </p:sp>
      <p:sp>
        <p:nvSpPr>
          <p:cNvPr id="38" name="line-958"/>
          <p:cNvSpPr/>
          <p:nvPr/>
        </p:nvSpPr>
        <p:spPr>
          <a:xfrm>
            <a:off x="8288122" y="5532486"/>
            <a:ext cx="156362" cy="91"/>
          </a:xfrm>
          <a:prstGeom prst="line">
            <a:avLst/>
          </a:prstGeom>
          <a:noFill/>
          <a:ln w="9525">
            <a:solidFill>
              <a:schemeClr val="tx1"/>
            </a:solidFill>
            <a:prstDash val="solid"/>
          </a:ln>
        </p:spPr>
      </p:sp>
      <p:sp>
        <p:nvSpPr>
          <p:cNvPr id="39" name="line-959"/>
          <p:cNvSpPr/>
          <p:nvPr/>
        </p:nvSpPr>
        <p:spPr>
          <a:xfrm>
            <a:off x="9347911" y="5532486"/>
            <a:ext cx="156362" cy="91"/>
          </a:xfrm>
          <a:prstGeom prst="line">
            <a:avLst/>
          </a:prstGeom>
          <a:noFill/>
          <a:ln w="9525">
            <a:solidFill>
              <a:schemeClr val="tx1"/>
            </a:solidFill>
            <a:prstDash val="solid"/>
          </a:ln>
        </p:spPr>
      </p:sp>
      <p:sp>
        <p:nvSpPr>
          <p:cNvPr id="40" name="line-960"/>
          <p:cNvSpPr/>
          <p:nvPr/>
        </p:nvSpPr>
        <p:spPr>
          <a:xfrm>
            <a:off x="10008108" y="5640202"/>
            <a:ext cx="91" cy="100767"/>
          </a:xfrm>
          <a:prstGeom prst="line">
            <a:avLst/>
          </a:prstGeom>
          <a:noFill/>
          <a:ln w="9525">
            <a:solidFill>
              <a:schemeClr val="accent1"/>
            </a:solidFill>
            <a:prstDash val="dash"/>
          </a:ln>
        </p:spPr>
      </p:sp>
      <p:sp>
        <p:nvSpPr>
          <p:cNvPr id="41" name="line-961"/>
          <p:cNvSpPr/>
          <p:nvPr/>
        </p:nvSpPr>
        <p:spPr>
          <a:xfrm flipH="1">
            <a:off x="8896198" y="5740969"/>
            <a:ext cx="1111910" cy="91"/>
          </a:xfrm>
          <a:prstGeom prst="line">
            <a:avLst/>
          </a:prstGeom>
          <a:noFill/>
          <a:ln w="9525">
            <a:solidFill>
              <a:schemeClr val="accent1"/>
            </a:solidFill>
            <a:prstDash val="dash"/>
          </a:ln>
        </p:spPr>
      </p:sp>
      <p:sp>
        <p:nvSpPr>
          <p:cNvPr id="42" name="line-962"/>
          <p:cNvSpPr/>
          <p:nvPr/>
        </p:nvSpPr>
        <p:spPr>
          <a:xfrm flipV="1">
            <a:off x="8896198" y="5640202"/>
            <a:ext cx="91" cy="100767"/>
          </a:xfrm>
          <a:prstGeom prst="line">
            <a:avLst/>
          </a:prstGeom>
          <a:noFill/>
          <a:ln w="9525">
            <a:solidFill>
              <a:schemeClr val="accent1"/>
            </a:solidFill>
            <a:prstDash val="dash"/>
          </a:ln>
        </p:spPr>
      </p:sp>
      <p:sp>
        <p:nvSpPr>
          <p:cNvPr id="43" name="line-963"/>
          <p:cNvSpPr/>
          <p:nvPr/>
        </p:nvSpPr>
        <p:spPr>
          <a:xfrm>
            <a:off x="10511942" y="5532486"/>
            <a:ext cx="920801" cy="91"/>
          </a:xfrm>
          <a:prstGeom prst="line">
            <a:avLst/>
          </a:prstGeom>
          <a:noFill/>
          <a:ln w="9525">
            <a:solidFill>
              <a:schemeClr val="accent1"/>
            </a:solidFill>
            <a:prstDash val="dash"/>
          </a:ln>
        </p:spPr>
      </p:sp>
      <p:sp>
        <p:nvSpPr>
          <p:cNvPr id="44" name="line-964"/>
          <p:cNvSpPr/>
          <p:nvPr/>
        </p:nvSpPr>
        <p:spPr>
          <a:xfrm flipV="1">
            <a:off x="11432743" y="4316334"/>
            <a:ext cx="91" cy="1216152"/>
          </a:xfrm>
          <a:prstGeom prst="line">
            <a:avLst/>
          </a:prstGeom>
          <a:noFill/>
          <a:ln w="9525">
            <a:solidFill>
              <a:schemeClr val="accent1"/>
            </a:solidFill>
            <a:prstDash val="dash"/>
          </a:ln>
        </p:spPr>
      </p:sp>
      <p:sp>
        <p:nvSpPr>
          <p:cNvPr id="45" name="line-965"/>
          <p:cNvSpPr/>
          <p:nvPr/>
        </p:nvSpPr>
        <p:spPr>
          <a:xfrm flipH="1">
            <a:off x="11259007" y="4316334"/>
            <a:ext cx="173736" cy="91"/>
          </a:xfrm>
          <a:prstGeom prst="line">
            <a:avLst/>
          </a:prstGeom>
          <a:noFill/>
          <a:ln w="9525">
            <a:solidFill>
              <a:schemeClr val="accent1"/>
            </a:solidFill>
            <a:prstDash val="dash"/>
          </a:ln>
        </p:spPr>
      </p:sp>
      <p:sp>
        <p:nvSpPr>
          <p:cNvPr id="46" name="text-966"/>
          <p:cNvSpPr txBox="1"/>
          <p:nvPr/>
        </p:nvSpPr>
        <p:spPr>
          <a:xfrm>
            <a:off x="7315200" y="3703320"/>
            <a:ext cx="4206240" cy="274320"/>
          </a:xfrm>
          <a:prstGeom prst="rect">
            <a:avLst/>
          </a:prstGeom>
          <a:noFill/>
          <a:ln/>
        </p:spPr>
        <p:txBody>
          <a:bodyPr wrap="square" lIns="0" tIns="0" rIns="0" bIns="0" rtlCol="0" anchor="ctr"/>
          <a:lstStyle/>
          <a:p>
            <a:pPr algn="r" indent="0" marL="0">
              <a:buNone/>
            </a:pPr>
            <a:r>
              <a:rPr lang="en-US" sz="1100" b="1" spc="200" kern="0" dirty="0">
                <a:solidFill>
                  <a:schemeClr val="bg1"/>
                </a:solidFill>
              </a:rPr>
              <a:t>you are here</a:t>
            </a:r>
            <a:endParaRPr lang="en-US" sz="1100" dirty="0"/>
          </a:p>
        </p:txBody>
      </p:sp>
      <p:pic>
        <p:nvPicPr>
          <p:cNvPr id="48" name="Image 0" descr="TachometerAlt icon">    </p:cNvPr>
          <p:cNvPicPr>
            <a:picLocks noChangeAspect="1"/>
          </p:cNvPicPr>
          <p:nvPr/>
        </p:nvPicPr>
        <p:blipFill>
          <a:blip r:embed="rId1"/>
          <a:stretch>
            <a:fillRect/>
          </a:stretch>
        </p:blipFill>
        <p:spPr>
          <a:xfrm>
            <a:off x="731520" y="914400"/>
            <a:ext cx="1143000" cy="1143000"/>
          </a:xfrm>
          <a:prstGeom prst="rect">
            <a:avLst/>
          </a:prstGeom>
        </p:spPr>
      </p:pic>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dot-967"/>
          <p:cNvSpPr/>
          <p:nvPr/>
        </p:nvSpPr>
        <p:spPr>
          <a:xfrm>
            <a:off x="548640" y="384048"/>
            <a:ext cx="384048" cy="384048"/>
          </a:xfrm>
          <a:prstGeom prst="ellipse">
            <a:avLst/>
          </a:prstGeom>
          <a:solidFill>
            <a:schemeClr val="accent3"/>
          </a:solidFill>
          <a:ln/>
        </p:spPr>
      </p:sp>
      <p:sp>
        <p:nvSpPr>
          <p:cNvPr id="3" name="Text 1"/>
          <p:cNvSpPr/>
          <p:nvPr>
            <p:ph idx="101" type="body" hasCustomPrompt="1"/>
          </p:nvPr>
        </p:nvSpPr>
        <p:spPr>
          <a:xfrm>
            <a:off x="1051560" y="384048"/>
            <a:ext cx="9601200" cy="384048"/>
          </a:xfrm>
          <a:prstGeom prst="rect">
            <a:avLst/>
          </a:prstGeom>
          <a:noFill/>
          <a:ln/>
        </p:spPr>
        <p:txBody>
          <a:bodyPr wrap="square" lIns="0" tIns="0" rIns="0" bIns="0" rtlCol="0" anchor="ctr"/>
          <a:lstStyle/>
          <a:p>
            <a:pPr indent="0" marL="0">
              <a:buNone/>
            </a:pPr>
            <a:r>
              <a:rPr lang="en-US" sz="1300" b="1" spc="300" kern="0" dirty="0">
                <a:solidFill>
                  <a:schemeClr val="tx2"/>
                </a:solidFill>
              </a:rPr>
              <a:t>L4  ·  PERFORMANCE  ·  3.11 SEED DATA</a:t>
            </a:r>
            <a:endParaRPr lang="en-US" sz="1300" dirty="0"/>
          </a:p>
        </p:txBody>
      </p:sp>
      <p:sp>
        <p:nvSpPr>
          <p:cNvPr id="4" name="Text 1"/>
          <p:cNvSpPr/>
          <p:nvPr>
            <p:ph idx="102" type="title" hasCustomPrompt="1"/>
          </p:nvPr>
        </p:nvSpPr>
        <p:spPr>
          <a:xfrm>
            <a:off x="548640" y="841248"/>
            <a:ext cx="11064240" cy="777240"/>
          </a:xfrm>
          <a:prstGeom prst="rect">
            <a:avLst/>
          </a:prstGeom>
          <a:noFill/>
          <a:ln/>
        </p:spPr>
        <p:txBody>
          <a:bodyPr wrap="square" lIns="0" tIns="0" rIns="0" bIns="0" rtlCol="0" anchor="ctr"/>
          <a:lstStyle/>
          <a:p>
            <a:pPr algn="l" indent="0" marL="0">
              <a:buNone/>
            </a:pPr>
            <a:r>
              <a:rPr lang="en-US" sz="3800" b="1" dirty="0">
                <a:solidFill>
                  <a:schemeClr val="tx1"/>
                </a:solidFill>
              </a:rPr>
              <a:t>Crash-test dummies for your database</a:t>
            </a:r>
            <a:endParaRPr lang="en-US" sz="3800" dirty="0"/>
          </a:p>
        </p:txBody>
      </p:sp>
      <p:sp>
        <p:nvSpPr>
          <p:cNvPr id="5" name="Text 1"/>
          <p:cNvSpPr/>
          <p:nvPr>
            <p:ph idx="103" type="body" hasCustomPrompt="1"/>
          </p:nvPr>
        </p:nvSpPr>
        <p:spPr>
          <a:xfrm>
            <a:off x="548640" y="1627632"/>
            <a:ext cx="11064240" cy="457200"/>
          </a:xfrm>
          <a:prstGeom prst="rect">
            <a:avLst/>
          </a:prstGeom>
          <a:noFill/>
          <a:ln/>
        </p:spPr>
        <p:txBody>
          <a:bodyPr wrap="square" lIns="0" tIns="0" rIns="0" bIns="0" rtlCol="0" anchor="t"/>
          <a:lstStyle/>
          <a:p>
            <a:pPr indent="0" marL="0">
              <a:buNone/>
            </a:pPr>
            <a:r>
              <a:rPr lang="en-US" sz="2000" dirty="0">
                <a:solidFill>
                  <a:schemeClr val="tx2"/>
                </a:solidFill>
              </a:rPr>
              <a:t>generate_series builds volume in one statement</a:t>
            </a:r>
            <a:endParaRPr lang="en-US" sz="2000" dirty="0"/>
          </a:p>
        </p:txBody>
      </p:sp>
      <p:sp>
        <p:nvSpPr>
          <p:cNvPr id="7" name="dot-968"/>
          <p:cNvSpPr/>
          <p:nvPr/>
        </p:nvSpPr>
        <p:spPr>
          <a:xfrm>
            <a:off x="685800" y="2560320"/>
            <a:ext cx="1828800" cy="1828800"/>
          </a:xfrm>
          <a:prstGeom prst="ellipse">
            <a:avLst/>
          </a:prstGeom>
          <a:solidFill>
            <a:schemeClr val="accent3"/>
          </a:solidFill>
          <a:ln/>
        </p:spPr>
      </p:sp>
      <p:sp>
        <p:nvSpPr>
          <p:cNvPr id="8" name="box-969"/>
          <p:cNvSpPr/>
          <p:nvPr/>
        </p:nvSpPr>
        <p:spPr>
          <a:xfrm>
            <a:off x="2880360" y="2377440"/>
            <a:ext cx="2057400" cy="2148840"/>
          </a:xfrm>
          <a:prstGeom prst="roundRect">
            <a:avLst>
              <a:gd name="adj" fmla="val 3556"/>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9" name="text-970"/>
          <p:cNvSpPr txBox="1"/>
          <p:nvPr/>
        </p:nvSpPr>
        <p:spPr>
          <a:xfrm>
            <a:off x="2880360" y="2697480"/>
            <a:ext cx="2057400" cy="822960"/>
          </a:xfrm>
          <a:prstGeom prst="rect">
            <a:avLst/>
          </a:prstGeom>
          <a:noFill/>
          <a:ln/>
        </p:spPr>
        <p:txBody>
          <a:bodyPr wrap="square" lIns="0" tIns="0" rIns="0" bIns="0" rtlCol="0" anchor="ctr"/>
          <a:lstStyle/>
          <a:p>
            <a:pPr algn="ctr" indent="0" marL="0">
              <a:buNone/>
            </a:pPr>
            <a:r>
              <a:rPr lang="en-US" sz="3400" b="1" dirty="0">
                <a:solidFill>
                  <a:schemeClr val="accent3"/>
                </a:solidFill>
              </a:rPr>
              <a:t>10,000</a:t>
            </a:r>
            <a:endParaRPr lang="en-US" sz="3400" dirty="0"/>
          </a:p>
        </p:txBody>
      </p:sp>
      <p:sp>
        <p:nvSpPr>
          <p:cNvPr id="10" name="text-971"/>
          <p:cNvSpPr txBox="1"/>
          <p:nvPr/>
        </p:nvSpPr>
        <p:spPr>
          <a:xfrm>
            <a:off x="2880360" y="3566160"/>
            <a:ext cx="2057400" cy="457200"/>
          </a:xfrm>
          <a:prstGeom prst="rect">
            <a:avLst/>
          </a:prstGeom>
          <a:noFill/>
          <a:ln/>
        </p:spPr>
        <p:txBody>
          <a:bodyPr wrap="square" lIns="0" tIns="0" rIns="0" bIns="0" rtlCol="0" anchor="ctr"/>
          <a:lstStyle/>
          <a:p>
            <a:pPr algn="ctr" indent="0" marL="0">
              <a:buNone/>
            </a:pPr>
            <a:r>
              <a:rPr lang="en-US" sz="1600" dirty="0">
                <a:solidFill>
                  <a:schemeClr val="tx2"/>
                </a:solidFill>
              </a:rPr>
              <a:t>users</a:t>
            </a:r>
            <a:endParaRPr lang="en-US" sz="1600" dirty="0"/>
          </a:p>
        </p:txBody>
      </p:sp>
      <p:sp>
        <p:nvSpPr>
          <p:cNvPr id="11" name="box-972"/>
          <p:cNvSpPr/>
          <p:nvPr/>
        </p:nvSpPr>
        <p:spPr>
          <a:xfrm>
            <a:off x="5074920" y="2377440"/>
            <a:ext cx="2057400" cy="2148840"/>
          </a:xfrm>
          <a:prstGeom prst="roundRect">
            <a:avLst>
              <a:gd name="adj" fmla="val 3556"/>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12" name="text-973"/>
          <p:cNvSpPr txBox="1"/>
          <p:nvPr/>
        </p:nvSpPr>
        <p:spPr>
          <a:xfrm>
            <a:off x="5074920" y="2697480"/>
            <a:ext cx="2057400" cy="822960"/>
          </a:xfrm>
          <a:prstGeom prst="rect">
            <a:avLst/>
          </a:prstGeom>
          <a:noFill/>
          <a:ln/>
        </p:spPr>
        <p:txBody>
          <a:bodyPr wrap="square" lIns="0" tIns="0" rIns="0" bIns="0" rtlCol="0" anchor="ctr"/>
          <a:lstStyle/>
          <a:p>
            <a:pPr algn="ctr" indent="0" marL="0">
              <a:buNone/>
            </a:pPr>
            <a:r>
              <a:rPr lang="en-US" sz="3400" b="1" dirty="0">
                <a:solidFill>
                  <a:schemeClr val="accent3"/>
                </a:solidFill>
              </a:rPr>
              <a:t>1,000</a:t>
            </a:r>
            <a:endParaRPr lang="en-US" sz="3400" dirty="0"/>
          </a:p>
        </p:txBody>
      </p:sp>
      <p:sp>
        <p:nvSpPr>
          <p:cNvPr id="13" name="text-974"/>
          <p:cNvSpPr txBox="1"/>
          <p:nvPr/>
        </p:nvSpPr>
        <p:spPr>
          <a:xfrm>
            <a:off x="5074920" y="3566160"/>
            <a:ext cx="2057400" cy="457200"/>
          </a:xfrm>
          <a:prstGeom prst="rect">
            <a:avLst/>
          </a:prstGeom>
          <a:noFill/>
          <a:ln/>
        </p:spPr>
        <p:txBody>
          <a:bodyPr wrap="square" lIns="0" tIns="0" rIns="0" bIns="0" rtlCol="0" anchor="ctr"/>
          <a:lstStyle/>
          <a:p>
            <a:pPr algn="ctr" indent="0" marL="0">
              <a:buNone/>
            </a:pPr>
            <a:r>
              <a:rPr lang="en-US" sz="1600" dirty="0">
                <a:solidFill>
                  <a:schemeClr val="tx2"/>
                </a:solidFill>
              </a:rPr>
              <a:t>products</a:t>
            </a:r>
            <a:endParaRPr lang="en-US" sz="1600" dirty="0"/>
          </a:p>
        </p:txBody>
      </p:sp>
      <p:sp>
        <p:nvSpPr>
          <p:cNvPr id="14" name="box-975"/>
          <p:cNvSpPr/>
          <p:nvPr/>
        </p:nvSpPr>
        <p:spPr>
          <a:xfrm>
            <a:off x="7269480" y="2377440"/>
            <a:ext cx="2057400" cy="2148840"/>
          </a:xfrm>
          <a:prstGeom prst="roundRect">
            <a:avLst>
              <a:gd name="adj" fmla="val 3556"/>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15" name="text-976"/>
          <p:cNvSpPr txBox="1"/>
          <p:nvPr/>
        </p:nvSpPr>
        <p:spPr>
          <a:xfrm>
            <a:off x="7269480" y="2697480"/>
            <a:ext cx="2057400" cy="822960"/>
          </a:xfrm>
          <a:prstGeom prst="rect">
            <a:avLst/>
          </a:prstGeom>
          <a:noFill/>
          <a:ln/>
        </p:spPr>
        <p:txBody>
          <a:bodyPr wrap="square" lIns="0" tIns="0" rIns="0" bIns="0" rtlCol="0" anchor="ctr"/>
          <a:lstStyle/>
          <a:p>
            <a:pPr algn="ctr" indent="0" marL="0">
              <a:buNone/>
            </a:pPr>
            <a:r>
              <a:rPr lang="en-US" sz="3400" b="1" dirty="0">
                <a:solidFill>
                  <a:schemeClr val="accent3"/>
                </a:solidFill>
              </a:rPr>
              <a:t>50,000</a:t>
            </a:r>
            <a:endParaRPr lang="en-US" sz="3400" dirty="0"/>
          </a:p>
        </p:txBody>
      </p:sp>
      <p:sp>
        <p:nvSpPr>
          <p:cNvPr id="16" name="text-977"/>
          <p:cNvSpPr txBox="1"/>
          <p:nvPr/>
        </p:nvSpPr>
        <p:spPr>
          <a:xfrm>
            <a:off x="7269480" y="3566160"/>
            <a:ext cx="2057400" cy="457200"/>
          </a:xfrm>
          <a:prstGeom prst="rect">
            <a:avLst/>
          </a:prstGeom>
          <a:noFill/>
          <a:ln/>
        </p:spPr>
        <p:txBody>
          <a:bodyPr wrap="square" lIns="0" tIns="0" rIns="0" bIns="0" rtlCol="0" anchor="ctr"/>
          <a:lstStyle/>
          <a:p>
            <a:pPr algn="ctr" indent="0" marL="0">
              <a:buNone/>
            </a:pPr>
            <a:r>
              <a:rPr lang="en-US" sz="1600" dirty="0">
                <a:solidFill>
                  <a:schemeClr val="tx2"/>
                </a:solidFill>
              </a:rPr>
              <a:t>orders</a:t>
            </a:r>
            <a:endParaRPr lang="en-US" sz="1600" dirty="0"/>
          </a:p>
        </p:txBody>
      </p:sp>
      <p:sp>
        <p:nvSpPr>
          <p:cNvPr id="17" name="box-978"/>
          <p:cNvSpPr/>
          <p:nvPr/>
        </p:nvSpPr>
        <p:spPr>
          <a:xfrm>
            <a:off x="9464040" y="2377440"/>
            <a:ext cx="2057400" cy="2148840"/>
          </a:xfrm>
          <a:prstGeom prst="roundRect">
            <a:avLst>
              <a:gd name="adj" fmla="val 3556"/>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18" name="text-979"/>
          <p:cNvSpPr txBox="1"/>
          <p:nvPr/>
        </p:nvSpPr>
        <p:spPr>
          <a:xfrm>
            <a:off x="9464040" y="2697480"/>
            <a:ext cx="2057400" cy="822960"/>
          </a:xfrm>
          <a:prstGeom prst="rect">
            <a:avLst/>
          </a:prstGeom>
          <a:noFill/>
          <a:ln/>
        </p:spPr>
        <p:txBody>
          <a:bodyPr wrap="square" lIns="0" tIns="0" rIns="0" bIns="0" rtlCol="0" anchor="ctr"/>
          <a:lstStyle/>
          <a:p>
            <a:pPr algn="ctr" indent="0" marL="0">
              <a:buNone/>
            </a:pPr>
            <a:r>
              <a:rPr lang="en-US" sz="3400" b="1" dirty="0">
                <a:solidFill>
                  <a:schemeClr val="accent3"/>
                </a:solidFill>
              </a:rPr>
              <a:t>150,000</a:t>
            </a:r>
            <a:endParaRPr lang="en-US" sz="3400" dirty="0"/>
          </a:p>
        </p:txBody>
      </p:sp>
      <p:sp>
        <p:nvSpPr>
          <p:cNvPr id="19" name="text-980"/>
          <p:cNvSpPr txBox="1"/>
          <p:nvPr/>
        </p:nvSpPr>
        <p:spPr>
          <a:xfrm>
            <a:off x="9464040" y="3566160"/>
            <a:ext cx="2057400" cy="457200"/>
          </a:xfrm>
          <a:prstGeom prst="rect">
            <a:avLst/>
          </a:prstGeom>
          <a:noFill/>
          <a:ln/>
        </p:spPr>
        <p:txBody>
          <a:bodyPr wrap="square" lIns="0" tIns="0" rIns="0" bIns="0" rtlCol="0" anchor="ctr"/>
          <a:lstStyle/>
          <a:p>
            <a:pPr algn="ctr" indent="0" marL="0">
              <a:buNone/>
            </a:pPr>
            <a:r>
              <a:rPr lang="en-US" sz="1600" dirty="0">
                <a:solidFill>
                  <a:schemeClr val="tx2"/>
                </a:solidFill>
              </a:rPr>
              <a:t>order items</a:t>
            </a:r>
            <a:endParaRPr lang="en-US" sz="1600" dirty="0"/>
          </a:p>
        </p:txBody>
      </p:sp>
      <p:sp>
        <p:nvSpPr>
          <p:cNvPr id="20" name="box-981"/>
          <p:cNvSpPr/>
          <p:nvPr/>
        </p:nvSpPr>
        <p:spPr>
          <a:xfrm>
            <a:off x="2880360" y="4892040"/>
            <a:ext cx="4206240" cy="566928"/>
          </a:xfrm>
          <a:prstGeom prst="roundRect">
            <a:avLst>
              <a:gd name="adj" fmla="val 19355"/>
            </a:avLst>
          </a:prstGeom>
          <a:solidFill>
            <a:schemeClr val="tx1"/>
          </a:solidFill>
          <a:ln/>
        </p:spPr>
      </p:sp>
      <p:sp>
        <p:nvSpPr>
          <p:cNvPr id="21" name="text-982"/>
          <p:cNvSpPr txBox="1"/>
          <p:nvPr/>
        </p:nvSpPr>
        <p:spPr>
          <a:xfrm>
            <a:off x="2953512" y="4892040"/>
            <a:ext cx="4059936" cy="566928"/>
          </a:xfrm>
          <a:prstGeom prst="rect">
            <a:avLst/>
          </a:prstGeom>
          <a:noFill/>
          <a:ln/>
        </p:spPr>
        <p:txBody>
          <a:bodyPr wrap="square" lIns="0" tIns="0" rIns="0" bIns="0" rtlCol="0" anchor="ctr"/>
          <a:lstStyle/>
          <a:p>
            <a:pPr algn="ctr" indent="0" marL="0">
              <a:buNone/>
            </a:pPr>
            <a:r>
              <a:rPr lang="en-US" sz="1600" b="1" dirty="0">
                <a:solidFill>
                  <a:schemeClr val="bg1"/>
                </a:solidFill>
                <a:latin typeface="Roboto Mono" pitchFamily="34" charset="0"/>
                <a:ea typeface="Roboto Mono" pitchFamily="34" charset="-122"/>
                <a:cs typeface="Roboto Mono" pitchFamily="34" charset="-120"/>
              </a:rPr>
              <a:t>generate_series(1, 10000)</a:t>
            </a:r>
            <a:endParaRPr lang="en-US" sz="1600" dirty="0"/>
          </a:p>
        </p:txBody>
      </p:sp>
      <p:sp>
        <p:nvSpPr>
          <p:cNvPr id="22" name="line-983"/>
          <p:cNvSpPr/>
          <p:nvPr/>
        </p:nvSpPr>
        <p:spPr>
          <a:xfrm>
            <a:off x="7086600" y="5175504"/>
            <a:ext cx="548640" cy="91"/>
          </a:xfrm>
          <a:prstGeom prst="line">
            <a:avLst/>
          </a:prstGeom>
          <a:noFill/>
          <a:ln w="19050">
            <a:solidFill>
              <a:schemeClr val="tx2"/>
            </a:solidFill>
            <a:prstDash val="solid"/>
            <a:tailEnd type="triangle"/>
          </a:ln>
        </p:spPr>
      </p:sp>
      <p:sp>
        <p:nvSpPr>
          <p:cNvPr id="23" name="box-984"/>
          <p:cNvSpPr/>
          <p:nvPr/>
        </p:nvSpPr>
        <p:spPr>
          <a:xfrm>
            <a:off x="7635240" y="4892040"/>
            <a:ext cx="2377440" cy="566928"/>
          </a:xfrm>
          <a:prstGeom prst="roundRect">
            <a:avLst>
              <a:gd name="adj" fmla="val 19355"/>
            </a:avLst>
          </a:prstGeom>
          <a:solidFill>
            <a:schemeClr val="accent2"/>
          </a:solidFill>
          <a:ln/>
        </p:spPr>
      </p:sp>
      <p:sp>
        <p:nvSpPr>
          <p:cNvPr id="24" name="text-985"/>
          <p:cNvSpPr txBox="1"/>
          <p:nvPr/>
        </p:nvSpPr>
        <p:spPr>
          <a:xfrm>
            <a:off x="7708392" y="4892040"/>
            <a:ext cx="2231136" cy="566928"/>
          </a:xfrm>
          <a:prstGeom prst="rect">
            <a:avLst/>
          </a:prstGeom>
          <a:noFill/>
          <a:ln/>
        </p:spPr>
        <p:txBody>
          <a:bodyPr wrap="square" lIns="0" tIns="0" rIns="0" bIns="0" rtlCol="0" anchor="ctr"/>
          <a:lstStyle/>
          <a:p>
            <a:pPr algn="ctr" indent="0" marL="0">
              <a:buNone/>
            </a:pPr>
            <a:r>
              <a:rPr lang="en-US" sz="1600" b="1" dirty="0">
                <a:solidFill>
                  <a:schemeClr val="tx1"/>
                </a:solidFill>
                <a:latin typeface="Roboto Mono" pitchFamily="34" charset="0"/>
                <a:ea typeface="Roboto Mono" pitchFamily="34" charset="-122"/>
                <a:cs typeface="Roboto Mono" pitchFamily="34" charset="-120"/>
              </a:rPr>
              <a:t>then ANALYZE</a:t>
            </a:r>
            <a:endParaRPr lang="en-US" sz="1600" dirty="0"/>
          </a:p>
        </p:txBody>
      </p:sp>
      <p:sp>
        <p:nvSpPr>
          <p:cNvPr id="25" name="text-986"/>
          <p:cNvSpPr txBox="1"/>
          <p:nvPr/>
        </p:nvSpPr>
        <p:spPr>
          <a:xfrm>
            <a:off x="548640" y="4892040"/>
            <a:ext cx="2194560" cy="566928"/>
          </a:xfrm>
          <a:prstGeom prst="rect">
            <a:avLst/>
          </a:prstGeom>
          <a:noFill/>
          <a:ln/>
        </p:spPr>
        <p:txBody>
          <a:bodyPr wrap="square" lIns="0" tIns="0" rIns="0" bIns="0" rtlCol="0" anchor="ctr"/>
          <a:lstStyle/>
          <a:p>
            <a:pPr algn="ctr" indent="0" marL="0">
              <a:buNone/>
            </a:pPr>
            <a:r>
              <a:rPr lang="en-US" sz="1300" dirty="0">
                <a:solidFill>
                  <a:schemeClr val="tx2"/>
                </a:solidFill>
              </a:rPr>
              <a:t>never real customer data</a:t>
            </a:r>
            <a:endParaRPr lang="en-US" sz="1300" dirty="0"/>
          </a:p>
        </p:txBody>
      </p:sp>
      <p:pic>
        <p:nvPicPr>
          <p:cNvPr id="26" name="Image 0" descr="TachometerAlt icon">    </p:cNvPr>
          <p:cNvPicPr>
            <a:picLocks noChangeAspect="1"/>
          </p:cNvPicPr>
          <p:nvPr/>
        </p:nvPicPr>
        <p:blipFill>
          <a:blip r:embed="rId1"/>
          <a:stretch>
            <a:fillRect/>
          </a:stretch>
        </p:blipFill>
        <p:spPr>
          <a:xfrm>
            <a:off x="640812" y="476220"/>
            <a:ext cx="199705" cy="199705"/>
          </a:xfrm>
          <a:prstGeom prst="rect">
            <a:avLst/>
          </a:prstGeom>
        </p:spPr>
      </p:pic>
      <p:pic>
        <p:nvPicPr>
          <p:cNvPr id="27" name="Image 1" descr="CarCrash icon">    </p:cNvPr>
          <p:cNvPicPr>
            <a:picLocks noChangeAspect="1"/>
          </p:cNvPicPr>
          <p:nvPr/>
        </p:nvPicPr>
        <p:blipFill>
          <a:blip r:embed="rId2"/>
          <a:stretch>
            <a:fillRect/>
          </a:stretch>
        </p:blipFill>
        <p:spPr>
          <a:xfrm>
            <a:off x="1124712" y="2999232"/>
            <a:ext cx="950976" cy="950976"/>
          </a:xfrm>
          <a:prstGeom prst="rect">
            <a:avLst/>
          </a:prstGeom>
        </p:spPr>
      </p:pic>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dot-987"/>
          <p:cNvSpPr/>
          <p:nvPr/>
        </p:nvSpPr>
        <p:spPr>
          <a:xfrm>
            <a:off x="548640" y="384048"/>
            <a:ext cx="384048" cy="384048"/>
          </a:xfrm>
          <a:prstGeom prst="ellipse">
            <a:avLst/>
          </a:prstGeom>
          <a:solidFill>
            <a:schemeClr val="accent3"/>
          </a:solidFill>
          <a:ln/>
        </p:spPr>
      </p:sp>
      <p:sp>
        <p:nvSpPr>
          <p:cNvPr id="3" name="Text 1"/>
          <p:cNvSpPr/>
          <p:nvPr>
            <p:ph idx="101" type="body" hasCustomPrompt="1"/>
          </p:nvPr>
        </p:nvSpPr>
        <p:spPr>
          <a:xfrm>
            <a:off x="1051560" y="384048"/>
            <a:ext cx="9601200" cy="384048"/>
          </a:xfrm>
          <a:prstGeom prst="rect">
            <a:avLst/>
          </a:prstGeom>
          <a:noFill/>
          <a:ln/>
        </p:spPr>
        <p:txBody>
          <a:bodyPr wrap="square" lIns="0" tIns="0" rIns="0" bIns="0" rtlCol="0" anchor="ctr"/>
          <a:lstStyle/>
          <a:p>
            <a:pPr indent="0" marL="0">
              <a:buNone/>
            </a:pPr>
            <a:r>
              <a:rPr lang="en-US" sz="1300" b="1" spc="300" kern="0" dirty="0">
                <a:solidFill>
                  <a:schemeClr val="tx2"/>
                </a:solidFill>
              </a:rPr>
              <a:t>L4  ·  PERFORMANCE  ·  3.12 INDEXES</a:t>
            </a:r>
            <a:endParaRPr lang="en-US" sz="1300" dirty="0"/>
          </a:p>
        </p:txBody>
      </p:sp>
      <p:sp>
        <p:nvSpPr>
          <p:cNvPr id="4" name="Text 1"/>
          <p:cNvSpPr/>
          <p:nvPr>
            <p:ph idx="102" type="title" hasCustomPrompt="1"/>
          </p:nvPr>
        </p:nvSpPr>
        <p:spPr>
          <a:xfrm>
            <a:off x="548640" y="841248"/>
            <a:ext cx="11064240" cy="777240"/>
          </a:xfrm>
          <a:prstGeom prst="rect">
            <a:avLst/>
          </a:prstGeom>
          <a:noFill/>
          <a:ln/>
        </p:spPr>
        <p:txBody>
          <a:bodyPr wrap="square" lIns="0" tIns="0" rIns="0" bIns="0" rtlCol="0" anchor="ctr"/>
          <a:lstStyle/>
          <a:p>
            <a:pPr algn="l" indent="0" marL="0">
              <a:buNone/>
            </a:pPr>
            <a:r>
              <a:rPr lang="en-US" sz="3800" b="1" dirty="0">
                <a:solidFill>
                  <a:schemeClr val="tx1"/>
                </a:solidFill>
              </a:rPr>
              <a:t>An index is the back of the book</a:t>
            </a:r>
            <a:endParaRPr lang="en-US" sz="3800" dirty="0"/>
          </a:p>
        </p:txBody>
      </p:sp>
      <p:sp>
        <p:nvSpPr>
          <p:cNvPr id="5" name="Text 1"/>
          <p:cNvSpPr/>
          <p:nvPr>
            <p:ph idx="103" type="body" hasCustomPrompt="1"/>
          </p:nvPr>
        </p:nvSpPr>
        <p:spPr>
          <a:xfrm>
            <a:off x="548640" y="1627632"/>
            <a:ext cx="11064240" cy="457200"/>
          </a:xfrm>
          <a:prstGeom prst="rect">
            <a:avLst/>
          </a:prstGeom>
          <a:noFill/>
          <a:ln/>
        </p:spPr>
        <p:txBody>
          <a:bodyPr wrap="square" lIns="0" tIns="0" rIns="0" bIns="0" rtlCol="0" anchor="t"/>
          <a:lstStyle/>
          <a:p>
            <a:pPr indent="0" marL="0">
              <a:buNone/>
            </a:pPr>
            <a:r>
              <a:rPr lang="en-US" sz="2000" dirty="0">
                <a:solidFill>
                  <a:schemeClr val="tx2"/>
                </a:solidFill>
              </a:rPr>
              <a:t>Seq Scan reads every page · Index Scan jumps to it</a:t>
            </a:r>
            <a:endParaRPr lang="en-US" sz="2000" dirty="0"/>
          </a:p>
        </p:txBody>
      </p:sp>
      <p:sp>
        <p:nvSpPr>
          <p:cNvPr id="7" name="box-988"/>
          <p:cNvSpPr/>
          <p:nvPr/>
        </p:nvSpPr>
        <p:spPr>
          <a:xfrm>
            <a:off x="548640" y="2286000"/>
            <a:ext cx="5440680" cy="3840480"/>
          </a:xfrm>
          <a:prstGeom prst="roundRect">
            <a:avLst>
              <a:gd name="adj" fmla="val 1905"/>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8" name="box-989"/>
          <p:cNvSpPr/>
          <p:nvPr/>
        </p:nvSpPr>
        <p:spPr>
          <a:xfrm>
            <a:off x="6172200" y="2286000"/>
            <a:ext cx="5440680" cy="3840480"/>
          </a:xfrm>
          <a:prstGeom prst="roundRect">
            <a:avLst>
              <a:gd name="adj" fmla="val 1905"/>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9" name="dot-990"/>
          <p:cNvSpPr/>
          <p:nvPr/>
        </p:nvSpPr>
        <p:spPr>
          <a:xfrm>
            <a:off x="822960" y="2514600"/>
            <a:ext cx="731520" cy="731520"/>
          </a:xfrm>
          <a:prstGeom prst="ellipse">
            <a:avLst/>
          </a:prstGeom>
          <a:solidFill>
            <a:schemeClr val="accent5"/>
          </a:solidFill>
          <a:ln/>
        </p:spPr>
      </p:sp>
      <p:sp>
        <p:nvSpPr>
          <p:cNvPr id="10" name="text-991"/>
          <p:cNvSpPr txBox="1"/>
          <p:nvPr/>
        </p:nvSpPr>
        <p:spPr>
          <a:xfrm>
            <a:off x="1737360" y="2514600"/>
            <a:ext cx="2743200" cy="731520"/>
          </a:xfrm>
          <a:prstGeom prst="rect">
            <a:avLst/>
          </a:prstGeom>
          <a:noFill/>
          <a:ln/>
        </p:spPr>
        <p:txBody>
          <a:bodyPr wrap="square" lIns="0" tIns="0" rIns="0" bIns="0" rtlCol="0" anchor="ctr"/>
          <a:lstStyle/>
          <a:p>
            <a:pPr algn="l" indent="0" marL="0">
              <a:buNone/>
            </a:pPr>
            <a:r>
              <a:rPr lang="en-US" sz="2200" b="1" dirty="0">
                <a:solidFill>
                  <a:schemeClr val="tx1"/>
                </a:solidFill>
                <a:latin typeface="Roboto Mono" pitchFamily="34" charset="0"/>
                <a:ea typeface="Roboto Mono" pitchFamily="34" charset="-122"/>
                <a:cs typeface="Roboto Mono" pitchFamily="34" charset="-120"/>
              </a:rPr>
              <a:t>Seq Scan</a:t>
            </a:r>
            <a:endParaRPr lang="en-US" sz="2200" dirty="0"/>
          </a:p>
        </p:txBody>
      </p:sp>
      <p:sp>
        <p:nvSpPr>
          <p:cNvPr id="11" name="box-992"/>
          <p:cNvSpPr/>
          <p:nvPr/>
        </p:nvSpPr>
        <p:spPr>
          <a:xfrm>
            <a:off x="868680" y="3520440"/>
            <a:ext cx="320040" cy="640080"/>
          </a:xfrm>
          <a:prstGeom prst="roundRect">
            <a:avLst>
              <a:gd name="adj" fmla="val 5714"/>
            </a:avLst>
          </a:prstGeom>
          <a:solidFill>
            <a:schemeClr val="accent1">
              <a:alpha val="45000"/>
            </a:schemeClr>
          </a:solidFill>
          <a:ln/>
        </p:spPr>
      </p:sp>
      <p:sp>
        <p:nvSpPr>
          <p:cNvPr id="12" name="box-993"/>
          <p:cNvSpPr/>
          <p:nvPr/>
        </p:nvSpPr>
        <p:spPr>
          <a:xfrm>
            <a:off x="1280160" y="3520440"/>
            <a:ext cx="320040" cy="640080"/>
          </a:xfrm>
          <a:prstGeom prst="roundRect">
            <a:avLst>
              <a:gd name="adj" fmla="val 5714"/>
            </a:avLst>
          </a:prstGeom>
          <a:solidFill>
            <a:schemeClr val="accent1">
              <a:alpha val="45000"/>
            </a:schemeClr>
          </a:solidFill>
          <a:ln/>
        </p:spPr>
      </p:sp>
      <p:sp>
        <p:nvSpPr>
          <p:cNvPr id="13" name="box-994"/>
          <p:cNvSpPr/>
          <p:nvPr/>
        </p:nvSpPr>
        <p:spPr>
          <a:xfrm>
            <a:off x="1691640" y="3520440"/>
            <a:ext cx="320040" cy="640080"/>
          </a:xfrm>
          <a:prstGeom prst="roundRect">
            <a:avLst>
              <a:gd name="adj" fmla="val 5714"/>
            </a:avLst>
          </a:prstGeom>
          <a:solidFill>
            <a:schemeClr val="accent1">
              <a:alpha val="45000"/>
            </a:schemeClr>
          </a:solidFill>
          <a:ln/>
        </p:spPr>
      </p:sp>
      <p:sp>
        <p:nvSpPr>
          <p:cNvPr id="14" name="box-995"/>
          <p:cNvSpPr/>
          <p:nvPr/>
        </p:nvSpPr>
        <p:spPr>
          <a:xfrm>
            <a:off x="2103120" y="3520440"/>
            <a:ext cx="320040" cy="640080"/>
          </a:xfrm>
          <a:prstGeom prst="roundRect">
            <a:avLst>
              <a:gd name="adj" fmla="val 5714"/>
            </a:avLst>
          </a:prstGeom>
          <a:solidFill>
            <a:schemeClr val="accent1">
              <a:alpha val="45000"/>
            </a:schemeClr>
          </a:solidFill>
          <a:ln/>
        </p:spPr>
      </p:sp>
      <p:sp>
        <p:nvSpPr>
          <p:cNvPr id="15" name="box-996"/>
          <p:cNvSpPr/>
          <p:nvPr/>
        </p:nvSpPr>
        <p:spPr>
          <a:xfrm>
            <a:off x="2514600" y="3520440"/>
            <a:ext cx="320040" cy="640080"/>
          </a:xfrm>
          <a:prstGeom prst="roundRect">
            <a:avLst>
              <a:gd name="adj" fmla="val 5714"/>
            </a:avLst>
          </a:prstGeom>
          <a:solidFill>
            <a:schemeClr val="accent1">
              <a:alpha val="45000"/>
            </a:schemeClr>
          </a:solidFill>
          <a:ln/>
        </p:spPr>
      </p:sp>
      <p:sp>
        <p:nvSpPr>
          <p:cNvPr id="16" name="box-997"/>
          <p:cNvSpPr/>
          <p:nvPr/>
        </p:nvSpPr>
        <p:spPr>
          <a:xfrm>
            <a:off x="2926080" y="3520440"/>
            <a:ext cx="320040" cy="640080"/>
          </a:xfrm>
          <a:prstGeom prst="roundRect">
            <a:avLst>
              <a:gd name="adj" fmla="val 5714"/>
            </a:avLst>
          </a:prstGeom>
          <a:solidFill>
            <a:schemeClr val="accent1">
              <a:alpha val="45000"/>
            </a:schemeClr>
          </a:solidFill>
          <a:ln/>
        </p:spPr>
      </p:sp>
      <p:sp>
        <p:nvSpPr>
          <p:cNvPr id="17" name="box-998"/>
          <p:cNvSpPr/>
          <p:nvPr/>
        </p:nvSpPr>
        <p:spPr>
          <a:xfrm>
            <a:off x="3337560" y="3520440"/>
            <a:ext cx="320040" cy="640080"/>
          </a:xfrm>
          <a:prstGeom prst="roundRect">
            <a:avLst>
              <a:gd name="adj" fmla="val 5714"/>
            </a:avLst>
          </a:prstGeom>
          <a:solidFill>
            <a:schemeClr val="accent1">
              <a:alpha val="45000"/>
            </a:schemeClr>
          </a:solidFill>
          <a:ln/>
        </p:spPr>
      </p:sp>
      <p:sp>
        <p:nvSpPr>
          <p:cNvPr id="18" name="box-999"/>
          <p:cNvSpPr/>
          <p:nvPr/>
        </p:nvSpPr>
        <p:spPr>
          <a:xfrm>
            <a:off x="3749040" y="3520440"/>
            <a:ext cx="320040" cy="640080"/>
          </a:xfrm>
          <a:prstGeom prst="roundRect">
            <a:avLst>
              <a:gd name="adj" fmla="val 5714"/>
            </a:avLst>
          </a:prstGeom>
          <a:solidFill>
            <a:schemeClr val="accent1">
              <a:alpha val="45000"/>
            </a:schemeClr>
          </a:solidFill>
          <a:ln/>
        </p:spPr>
      </p:sp>
      <p:sp>
        <p:nvSpPr>
          <p:cNvPr id="19" name="box-1000"/>
          <p:cNvSpPr/>
          <p:nvPr/>
        </p:nvSpPr>
        <p:spPr>
          <a:xfrm>
            <a:off x="4160520" y="3520440"/>
            <a:ext cx="320040" cy="640080"/>
          </a:xfrm>
          <a:prstGeom prst="roundRect">
            <a:avLst>
              <a:gd name="adj" fmla="val 5714"/>
            </a:avLst>
          </a:prstGeom>
          <a:solidFill>
            <a:schemeClr val="accent1">
              <a:alpha val="45000"/>
            </a:schemeClr>
          </a:solidFill>
          <a:ln/>
        </p:spPr>
      </p:sp>
      <p:sp>
        <p:nvSpPr>
          <p:cNvPr id="20" name="box-1001"/>
          <p:cNvSpPr/>
          <p:nvPr/>
        </p:nvSpPr>
        <p:spPr>
          <a:xfrm>
            <a:off x="4572000" y="3520440"/>
            <a:ext cx="320040" cy="640080"/>
          </a:xfrm>
          <a:prstGeom prst="roundRect">
            <a:avLst>
              <a:gd name="adj" fmla="val 5714"/>
            </a:avLst>
          </a:prstGeom>
          <a:solidFill>
            <a:schemeClr val="accent1">
              <a:alpha val="45000"/>
            </a:schemeClr>
          </a:solidFill>
          <a:ln/>
        </p:spPr>
      </p:sp>
      <p:sp>
        <p:nvSpPr>
          <p:cNvPr id="21" name="box-1002"/>
          <p:cNvSpPr/>
          <p:nvPr/>
        </p:nvSpPr>
        <p:spPr>
          <a:xfrm>
            <a:off x="4983480" y="3520440"/>
            <a:ext cx="320040" cy="640080"/>
          </a:xfrm>
          <a:prstGeom prst="roundRect">
            <a:avLst>
              <a:gd name="adj" fmla="val 5714"/>
            </a:avLst>
          </a:prstGeom>
          <a:solidFill>
            <a:schemeClr val="accent1">
              <a:alpha val="45000"/>
            </a:schemeClr>
          </a:solidFill>
          <a:ln/>
        </p:spPr>
      </p:sp>
      <p:sp>
        <p:nvSpPr>
          <p:cNvPr id="22" name="box-1003"/>
          <p:cNvSpPr/>
          <p:nvPr/>
        </p:nvSpPr>
        <p:spPr>
          <a:xfrm>
            <a:off x="5394960" y="3520440"/>
            <a:ext cx="320040" cy="640080"/>
          </a:xfrm>
          <a:prstGeom prst="roundRect">
            <a:avLst>
              <a:gd name="adj" fmla="val 5714"/>
            </a:avLst>
          </a:prstGeom>
          <a:solidFill>
            <a:schemeClr val="accent1">
              <a:alpha val="45000"/>
            </a:schemeClr>
          </a:solidFill>
          <a:ln/>
        </p:spPr>
      </p:sp>
      <p:sp>
        <p:nvSpPr>
          <p:cNvPr id="23" name="box-1004"/>
          <p:cNvSpPr/>
          <p:nvPr/>
        </p:nvSpPr>
        <p:spPr>
          <a:xfrm>
            <a:off x="868680" y="4297680"/>
            <a:ext cx="320040" cy="640080"/>
          </a:xfrm>
          <a:prstGeom prst="roundRect">
            <a:avLst>
              <a:gd name="adj" fmla="val 5714"/>
            </a:avLst>
          </a:prstGeom>
          <a:solidFill>
            <a:schemeClr val="accent1">
              <a:alpha val="45000"/>
            </a:schemeClr>
          </a:solidFill>
          <a:ln/>
        </p:spPr>
      </p:sp>
      <p:sp>
        <p:nvSpPr>
          <p:cNvPr id="24" name="box-1005"/>
          <p:cNvSpPr/>
          <p:nvPr/>
        </p:nvSpPr>
        <p:spPr>
          <a:xfrm>
            <a:off x="1280160" y="4297680"/>
            <a:ext cx="320040" cy="640080"/>
          </a:xfrm>
          <a:prstGeom prst="roundRect">
            <a:avLst>
              <a:gd name="adj" fmla="val 5714"/>
            </a:avLst>
          </a:prstGeom>
          <a:solidFill>
            <a:schemeClr val="accent1">
              <a:alpha val="45000"/>
            </a:schemeClr>
          </a:solidFill>
          <a:ln/>
        </p:spPr>
      </p:sp>
      <p:sp>
        <p:nvSpPr>
          <p:cNvPr id="25" name="box-1006"/>
          <p:cNvSpPr/>
          <p:nvPr/>
        </p:nvSpPr>
        <p:spPr>
          <a:xfrm>
            <a:off x="1691640" y="4297680"/>
            <a:ext cx="320040" cy="640080"/>
          </a:xfrm>
          <a:prstGeom prst="roundRect">
            <a:avLst>
              <a:gd name="adj" fmla="val 5714"/>
            </a:avLst>
          </a:prstGeom>
          <a:solidFill>
            <a:schemeClr val="accent1">
              <a:alpha val="45000"/>
            </a:schemeClr>
          </a:solidFill>
          <a:ln/>
        </p:spPr>
      </p:sp>
      <p:sp>
        <p:nvSpPr>
          <p:cNvPr id="26" name="box-1007"/>
          <p:cNvSpPr/>
          <p:nvPr/>
        </p:nvSpPr>
        <p:spPr>
          <a:xfrm>
            <a:off x="2103120" y="4297680"/>
            <a:ext cx="320040" cy="640080"/>
          </a:xfrm>
          <a:prstGeom prst="roundRect">
            <a:avLst>
              <a:gd name="adj" fmla="val 5714"/>
            </a:avLst>
          </a:prstGeom>
          <a:solidFill>
            <a:schemeClr val="accent1">
              <a:alpha val="45000"/>
            </a:schemeClr>
          </a:solidFill>
          <a:ln/>
        </p:spPr>
      </p:sp>
      <p:sp>
        <p:nvSpPr>
          <p:cNvPr id="27" name="box-1008"/>
          <p:cNvSpPr/>
          <p:nvPr/>
        </p:nvSpPr>
        <p:spPr>
          <a:xfrm>
            <a:off x="2514600" y="4297680"/>
            <a:ext cx="320040" cy="640080"/>
          </a:xfrm>
          <a:prstGeom prst="roundRect">
            <a:avLst>
              <a:gd name="adj" fmla="val 5714"/>
            </a:avLst>
          </a:prstGeom>
          <a:solidFill>
            <a:schemeClr val="accent1">
              <a:alpha val="45000"/>
            </a:schemeClr>
          </a:solidFill>
          <a:ln/>
        </p:spPr>
      </p:sp>
      <p:sp>
        <p:nvSpPr>
          <p:cNvPr id="28" name="box-1009"/>
          <p:cNvSpPr/>
          <p:nvPr/>
        </p:nvSpPr>
        <p:spPr>
          <a:xfrm>
            <a:off x="2926080" y="4297680"/>
            <a:ext cx="320040" cy="640080"/>
          </a:xfrm>
          <a:prstGeom prst="roundRect">
            <a:avLst>
              <a:gd name="adj" fmla="val 5714"/>
            </a:avLst>
          </a:prstGeom>
          <a:solidFill>
            <a:schemeClr val="accent1">
              <a:alpha val="45000"/>
            </a:schemeClr>
          </a:solidFill>
          <a:ln/>
        </p:spPr>
      </p:sp>
      <p:sp>
        <p:nvSpPr>
          <p:cNvPr id="29" name="box-1010"/>
          <p:cNvSpPr/>
          <p:nvPr/>
        </p:nvSpPr>
        <p:spPr>
          <a:xfrm>
            <a:off x="3337560" y="4297680"/>
            <a:ext cx="320040" cy="640080"/>
          </a:xfrm>
          <a:prstGeom prst="roundRect">
            <a:avLst>
              <a:gd name="adj" fmla="val 5714"/>
            </a:avLst>
          </a:prstGeom>
          <a:solidFill>
            <a:schemeClr val="accent1">
              <a:alpha val="45000"/>
            </a:schemeClr>
          </a:solidFill>
          <a:ln/>
        </p:spPr>
      </p:sp>
      <p:sp>
        <p:nvSpPr>
          <p:cNvPr id="30" name="box-1011"/>
          <p:cNvSpPr/>
          <p:nvPr/>
        </p:nvSpPr>
        <p:spPr>
          <a:xfrm>
            <a:off x="3749040" y="4297680"/>
            <a:ext cx="320040" cy="640080"/>
          </a:xfrm>
          <a:prstGeom prst="roundRect">
            <a:avLst>
              <a:gd name="adj" fmla="val 5714"/>
            </a:avLst>
          </a:prstGeom>
          <a:solidFill>
            <a:schemeClr val="accent1">
              <a:alpha val="45000"/>
            </a:schemeClr>
          </a:solidFill>
          <a:ln/>
        </p:spPr>
      </p:sp>
      <p:sp>
        <p:nvSpPr>
          <p:cNvPr id="31" name="box-1012"/>
          <p:cNvSpPr/>
          <p:nvPr/>
        </p:nvSpPr>
        <p:spPr>
          <a:xfrm>
            <a:off x="4160520" y="4297680"/>
            <a:ext cx="320040" cy="640080"/>
          </a:xfrm>
          <a:prstGeom prst="roundRect">
            <a:avLst>
              <a:gd name="adj" fmla="val 5714"/>
            </a:avLst>
          </a:prstGeom>
          <a:solidFill>
            <a:schemeClr val="accent1">
              <a:alpha val="45000"/>
            </a:schemeClr>
          </a:solidFill>
          <a:ln/>
        </p:spPr>
      </p:sp>
      <p:sp>
        <p:nvSpPr>
          <p:cNvPr id="32" name="box-1013"/>
          <p:cNvSpPr/>
          <p:nvPr/>
        </p:nvSpPr>
        <p:spPr>
          <a:xfrm>
            <a:off x="4572000" y="4297680"/>
            <a:ext cx="320040" cy="640080"/>
          </a:xfrm>
          <a:prstGeom prst="roundRect">
            <a:avLst>
              <a:gd name="adj" fmla="val 5714"/>
            </a:avLst>
          </a:prstGeom>
          <a:solidFill>
            <a:schemeClr val="accent1">
              <a:alpha val="45000"/>
            </a:schemeClr>
          </a:solidFill>
          <a:ln/>
        </p:spPr>
      </p:sp>
      <p:sp>
        <p:nvSpPr>
          <p:cNvPr id="33" name="box-1014"/>
          <p:cNvSpPr/>
          <p:nvPr/>
        </p:nvSpPr>
        <p:spPr>
          <a:xfrm>
            <a:off x="4983480" y="4297680"/>
            <a:ext cx="320040" cy="640080"/>
          </a:xfrm>
          <a:prstGeom prst="roundRect">
            <a:avLst>
              <a:gd name="adj" fmla="val 5714"/>
            </a:avLst>
          </a:prstGeom>
          <a:solidFill>
            <a:schemeClr val="accent1">
              <a:alpha val="45000"/>
            </a:schemeClr>
          </a:solidFill>
          <a:ln/>
        </p:spPr>
      </p:sp>
      <p:sp>
        <p:nvSpPr>
          <p:cNvPr id="34" name="box-1015"/>
          <p:cNvSpPr/>
          <p:nvPr/>
        </p:nvSpPr>
        <p:spPr>
          <a:xfrm>
            <a:off x="5394960" y="4297680"/>
            <a:ext cx="320040" cy="640080"/>
          </a:xfrm>
          <a:prstGeom prst="roundRect">
            <a:avLst>
              <a:gd name="adj" fmla="val 5714"/>
            </a:avLst>
          </a:prstGeom>
          <a:solidFill>
            <a:schemeClr val="accent1">
              <a:alpha val="45000"/>
            </a:schemeClr>
          </a:solidFill>
          <a:ln/>
        </p:spPr>
      </p:sp>
      <p:sp>
        <p:nvSpPr>
          <p:cNvPr id="35" name="text-1016"/>
          <p:cNvSpPr txBox="1"/>
          <p:nvPr/>
        </p:nvSpPr>
        <p:spPr>
          <a:xfrm>
            <a:off x="822960" y="5166360"/>
            <a:ext cx="4937760" cy="457200"/>
          </a:xfrm>
          <a:prstGeom prst="rect">
            <a:avLst/>
          </a:prstGeom>
          <a:noFill/>
          <a:ln/>
        </p:spPr>
        <p:txBody>
          <a:bodyPr wrap="square" lIns="0" tIns="0" rIns="0" bIns="0" rtlCol="0" anchor="ctr"/>
          <a:lstStyle/>
          <a:p>
            <a:pPr algn="l" indent="0" marL="0">
              <a:buNone/>
            </a:pPr>
            <a:r>
              <a:rPr lang="en-US" sz="1600" dirty="0">
                <a:solidFill>
                  <a:schemeClr val="tx2"/>
                </a:solidFill>
              </a:rPr>
              <a:t>reads every row: 50,000</a:t>
            </a:r>
            <a:endParaRPr lang="en-US" sz="1600" dirty="0"/>
          </a:p>
        </p:txBody>
      </p:sp>
      <p:sp>
        <p:nvSpPr>
          <p:cNvPr id="36" name="dot-1017"/>
          <p:cNvSpPr/>
          <p:nvPr/>
        </p:nvSpPr>
        <p:spPr>
          <a:xfrm>
            <a:off x="6446520" y="2514600"/>
            <a:ext cx="731520" cy="731520"/>
          </a:xfrm>
          <a:prstGeom prst="ellipse">
            <a:avLst/>
          </a:prstGeom>
          <a:solidFill>
            <a:schemeClr val="accent2"/>
          </a:solidFill>
          <a:ln/>
        </p:spPr>
      </p:sp>
      <p:sp>
        <p:nvSpPr>
          <p:cNvPr id="37" name="text-1018"/>
          <p:cNvSpPr txBox="1"/>
          <p:nvPr/>
        </p:nvSpPr>
        <p:spPr>
          <a:xfrm>
            <a:off x="7360920" y="2514600"/>
            <a:ext cx="2743200" cy="731520"/>
          </a:xfrm>
          <a:prstGeom prst="rect">
            <a:avLst/>
          </a:prstGeom>
          <a:noFill/>
          <a:ln/>
        </p:spPr>
        <p:txBody>
          <a:bodyPr wrap="square" lIns="0" tIns="0" rIns="0" bIns="0" rtlCol="0" anchor="ctr"/>
          <a:lstStyle/>
          <a:p>
            <a:pPr algn="l" indent="0" marL="0">
              <a:buNone/>
            </a:pPr>
            <a:r>
              <a:rPr lang="en-US" sz="2200" b="1" dirty="0">
                <a:solidFill>
                  <a:schemeClr val="tx1"/>
                </a:solidFill>
                <a:latin typeface="Roboto Mono" pitchFamily="34" charset="0"/>
                <a:ea typeface="Roboto Mono" pitchFamily="34" charset="-122"/>
                <a:cs typeface="Roboto Mono" pitchFamily="34" charset="-120"/>
              </a:rPr>
              <a:t>Index Scan</a:t>
            </a:r>
            <a:endParaRPr lang="en-US" sz="2200" dirty="0"/>
          </a:p>
        </p:txBody>
      </p:sp>
      <p:sp>
        <p:nvSpPr>
          <p:cNvPr id="38" name="line-1019"/>
          <p:cNvSpPr/>
          <p:nvPr/>
        </p:nvSpPr>
        <p:spPr>
          <a:xfrm flipH="1">
            <a:off x="7772400" y="3794760"/>
            <a:ext cx="1097280" cy="411480"/>
          </a:xfrm>
          <a:prstGeom prst="line">
            <a:avLst/>
          </a:prstGeom>
          <a:noFill/>
          <a:ln w="38100">
            <a:solidFill>
              <a:schemeClr val="accent3"/>
            </a:solidFill>
            <a:prstDash val="solid"/>
          </a:ln>
        </p:spPr>
      </p:sp>
      <p:sp>
        <p:nvSpPr>
          <p:cNvPr id="39" name="line-1020"/>
          <p:cNvSpPr/>
          <p:nvPr/>
        </p:nvSpPr>
        <p:spPr>
          <a:xfrm>
            <a:off x="8869680" y="3794760"/>
            <a:ext cx="1097280" cy="411480"/>
          </a:xfrm>
          <a:prstGeom prst="line">
            <a:avLst/>
          </a:prstGeom>
          <a:noFill/>
          <a:ln w="15875">
            <a:solidFill>
              <a:schemeClr val="accent5"/>
            </a:solidFill>
            <a:prstDash val="solid"/>
          </a:ln>
        </p:spPr>
      </p:sp>
      <p:sp>
        <p:nvSpPr>
          <p:cNvPr id="40" name="line-1021"/>
          <p:cNvSpPr/>
          <p:nvPr/>
        </p:nvSpPr>
        <p:spPr>
          <a:xfrm flipH="1">
            <a:off x="7223760" y="4526280"/>
            <a:ext cx="548640" cy="411480"/>
          </a:xfrm>
          <a:prstGeom prst="line">
            <a:avLst/>
          </a:prstGeom>
          <a:noFill/>
          <a:ln w="15875">
            <a:solidFill>
              <a:schemeClr val="accent5"/>
            </a:solidFill>
            <a:prstDash val="solid"/>
          </a:ln>
        </p:spPr>
      </p:sp>
      <p:sp>
        <p:nvSpPr>
          <p:cNvPr id="41" name="line-1022"/>
          <p:cNvSpPr/>
          <p:nvPr/>
        </p:nvSpPr>
        <p:spPr>
          <a:xfrm>
            <a:off x="7772400" y="4526280"/>
            <a:ext cx="548640" cy="411480"/>
          </a:xfrm>
          <a:prstGeom prst="line">
            <a:avLst/>
          </a:prstGeom>
          <a:noFill/>
          <a:ln w="38100">
            <a:solidFill>
              <a:schemeClr val="accent3"/>
            </a:solidFill>
            <a:prstDash val="solid"/>
          </a:ln>
        </p:spPr>
      </p:sp>
      <p:sp>
        <p:nvSpPr>
          <p:cNvPr id="42" name="line-1023"/>
          <p:cNvSpPr/>
          <p:nvPr/>
        </p:nvSpPr>
        <p:spPr>
          <a:xfrm flipH="1">
            <a:off x="9418320" y="4526280"/>
            <a:ext cx="548640" cy="411480"/>
          </a:xfrm>
          <a:prstGeom prst="line">
            <a:avLst/>
          </a:prstGeom>
          <a:noFill/>
          <a:ln w="15875">
            <a:solidFill>
              <a:schemeClr val="accent5"/>
            </a:solidFill>
            <a:prstDash val="solid"/>
          </a:ln>
        </p:spPr>
      </p:sp>
      <p:sp>
        <p:nvSpPr>
          <p:cNvPr id="43" name="line-1024"/>
          <p:cNvSpPr/>
          <p:nvPr/>
        </p:nvSpPr>
        <p:spPr>
          <a:xfrm>
            <a:off x="9966960" y="4526280"/>
            <a:ext cx="548640" cy="411480"/>
          </a:xfrm>
          <a:prstGeom prst="line">
            <a:avLst/>
          </a:prstGeom>
          <a:noFill/>
          <a:ln w="15875">
            <a:solidFill>
              <a:schemeClr val="accent5"/>
            </a:solidFill>
            <a:prstDash val="solid"/>
          </a:ln>
        </p:spPr>
      </p:sp>
      <p:sp>
        <p:nvSpPr>
          <p:cNvPr id="44" name="box-1025"/>
          <p:cNvSpPr/>
          <p:nvPr/>
        </p:nvSpPr>
        <p:spPr>
          <a:xfrm>
            <a:off x="8503920" y="3474720"/>
            <a:ext cx="731520" cy="320040"/>
          </a:xfrm>
          <a:prstGeom prst="roundRect">
            <a:avLst>
              <a:gd name="adj" fmla="val 57143"/>
            </a:avLst>
          </a:prstGeom>
          <a:solidFill>
            <a:schemeClr val="accent3"/>
          </a:solidFill>
          <a:ln/>
        </p:spPr>
      </p:sp>
      <p:sp>
        <p:nvSpPr>
          <p:cNvPr id="45" name="box-1026"/>
          <p:cNvSpPr/>
          <p:nvPr/>
        </p:nvSpPr>
        <p:spPr>
          <a:xfrm>
            <a:off x="7406640" y="4206240"/>
            <a:ext cx="731520" cy="320040"/>
          </a:xfrm>
          <a:prstGeom prst="roundRect">
            <a:avLst>
              <a:gd name="adj" fmla="val 57143"/>
            </a:avLst>
          </a:prstGeom>
          <a:solidFill>
            <a:schemeClr val="accent3"/>
          </a:solidFill>
          <a:ln/>
        </p:spPr>
      </p:sp>
      <p:sp>
        <p:nvSpPr>
          <p:cNvPr id="46" name="box-1027"/>
          <p:cNvSpPr/>
          <p:nvPr/>
        </p:nvSpPr>
        <p:spPr>
          <a:xfrm>
            <a:off x="9601200" y="4206240"/>
            <a:ext cx="731520" cy="320040"/>
          </a:xfrm>
          <a:prstGeom prst="roundRect">
            <a:avLst>
              <a:gd name="adj" fmla="val 57143"/>
            </a:avLst>
          </a:prstGeom>
          <a:solidFill>
            <a:schemeClr val="accent5"/>
          </a:solidFill>
          <a:ln/>
        </p:spPr>
      </p:sp>
      <p:sp>
        <p:nvSpPr>
          <p:cNvPr id="47" name="box-1028"/>
          <p:cNvSpPr/>
          <p:nvPr/>
        </p:nvSpPr>
        <p:spPr>
          <a:xfrm>
            <a:off x="6858000" y="4937760"/>
            <a:ext cx="731520" cy="320040"/>
          </a:xfrm>
          <a:prstGeom prst="roundRect">
            <a:avLst>
              <a:gd name="adj" fmla="val 57143"/>
            </a:avLst>
          </a:prstGeom>
          <a:solidFill>
            <a:schemeClr val="accent5"/>
          </a:solidFill>
          <a:ln/>
        </p:spPr>
      </p:sp>
      <p:sp>
        <p:nvSpPr>
          <p:cNvPr id="48" name="box-1029"/>
          <p:cNvSpPr/>
          <p:nvPr/>
        </p:nvSpPr>
        <p:spPr>
          <a:xfrm>
            <a:off x="7955280" y="4937760"/>
            <a:ext cx="731520" cy="320040"/>
          </a:xfrm>
          <a:prstGeom prst="roundRect">
            <a:avLst>
              <a:gd name="adj" fmla="val 57143"/>
            </a:avLst>
          </a:prstGeom>
          <a:solidFill>
            <a:schemeClr val="accent3"/>
          </a:solidFill>
          <a:ln/>
        </p:spPr>
      </p:sp>
      <p:sp>
        <p:nvSpPr>
          <p:cNvPr id="49" name="box-1030"/>
          <p:cNvSpPr/>
          <p:nvPr/>
        </p:nvSpPr>
        <p:spPr>
          <a:xfrm>
            <a:off x="9052560" y="4937760"/>
            <a:ext cx="731520" cy="320040"/>
          </a:xfrm>
          <a:prstGeom prst="roundRect">
            <a:avLst>
              <a:gd name="adj" fmla="val 57143"/>
            </a:avLst>
          </a:prstGeom>
          <a:solidFill>
            <a:schemeClr val="accent5"/>
          </a:solidFill>
          <a:ln/>
        </p:spPr>
      </p:sp>
      <p:sp>
        <p:nvSpPr>
          <p:cNvPr id="50" name="box-1031"/>
          <p:cNvSpPr/>
          <p:nvPr/>
        </p:nvSpPr>
        <p:spPr>
          <a:xfrm>
            <a:off x="10149840" y="4937760"/>
            <a:ext cx="731520" cy="320040"/>
          </a:xfrm>
          <a:prstGeom prst="roundRect">
            <a:avLst>
              <a:gd name="adj" fmla="val 57143"/>
            </a:avLst>
          </a:prstGeom>
          <a:solidFill>
            <a:schemeClr val="accent5"/>
          </a:solidFill>
          <a:ln/>
        </p:spPr>
      </p:sp>
      <p:sp>
        <p:nvSpPr>
          <p:cNvPr id="51" name="text-1032"/>
          <p:cNvSpPr txBox="1"/>
          <p:nvPr/>
        </p:nvSpPr>
        <p:spPr>
          <a:xfrm>
            <a:off x="6446520" y="5440680"/>
            <a:ext cx="4937760" cy="457200"/>
          </a:xfrm>
          <a:prstGeom prst="rect">
            <a:avLst/>
          </a:prstGeom>
          <a:noFill/>
          <a:ln/>
        </p:spPr>
        <p:txBody>
          <a:bodyPr wrap="square" lIns="0" tIns="0" rIns="0" bIns="0" rtlCol="0" anchor="ctr"/>
          <a:lstStyle/>
          <a:p>
            <a:pPr algn="l" indent="0" marL="0">
              <a:buNone/>
            </a:pPr>
            <a:r>
              <a:rPr lang="en-US" sz="1600" dirty="0">
                <a:solidFill>
                  <a:schemeClr val="tx2"/>
                </a:solidFill>
              </a:rPr>
              <a:t>B-tree: a few page reads</a:t>
            </a:r>
            <a:endParaRPr lang="en-US" sz="1600" dirty="0"/>
          </a:p>
        </p:txBody>
      </p:sp>
      <p:pic>
        <p:nvPicPr>
          <p:cNvPr id="52" name="Image 0" descr="TachometerAlt icon">    </p:cNvPr>
          <p:cNvPicPr>
            <a:picLocks noChangeAspect="1"/>
          </p:cNvPicPr>
          <p:nvPr/>
        </p:nvPicPr>
        <p:blipFill>
          <a:blip r:embed="rId1"/>
          <a:stretch>
            <a:fillRect/>
          </a:stretch>
        </p:blipFill>
        <p:spPr>
          <a:xfrm>
            <a:off x="640812" y="476220"/>
            <a:ext cx="199705" cy="199705"/>
          </a:xfrm>
          <a:prstGeom prst="rect">
            <a:avLst/>
          </a:prstGeom>
        </p:spPr>
      </p:pic>
      <p:pic>
        <p:nvPicPr>
          <p:cNvPr id="53" name="Image 1" descr="BookOpen icon">    </p:cNvPr>
          <p:cNvPicPr>
            <a:picLocks noChangeAspect="1"/>
          </p:cNvPicPr>
          <p:nvPr/>
        </p:nvPicPr>
        <p:blipFill>
          <a:blip r:embed="rId2"/>
          <a:stretch>
            <a:fillRect/>
          </a:stretch>
        </p:blipFill>
        <p:spPr>
          <a:xfrm>
            <a:off x="998525" y="2690165"/>
            <a:ext cx="380390" cy="380390"/>
          </a:xfrm>
          <a:prstGeom prst="rect">
            <a:avLst/>
          </a:prstGeom>
        </p:spPr>
      </p:pic>
      <p:pic>
        <p:nvPicPr>
          <p:cNvPr id="54" name="Image 2" descr="Book icon">    </p:cNvPr>
          <p:cNvPicPr>
            <a:picLocks noChangeAspect="1"/>
          </p:cNvPicPr>
          <p:nvPr/>
        </p:nvPicPr>
        <p:blipFill>
          <a:blip r:embed="rId3"/>
          <a:stretch>
            <a:fillRect/>
          </a:stretch>
        </p:blipFill>
        <p:spPr>
          <a:xfrm>
            <a:off x="6622085" y="2690165"/>
            <a:ext cx="380390" cy="380390"/>
          </a:xfrm>
          <a:prstGeom prst="rect">
            <a:avLst/>
          </a:prstGeom>
        </p:spPr>
      </p:pic>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dot-1033"/>
          <p:cNvSpPr/>
          <p:nvPr/>
        </p:nvSpPr>
        <p:spPr>
          <a:xfrm>
            <a:off x="548640" y="384048"/>
            <a:ext cx="384048" cy="384048"/>
          </a:xfrm>
          <a:prstGeom prst="ellipse">
            <a:avLst/>
          </a:prstGeom>
          <a:solidFill>
            <a:schemeClr val="accent3"/>
          </a:solidFill>
          <a:ln/>
        </p:spPr>
      </p:sp>
      <p:sp>
        <p:nvSpPr>
          <p:cNvPr id="3" name="Text 1"/>
          <p:cNvSpPr/>
          <p:nvPr>
            <p:ph idx="101" type="body" hasCustomPrompt="1"/>
          </p:nvPr>
        </p:nvSpPr>
        <p:spPr>
          <a:xfrm>
            <a:off x="1051560" y="384048"/>
            <a:ext cx="9601200" cy="384048"/>
          </a:xfrm>
          <a:prstGeom prst="rect">
            <a:avLst/>
          </a:prstGeom>
          <a:noFill/>
          <a:ln/>
        </p:spPr>
        <p:txBody>
          <a:bodyPr wrap="square" lIns="0" tIns="0" rIns="0" bIns="0" rtlCol="0" anchor="ctr"/>
          <a:lstStyle/>
          <a:p>
            <a:pPr indent="0" marL="0">
              <a:buNone/>
            </a:pPr>
            <a:r>
              <a:rPr lang="en-US" sz="1300" b="1" spc="300" kern="0" dirty="0">
                <a:solidFill>
                  <a:schemeClr val="tx2"/>
                </a:solidFill>
              </a:rPr>
              <a:t>L4  ·  PERFORMANCE  ·  3.12 INDEXES</a:t>
            </a:r>
            <a:endParaRPr lang="en-US" sz="1300" dirty="0"/>
          </a:p>
        </p:txBody>
      </p:sp>
      <p:sp>
        <p:nvSpPr>
          <p:cNvPr id="4" name="Text 1"/>
          <p:cNvSpPr/>
          <p:nvPr>
            <p:ph idx="102" type="title" hasCustomPrompt="1"/>
          </p:nvPr>
        </p:nvSpPr>
        <p:spPr>
          <a:xfrm>
            <a:off x="548640" y="841248"/>
            <a:ext cx="11064240" cy="777240"/>
          </a:xfrm>
          <a:prstGeom prst="rect">
            <a:avLst/>
          </a:prstGeom>
          <a:noFill/>
          <a:ln/>
        </p:spPr>
        <p:txBody>
          <a:bodyPr wrap="square" lIns="0" tIns="0" rIns="0" bIns="0" rtlCol="0" anchor="ctr"/>
          <a:lstStyle/>
          <a:p>
            <a:pPr algn="l" indent="0" marL="0">
              <a:buNone/>
            </a:pPr>
            <a:r>
              <a:rPr lang="en-US" sz="3800" b="1" dirty="0">
                <a:solidFill>
                  <a:schemeClr val="tx1"/>
                </a:solidFill>
              </a:rPr>
              <a:t>(a, b) helps a — not b alone</a:t>
            </a:r>
            <a:endParaRPr lang="en-US" sz="3800" dirty="0"/>
          </a:p>
        </p:txBody>
      </p:sp>
      <p:sp>
        <p:nvSpPr>
          <p:cNvPr id="5" name="Text 1"/>
          <p:cNvSpPr/>
          <p:nvPr>
            <p:ph idx="103" type="body" hasCustomPrompt="1"/>
          </p:nvPr>
        </p:nvSpPr>
        <p:spPr>
          <a:xfrm>
            <a:off x="548640" y="1627632"/>
            <a:ext cx="11064240" cy="457200"/>
          </a:xfrm>
          <a:prstGeom prst="rect">
            <a:avLst/>
          </a:prstGeom>
          <a:noFill/>
          <a:ln/>
        </p:spPr>
        <p:txBody>
          <a:bodyPr wrap="square" lIns="0" tIns="0" rIns="0" bIns="0" rtlCol="0" anchor="t"/>
          <a:lstStyle/>
          <a:p>
            <a:pPr indent="0" marL="0">
              <a:buNone/>
            </a:pPr>
            <a:r>
              <a:rPr lang="en-US" sz="2000" dirty="0">
                <a:solidFill>
                  <a:schemeClr val="tx2"/>
                </a:solidFill>
              </a:rPr>
              <a:t>Equality columns first, then range or sort</a:t>
            </a:r>
            <a:endParaRPr lang="en-US" sz="2000" dirty="0"/>
          </a:p>
        </p:txBody>
      </p:sp>
      <p:sp>
        <p:nvSpPr>
          <p:cNvPr id="7" name="box-1034"/>
          <p:cNvSpPr/>
          <p:nvPr/>
        </p:nvSpPr>
        <p:spPr>
          <a:xfrm>
            <a:off x="548640" y="2286000"/>
            <a:ext cx="4206240" cy="3840480"/>
          </a:xfrm>
          <a:prstGeom prst="roundRect">
            <a:avLst>
              <a:gd name="adj" fmla="val 1905"/>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8" name="text-1035"/>
          <p:cNvSpPr txBox="1"/>
          <p:nvPr/>
        </p:nvSpPr>
        <p:spPr>
          <a:xfrm>
            <a:off x="1463040" y="2514600"/>
            <a:ext cx="3200400" cy="502920"/>
          </a:xfrm>
          <a:prstGeom prst="rect">
            <a:avLst/>
          </a:prstGeom>
          <a:noFill/>
          <a:ln/>
        </p:spPr>
        <p:txBody>
          <a:bodyPr wrap="square" lIns="0" tIns="0" rIns="0" bIns="0" rtlCol="0" anchor="ctr"/>
          <a:lstStyle/>
          <a:p>
            <a:pPr algn="l" indent="0" marL="0">
              <a:buNone/>
            </a:pPr>
            <a:r>
              <a:rPr lang="en-US" sz="1400" b="1" dirty="0">
                <a:solidFill>
                  <a:schemeClr val="tx1"/>
                </a:solidFill>
              </a:rPr>
              <a:t>sorted by (surname, first)</a:t>
            </a:r>
            <a:endParaRPr lang="en-US" sz="1400" dirty="0"/>
          </a:p>
        </p:txBody>
      </p:sp>
      <p:sp>
        <p:nvSpPr>
          <p:cNvPr id="9" name="box-1036"/>
          <p:cNvSpPr/>
          <p:nvPr/>
        </p:nvSpPr>
        <p:spPr>
          <a:xfrm>
            <a:off x="822960" y="3200400"/>
            <a:ext cx="3657600" cy="438912"/>
          </a:xfrm>
          <a:prstGeom prst="roundRect">
            <a:avLst>
              <a:gd name="adj" fmla="val 25000"/>
            </a:avLst>
          </a:prstGeom>
          <a:solidFill>
            <a:schemeClr val="accent2">
              <a:alpha val="45000"/>
            </a:schemeClr>
          </a:solidFill>
          <a:ln w="12700">
            <a:solidFill>
              <a:schemeClr val="accent5"/>
            </a:solidFill>
            <a:prstDash val="solid"/>
          </a:ln>
        </p:spPr>
      </p:sp>
      <p:sp>
        <p:nvSpPr>
          <p:cNvPr id="10" name="text-1037"/>
          <p:cNvSpPr txBox="1"/>
          <p:nvPr/>
        </p:nvSpPr>
        <p:spPr>
          <a:xfrm>
            <a:off x="896112" y="3200400"/>
            <a:ext cx="3511296" cy="438912"/>
          </a:xfrm>
          <a:prstGeom prst="rect">
            <a:avLst/>
          </a:prstGeom>
          <a:noFill/>
          <a:ln/>
        </p:spPr>
        <p:txBody>
          <a:bodyPr wrap="square" lIns="0" tIns="0" rIns="0" bIns="0" rtlCol="0" anchor="ctr"/>
          <a:lstStyle/>
          <a:p>
            <a:pPr algn="l" indent="0" marL="0">
              <a:buNone/>
            </a:pPr>
            <a:r>
              <a:rPr lang="en-US" sz="1500" dirty="0">
                <a:solidFill>
                  <a:schemeClr val="tx1"/>
                </a:solidFill>
                <a:latin typeface="Roboto Mono" pitchFamily="34" charset="0"/>
                <a:ea typeface="Roboto Mono" pitchFamily="34" charset="-122"/>
                <a:cs typeface="Roboto Mono" pitchFamily="34" charset="-120"/>
              </a:rPr>
              <a:t>Okafor, Ada</a:t>
            </a:r>
            <a:endParaRPr lang="en-US" sz="1500" dirty="0"/>
          </a:p>
        </p:txBody>
      </p:sp>
      <p:sp>
        <p:nvSpPr>
          <p:cNvPr id="11" name="box-1038"/>
          <p:cNvSpPr/>
          <p:nvPr/>
        </p:nvSpPr>
        <p:spPr>
          <a:xfrm>
            <a:off x="822960" y="3749040"/>
            <a:ext cx="3657600" cy="438912"/>
          </a:xfrm>
          <a:prstGeom prst="roundRect">
            <a:avLst>
              <a:gd name="adj" fmla="val 25000"/>
            </a:avLst>
          </a:prstGeom>
          <a:solidFill>
            <a:schemeClr val="accent2">
              <a:alpha val="45000"/>
            </a:schemeClr>
          </a:solidFill>
          <a:ln w="12700">
            <a:solidFill>
              <a:schemeClr val="accent5"/>
            </a:solidFill>
            <a:prstDash val="solid"/>
          </a:ln>
        </p:spPr>
      </p:sp>
      <p:sp>
        <p:nvSpPr>
          <p:cNvPr id="12" name="text-1039"/>
          <p:cNvSpPr txBox="1"/>
          <p:nvPr/>
        </p:nvSpPr>
        <p:spPr>
          <a:xfrm>
            <a:off x="896112" y="3749040"/>
            <a:ext cx="3511296" cy="438912"/>
          </a:xfrm>
          <a:prstGeom prst="rect">
            <a:avLst/>
          </a:prstGeom>
          <a:noFill/>
          <a:ln/>
        </p:spPr>
        <p:txBody>
          <a:bodyPr wrap="square" lIns="0" tIns="0" rIns="0" bIns="0" rtlCol="0" anchor="ctr"/>
          <a:lstStyle/>
          <a:p>
            <a:pPr algn="l" indent="0" marL="0">
              <a:buNone/>
            </a:pPr>
            <a:r>
              <a:rPr lang="en-US" sz="1500" dirty="0">
                <a:solidFill>
                  <a:schemeClr val="tx1"/>
                </a:solidFill>
                <a:latin typeface="Roboto Mono" pitchFamily="34" charset="0"/>
                <a:ea typeface="Roboto Mono" pitchFamily="34" charset="-122"/>
                <a:cs typeface="Roboto Mono" pitchFamily="34" charset="-120"/>
              </a:rPr>
              <a:t>Okafor, Bola</a:t>
            </a:r>
            <a:endParaRPr lang="en-US" sz="1500" dirty="0"/>
          </a:p>
        </p:txBody>
      </p:sp>
      <p:sp>
        <p:nvSpPr>
          <p:cNvPr id="13" name="box-1040"/>
          <p:cNvSpPr/>
          <p:nvPr/>
        </p:nvSpPr>
        <p:spPr>
          <a:xfrm>
            <a:off x="822960" y="4297680"/>
            <a:ext cx="3657600" cy="438912"/>
          </a:xfrm>
          <a:prstGeom prst="roundRect">
            <a:avLst>
              <a:gd name="adj" fmla="val 25000"/>
            </a:avLst>
          </a:prstGeom>
          <a:solidFill>
            <a:schemeClr val="bg1"/>
          </a:solidFill>
          <a:ln w="12700">
            <a:solidFill>
              <a:schemeClr val="accent5"/>
            </a:solidFill>
            <a:prstDash val="solid"/>
          </a:ln>
        </p:spPr>
      </p:sp>
      <p:sp>
        <p:nvSpPr>
          <p:cNvPr id="14" name="text-1041"/>
          <p:cNvSpPr txBox="1"/>
          <p:nvPr/>
        </p:nvSpPr>
        <p:spPr>
          <a:xfrm>
            <a:off x="896112" y="4297680"/>
            <a:ext cx="3511296" cy="438912"/>
          </a:xfrm>
          <a:prstGeom prst="rect">
            <a:avLst/>
          </a:prstGeom>
          <a:noFill/>
          <a:ln/>
        </p:spPr>
        <p:txBody>
          <a:bodyPr wrap="square" lIns="0" tIns="0" rIns="0" bIns="0" rtlCol="0" anchor="ctr"/>
          <a:lstStyle/>
          <a:p>
            <a:pPr algn="l" indent="0" marL="0">
              <a:buNone/>
            </a:pPr>
            <a:r>
              <a:rPr lang="en-US" sz="1500" dirty="0">
                <a:solidFill>
                  <a:schemeClr val="tx1"/>
                </a:solidFill>
                <a:latin typeface="Roboto Mono" pitchFamily="34" charset="0"/>
                <a:ea typeface="Roboto Mono" pitchFamily="34" charset="-122"/>
                <a:cs typeface="Roboto Mono" pitchFamily="34" charset="-120"/>
              </a:rPr>
              <a:t>Okeke, Ada</a:t>
            </a:r>
            <a:endParaRPr lang="en-US" sz="1500" dirty="0"/>
          </a:p>
        </p:txBody>
      </p:sp>
      <p:sp>
        <p:nvSpPr>
          <p:cNvPr id="15" name="box-1042"/>
          <p:cNvSpPr/>
          <p:nvPr/>
        </p:nvSpPr>
        <p:spPr>
          <a:xfrm>
            <a:off x="822960" y="4846320"/>
            <a:ext cx="3657600" cy="438912"/>
          </a:xfrm>
          <a:prstGeom prst="roundRect">
            <a:avLst>
              <a:gd name="adj" fmla="val 25000"/>
            </a:avLst>
          </a:prstGeom>
          <a:solidFill>
            <a:schemeClr val="bg1"/>
          </a:solidFill>
          <a:ln w="12700">
            <a:solidFill>
              <a:schemeClr val="accent5"/>
            </a:solidFill>
            <a:prstDash val="solid"/>
          </a:ln>
        </p:spPr>
      </p:sp>
      <p:sp>
        <p:nvSpPr>
          <p:cNvPr id="16" name="text-1043"/>
          <p:cNvSpPr txBox="1"/>
          <p:nvPr/>
        </p:nvSpPr>
        <p:spPr>
          <a:xfrm>
            <a:off x="896112" y="4846320"/>
            <a:ext cx="3511296" cy="438912"/>
          </a:xfrm>
          <a:prstGeom prst="rect">
            <a:avLst/>
          </a:prstGeom>
          <a:noFill/>
          <a:ln/>
        </p:spPr>
        <p:txBody>
          <a:bodyPr wrap="square" lIns="0" tIns="0" rIns="0" bIns="0" rtlCol="0" anchor="ctr"/>
          <a:lstStyle/>
          <a:p>
            <a:pPr algn="l" indent="0" marL="0">
              <a:buNone/>
            </a:pPr>
            <a:r>
              <a:rPr lang="en-US" sz="1500" dirty="0">
                <a:solidFill>
                  <a:schemeClr val="tx1"/>
                </a:solidFill>
                <a:latin typeface="Roboto Mono" pitchFamily="34" charset="0"/>
                <a:ea typeface="Roboto Mono" pitchFamily="34" charset="-122"/>
                <a:cs typeface="Roboto Mono" pitchFamily="34" charset="-120"/>
              </a:rPr>
              <a:t>Okeke, Femi</a:t>
            </a:r>
            <a:endParaRPr lang="en-US" sz="1500" dirty="0"/>
          </a:p>
        </p:txBody>
      </p:sp>
      <p:sp>
        <p:nvSpPr>
          <p:cNvPr id="17" name="box-1044"/>
          <p:cNvSpPr/>
          <p:nvPr/>
        </p:nvSpPr>
        <p:spPr>
          <a:xfrm>
            <a:off x="822960" y="5394960"/>
            <a:ext cx="3657600" cy="438912"/>
          </a:xfrm>
          <a:prstGeom prst="roundRect">
            <a:avLst>
              <a:gd name="adj" fmla="val 25000"/>
            </a:avLst>
          </a:prstGeom>
          <a:solidFill>
            <a:schemeClr val="bg1"/>
          </a:solidFill>
          <a:ln w="12700">
            <a:solidFill>
              <a:schemeClr val="accent5"/>
            </a:solidFill>
            <a:prstDash val="solid"/>
          </a:ln>
        </p:spPr>
      </p:sp>
      <p:sp>
        <p:nvSpPr>
          <p:cNvPr id="18" name="text-1045"/>
          <p:cNvSpPr txBox="1"/>
          <p:nvPr/>
        </p:nvSpPr>
        <p:spPr>
          <a:xfrm>
            <a:off x="896112" y="5394960"/>
            <a:ext cx="3511296" cy="438912"/>
          </a:xfrm>
          <a:prstGeom prst="rect">
            <a:avLst/>
          </a:prstGeom>
          <a:noFill/>
          <a:ln/>
        </p:spPr>
        <p:txBody>
          <a:bodyPr wrap="square" lIns="0" tIns="0" rIns="0" bIns="0" rtlCol="0" anchor="ctr"/>
          <a:lstStyle/>
          <a:p>
            <a:pPr algn="l" indent="0" marL="0">
              <a:buNone/>
            </a:pPr>
            <a:r>
              <a:rPr lang="en-US" sz="1500" dirty="0">
                <a:solidFill>
                  <a:schemeClr val="tx1"/>
                </a:solidFill>
                <a:latin typeface="Roboto Mono" pitchFamily="34" charset="0"/>
                <a:ea typeface="Roboto Mono" pitchFamily="34" charset="-122"/>
                <a:cs typeface="Roboto Mono" pitchFamily="34" charset="-120"/>
              </a:rPr>
              <a:t>Olu, Chidi</a:t>
            </a:r>
            <a:endParaRPr lang="en-US" sz="1500" dirty="0"/>
          </a:p>
        </p:txBody>
      </p:sp>
      <p:sp>
        <p:nvSpPr>
          <p:cNvPr id="19" name="dot-1046"/>
          <p:cNvSpPr/>
          <p:nvPr/>
        </p:nvSpPr>
        <p:spPr>
          <a:xfrm>
            <a:off x="5120640" y="2468880"/>
            <a:ext cx="548640" cy="548640"/>
          </a:xfrm>
          <a:prstGeom prst="ellipse">
            <a:avLst/>
          </a:prstGeom>
          <a:solidFill>
            <a:schemeClr val="accent2"/>
          </a:solidFill>
          <a:ln/>
        </p:spPr>
      </p:sp>
      <p:sp>
        <p:nvSpPr>
          <p:cNvPr id="20" name="box-1047"/>
          <p:cNvSpPr/>
          <p:nvPr/>
        </p:nvSpPr>
        <p:spPr>
          <a:xfrm>
            <a:off x="5806440" y="2377440"/>
            <a:ext cx="5806440" cy="502920"/>
          </a:xfrm>
          <a:prstGeom prst="roundRect">
            <a:avLst>
              <a:gd name="adj" fmla="val 21818"/>
            </a:avLst>
          </a:prstGeom>
          <a:solidFill>
            <a:schemeClr val="bg1"/>
          </a:solidFill>
          <a:ln w="12700">
            <a:solidFill>
              <a:schemeClr val="accent5"/>
            </a:solidFill>
            <a:prstDash val="solid"/>
          </a:ln>
        </p:spPr>
      </p:sp>
      <p:sp>
        <p:nvSpPr>
          <p:cNvPr id="21" name="text-1048"/>
          <p:cNvSpPr txBox="1"/>
          <p:nvPr/>
        </p:nvSpPr>
        <p:spPr>
          <a:xfrm>
            <a:off x="5879592" y="2377440"/>
            <a:ext cx="5660136" cy="502920"/>
          </a:xfrm>
          <a:prstGeom prst="rect">
            <a:avLst/>
          </a:prstGeom>
          <a:noFill/>
          <a:ln/>
        </p:spPr>
        <p:txBody>
          <a:bodyPr wrap="square" lIns="0" tIns="0" rIns="0" bIns="0" rtlCol="0" anchor="ctr"/>
          <a:lstStyle/>
          <a:p>
            <a:pPr algn="l" indent="0" marL="0">
              <a:buNone/>
            </a:pPr>
            <a:r>
              <a:rPr lang="en-US" sz="1400" dirty="0">
                <a:solidFill>
                  <a:schemeClr val="tx1"/>
                </a:solidFill>
                <a:latin typeface="Roboto Mono" pitchFamily="34" charset="0"/>
                <a:ea typeface="Roboto Mono" pitchFamily="34" charset="-122"/>
                <a:cs typeface="Roboto Mono" pitchFamily="34" charset="-120"/>
              </a:rPr>
              <a:t>WHERE surname = 'Okafor'</a:t>
            </a:r>
            <a:endParaRPr lang="en-US" sz="1400" dirty="0"/>
          </a:p>
        </p:txBody>
      </p:sp>
      <p:sp>
        <p:nvSpPr>
          <p:cNvPr id="22" name="text-1049"/>
          <p:cNvSpPr txBox="1"/>
          <p:nvPr/>
        </p:nvSpPr>
        <p:spPr>
          <a:xfrm>
            <a:off x="5852160" y="2880360"/>
            <a:ext cx="5486400" cy="320040"/>
          </a:xfrm>
          <a:prstGeom prst="rect">
            <a:avLst/>
          </a:prstGeom>
          <a:noFill/>
          <a:ln/>
        </p:spPr>
        <p:txBody>
          <a:bodyPr wrap="square" lIns="0" tIns="0" rIns="0" bIns="0" rtlCol="0" anchor="ctr"/>
          <a:lstStyle/>
          <a:p>
            <a:pPr algn="l" indent="0" marL="0">
              <a:buNone/>
            </a:pPr>
            <a:r>
              <a:rPr lang="en-US" sz="1300" dirty="0">
                <a:solidFill>
                  <a:schemeClr val="tx2"/>
                </a:solidFill>
              </a:rPr>
              <a:t>jump straight there</a:t>
            </a:r>
            <a:endParaRPr lang="en-US" sz="1300" dirty="0"/>
          </a:p>
        </p:txBody>
      </p:sp>
      <p:sp>
        <p:nvSpPr>
          <p:cNvPr id="23" name="dot-1050"/>
          <p:cNvSpPr/>
          <p:nvPr/>
        </p:nvSpPr>
        <p:spPr>
          <a:xfrm>
            <a:off x="5120640" y="3429000"/>
            <a:ext cx="548640" cy="548640"/>
          </a:xfrm>
          <a:prstGeom prst="ellipse">
            <a:avLst/>
          </a:prstGeom>
          <a:solidFill>
            <a:schemeClr val="accent2"/>
          </a:solidFill>
          <a:ln/>
        </p:spPr>
      </p:sp>
      <p:sp>
        <p:nvSpPr>
          <p:cNvPr id="24" name="box-1051"/>
          <p:cNvSpPr/>
          <p:nvPr/>
        </p:nvSpPr>
        <p:spPr>
          <a:xfrm>
            <a:off x="5806440" y="3337560"/>
            <a:ext cx="5806440" cy="502920"/>
          </a:xfrm>
          <a:prstGeom prst="roundRect">
            <a:avLst>
              <a:gd name="adj" fmla="val 21818"/>
            </a:avLst>
          </a:prstGeom>
          <a:solidFill>
            <a:schemeClr val="bg1"/>
          </a:solidFill>
          <a:ln w="12700">
            <a:solidFill>
              <a:schemeClr val="accent5"/>
            </a:solidFill>
            <a:prstDash val="solid"/>
          </a:ln>
        </p:spPr>
      </p:sp>
      <p:sp>
        <p:nvSpPr>
          <p:cNvPr id="25" name="text-1052"/>
          <p:cNvSpPr txBox="1"/>
          <p:nvPr/>
        </p:nvSpPr>
        <p:spPr>
          <a:xfrm>
            <a:off x="5879592" y="3337560"/>
            <a:ext cx="5660136" cy="502920"/>
          </a:xfrm>
          <a:prstGeom prst="rect">
            <a:avLst/>
          </a:prstGeom>
          <a:noFill/>
          <a:ln/>
        </p:spPr>
        <p:txBody>
          <a:bodyPr wrap="square" lIns="0" tIns="0" rIns="0" bIns="0" rtlCol="0" anchor="ctr"/>
          <a:lstStyle/>
          <a:p>
            <a:pPr algn="l" indent="0" marL="0">
              <a:buNone/>
            </a:pPr>
            <a:r>
              <a:rPr lang="en-US" sz="1400" dirty="0">
                <a:solidFill>
                  <a:schemeClr val="tx1"/>
                </a:solidFill>
                <a:latin typeface="Roboto Mono" pitchFamily="34" charset="0"/>
                <a:ea typeface="Roboto Mono" pitchFamily="34" charset="-122"/>
                <a:cs typeface="Roboto Mono" pitchFamily="34" charset="-120"/>
              </a:rPr>
              <a:t>WHERE surname = 'Okafor' AND first = 'Ada'</a:t>
            </a:r>
            <a:endParaRPr lang="en-US" sz="1400" dirty="0"/>
          </a:p>
        </p:txBody>
      </p:sp>
      <p:sp>
        <p:nvSpPr>
          <p:cNvPr id="26" name="text-1053"/>
          <p:cNvSpPr txBox="1"/>
          <p:nvPr/>
        </p:nvSpPr>
        <p:spPr>
          <a:xfrm>
            <a:off x="5852160" y="3840480"/>
            <a:ext cx="5486400" cy="320040"/>
          </a:xfrm>
          <a:prstGeom prst="rect">
            <a:avLst/>
          </a:prstGeom>
          <a:noFill/>
          <a:ln/>
        </p:spPr>
        <p:txBody>
          <a:bodyPr wrap="square" lIns="0" tIns="0" rIns="0" bIns="0" rtlCol="0" anchor="ctr"/>
          <a:lstStyle/>
          <a:p>
            <a:pPr algn="l" indent="0" marL="0">
              <a:buNone/>
            </a:pPr>
            <a:r>
              <a:rPr lang="en-US" sz="1300" dirty="0">
                <a:solidFill>
                  <a:schemeClr val="tx2"/>
                </a:solidFill>
              </a:rPr>
              <a:t>jump straight there</a:t>
            </a:r>
            <a:endParaRPr lang="en-US" sz="1300" dirty="0"/>
          </a:p>
        </p:txBody>
      </p:sp>
      <p:sp>
        <p:nvSpPr>
          <p:cNvPr id="27" name="dot-1054"/>
          <p:cNvSpPr/>
          <p:nvPr/>
        </p:nvSpPr>
        <p:spPr>
          <a:xfrm>
            <a:off x="5120640" y="4389120"/>
            <a:ext cx="548640" cy="548640"/>
          </a:xfrm>
          <a:prstGeom prst="ellipse">
            <a:avLst/>
          </a:prstGeom>
          <a:solidFill>
            <a:schemeClr val="accent1"/>
          </a:solidFill>
          <a:ln/>
        </p:spPr>
      </p:sp>
      <p:sp>
        <p:nvSpPr>
          <p:cNvPr id="28" name="box-1055"/>
          <p:cNvSpPr/>
          <p:nvPr/>
        </p:nvSpPr>
        <p:spPr>
          <a:xfrm>
            <a:off x="5806440" y="4297680"/>
            <a:ext cx="5806440" cy="502920"/>
          </a:xfrm>
          <a:prstGeom prst="roundRect">
            <a:avLst>
              <a:gd name="adj" fmla="val 21818"/>
            </a:avLst>
          </a:prstGeom>
          <a:solidFill>
            <a:schemeClr val="bg1"/>
          </a:solidFill>
          <a:ln w="12700">
            <a:solidFill>
              <a:schemeClr val="accent5"/>
            </a:solidFill>
            <a:prstDash val="solid"/>
          </a:ln>
        </p:spPr>
      </p:sp>
      <p:sp>
        <p:nvSpPr>
          <p:cNvPr id="29" name="text-1056"/>
          <p:cNvSpPr txBox="1"/>
          <p:nvPr/>
        </p:nvSpPr>
        <p:spPr>
          <a:xfrm>
            <a:off x="5879592" y="4297680"/>
            <a:ext cx="5660136" cy="502920"/>
          </a:xfrm>
          <a:prstGeom prst="rect">
            <a:avLst/>
          </a:prstGeom>
          <a:noFill/>
          <a:ln/>
        </p:spPr>
        <p:txBody>
          <a:bodyPr wrap="square" lIns="0" tIns="0" rIns="0" bIns="0" rtlCol="0" anchor="ctr"/>
          <a:lstStyle/>
          <a:p>
            <a:pPr algn="l" indent="0" marL="0">
              <a:buNone/>
            </a:pPr>
            <a:r>
              <a:rPr lang="en-US" sz="1400" dirty="0">
                <a:solidFill>
                  <a:schemeClr val="tx1"/>
                </a:solidFill>
                <a:latin typeface="Roboto Mono" pitchFamily="34" charset="0"/>
                <a:ea typeface="Roboto Mono" pitchFamily="34" charset="-122"/>
                <a:cs typeface="Roboto Mono" pitchFamily="34" charset="-120"/>
              </a:rPr>
              <a:t>WHERE first = 'Ada'</a:t>
            </a:r>
            <a:endParaRPr lang="en-US" sz="1400" dirty="0"/>
          </a:p>
        </p:txBody>
      </p:sp>
      <p:sp>
        <p:nvSpPr>
          <p:cNvPr id="30" name="text-1057"/>
          <p:cNvSpPr txBox="1"/>
          <p:nvPr/>
        </p:nvSpPr>
        <p:spPr>
          <a:xfrm>
            <a:off x="5852160" y="4800600"/>
            <a:ext cx="5486400" cy="320040"/>
          </a:xfrm>
          <a:prstGeom prst="rect">
            <a:avLst/>
          </a:prstGeom>
          <a:noFill/>
          <a:ln/>
        </p:spPr>
        <p:txBody>
          <a:bodyPr wrap="square" lIns="0" tIns="0" rIns="0" bIns="0" rtlCol="0" anchor="ctr"/>
          <a:lstStyle/>
          <a:p>
            <a:pPr algn="l" indent="0" marL="0">
              <a:buNone/>
            </a:pPr>
            <a:r>
              <a:rPr lang="en-US" sz="1300" dirty="0">
                <a:solidFill>
                  <a:schemeClr val="tx2"/>
                </a:solidFill>
              </a:rPr>
              <a:t>scan the whole book</a:t>
            </a:r>
            <a:endParaRPr lang="en-US" sz="1300" dirty="0"/>
          </a:p>
        </p:txBody>
      </p:sp>
      <p:sp>
        <p:nvSpPr>
          <p:cNvPr id="31" name="box-1058"/>
          <p:cNvSpPr/>
          <p:nvPr/>
        </p:nvSpPr>
        <p:spPr>
          <a:xfrm>
            <a:off x="5120640" y="5349240"/>
            <a:ext cx="6492240" cy="548640"/>
          </a:xfrm>
          <a:prstGeom prst="roundRect">
            <a:avLst>
              <a:gd name="adj" fmla="val 20000"/>
            </a:avLst>
          </a:prstGeom>
          <a:solidFill>
            <a:schemeClr val="tx1"/>
          </a:solidFill>
          <a:ln/>
        </p:spPr>
      </p:sp>
      <p:sp>
        <p:nvSpPr>
          <p:cNvPr id="32" name="text-1059"/>
          <p:cNvSpPr txBox="1"/>
          <p:nvPr/>
        </p:nvSpPr>
        <p:spPr>
          <a:xfrm>
            <a:off x="5193792" y="5349240"/>
            <a:ext cx="6345936" cy="548640"/>
          </a:xfrm>
          <a:prstGeom prst="rect">
            <a:avLst/>
          </a:prstGeom>
          <a:noFill/>
          <a:ln/>
        </p:spPr>
        <p:txBody>
          <a:bodyPr wrap="square" lIns="0" tIns="0" rIns="0" bIns="0" rtlCol="0" anchor="ctr"/>
          <a:lstStyle/>
          <a:p>
            <a:pPr algn="ctr" indent="0" marL="0">
              <a:buNone/>
            </a:pPr>
            <a:r>
              <a:rPr lang="en-US" sz="1500" b="1" dirty="0">
                <a:solidFill>
                  <a:schemeClr val="bg1"/>
                </a:solidFill>
                <a:latin typeface="Roboto Mono" pitchFamily="34" charset="0"/>
                <a:ea typeface="Roboto Mono" pitchFamily="34" charset="-122"/>
                <a:cs typeface="Roboto Mono" pitchFamily="34" charset="-120"/>
              </a:rPr>
              <a:t>INDEX ON orders (user_id, created_at)</a:t>
            </a:r>
            <a:endParaRPr lang="en-US" sz="1500" dirty="0"/>
          </a:p>
        </p:txBody>
      </p:sp>
      <p:pic>
        <p:nvPicPr>
          <p:cNvPr id="33" name="Image 0" descr="TachometerAlt icon">    </p:cNvPr>
          <p:cNvPicPr>
            <a:picLocks noChangeAspect="1"/>
          </p:cNvPicPr>
          <p:nvPr/>
        </p:nvPicPr>
        <p:blipFill>
          <a:blip r:embed="rId1"/>
          <a:stretch>
            <a:fillRect/>
          </a:stretch>
        </p:blipFill>
        <p:spPr>
          <a:xfrm>
            <a:off x="640812" y="476220"/>
            <a:ext cx="199705" cy="199705"/>
          </a:xfrm>
          <a:prstGeom prst="rect">
            <a:avLst/>
          </a:prstGeom>
        </p:spPr>
      </p:pic>
      <p:pic>
        <p:nvPicPr>
          <p:cNvPr id="34" name="Image 1" descr="Book icon">    </p:cNvPr>
          <p:cNvPicPr>
            <a:picLocks noChangeAspect="1"/>
          </p:cNvPicPr>
          <p:nvPr/>
        </p:nvPicPr>
        <p:blipFill>
          <a:blip r:embed="rId2"/>
          <a:stretch>
            <a:fillRect/>
          </a:stretch>
        </p:blipFill>
        <p:spPr>
          <a:xfrm>
            <a:off x="822960" y="2514600"/>
            <a:ext cx="502920" cy="502920"/>
          </a:xfrm>
          <a:prstGeom prst="rect">
            <a:avLst/>
          </a:prstGeom>
        </p:spPr>
      </p:pic>
      <p:pic>
        <p:nvPicPr>
          <p:cNvPr id="35" name="Image 2" descr="Check icon">    </p:cNvPr>
          <p:cNvPicPr>
            <a:picLocks noChangeAspect="1"/>
          </p:cNvPicPr>
          <p:nvPr/>
        </p:nvPicPr>
        <p:blipFill>
          <a:blip r:embed="rId3"/>
          <a:stretch>
            <a:fillRect/>
          </a:stretch>
        </p:blipFill>
        <p:spPr>
          <a:xfrm>
            <a:off x="5252314" y="2600554"/>
            <a:ext cx="285293" cy="285293"/>
          </a:xfrm>
          <a:prstGeom prst="rect">
            <a:avLst/>
          </a:prstGeom>
        </p:spPr>
      </p:pic>
      <p:pic>
        <p:nvPicPr>
          <p:cNvPr id="36" name="Image 3" descr="Check icon">    </p:cNvPr>
          <p:cNvPicPr>
            <a:picLocks noChangeAspect="1"/>
          </p:cNvPicPr>
          <p:nvPr/>
        </p:nvPicPr>
        <p:blipFill>
          <a:blip r:embed="rId4"/>
          <a:stretch>
            <a:fillRect/>
          </a:stretch>
        </p:blipFill>
        <p:spPr>
          <a:xfrm>
            <a:off x="5252314" y="3560674"/>
            <a:ext cx="285293" cy="285293"/>
          </a:xfrm>
          <a:prstGeom prst="rect">
            <a:avLst/>
          </a:prstGeom>
        </p:spPr>
      </p:pic>
      <p:pic>
        <p:nvPicPr>
          <p:cNvPr id="37" name="Image 4" descr="Times icon">    </p:cNvPr>
          <p:cNvPicPr>
            <a:picLocks noChangeAspect="1"/>
          </p:cNvPicPr>
          <p:nvPr/>
        </p:nvPicPr>
        <p:blipFill>
          <a:blip r:embed="rId5"/>
          <a:stretch>
            <a:fillRect/>
          </a:stretch>
        </p:blipFill>
        <p:spPr>
          <a:xfrm>
            <a:off x="5252314" y="4520794"/>
            <a:ext cx="285293" cy="285293"/>
          </a:xfrm>
          <a:prstGeom prst="rect">
            <a:avLst/>
          </a:prstGeom>
        </p:spPr>
      </p:pic>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dot-1060"/>
          <p:cNvSpPr/>
          <p:nvPr/>
        </p:nvSpPr>
        <p:spPr>
          <a:xfrm>
            <a:off x="548640" y="384048"/>
            <a:ext cx="384048" cy="384048"/>
          </a:xfrm>
          <a:prstGeom prst="ellipse">
            <a:avLst/>
          </a:prstGeom>
          <a:solidFill>
            <a:schemeClr val="accent3"/>
          </a:solidFill>
          <a:ln/>
        </p:spPr>
      </p:sp>
      <p:sp>
        <p:nvSpPr>
          <p:cNvPr id="3" name="Text 1"/>
          <p:cNvSpPr/>
          <p:nvPr>
            <p:ph idx="101" type="body" hasCustomPrompt="1"/>
          </p:nvPr>
        </p:nvSpPr>
        <p:spPr>
          <a:xfrm>
            <a:off x="1051560" y="384048"/>
            <a:ext cx="9601200" cy="384048"/>
          </a:xfrm>
          <a:prstGeom prst="rect">
            <a:avLst/>
          </a:prstGeom>
          <a:noFill/>
          <a:ln/>
        </p:spPr>
        <p:txBody>
          <a:bodyPr wrap="square" lIns="0" tIns="0" rIns="0" bIns="0" rtlCol="0" anchor="ctr"/>
          <a:lstStyle/>
          <a:p>
            <a:pPr indent="0" marL="0">
              <a:buNone/>
            </a:pPr>
            <a:r>
              <a:rPr lang="en-US" sz="1300" b="1" spc="300" kern="0" dirty="0">
                <a:solidFill>
                  <a:schemeClr val="tx2"/>
                </a:solidFill>
              </a:rPr>
              <a:t>L4  ·  PERFORMANCE  ·  3.12 INDEXES</a:t>
            </a:r>
            <a:endParaRPr lang="en-US" sz="1300" dirty="0"/>
          </a:p>
        </p:txBody>
      </p:sp>
      <p:sp>
        <p:nvSpPr>
          <p:cNvPr id="4" name="Text 1"/>
          <p:cNvSpPr/>
          <p:nvPr>
            <p:ph idx="102" type="title" hasCustomPrompt="1"/>
          </p:nvPr>
        </p:nvSpPr>
        <p:spPr>
          <a:xfrm>
            <a:off x="548640" y="841248"/>
            <a:ext cx="11064240" cy="777240"/>
          </a:xfrm>
          <a:prstGeom prst="rect">
            <a:avLst/>
          </a:prstGeom>
          <a:noFill/>
          <a:ln/>
        </p:spPr>
        <p:txBody>
          <a:bodyPr wrap="square" lIns="0" tIns="0" rIns="0" bIns="0" rtlCol="0" anchor="ctr"/>
          <a:lstStyle/>
          <a:p>
            <a:pPr algn="l" indent="0" marL="0">
              <a:buNone/>
            </a:pPr>
            <a:r>
              <a:rPr lang="en-US" sz="3800" b="1" dirty="0">
                <a:solidFill>
                  <a:schemeClr val="tx1"/>
                </a:solidFill>
              </a:rPr>
              <a:t>Seq Scan isn't always a bug</a:t>
            </a:r>
            <a:endParaRPr lang="en-US" sz="3800" dirty="0"/>
          </a:p>
        </p:txBody>
      </p:sp>
      <p:sp>
        <p:nvSpPr>
          <p:cNvPr id="5" name="Text 1"/>
          <p:cNvSpPr/>
          <p:nvPr>
            <p:ph idx="103" type="body" hasCustomPrompt="1"/>
          </p:nvPr>
        </p:nvSpPr>
        <p:spPr>
          <a:xfrm>
            <a:off x="548640" y="1627632"/>
            <a:ext cx="11064240" cy="457200"/>
          </a:xfrm>
          <a:prstGeom prst="rect">
            <a:avLst/>
          </a:prstGeom>
          <a:noFill/>
          <a:ln/>
        </p:spPr>
        <p:txBody>
          <a:bodyPr wrap="square" lIns="0" tIns="0" rIns="0" bIns="0" rtlCol="0" anchor="t"/>
          <a:lstStyle/>
          <a:p>
            <a:pPr indent="0" marL="0">
              <a:buNone/>
            </a:pPr>
            <a:r>
              <a:rPr lang="en-US" sz="2000" dirty="0">
                <a:solidFill>
                  <a:schemeClr val="tx2"/>
                </a:solidFill>
              </a:rPr>
              <a:t>The planner may be right</a:t>
            </a:r>
            <a:endParaRPr lang="en-US" sz="2000" dirty="0"/>
          </a:p>
        </p:txBody>
      </p:sp>
      <p:sp>
        <p:nvSpPr>
          <p:cNvPr id="7" name="box-1061"/>
          <p:cNvSpPr/>
          <p:nvPr/>
        </p:nvSpPr>
        <p:spPr>
          <a:xfrm>
            <a:off x="548640" y="2286000"/>
            <a:ext cx="3566160" cy="1783080"/>
          </a:xfrm>
          <a:prstGeom prst="roundRect">
            <a:avLst>
              <a:gd name="adj" fmla="val 4103"/>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8" name="dot-1062"/>
          <p:cNvSpPr/>
          <p:nvPr/>
        </p:nvSpPr>
        <p:spPr>
          <a:xfrm>
            <a:off x="777240" y="2560320"/>
            <a:ext cx="685800" cy="685800"/>
          </a:xfrm>
          <a:prstGeom prst="ellipse">
            <a:avLst/>
          </a:prstGeom>
          <a:solidFill>
            <a:schemeClr val="accent2"/>
          </a:solidFill>
          <a:ln/>
        </p:spPr>
      </p:sp>
      <p:sp>
        <p:nvSpPr>
          <p:cNvPr id="9" name="text-1063"/>
          <p:cNvSpPr txBox="1"/>
          <p:nvPr/>
        </p:nvSpPr>
        <p:spPr>
          <a:xfrm>
            <a:off x="1600200" y="2514600"/>
            <a:ext cx="2377440" cy="777240"/>
          </a:xfrm>
          <a:prstGeom prst="rect">
            <a:avLst/>
          </a:prstGeom>
          <a:noFill/>
          <a:ln/>
        </p:spPr>
        <p:txBody>
          <a:bodyPr wrap="square" lIns="0" tIns="0" rIns="0" bIns="0" rtlCol="0" anchor="ctr"/>
          <a:lstStyle/>
          <a:p>
            <a:pPr algn="l" indent="0" marL="0">
              <a:buNone/>
            </a:pPr>
            <a:r>
              <a:rPr lang="en-US" sz="1500" b="1" dirty="0">
                <a:solidFill>
                  <a:schemeClr val="tx1"/>
                </a:solidFill>
              </a:rPr>
              <a:t>Most rows match</a:t>
            </a:r>
            <a:endParaRPr lang="en-US" sz="1500" dirty="0"/>
          </a:p>
        </p:txBody>
      </p:sp>
      <p:sp>
        <p:nvSpPr>
          <p:cNvPr id="10" name="box-1064"/>
          <p:cNvSpPr/>
          <p:nvPr/>
        </p:nvSpPr>
        <p:spPr>
          <a:xfrm>
            <a:off x="777240" y="3474720"/>
            <a:ext cx="3108960" cy="411480"/>
          </a:xfrm>
          <a:prstGeom prst="roundRect">
            <a:avLst>
              <a:gd name="adj" fmla="val 26667"/>
            </a:avLst>
          </a:prstGeom>
          <a:solidFill>
            <a:schemeClr val="accent2">
              <a:alpha val="60000"/>
            </a:schemeClr>
          </a:solidFill>
          <a:ln/>
        </p:spPr>
      </p:sp>
      <p:sp>
        <p:nvSpPr>
          <p:cNvPr id="11" name="text-1065"/>
          <p:cNvSpPr txBox="1"/>
          <p:nvPr/>
        </p:nvSpPr>
        <p:spPr>
          <a:xfrm>
            <a:off x="850392" y="3474720"/>
            <a:ext cx="2962656" cy="411480"/>
          </a:xfrm>
          <a:prstGeom prst="rect">
            <a:avLst/>
          </a:prstGeom>
          <a:noFill/>
          <a:ln/>
        </p:spPr>
        <p:txBody>
          <a:bodyPr wrap="square" lIns="0" tIns="0" rIns="0" bIns="0" rtlCol="0" anchor="ctr"/>
          <a:lstStyle/>
          <a:p>
            <a:pPr algn="ctr" indent="0" marL="0">
              <a:buNone/>
            </a:pPr>
            <a:r>
              <a:rPr lang="en-US" sz="1300" b="1" dirty="0">
                <a:solidFill>
                  <a:schemeClr val="tx1"/>
                </a:solidFill>
              </a:rPr>
              <a:t>planner is right</a:t>
            </a:r>
            <a:endParaRPr lang="en-US" sz="1300" dirty="0"/>
          </a:p>
        </p:txBody>
      </p:sp>
      <p:sp>
        <p:nvSpPr>
          <p:cNvPr id="12" name="box-1066"/>
          <p:cNvSpPr/>
          <p:nvPr/>
        </p:nvSpPr>
        <p:spPr>
          <a:xfrm>
            <a:off x="4297680" y="2286000"/>
            <a:ext cx="3566160" cy="1783080"/>
          </a:xfrm>
          <a:prstGeom prst="roundRect">
            <a:avLst>
              <a:gd name="adj" fmla="val 4103"/>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13" name="dot-1067"/>
          <p:cNvSpPr/>
          <p:nvPr/>
        </p:nvSpPr>
        <p:spPr>
          <a:xfrm>
            <a:off x="4526280" y="2560320"/>
            <a:ext cx="685800" cy="685800"/>
          </a:xfrm>
          <a:prstGeom prst="ellipse">
            <a:avLst/>
          </a:prstGeom>
          <a:solidFill>
            <a:schemeClr val="accent5"/>
          </a:solidFill>
          <a:ln/>
        </p:spPr>
      </p:sp>
      <p:sp>
        <p:nvSpPr>
          <p:cNvPr id="14" name="text-1068"/>
          <p:cNvSpPr txBox="1"/>
          <p:nvPr/>
        </p:nvSpPr>
        <p:spPr>
          <a:xfrm>
            <a:off x="5349240" y="2514600"/>
            <a:ext cx="2377440" cy="777240"/>
          </a:xfrm>
          <a:prstGeom prst="rect">
            <a:avLst/>
          </a:prstGeom>
          <a:noFill/>
          <a:ln/>
        </p:spPr>
        <p:txBody>
          <a:bodyPr wrap="square" lIns="0" tIns="0" rIns="0" bIns="0" rtlCol="0" anchor="ctr"/>
          <a:lstStyle/>
          <a:p>
            <a:pPr algn="l" indent="0" marL="0">
              <a:buNone/>
            </a:pPr>
            <a:r>
              <a:rPr lang="en-US" sz="1500" b="1" dirty="0">
                <a:solidFill>
                  <a:schemeClr val="tx1"/>
                </a:solidFill>
              </a:rPr>
              <a:t>lower(email) wraps the column</a:t>
            </a:r>
            <a:endParaRPr lang="en-US" sz="1500" dirty="0"/>
          </a:p>
        </p:txBody>
      </p:sp>
      <p:sp>
        <p:nvSpPr>
          <p:cNvPr id="15" name="box-1069"/>
          <p:cNvSpPr/>
          <p:nvPr/>
        </p:nvSpPr>
        <p:spPr>
          <a:xfrm>
            <a:off x="4526280" y="3474720"/>
            <a:ext cx="3108960" cy="411480"/>
          </a:xfrm>
          <a:prstGeom prst="roundRect">
            <a:avLst>
              <a:gd name="adj" fmla="val 26667"/>
            </a:avLst>
          </a:prstGeom>
          <a:solidFill>
            <a:schemeClr val="accent1">
              <a:alpha val="25000"/>
            </a:schemeClr>
          </a:solidFill>
          <a:ln/>
        </p:spPr>
      </p:sp>
      <p:sp>
        <p:nvSpPr>
          <p:cNvPr id="16" name="text-1070"/>
          <p:cNvSpPr txBox="1"/>
          <p:nvPr/>
        </p:nvSpPr>
        <p:spPr>
          <a:xfrm>
            <a:off x="4599432" y="3474720"/>
            <a:ext cx="2962656" cy="411480"/>
          </a:xfrm>
          <a:prstGeom prst="rect">
            <a:avLst/>
          </a:prstGeom>
          <a:noFill/>
          <a:ln/>
        </p:spPr>
        <p:txBody>
          <a:bodyPr wrap="square" lIns="0" tIns="0" rIns="0" bIns="0" rtlCol="0" anchor="ctr"/>
          <a:lstStyle/>
          <a:p>
            <a:pPr algn="ctr" indent="0" marL="0">
              <a:buNone/>
            </a:pPr>
            <a:r>
              <a:rPr lang="en-US" sz="1300" b="1" dirty="0">
                <a:solidFill>
                  <a:schemeClr val="tx1"/>
                </a:solidFill>
              </a:rPr>
              <a:t>fix: expression index</a:t>
            </a:r>
            <a:endParaRPr lang="en-US" sz="1300" dirty="0"/>
          </a:p>
        </p:txBody>
      </p:sp>
      <p:sp>
        <p:nvSpPr>
          <p:cNvPr id="17" name="box-1071"/>
          <p:cNvSpPr/>
          <p:nvPr/>
        </p:nvSpPr>
        <p:spPr>
          <a:xfrm>
            <a:off x="8046720" y="2286000"/>
            <a:ext cx="3566160" cy="1783080"/>
          </a:xfrm>
          <a:prstGeom prst="roundRect">
            <a:avLst>
              <a:gd name="adj" fmla="val 4103"/>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18" name="dot-1072"/>
          <p:cNvSpPr/>
          <p:nvPr/>
        </p:nvSpPr>
        <p:spPr>
          <a:xfrm>
            <a:off x="8275320" y="2560320"/>
            <a:ext cx="685800" cy="685800"/>
          </a:xfrm>
          <a:prstGeom prst="ellipse">
            <a:avLst/>
          </a:prstGeom>
          <a:solidFill>
            <a:schemeClr val="accent5"/>
          </a:solidFill>
          <a:ln/>
        </p:spPr>
      </p:sp>
      <p:sp>
        <p:nvSpPr>
          <p:cNvPr id="19" name="text-1073"/>
          <p:cNvSpPr txBox="1"/>
          <p:nvPr/>
        </p:nvSpPr>
        <p:spPr>
          <a:xfrm>
            <a:off x="9098280" y="2514600"/>
            <a:ext cx="2377440" cy="777240"/>
          </a:xfrm>
          <a:prstGeom prst="rect">
            <a:avLst/>
          </a:prstGeom>
          <a:noFill/>
          <a:ln/>
        </p:spPr>
        <p:txBody>
          <a:bodyPr wrap="square" lIns="0" tIns="0" rIns="0" bIns="0" rtlCol="0" anchor="ctr"/>
          <a:lstStyle/>
          <a:p>
            <a:pPr algn="l" indent="0" marL="0">
              <a:buNone/>
            </a:pPr>
            <a:r>
              <a:rPr lang="en-US" sz="1500" b="1" dirty="0">
                <a:solidFill>
                  <a:schemeClr val="tx1"/>
                </a:solidFill>
              </a:rPr>
              <a:t>LIKE '%abc' leading wildcard</a:t>
            </a:r>
            <a:endParaRPr lang="en-US" sz="1500" dirty="0"/>
          </a:p>
        </p:txBody>
      </p:sp>
      <p:sp>
        <p:nvSpPr>
          <p:cNvPr id="20" name="box-1074"/>
          <p:cNvSpPr/>
          <p:nvPr/>
        </p:nvSpPr>
        <p:spPr>
          <a:xfrm>
            <a:off x="8275320" y="3474720"/>
            <a:ext cx="3108960" cy="411480"/>
          </a:xfrm>
          <a:prstGeom prst="roundRect">
            <a:avLst>
              <a:gd name="adj" fmla="val 26667"/>
            </a:avLst>
          </a:prstGeom>
          <a:solidFill>
            <a:schemeClr val="accent1">
              <a:alpha val="25000"/>
            </a:schemeClr>
          </a:solidFill>
          <a:ln/>
        </p:spPr>
      </p:sp>
      <p:sp>
        <p:nvSpPr>
          <p:cNvPr id="21" name="text-1075"/>
          <p:cNvSpPr txBox="1"/>
          <p:nvPr/>
        </p:nvSpPr>
        <p:spPr>
          <a:xfrm>
            <a:off x="8348472" y="3474720"/>
            <a:ext cx="2962656" cy="411480"/>
          </a:xfrm>
          <a:prstGeom prst="rect">
            <a:avLst/>
          </a:prstGeom>
          <a:noFill/>
          <a:ln/>
        </p:spPr>
        <p:txBody>
          <a:bodyPr wrap="square" lIns="0" tIns="0" rIns="0" bIns="0" rtlCol="0" anchor="ctr"/>
          <a:lstStyle/>
          <a:p>
            <a:pPr algn="ctr" indent="0" marL="0">
              <a:buNone/>
            </a:pPr>
            <a:r>
              <a:rPr lang="en-US" sz="1300" b="1" dirty="0">
                <a:solidFill>
                  <a:schemeClr val="tx1"/>
                </a:solidFill>
              </a:rPr>
              <a:t>can't use a B-tree</a:t>
            </a:r>
            <a:endParaRPr lang="en-US" sz="1300" dirty="0"/>
          </a:p>
        </p:txBody>
      </p:sp>
      <p:sp>
        <p:nvSpPr>
          <p:cNvPr id="22" name="box-1076"/>
          <p:cNvSpPr/>
          <p:nvPr/>
        </p:nvSpPr>
        <p:spPr>
          <a:xfrm>
            <a:off x="548640" y="4251960"/>
            <a:ext cx="3566160" cy="1783080"/>
          </a:xfrm>
          <a:prstGeom prst="roundRect">
            <a:avLst>
              <a:gd name="adj" fmla="val 4103"/>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23" name="dot-1077"/>
          <p:cNvSpPr/>
          <p:nvPr/>
        </p:nvSpPr>
        <p:spPr>
          <a:xfrm>
            <a:off x="777240" y="4526280"/>
            <a:ext cx="685800" cy="685800"/>
          </a:xfrm>
          <a:prstGeom prst="ellipse">
            <a:avLst/>
          </a:prstGeom>
          <a:solidFill>
            <a:schemeClr val="accent5"/>
          </a:solidFill>
          <a:ln/>
        </p:spPr>
      </p:sp>
      <p:sp>
        <p:nvSpPr>
          <p:cNvPr id="24" name="text-1078"/>
          <p:cNvSpPr txBox="1"/>
          <p:nvPr/>
        </p:nvSpPr>
        <p:spPr>
          <a:xfrm>
            <a:off x="1600200" y="4480560"/>
            <a:ext cx="2377440" cy="777240"/>
          </a:xfrm>
          <a:prstGeom prst="rect">
            <a:avLst/>
          </a:prstGeom>
          <a:noFill/>
          <a:ln/>
        </p:spPr>
        <p:txBody>
          <a:bodyPr wrap="square" lIns="0" tIns="0" rIns="0" bIns="0" rtlCol="0" anchor="ctr"/>
          <a:lstStyle/>
          <a:p>
            <a:pPr algn="l" indent="0" marL="0">
              <a:buNone/>
            </a:pPr>
            <a:r>
              <a:rPr lang="en-US" sz="1500" b="1" dirty="0">
                <a:solidFill>
                  <a:schemeClr val="tx1"/>
                </a:solidFill>
              </a:rPr>
              <a:t>Type mismatch on the column</a:t>
            </a:r>
            <a:endParaRPr lang="en-US" sz="1500" dirty="0"/>
          </a:p>
        </p:txBody>
      </p:sp>
      <p:sp>
        <p:nvSpPr>
          <p:cNvPr id="25" name="box-1079"/>
          <p:cNvSpPr/>
          <p:nvPr/>
        </p:nvSpPr>
        <p:spPr>
          <a:xfrm>
            <a:off x="777240" y="5440680"/>
            <a:ext cx="3108960" cy="411480"/>
          </a:xfrm>
          <a:prstGeom prst="roundRect">
            <a:avLst>
              <a:gd name="adj" fmla="val 26667"/>
            </a:avLst>
          </a:prstGeom>
          <a:solidFill>
            <a:schemeClr val="accent1">
              <a:alpha val="25000"/>
            </a:schemeClr>
          </a:solidFill>
          <a:ln/>
        </p:spPr>
      </p:sp>
      <p:sp>
        <p:nvSpPr>
          <p:cNvPr id="26" name="text-1080"/>
          <p:cNvSpPr txBox="1"/>
          <p:nvPr/>
        </p:nvSpPr>
        <p:spPr>
          <a:xfrm>
            <a:off x="850392" y="5440680"/>
            <a:ext cx="2962656" cy="411480"/>
          </a:xfrm>
          <a:prstGeom prst="rect">
            <a:avLst/>
          </a:prstGeom>
          <a:noFill/>
          <a:ln/>
        </p:spPr>
        <p:txBody>
          <a:bodyPr wrap="square" lIns="0" tIns="0" rIns="0" bIns="0" rtlCol="0" anchor="ctr"/>
          <a:lstStyle/>
          <a:p>
            <a:pPr algn="ctr" indent="0" marL="0">
              <a:buNone/>
            </a:pPr>
            <a:r>
              <a:rPr lang="en-US" sz="1300" b="1" dirty="0">
                <a:solidFill>
                  <a:schemeClr val="tx1"/>
                </a:solidFill>
              </a:rPr>
              <a:t>fix: match the type</a:t>
            </a:r>
            <a:endParaRPr lang="en-US" sz="1300" dirty="0"/>
          </a:p>
        </p:txBody>
      </p:sp>
      <p:sp>
        <p:nvSpPr>
          <p:cNvPr id="27" name="box-1081"/>
          <p:cNvSpPr/>
          <p:nvPr/>
        </p:nvSpPr>
        <p:spPr>
          <a:xfrm>
            <a:off x="4297680" y="4251960"/>
            <a:ext cx="3566160" cy="1783080"/>
          </a:xfrm>
          <a:prstGeom prst="roundRect">
            <a:avLst>
              <a:gd name="adj" fmla="val 4103"/>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28" name="dot-1082"/>
          <p:cNvSpPr/>
          <p:nvPr/>
        </p:nvSpPr>
        <p:spPr>
          <a:xfrm>
            <a:off x="4526280" y="4526280"/>
            <a:ext cx="685800" cy="685800"/>
          </a:xfrm>
          <a:prstGeom prst="ellipse">
            <a:avLst/>
          </a:prstGeom>
          <a:solidFill>
            <a:schemeClr val="accent2"/>
          </a:solidFill>
          <a:ln/>
        </p:spPr>
      </p:sp>
      <p:sp>
        <p:nvSpPr>
          <p:cNvPr id="29" name="text-1083"/>
          <p:cNvSpPr txBox="1"/>
          <p:nvPr/>
        </p:nvSpPr>
        <p:spPr>
          <a:xfrm>
            <a:off x="5349240" y="4480560"/>
            <a:ext cx="2377440" cy="777240"/>
          </a:xfrm>
          <a:prstGeom prst="rect">
            <a:avLst/>
          </a:prstGeom>
          <a:noFill/>
          <a:ln/>
        </p:spPr>
        <p:txBody>
          <a:bodyPr wrap="square" lIns="0" tIns="0" rIns="0" bIns="0" rtlCol="0" anchor="ctr"/>
          <a:lstStyle/>
          <a:p>
            <a:pPr algn="l" indent="0" marL="0">
              <a:buNone/>
            </a:pPr>
            <a:r>
              <a:rPr lang="en-US" sz="1500" b="1" dirty="0">
                <a:solidFill>
                  <a:schemeClr val="tx1"/>
                </a:solidFill>
              </a:rPr>
              <a:t>Tiny table</a:t>
            </a:r>
            <a:endParaRPr lang="en-US" sz="1500" dirty="0"/>
          </a:p>
        </p:txBody>
      </p:sp>
      <p:sp>
        <p:nvSpPr>
          <p:cNvPr id="30" name="box-1084"/>
          <p:cNvSpPr/>
          <p:nvPr/>
        </p:nvSpPr>
        <p:spPr>
          <a:xfrm>
            <a:off x="4526280" y="5440680"/>
            <a:ext cx="3108960" cy="411480"/>
          </a:xfrm>
          <a:prstGeom prst="roundRect">
            <a:avLst>
              <a:gd name="adj" fmla="val 26667"/>
            </a:avLst>
          </a:prstGeom>
          <a:solidFill>
            <a:schemeClr val="accent2">
              <a:alpha val="60000"/>
            </a:schemeClr>
          </a:solidFill>
          <a:ln/>
        </p:spPr>
      </p:sp>
      <p:sp>
        <p:nvSpPr>
          <p:cNvPr id="31" name="text-1085"/>
          <p:cNvSpPr txBox="1"/>
          <p:nvPr/>
        </p:nvSpPr>
        <p:spPr>
          <a:xfrm>
            <a:off x="4599432" y="5440680"/>
            <a:ext cx="2962656" cy="411480"/>
          </a:xfrm>
          <a:prstGeom prst="rect">
            <a:avLst/>
          </a:prstGeom>
          <a:noFill/>
          <a:ln/>
        </p:spPr>
        <p:txBody>
          <a:bodyPr wrap="square" lIns="0" tIns="0" rIns="0" bIns="0" rtlCol="0" anchor="ctr"/>
          <a:lstStyle/>
          <a:p>
            <a:pPr algn="ctr" indent="0" marL="0">
              <a:buNone/>
            </a:pPr>
            <a:r>
              <a:rPr lang="en-US" sz="1300" b="1" dirty="0">
                <a:solidFill>
                  <a:schemeClr val="tx1"/>
                </a:solidFill>
              </a:rPr>
              <a:t>planner is right</a:t>
            </a:r>
            <a:endParaRPr lang="en-US" sz="1300" dirty="0"/>
          </a:p>
        </p:txBody>
      </p:sp>
      <p:sp>
        <p:nvSpPr>
          <p:cNvPr id="32" name="box-1086"/>
          <p:cNvSpPr/>
          <p:nvPr/>
        </p:nvSpPr>
        <p:spPr>
          <a:xfrm>
            <a:off x="8046720" y="4251960"/>
            <a:ext cx="3566160" cy="1783080"/>
          </a:xfrm>
          <a:prstGeom prst="roundRect">
            <a:avLst>
              <a:gd name="adj" fmla="val 4103"/>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33" name="dot-1087"/>
          <p:cNvSpPr/>
          <p:nvPr/>
        </p:nvSpPr>
        <p:spPr>
          <a:xfrm>
            <a:off x="8275320" y="4526280"/>
            <a:ext cx="685800" cy="685800"/>
          </a:xfrm>
          <a:prstGeom prst="ellipse">
            <a:avLst/>
          </a:prstGeom>
          <a:solidFill>
            <a:schemeClr val="accent5"/>
          </a:solidFill>
          <a:ln/>
        </p:spPr>
      </p:sp>
      <p:sp>
        <p:nvSpPr>
          <p:cNvPr id="34" name="text-1088"/>
          <p:cNvSpPr txBox="1"/>
          <p:nvPr/>
        </p:nvSpPr>
        <p:spPr>
          <a:xfrm>
            <a:off x="9098280" y="4480560"/>
            <a:ext cx="2377440" cy="777240"/>
          </a:xfrm>
          <a:prstGeom prst="rect">
            <a:avLst/>
          </a:prstGeom>
          <a:noFill/>
          <a:ln/>
        </p:spPr>
        <p:txBody>
          <a:bodyPr wrap="square" lIns="0" tIns="0" rIns="0" bIns="0" rtlCol="0" anchor="ctr"/>
          <a:lstStyle/>
          <a:p>
            <a:pPr algn="l" indent="0" marL="0">
              <a:buNone/>
            </a:pPr>
            <a:r>
              <a:rPr lang="en-US" sz="1500" b="1" dirty="0">
                <a:solidFill>
                  <a:schemeClr val="tx1"/>
                </a:solidFill>
              </a:rPr>
              <a:t>Stale statistics</a:t>
            </a:r>
            <a:endParaRPr lang="en-US" sz="1500" dirty="0"/>
          </a:p>
        </p:txBody>
      </p:sp>
      <p:sp>
        <p:nvSpPr>
          <p:cNvPr id="35" name="box-1089"/>
          <p:cNvSpPr/>
          <p:nvPr/>
        </p:nvSpPr>
        <p:spPr>
          <a:xfrm>
            <a:off x="8275320" y="5440680"/>
            <a:ext cx="3108960" cy="411480"/>
          </a:xfrm>
          <a:prstGeom prst="roundRect">
            <a:avLst>
              <a:gd name="adj" fmla="val 26667"/>
            </a:avLst>
          </a:prstGeom>
          <a:solidFill>
            <a:schemeClr val="accent1">
              <a:alpha val="25000"/>
            </a:schemeClr>
          </a:solidFill>
          <a:ln/>
        </p:spPr>
      </p:sp>
      <p:sp>
        <p:nvSpPr>
          <p:cNvPr id="36" name="text-1090"/>
          <p:cNvSpPr txBox="1"/>
          <p:nvPr/>
        </p:nvSpPr>
        <p:spPr>
          <a:xfrm>
            <a:off x="8348472" y="5440680"/>
            <a:ext cx="2962656" cy="411480"/>
          </a:xfrm>
          <a:prstGeom prst="rect">
            <a:avLst/>
          </a:prstGeom>
          <a:noFill/>
          <a:ln/>
        </p:spPr>
        <p:txBody>
          <a:bodyPr wrap="square" lIns="0" tIns="0" rIns="0" bIns="0" rtlCol="0" anchor="ctr"/>
          <a:lstStyle/>
          <a:p>
            <a:pPr algn="ctr" indent="0" marL="0">
              <a:buNone/>
            </a:pPr>
            <a:r>
              <a:rPr lang="en-US" sz="1300" b="1" dirty="0">
                <a:solidFill>
                  <a:schemeClr val="tx1"/>
                </a:solidFill>
              </a:rPr>
              <a:t>fix: run ANALYZE</a:t>
            </a:r>
            <a:endParaRPr lang="en-US" sz="1300" dirty="0"/>
          </a:p>
        </p:txBody>
      </p:sp>
      <p:pic>
        <p:nvPicPr>
          <p:cNvPr id="37" name="Image 0" descr="TachometerAlt icon">    </p:cNvPr>
          <p:cNvPicPr>
            <a:picLocks noChangeAspect="1"/>
          </p:cNvPicPr>
          <p:nvPr/>
        </p:nvPicPr>
        <p:blipFill>
          <a:blip r:embed="rId1"/>
          <a:stretch>
            <a:fillRect/>
          </a:stretch>
        </p:blipFill>
        <p:spPr>
          <a:xfrm>
            <a:off x="640812" y="476220"/>
            <a:ext cx="199705" cy="199705"/>
          </a:xfrm>
          <a:prstGeom prst="rect">
            <a:avLst/>
          </a:prstGeom>
        </p:spPr>
      </p:pic>
      <p:pic>
        <p:nvPicPr>
          <p:cNvPr id="38" name="Image 1" descr="ChartPie icon">    </p:cNvPr>
          <p:cNvPicPr>
            <a:picLocks noChangeAspect="1"/>
          </p:cNvPicPr>
          <p:nvPr/>
        </p:nvPicPr>
        <p:blipFill>
          <a:blip r:embed="rId2"/>
          <a:stretch>
            <a:fillRect/>
          </a:stretch>
        </p:blipFill>
        <p:spPr>
          <a:xfrm>
            <a:off x="941832" y="2724912"/>
            <a:ext cx="356616" cy="356616"/>
          </a:xfrm>
          <a:prstGeom prst="rect">
            <a:avLst/>
          </a:prstGeom>
        </p:spPr>
      </p:pic>
      <p:pic>
        <p:nvPicPr>
          <p:cNvPr id="39" name="Image 2" descr="Font icon">    </p:cNvPr>
          <p:cNvPicPr>
            <a:picLocks noChangeAspect="1"/>
          </p:cNvPicPr>
          <p:nvPr/>
        </p:nvPicPr>
        <p:blipFill>
          <a:blip r:embed="rId3"/>
          <a:stretch>
            <a:fillRect/>
          </a:stretch>
        </p:blipFill>
        <p:spPr>
          <a:xfrm>
            <a:off x="4690872" y="2724912"/>
            <a:ext cx="356616" cy="356616"/>
          </a:xfrm>
          <a:prstGeom prst="rect">
            <a:avLst/>
          </a:prstGeom>
        </p:spPr>
      </p:pic>
      <p:pic>
        <p:nvPicPr>
          <p:cNvPr id="40" name="Image 3" descr="Asterisk icon">    </p:cNvPr>
          <p:cNvPicPr>
            <a:picLocks noChangeAspect="1"/>
          </p:cNvPicPr>
          <p:nvPr/>
        </p:nvPicPr>
        <p:blipFill>
          <a:blip r:embed="rId4"/>
          <a:stretch>
            <a:fillRect/>
          </a:stretch>
        </p:blipFill>
        <p:spPr>
          <a:xfrm>
            <a:off x="8439912" y="2724912"/>
            <a:ext cx="356616" cy="356616"/>
          </a:xfrm>
          <a:prstGeom prst="rect">
            <a:avLst/>
          </a:prstGeom>
        </p:spPr>
      </p:pic>
      <p:pic>
        <p:nvPicPr>
          <p:cNvPr id="41" name="Image 4" descr="ExchangeAlt icon">    </p:cNvPr>
          <p:cNvPicPr>
            <a:picLocks noChangeAspect="1"/>
          </p:cNvPicPr>
          <p:nvPr/>
        </p:nvPicPr>
        <p:blipFill>
          <a:blip r:embed="rId5"/>
          <a:stretch>
            <a:fillRect/>
          </a:stretch>
        </p:blipFill>
        <p:spPr>
          <a:xfrm>
            <a:off x="941832" y="4690872"/>
            <a:ext cx="356616" cy="356616"/>
          </a:xfrm>
          <a:prstGeom prst="rect">
            <a:avLst/>
          </a:prstGeom>
        </p:spPr>
      </p:pic>
      <p:pic>
        <p:nvPicPr>
          <p:cNvPr id="42" name="Image 5" descr="CompressAlt icon">    </p:cNvPr>
          <p:cNvPicPr>
            <a:picLocks noChangeAspect="1"/>
          </p:cNvPicPr>
          <p:nvPr/>
        </p:nvPicPr>
        <p:blipFill>
          <a:blip r:embed="rId6"/>
          <a:stretch>
            <a:fillRect/>
          </a:stretch>
        </p:blipFill>
        <p:spPr>
          <a:xfrm>
            <a:off x="4690872" y="4690872"/>
            <a:ext cx="356616" cy="356616"/>
          </a:xfrm>
          <a:prstGeom prst="rect">
            <a:avLst/>
          </a:prstGeom>
        </p:spPr>
      </p:pic>
      <p:pic>
        <p:nvPicPr>
          <p:cNvPr id="43" name="Image 6" descr="CalendarTimes icon">    </p:cNvPr>
          <p:cNvPicPr>
            <a:picLocks noChangeAspect="1"/>
          </p:cNvPicPr>
          <p:nvPr/>
        </p:nvPicPr>
        <p:blipFill>
          <a:blip r:embed="rId7"/>
          <a:stretch>
            <a:fillRect/>
          </a:stretch>
        </p:blipFill>
        <p:spPr>
          <a:xfrm>
            <a:off x="8439912" y="4690872"/>
            <a:ext cx="356616" cy="356616"/>
          </a:xfrm>
          <a:prstGeom prst="rect">
            <a:avLst/>
          </a:prstGeom>
        </p:spPr>
      </p:pic>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dot-1091"/>
          <p:cNvSpPr/>
          <p:nvPr/>
        </p:nvSpPr>
        <p:spPr>
          <a:xfrm>
            <a:off x="548640" y="384048"/>
            <a:ext cx="384048" cy="384048"/>
          </a:xfrm>
          <a:prstGeom prst="ellipse">
            <a:avLst/>
          </a:prstGeom>
          <a:solidFill>
            <a:schemeClr val="accent3"/>
          </a:solidFill>
          <a:ln/>
        </p:spPr>
      </p:sp>
      <p:sp>
        <p:nvSpPr>
          <p:cNvPr id="3" name="Text 1"/>
          <p:cNvSpPr/>
          <p:nvPr>
            <p:ph idx="101" type="body" hasCustomPrompt="1"/>
          </p:nvPr>
        </p:nvSpPr>
        <p:spPr>
          <a:xfrm>
            <a:off x="1051560" y="384048"/>
            <a:ext cx="9601200" cy="384048"/>
          </a:xfrm>
          <a:prstGeom prst="rect">
            <a:avLst/>
          </a:prstGeom>
          <a:noFill/>
          <a:ln/>
        </p:spPr>
        <p:txBody>
          <a:bodyPr wrap="square" lIns="0" tIns="0" rIns="0" bIns="0" rtlCol="0" anchor="ctr"/>
          <a:lstStyle/>
          <a:p>
            <a:pPr indent="0" marL="0">
              <a:buNone/>
            </a:pPr>
            <a:r>
              <a:rPr lang="en-US" sz="1300" b="1" spc="300" kern="0" dirty="0">
                <a:solidFill>
                  <a:schemeClr val="tx2"/>
                </a:solidFill>
              </a:rPr>
              <a:t>L4  ·  PERFORMANCE  ·  3.13 QUERY PLANS</a:t>
            </a:r>
            <a:endParaRPr lang="en-US" sz="1300" dirty="0"/>
          </a:p>
        </p:txBody>
      </p:sp>
      <p:sp>
        <p:nvSpPr>
          <p:cNvPr id="4" name="Text 1"/>
          <p:cNvSpPr/>
          <p:nvPr>
            <p:ph idx="102" type="title" hasCustomPrompt="1"/>
          </p:nvPr>
        </p:nvSpPr>
        <p:spPr>
          <a:xfrm>
            <a:off x="548640" y="841248"/>
            <a:ext cx="11064240" cy="777240"/>
          </a:xfrm>
          <a:prstGeom prst="rect">
            <a:avLst/>
          </a:prstGeom>
          <a:noFill/>
          <a:ln/>
        </p:spPr>
        <p:txBody>
          <a:bodyPr wrap="square" lIns="0" tIns="0" rIns="0" bIns="0" rtlCol="0" anchor="ctr"/>
          <a:lstStyle/>
          <a:p>
            <a:pPr algn="l" indent="0" marL="0">
              <a:buNone/>
            </a:pPr>
            <a:r>
              <a:rPr lang="en-US" sz="3800" b="1" dirty="0">
                <a:solidFill>
                  <a:schemeClr val="tx1"/>
                </a:solidFill>
              </a:rPr>
              <a:t>Read the plan, don't guess</a:t>
            </a:r>
            <a:endParaRPr lang="en-US" sz="3800" dirty="0"/>
          </a:p>
        </p:txBody>
      </p:sp>
      <p:sp>
        <p:nvSpPr>
          <p:cNvPr id="5" name="Text 1"/>
          <p:cNvSpPr/>
          <p:nvPr>
            <p:ph idx="103" type="body" hasCustomPrompt="1"/>
          </p:nvPr>
        </p:nvSpPr>
        <p:spPr>
          <a:xfrm>
            <a:off x="548640" y="1627632"/>
            <a:ext cx="11064240" cy="457200"/>
          </a:xfrm>
          <a:prstGeom prst="rect">
            <a:avLst/>
          </a:prstGeom>
          <a:noFill/>
          <a:ln/>
        </p:spPr>
        <p:txBody>
          <a:bodyPr wrap="square" lIns="0" tIns="0" rIns="0" bIns="0" rtlCol="0" anchor="t"/>
          <a:lstStyle/>
          <a:p>
            <a:pPr indent="0" marL="0">
              <a:buNone/>
            </a:pPr>
            <a:r>
              <a:rPr lang="en-US" sz="2000" dirty="0">
                <a:solidFill>
                  <a:schemeClr val="tx2"/>
                </a:solidFill>
              </a:rPr>
              <a:t>Estimated vs. actual rows · cost ≠ ms · × loops</a:t>
            </a:r>
            <a:endParaRPr lang="en-US" sz="2000" dirty="0"/>
          </a:p>
        </p:txBody>
      </p:sp>
      <p:sp>
        <p:nvSpPr>
          <p:cNvPr id="7" name="box-1092"/>
          <p:cNvSpPr/>
          <p:nvPr/>
        </p:nvSpPr>
        <p:spPr>
          <a:xfrm>
            <a:off x="548640" y="2240280"/>
            <a:ext cx="7498080" cy="1965960"/>
          </a:xfrm>
          <a:prstGeom prst="roundRect">
            <a:avLst>
              <a:gd name="adj" fmla="val 4651"/>
            </a:avLst>
          </a:prstGeom>
          <a:solidFill>
            <a:schemeClr val="tx1"/>
          </a:solidFill>
          <a:ln/>
        </p:spPr>
      </p:sp>
      <p:sp>
        <p:nvSpPr>
          <p:cNvPr id="8" name="code-1093"/>
          <p:cNvSpPr txBox="1"/>
          <p:nvPr/>
        </p:nvSpPr>
        <p:spPr>
          <a:xfrm>
            <a:off x="822960" y="2423160"/>
            <a:ext cx="6949440" cy="1600200"/>
          </a:xfrm>
          <a:prstGeom prst="rect">
            <a:avLst/>
          </a:prstGeom>
          <a:noFill/>
          <a:ln/>
        </p:spPr>
        <p:txBody>
          <a:bodyPr wrap="square" lIns="0" tIns="0" rIns="0" bIns="0" rtlCol="0" anchor="ctr"/>
          <a:lstStyle/>
          <a:p>
            <a:pPr indent="0" marL="0">
              <a:lnSpc>
                <a:spcPct val="125000"/>
              </a:lnSpc>
              <a:buNone/>
            </a:pPr>
            <a:r>
              <a:rPr lang="en-US" sz="1400" dirty="0">
                <a:solidFill>
                  <a:srgbClr val="FE7801"/>
                </a:solidFill>
                <a:latin typeface="Roboto Mono" pitchFamily="34" charset="0"/>
                <a:ea typeface="Roboto Mono" pitchFamily="34" charset="-122"/>
                <a:cs typeface="Roboto Mono" pitchFamily="34" charset="-120"/>
              </a:rPr>
              <a:t>Seq Scan on orders</a:t>
            </a:r>
            <a:endParaRPr lang="en-US" sz="1400" dirty="0"/>
          </a:p>
          <a:p>
            <a:pPr indent="0" marL="0">
              <a:lnSpc>
                <a:spcPct val="125000"/>
              </a:lnSpc>
              <a:buNone/>
            </a:pPr>
            <a:r>
              <a:rPr lang="en-US" sz="1400" dirty="0">
                <a:solidFill>
                  <a:srgbClr val="E4E6E3"/>
                </a:solidFill>
                <a:latin typeface="Roboto Mono" pitchFamily="34" charset="0"/>
                <a:ea typeface="Roboto Mono" pitchFamily="34" charset="-122"/>
                <a:cs typeface="Roboto Mono" pitchFamily="34" charset="-120"/>
              </a:rPr>
              <a:t>  (cost=0.00..1041.00 rows=5)</a:t>
            </a:r>
            <a:endParaRPr lang="en-US" sz="1400" dirty="0"/>
          </a:p>
          <a:p>
            <a:pPr indent="0" marL="0">
              <a:lnSpc>
                <a:spcPct val="125000"/>
              </a:lnSpc>
              <a:buNone/>
            </a:pPr>
            <a:r>
              <a:rPr lang="en-US" sz="1400" dirty="0">
                <a:solidFill>
                  <a:srgbClr val="E4E6E3"/>
                </a:solidFill>
                <a:latin typeface="Roboto Mono" pitchFamily="34" charset="0"/>
                <a:ea typeface="Roboto Mono" pitchFamily="34" charset="-122"/>
                <a:cs typeface="Roboto Mono" pitchFamily="34" charset="-120"/>
              </a:rPr>
              <a:t>  (actual time=0.015..9.812 rows=5 loops=1)</a:t>
            </a:r>
            <a:endParaRPr lang="en-US" sz="1400" dirty="0"/>
          </a:p>
          <a:p>
            <a:pPr indent="0" marL="0">
              <a:lnSpc>
                <a:spcPct val="125000"/>
              </a:lnSpc>
              <a:buNone/>
            </a:pPr>
            <a:r>
              <a:rPr lang="en-US" sz="1400" dirty="0">
                <a:solidFill>
                  <a:srgbClr val="E4E6E3"/>
                </a:solidFill>
                <a:latin typeface="Roboto Mono" pitchFamily="34" charset="0"/>
                <a:ea typeface="Roboto Mono" pitchFamily="34" charset="-122"/>
                <a:cs typeface="Roboto Mono" pitchFamily="34" charset="-120"/>
              </a:rPr>
              <a:t>  Rows Removed by Filter: 49995</a:t>
            </a:r>
            <a:endParaRPr lang="en-US" sz="1400" dirty="0"/>
          </a:p>
          <a:p>
            <a:pPr indent="0" marL="0">
              <a:lnSpc>
                <a:spcPct val="125000"/>
              </a:lnSpc>
              <a:buNone/>
            </a:pPr>
            <a:r>
              <a:rPr lang="en-US" sz="1400" dirty="0">
                <a:solidFill>
                  <a:srgbClr val="FE7801"/>
                </a:solidFill>
                <a:latin typeface="Roboto Mono" pitchFamily="34" charset="0"/>
                <a:ea typeface="Roboto Mono" pitchFamily="34" charset="-122"/>
                <a:cs typeface="Roboto Mono" pitchFamily="34" charset="-120"/>
              </a:rPr>
              <a:t>Execution Time: 9.9 ms</a:t>
            </a:r>
            <a:endParaRPr lang="en-US" sz="1400" dirty="0"/>
          </a:p>
        </p:txBody>
      </p:sp>
      <p:sp>
        <p:nvSpPr>
          <p:cNvPr id="9" name="box-1094"/>
          <p:cNvSpPr/>
          <p:nvPr/>
        </p:nvSpPr>
        <p:spPr>
          <a:xfrm>
            <a:off x="548640" y="4343400"/>
            <a:ext cx="7498080" cy="1417320"/>
          </a:xfrm>
          <a:prstGeom prst="roundRect">
            <a:avLst>
              <a:gd name="adj" fmla="val 6452"/>
            </a:avLst>
          </a:prstGeom>
          <a:solidFill>
            <a:schemeClr val="tx1"/>
          </a:solidFill>
          <a:ln/>
        </p:spPr>
      </p:sp>
      <p:sp>
        <p:nvSpPr>
          <p:cNvPr id="10" name="code-1095"/>
          <p:cNvSpPr txBox="1"/>
          <p:nvPr/>
        </p:nvSpPr>
        <p:spPr>
          <a:xfrm>
            <a:off x="822960" y="4526280"/>
            <a:ext cx="6949440" cy="1051560"/>
          </a:xfrm>
          <a:prstGeom prst="rect">
            <a:avLst/>
          </a:prstGeom>
          <a:noFill/>
          <a:ln/>
        </p:spPr>
        <p:txBody>
          <a:bodyPr wrap="square" lIns="0" tIns="0" rIns="0" bIns="0" rtlCol="0" anchor="ctr"/>
          <a:lstStyle/>
          <a:p>
            <a:pPr indent="0" marL="0">
              <a:lnSpc>
                <a:spcPct val="125000"/>
              </a:lnSpc>
              <a:buNone/>
            </a:pPr>
            <a:r>
              <a:rPr lang="en-US" sz="1400" dirty="0">
                <a:solidFill>
                  <a:srgbClr val="9EC421"/>
                </a:solidFill>
                <a:latin typeface="Roboto Mono" pitchFamily="34" charset="0"/>
                <a:ea typeface="Roboto Mono" pitchFamily="34" charset="-122"/>
                <a:cs typeface="Roboto Mono" pitchFamily="34" charset="-120"/>
              </a:rPr>
              <a:t>Index Scan using idx_orders_user_id</a:t>
            </a:r>
            <a:endParaRPr lang="en-US" sz="1400" dirty="0"/>
          </a:p>
          <a:p>
            <a:pPr indent="0" marL="0">
              <a:lnSpc>
                <a:spcPct val="125000"/>
              </a:lnSpc>
              <a:buNone/>
            </a:pPr>
            <a:r>
              <a:rPr lang="en-US" sz="1400" dirty="0">
                <a:solidFill>
                  <a:srgbClr val="E4E6E3"/>
                </a:solidFill>
                <a:latin typeface="Roboto Mono" pitchFamily="34" charset="0"/>
                <a:ea typeface="Roboto Mono" pitchFamily="34" charset="-122"/>
                <a:cs typeface="Roboto Mono" pitchFamily="34" charset="-120"/>
              </a:rPr>
              <a:t>  (actual time=0.020..0.025 rows=5 loops=1)</a:t>
            </a:r>
            <a:endParaRPr lang="en-US" sz="1400" dirty="0"/>
          </a:p>
          <a:p>
            <a:pPr indent="0" marL="0">
              <a:lnSpc>
                <a:spcPct val="125000"/>
              </a:lnSpc>
              <a:buNone/>
            </a:pPr>
            <a:r>
              <a:rPr lang="en-US" sz="1400" dirty="0">
                <a:solidFill>
                  <a:srgbClr val="9EC421"/>
                </a:solidFill>
                <a:latin typeface="Roboto Mono" pitchFamily="34" charset="0"/>
                <a:ea typeface="Roboto Mono" pitchFamily="34" charset="-122"/>
                <a:cs typeface="Roboto Mono" pitchFamily="34" charset="-120"/>
              </a:rPr>
              <a:t>Execution Time: 0.05 ms</a:t>
            </a:r>
            <a:endParaRPr lang="en-US" sz="1400" dirty="0"/>
          </a:p>
        </p:txBody>
      </p:sp>
      <p:sp>
        <p:nvSpPr>
          <p:cNvPr id="11" name="dot-1096"/>
          <p:cNvSpPr/>
          <p:nvPr/>
        </p:nvSpPr>
        <p:spPr>
          <a:xfrm>
            <a:off x="8686800" y="2240280"/>
            <a:ext cx="2377440" cy="2377440"/>
          </a:xfrm>
          <a:prstGeom prst="ellipse">
            <a:avLst/>
          </a:prstGeom>
          <a:solidFill>
            <a:schemeClr val="accent3"/>
          </a:solidFill>
          <a:ln/>
        </p:spPr>
      </p:sp>
      <p:sp>
        <p:nvSpPr>
          <p:cNvPr id="12" name="text-1097"/>
          <p:cNvSpPr txBox="1"/>
          <p:nvPr/>
        </p:nvSpPr>
        <p:spPr>
          <a:xfrm>
            <a:off x="8686800" y="2697480"/>
            <a:ext cx="2377440" cy="914400"/>
          </a:xfrm>
          <a:prstGeom prst="rect">
            <a:avLst/>
          </a:prstGeom>
          <a:noFill/>
          <a:ln/>
        </p:spPr>
        <p:txBody>
          <a:bodyPr wrap="square" lIns="0" tIns="0" rIns="0" bIns="0" rtlCol="0" anchor="ctr"/>
          <a:lstStyle/>
          <a:p>
            <a:pPr algn="ctr" indent="0" marL="0">
              <a:buNone/>
            </a:pPr>
            <a:r>
              <a:rPr lang="en-US" sz="4000" b="1" dirty="0">
                <a:solidFill>
                  <a:schemeClr val="bg1"/>
                </a:solidFill>
              </a:rPr>
              <a:t>~200×</a:t>
            </a:r>
            <a:endParaRPr lang="en-US" sz="4000" dirty="0"/>
          </a:p>
        </p:txBody>
      </p:sp>
      <p:sp>
        <p:nvSpPr>
          <p:cNvPr id="13" name="text-1098"/>
          <p:cNvSpPr txBox="1"/>
          <p:nvPr/>
        </p:nvSpPr>
        <p:spPr>
          <a:xfrm>
            <a:off x="8686800" y="3520440"/>
            <a:ext cx="2377440" cy="457200"/>
          </a:xfrm>
          <a:prstGeom prst="rect">
            <a:avLst/>
          </a:prstGeom>
          <a:noFill/>
          <a:ln/>
        </p:spPr>
        <p:txBody>
          <a:bodyPr wrap="square" lIns="0" tIns="0" rIns="0" bIns="0" rtlCol="0" anchor="ctr"/>
          <a:lstStyle/>
          <a:p>
            <a:pPr algn="ctr" indent="0" marL="0">
              <a:buNone/>
            </a:pPr>
            <a:r>
              <a:rPr lang="en-US" sz="1600" dirty="0">
                <a:solidFill>
                  <a:schemeClr val="bg1"/>
                </a:solidFill>
              </a:rPr>
              <a:t>faster</a:t>
            </a:r>
            <a:endParaRPr lang="en-US" sz="1600" dirty="0"/>
          </a:p>
        </p:txBody>
      </p:sp>
      <p:sp>
        <p:nvSpPr>
          <p:cNvPr id="14" name="box-1099"/>
          <p:cNvSpPr/>
          <p:nvPr/>
        </p:nvSpPr>
        <p:spPr>
          <a:xfrm>
            <a:off x="8229600" y="4800600"/>
            <a:ext cx="3383280" cy="384048"/>
          </a:xfrm>
          <a:prstGeom prst="roundRect">
            <a:avLst>
              <a:gd name="adj" fmla="val 28571"/>
            </a:avLst>
          </a:prstGeom>
          <a:solidFill>
            <a:schemeClr val="bg1"/>
          </a:solidFill>
          <a:ln w="12700">
            <a:solidFill>
              <a:schemeClr val="accent5"/>
            </a:solidFill>
            <a:prstDash val="solid"/>
          </a:ln>
        </p:spPr>
      </p:sp>
      <p:sp>
        <p:nvSpPr>
          <p:cNvPr id="15" name="text-1100"/>
          <p:cNvSpPr txBox="1"/>
          <p:nvPr/>
        </p:nvSpPr>
        <p:spPr>
          <a:xfrm>
            <a:off x="8302752" y="4800600"/>
            <a:ext cx="3236976" cy="384048"/>
          </a:xfrm>
          <a:prstGeom prst="rect">
            <a:avLst/>
          </a:prstGeom>
          <a:noFill/>
          <a:ln/>
        </p:spPr>
        <p:txBody>
          <a:bodyPr wrap="square" lIns="0" tIns="0" rIns="0" bIns="0" rtlCol="0" anchor="ctr"/>
          <a:lstStyle/>
          <a:p>
            <a:pPr algn="ctr" indent="0" marL="0">
              <a:buNone/>
            </a:pPr>
            <a:r>
              <a:rPr lang="en-US" sz="1200" b="1" dirty="0">
                <a:solidFill>
                  <a:schemeClr val="tx1"/>
                </a:solidFill>
              </a:rPr>
              <a:t>cost = estimate, not ms</a:t>
            </a:r>
            <a:endParaRPr lang="en-US" sz="1200" dirty="0"/>
          </a:p>
        </p:txBody>
      </p:sp>
      <p:sp>
        <p:nvSpPr>
          <p:cNvPr id="16" name="box-1101"/>
          <p:cNvSpPr/>
          <p:nvPr/>
        </p:nvSpPr>
        <p:spPr>
          <a:xfrm>
            <a:off x="8229600" y="5257800"/>
            <a:ext cx="3383280" cy="384048"/>
          </a:xfrm>
          <a:prstGeom prst="roundRect">
            <a:avLst>
              <a:gd name="adj" fmla="val 28571"/>
            </a:avLst>
          </a:prstGeom>
          <a:solidFill>
            <a:schemeClr val="bg1"/>
          </a:solidFill>
          <a:ln w="12700">
            <a:solidFill>
              <a:schemeClr val="accent5"/>
            </a:solidFill>
            <a:prstDash val="solid"/>
          </a:ln>
        </p:spPr>
      </p:sp>
      <p:sp>
        <p:nvSpPr>
          <p:cNvPr id="17" name="text-1102"/>
          <p:cNvSpPr txBox="1"/>
          <p:nvPr/>
        </p:nvSpPr>
        <p:spPr>
          <a:xfrm>
            <a:off x="8302752" y="5257800"/>
            <a:ext cx="3236976" cy="384048"/>
          </a:xfrm>
          <a:prstGeom prst="rect">
            <a:avLst/>
          </a:prstGeom>
          <a:noFill/>
          <a:ln/>
        </p:spPr>
        <p:txBody>
          <a:bodyPr wrap="square" lIns="0" tIns="0" rIns="0" bIns="0" rtlCol="0" anchor="ctr"/>
          <a:lstStyle/>
          <a:p>
            <a:pPr algn="ctr" indent="0" marL="0">
              <a:buNone/>
            </a:pPr>
            <a:r>
              <a:rPr lang="en-US" sz="1200" b="1" dirty="0">
                <a:solidFill>
                  <a:schemeClr val="tx1"/>
                </a:solidFill>
              </a:rPr>
              <a:t>compare estimated vs actual rows</a:t>
            </a:r>
            <a:endParaRPr lang="en-US" sz="1200" dirty="0"/>
          </a:p>
        </p:txBody>
      </p:sp>
      <p:sp>
        <p:nvSpPr>
          <p:cNvPr id="18" name="box-1103"/>
          <p:cNvSpPr/>
          <p:nvPr/>
        </p:nvSpPr>
        <p:spPr>
          <a:xfrm>
            <a:off x="8229600" y="5715000"/>
            <a:ext cx="3383280" cy="384048"/>
          </a:xfrm>
          <a:prstGeom prst="roundRect">
            <a:avLst>
              <a:gd name="adj" fmla="val 28571"/>
            </a:avLst>
          </a:prstGeom>
          <a:solidFill>
            <a:schemeClr val="bg1"/>
          </a:solidFill>
          <a:ln w="12700">
            <a:solidFill>
              <a:schemeClr val="accent5"/>
            </a:solidFill>
            <a:prstDash val="solid"/>
          </a:ln>
        </p:spPr>
      </p:sp>
      <p:sp>
        <p:nvSpPr>
          <p:cNvPr id="19" name="text-1104"/>
          <p:cNvSpPr txBox="1"/>
          <p:nvPr/>
        </p:nvSpPr>
        <p:spPr>
          <a:xfrm>
            <a:off x="8302752" y="5715000"/>
            <a:ext cx="3236976" cy="384048"/>
          </a:xfrm>
          <a:prstGeom prst="rect">
            <a:avLst/>
          </a:prstGeom>
          <a:noFill/>
          <a:ln/>
        </p:spPr>
        <p:txBody>
          <a:bodyPr wrap="square" lIns="0" tIns="0" rIns="0" bIns="0" rtlCol="0" anchor="ctr"/>
          <a:lstStyle/>
          <a:p>
            <a:pPr algn="ctr" indent="0" marL="0">
              <a:buNone/>
            </a:pPr>
            <a:r>
              <a:rPr lang="en-US" sz="1200" b="1" dirty="0">
                <a:solidFill>
                  <a:schemeClr val="tx1"/>
                </a:solidFill>
              </a:rPr>
              <a:t>time × loops</a:t>
            </a:r>
            <a:endParaRPr lang="en-US" sz="1200" dirty="0"/>
          </a:p>
        </p:txBody>
      </p:sp>
      <p:sp>
        <p:nvSpPr>
          <p:cNvPr id="20" name="text-1105"/>
          <p:cNvSpPr txBox="1"/>
          <p:nvPr/>
        </p:nvSpPr>
        <p:spPr>
          <a:xfrm>
            <a:off x="548640" y="5852160"/>
            <a:ext cx="7315200" cy="320040"/>
          </a:xfrm>
          <a:prstGeom prst="rect">
            <a:avLst/>
          </a:prstGeom>
          <a:noFill/>
          <a:ln/>
        </p:spPr>
        <p:txBody>
          <a:bodyPr wrap="square" lIns="0" tIns="0" rIns="0" bIns="0" rtlCol="0" anchor="ctr"/>
          <a:lstStyle/>
          <a:p>
            <a:pPr algn="l" indent="0" marL="0">
              <a:buNone/>
            </a:pPr>
            <a:r>
              <a:rPr lang="en-US" sz="1200" i="1" dirty="0">
                <a:solidFill>
                  <a:schemeClr val="accent4"/>
                </a:solidFill>
              </a:rPr>
              <a:t>illustrative numbers; yours will differ</a:t>
            </a:r>
            <a:endParaRPr lang="en-US" sz="1200" dirty="0"/>
          </a:p>
        </p:txBody>
      </p:sp>
      <p:pic>
        <p:nvPicPr>
          <p:cNvPr id="21" name="Image 0" descr="TachometerAlt icon">    </p:cNvPr>
          <p:cNvPicPr>
            <a:picLocks noChangeAspect="1"/>
          </p:cNvPicPr>
          <p:nvPr/>
        </p:nvPicPr>
        <p:blipFill>
          <a:blip r:embed="rId1"/>
          <a:stretch>
            <a:fillRect/>
          </a:stretch>
        </p:blipFill>
        <p:spPr>
          <a:xfrm>
            <a:off x="640812" y="476220"/>
            <a:ext cx="199705" cy="199705"/>
          </a:xfrm>
          <a:prstGeom prst="rect">
            <a:avLst/>
          </a:prstGeom>
        </p:spPr>
      </p:pic>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dot-1106"/>
          <p:cNvSpPr/>
          <p:nvPr/>
        </p:nvSpPr>
        <p:spPr>
          <a:xfrm>
            <a:off x="548640" y="384048"/>
            <a:ext cx="384048" cy="384048"/>
          </a:xfrm>
          <a:prstGeom prst="ellipse">
            <a:avLst/>
          </a:prstGeom>
          <a:solidFill>
            <a:schemeClr val="accent3"/>
          </a:solidFill>
          <a:ln/>
        </p:spPr>
      </p:sp>
      <p:sp>
        <p:nvSpPr>
          <p:cNvPr id="3" name="Text 1"/>
          <p:cNvSpPr/>
          <p:nvPr>
            <p:ph idx="101" type="body" hasCustomPrompt="1"/>
          </p:nvPr>
        </p:nvSpPr>
        <p:spPr>
          <a:xfrm>
            <a:off x="1051560" y="384048"/>
            <a:ext cx="9601200" cy="384048"/>
          </a:xfrm>
          <a:prstGeom prst="rect">
            <a:avLst/>
          </a:prstGeom>
          <a:noFill/>
          <a:ln/>
        </p:spPr>
        <p:txBody>
          <a:bodyPr wrap="square" lIns="0" tIns="0" rIns="0" bIns="0" rtlCol="0" anchor="ctr"/>
          <a:lstStyle/>
          <a:p>
            <a:pPr indent="0" marL="0">
              <a:buNone/>
            </a:pPr>
            <a:r>
              <a:rPr lang="en-US" sz="1300" b="1" spc="300" kern="0" dirty="0">
                <a:solidFill>
                  <a:schemeClr val="tx2"/>
                </a:solidFill>
              </a:rPr>
              <a:t>L4  ·  PERFORMANCE  ·  3.13 QUERY PLANS</a:t>
            </a:r>
            <a:endParaRPr lang="en-US" sz="1300" dirty="0"/>
          </a:p>
        </p:txBody>
      </p:sp>
      <p:sp>
        <p:nvSpPr>
          <p:cNvPr id="4" name="Text 1"/>
          <p:cNvSpPr/>
          <p:nvPr>
            <p:ph idx="102" type="title" hasCustomPrompt="1"/>
          </p:nvPr>
        </p:nvSpPr>
        <p:spPr>
          <a:xfrm>
            <a:off x="548640" y="841248"/>
            <a:ext cx="11064240" cy="777240"/>
          </a:xfrm>
          <a:prstGeom prst="rect">
            <a:avLst/>
          </a:prstGeom>
          <a:noFill/>
          <a:ln/>
        </p:spPr>
        <p:txBody>
          <a:bodyPr wrap="square" lIns="0" tIns="0" rIns="0" bIns="0" rtlCol="0" anchor="ctr"/>
          <a:lstStyle/>
          <a:p>
            <a:pPr algn="l" indent="0" marL="0">
              <a:buNone/>
            </a:pPr>
            <a:r>
              <a:rPr lang="en-US" sz="3800" b="1" dirty="0">
                <a:solidFill>
                  <a:schemeClr val="tx1"/>
                </a:solidFill>
              </a:rPr>
              <a:t>Measure · change one thing · measure again</a:t>
            </a:r>
            <a:endParaRPr lang="en-US" sz="3800" dirty="0"/>
          </a:p>
        </p:txBody>
      </p:sp>
      <p:sp>
        <p:nvSpPr>
          <p:cNvPr id="5" name="Text 1"/>
          <p:cNvSpPr/>
          <p:nvPr>
            <p:ph idx="103" type="body" hasCustomPrompt="1"/>
          </p:nvPr>
        </p:nvSpPr>
        <p:spPr>
          <a:xfrm>
            <a:off x="548640" y="1627632"/>
            <a:ext cx="11064240" cy="457200"/>
          </a:xfrm>
          <a:prstGeom prst="rect">
            <a:avLst/>
          </a:prstGeom>
          <a:noFill/>
          <a:ln/>
        </p:spPr>
        <p:txBody>
          <a:bodyPr wrap="square" lIns="0" tIns="0" rIns="0" bIns="0" rtlCol="0" anchor="t"/>
          <a:lstStyle/>
          <a:p>
            <a:pPr indent="0" marL="0">
              <a:buNone/>
            </a:pPr>
            <a:r>
              <a:rPr lang="en-US" sz="2000" dirty="0">
                <a:solidFill>
                  <a:schemeClr val="tx2"/>
                </a:solidFill>
              </a:rPr>
              <a:t>Reproduce → EXPLAIN → find the hot node → fix → re-run</a:t>
            </a:r>
            <a:endParaRPr lang="en-US" sz="2000" dirty="0"/>
          </a:p>
        </p:txBody>
      </p:sp>
      <p:sp>
        <p:nvSpPr>
          <p:cNvPr id="7" name="line-1107"/>
          <p:cNvSpPr/>
          <p:nvPr/>
        </p:nvSpPr>
        <p:spPr>
          <a:xfrm>
            <a:off x="7213711" y="2925205"/>
            <a:ext cx="1153151" cy="375942"/>
          </a:xfrm>
          <a:prstGeom prst="line">
            <a:avLst/>
          </a:prstGeom>
          <a:noFill/>
          <a:ln w="31750">
            <a:solidFill>
              <a:schemeClr val="accent3"/>
            </a:solidFill>
            <a:prstDash val="solid"/>
            <a:tailEnd type="triangle"/>
          </a:ln>
        </p:spPr>
      </p:sp>
      <p:sp>
        <p:nvSpPr>
          <p:cNvPr id="8" name="line-1108"/>
          <p:cNvSpPr/>
          <p:nvPr/>
        </p:nvSpPr>
        <p:spPr>
          <a:xfrm flipH="1">
            <a:off x="8618122" y="4256427"/>
            <a:ext cx="440464" cy="608287"/>
          </a:xfrm>
          <a:prstGeom prst="line">
            <a:avLst/>
          </a:prstGeom>
          <a:noFill/>
          <a:ln w="31750">
            <a:solidFill>
              <a:schemeClr val="accent3"/>
            </a:solidFill>
            <a:prstDash val="solid"/>
            <a:tailEnd type="triangle"/>
          </a:ln>
        </p:spPr>
      </p:sp>
      <p:sp>
        <p:nvSpPr>
          <p:cNvPr id="9" name="line-1109"/>
          <p:cNvSpPr/>
          <p:nvPr/>
        </p:nvSpPr>
        <p:spPr>
          <a:xfrm flipH="1">
            <a:off x="5381790" y="5455109"/>
            <a:ext cx="1425373" cy="91"/>
          </a:xfrm>
          <a:prstGeom prst="line">
            <a:avLst/>
          </a:prstGeom>
          <a:noFill/>
          <a:ln w="31750">
            <a:solidFill>
              <a:schemeClr val="accent3"/>
            </a:solidFill>
            <a:prstDash val="solid"/>
            <a:tailEnd type="triangle"/>
          </a:ln>
        </p:spPr>
      </p:sp>
      <p:sp>
        <p:nvSpPr>
          <p:cNvPr id="10" name="line-1110"/>
          <p:cNvSpPr/>
          <p:nvPr/>
        </p:nvSpPr>
        <p:spPr>
          <a:xfrm flipH="1" flipV="1">
            <a:off x="3130366" y="4256427"/>
            <a:ext cx="440464" cy="608287"/>
          </a:xfrm>
          <a:prstGeom prst="line">
            <a:avLst/>
          </a:prstGeom>
          <a:noFill/>
          <a:ln w="31750">
            <a:solidFill>
              <a:schemeClr val="accent3"/>
            </a:solidFill>
            <a:prstDash val="solid"/>
            <a:tailEnd type="triangle"/>
          </a:ln>
        </p:spPr>
      </p:sp>
      <p:sp>
        <p:nvSpPr>
          <p:cNvPr id="11" name="line-1111"/>
          <p:cNvSpPr/>
          <p:nvPr/>
        </p:nvSpPr>
        <p:spPr>
          <a:xfrm flipV="1">
            <a:off x="3822091" y="2925205"/>
            <a:ext cx="1153151" cy="375942"/>
          </a:xfrm>
          <a:prstGeom prst="line">
            <a:avLst/>
          </a:prstGeom>
          <a:noFill/>
          <a:ln w="31750">
            <a:solidFill>
              <a:schemeClr val="accent3"/>
            </a:solidFill>
            <a:prstDash val="solid"/>
            <a:tailEnd type="triangle"/>
          </a:ln>
        </p:spPr>
      </p:sp>
      <p:sp>
        <p:nvSpPr>
          <p:cNvPr id="12" name="box-1112"/>
          <p:cNvSpPr/>
          <p:nvPr/>
        </p:nvSpPr>
        <p:spPr>
          <a:xfrm>
            <a:off x="4768596" y="2221992"/>
            <a:ext cx="2651760" cy="676656"/>
          </a:xfrm>
          <a:prstGeom prst="roundRect">
            <a:avLst>
              <a:gd name="adj" fmla="val 16216"/>
            </a:avLst>
          </a:prstGeom>
          <a:solidFill>
            <a:schemeClr val="bg1"/>
          </a:solidFill>
          <a:ln w="19050">
            <a:solidFill>
              <a:schemeClr val="accent3"/>
            </a:solidFill>
            <a:prstDash val="solid"/>
          </a:ln>
        </p:spPr>
      </p:sp>
      <p:sp>
        <p:nvSpPr>
          <p:cNvPr id="13" name="text-1113"/>
          <p:cNvSpPr txBox="1"/>
          <p:nvPr/>
        </p:nvSpPr>
        <p:spPr>
          <a:xfrm>
            <a:off x="4841748" y="2221992"/>
            <a:ext cx="2505456" cy="676656"/>
          </a:xfrm>
          <a:prstGeom prst="rect">
            <a:avLst/>
          </a:prstGeom>
          <a:noFill/>
          <a:ln/>
        </p:spPr>
        <p:txBody>
          <a:bodyPr wrap="square" lIns="0" tIns="0" rIns="0" bIns="0" rtlCol="0" anchor="ctr"/>
          <a:lstStyle/>
          <a:p>
            <a:pPr algn="ctr" indent="0" marL="0">
              <a:buNone/>
            </a:pPr>
            <a:r>
              <a:rPr lang="en-US" sz="1400" b="1" dirty="0">
                <a:solidFill>
                  <a:schemeClr val="tx1"/>
                </a:solidFill>
              </a:rPr>
              <a:t>Reproduce with real volume</a:t>
            </a:r>
            <a:endParaRPr lang="en-US" sz="1400" dirty="0"/>
          </a:p>
        </p:txBody>
      </p:sp>
      <p:sp>
        <p:nvSpPr>
          <p:cNvPr id="14" name="box-1114"/>
          <p:cNvSpPr/>
          <p:nvPr/>
        </p:nvSpPr>
        <p:spPr>
          <a:xfrm>
            <a:off x="8160216" y="3327703"/>
            <a:ext cx="2651760" cy="676656"/>
          </a:xfrm>
          <a:prstGeom prst="roundRect">
            <a:avLst>
              <a:gd name="adj" fmla="val 16216"/>
            </a:avLst>
          </a:prstGeom>
          <a:solidFill>
            <a:schemeClr val="bg1"/>
          </a:solidFill>
          <a:ln w="19050">
            <a:solidFill>
              <a:schemeClr val="accent3"/>
            </a:solidFill>
            <a:prstDash val="solid"/>
          </a:ln>
        </p:spPr>
      </p:sp>
      <p:sp>
        <p:nvSpPr>
          <p:cNvPr id="15" name="text-1115"/>
          <p:cNvSpPr txBox="1"/>
          <p:nvPr/>
        </p:nvSpPr>
        <p:spPr>
          <a:xfrm>
            <a:off x="8233368" y="3327703"/>
            <a:ext cx="2505456" cy="676656"/>
          </a:xfrm>
          <a:prstGeom prst="rect">
            <a:avLst/>
          </a:prstGeom>
          <a:noFill/>
          <a:ln/>
        </p:spPr>
        <p:txBody>
          <a:bodyPr wrap="square" lIns="0" tIns="0" rIns="0" bIns="0" rtlCol="0" anchor="ctr"/>
          <a:lstStyle/>
          <a:p>
            <a:pPr algn="ctr" indent="0" marL="0">
              <a:buNone/>
            </a:pPr>
            <a:r>
              <a:rPr lang="en-US" sz="1400" b="1" dirty="0">
                <a:solidFill>
                  <a:schemeClr val="tx1"/>
                </a:solidFill>
                <a:latin typeface="Roboto Mono" pitchFamily="34" charset="0"/>
                <a:ea typeface="Roboto Mono" pitchFamily="34" charset="-122"/>
                <a:cs typeface="Roboto Mono" pitchFamily="34" charset="-120"/>
              </a:rPr>
              <a:t>EXPLAIN (ANALYZE, BUFFERS)</a:t>
            </a:r>
            <a:endParaRPr lang="en-US" sz="1400" dirty="0"/>
          </a:p>
        </p:txBody>
      </p:sp>
      <p:sp>
        <p:nvSpPr>
          <p:cNvPr id="16" name="box-1116"/>
          <p:cNvSpPr/>
          <p:nvPr/>
        </p:nvSpPr>
        <p:spPr>
          <a:xfrm>
            <a:off x="6864732" y="5116781"/>
            <a:ext cx="2651760" cy="676656"/>
          </a:xfrm>
          <a:prstGeom prst="roundRect">
            <a:avLst>
              <a:gd name="adj" fmla="val 16216"/>
            </a:avLst>
          </a:prstGeom>
          <a:solidFill>
            <a:schemeClr val="bg1"/>
          </a:solidFill>
          <a:ln w="19050">
            <a:solidFill>
              <a:schemeClr val="accent3"/>
            </a:solidFill>
            <a:prstDash val="solid"/>
          </a:ln>
        </p:spPr>
      </p:sp>
      <p:sp>
        <p:nvSpPr>
          <p:cNvPr id="17" name="text-1117"/>
          <p:cNvSpPr txBox="1"/>
          <p:nvPr/>
        </p:nvSpPr>
        <p:spPr>
          <a:xfrm>
            <a:off x="6937884" y="5116781"/>
            <a:ext cx="2505456" cy="676656"/>
          </a:xfrm>
          <a:prstGeom prst="rect">
            <a:avLst/>
          </a:prstGeom>
          <a:noFill/>
          <a:ln/>
        </p:spPr>
        <p:txBody>
          <a:bodyPr wrap="square" lIns="0" tIns="0" rIns="0" bIns="0" rtlCol="0" anchor="ctr"/>
          <a:lstStyle/>
          <a:p>
            <a:pPr algn="ctr" indent="0" marL="0">
              <a:buNone/>
            </a:pPr>
            <a:r>
              <a:rPr lang="en-US" sz="1400" b="1" dirty="0">
                <a:solidFill>
                  <a:schemeClr val="tx1"/>
                </a:solidFill>
              </a:rPr>
              <a:t>Find the slowest node</a:t>
            </a:r>
            <a:endParaRPr lang="en-US" sz="1400" dirty="0"/>
          </a:p>
        </p:txBody>
      </p:sp>
      <p:sp>
        <p:nvSpPr>
          <p:cNvPr id="18" name="box-1118"/>
          <p:cNvSpPr/>
          <p:nvPr/>
        </p:nvSpPr>
        <p:spPr>
          <a:xfrm>
            <a:off x="2672460" y="5116781"/>
            <a:ext cx="2651760" cy="676656"/>
          </a:xfrm>
          <a:prstGeom prst="roundRect">
            <a:avLst>
              <a:gd name="adj" fmla="val 16216"/>
            </a:avLst>
          </a:prstGeom>
          <a:solidFill>
            <a:schemeClr val="accent3"/>
          </a:solidFill>
          <a:ln w="19050">
            <a:solidFill>
              <a:schemeClr val="accent3"/>
            </a:solidFill>
            <a:prstDash val="solid"/>
          </a:ln>
        </p:spPr>
      </p:sp>
      <p:sp>
        <p:nvSpPr>
          <p:cNvPr id="19" name="text-1119"/>
          <p:cNvSpPr txBox="1"/>
          <p:nvPr/>
        </p:nvSpPr>
        <p:spPr>
          <a:xfrm>
            <a:off x="2745612" y="5116781"/>
            <a:ext cx="2505456" cy="676656"/>
          </a:xfrm>
          <a:prstGeom prst="rect">
            <a:avLst/>
          </a:prstGeom>
          <a:noFill/>
          <a:ln/>
        </p:spPr>
        <p:txBody>
          <a:bodyPr wrap="square" lIns="0" tIns="0" rIns="0" bIns="0" rtlCol="0" anchor="ctr"/>
          <a:lstStyle/>
          <a:p>
            <a:pPr algn="ctr" indent="0" marL="0">
              <a:buNone/>
            </a:pPr>
            <a:r>
              <a:rPr lang="en-US" sz="1400" b="1" dirty="0">
                <a:solidFill>
                  <a:schemeClr val="bg1"/>
                </a:solidFill>
              </a:rPr>
              <a:t>Change one thing</a:t>
            </a:r>
            <a:endParaRPr lang="en-US" sz="1400" dirty="0"/>
          </a:p>
        </p:txBody>
      </p:sp>
      <p:sp>
        <p:nvSpPr>
          <p:cNvPr id="20" name="box-1120"/>
          <p:cNvSpPr/>
          <p:nvPr/>
        </p:nvSpPr>
        <p:spPr>
          <a:xfrm>
            <a:off x="1376976" y="3327703"/>
            <a:ext cx="2651760" cy="676656"/>
          </a:xfrm>
          <a:prstGeom prst="roundRect">
            <a:avLst>
              <a:gd name="adj" fmla="val 16216"/>
            </a:avLst>
          </a:prstGeom>
          <a:solidFill>
            <a:schemeClr val="bg1"/>
          </a:solidFill>
          <a:ln w="19050">
            <a:solidFill>
              <a:schemeClr val="accent3"/>
            </a:solidFill>
            <a:prstDash val="solid"/>
          </a:ln>
        </p:spPr>
      </p:sp>
      <p:sp>
        <p:nvSpPr>
          <p:cNvPr id="21" name="text-1121"/>
          <p:cNvSpPr txBox="1"/>
          <p:nvPr/>
        </p:nvSpPr>
        <p:spPr>
          <a:xfrm>
            <a:off x="1450128" y="3327703"/>
            <a:ext cx="2505456" cy="676656"/>
          </a:xfrm>
          <a:prstGeom prst="rect">
            <a:avLst/>
          </a:prstGeom>
          <a:noFill/>
          <a:ln/>
        </p:spPr>
        <p:txBody>
          <a:bodyPr wrap="square" lIns="0" tIns="0" rIns="0" bIns="0" rtlCol="0" anchor="ctr"/>
          <a:lstStyle/>
          <a:p>
            <a:pPr algn="ctr" indent="0" marL="0">
              <a:buNone/>
            </a:pPr>
            <a:r>
              <a:rPr lang="en-US" sz="1400" b="1" dirty="0">
                <a:solidFill>
                  <a:schemeClr val="tx1"/>
                </a:solidFill>
              </a:rPr>
              <a:t>Re-run and compare</a:t>
            </a:r>
            <a:endParaRPr lang="en-US" sz="1400" dirty="0"/>
          </a:p>
        </p:txBody>
      </p:sp>
      <p:sp>
        <p:nvSpPr>
          <p:cNvPr id="22" name="text-1122"/>
          <p:cNvSpPr txBox="1"/>
          <p:nvPr/>
        </p:nvSpPr>
        <p:spPr>
          <a:xfrm>
            <a:off x="4448556" y="3886200"/>
            <a:ext cx="3291840" cy="548640"/>
          </a:xfrm>
          <a:prstGeom prst="rect">
            <a:avLst/>
          </a:prstGeom>
          <a:noFill/>
          <a:ln/>
        </p:spPr>
        <p:txBody>
          <a:bodyPr wrap="square" lIns="0" tIns="0" rIns="0" bIns="0" rtlCol="0" anchor="ctr"/>
          <a:lstStyle/>
          <a:p>
            <a:pPr algn="ctr" indent="0" marL="0">
              <a:buNone/>
            </a:pPr>
            <a:r>
              <a:rPr lang="en-US" sz="1600" b="1" dirty="0">
                <a:solidFill>
                  <a:schemeClr val="accent3"/>
                </a:solidFill>
              </a:rPr>
              <a:t>index · rewrite · ANALYZE</a:t>
            </a:r>
            <a:endParaRPr lang="en-US" sz="1600" dirty="0"/>
          </a:p>
        </p:txBody>
      </p:sp>
      <p:pic>
        <p:nvPicPr>
          <p:cNvPr id="23" name="Image 0" descr="TachometerAlt icon">    </p:cNvPr>
          <p:cNvPicPr>
            <a:picLocks noChangeAspect="1"/>
          </p:cNvPicPr>
          <p:nvPr/>
        </p:nvPicPr>
        <p:blipFill>
          <a:blip r:embed="rId1"/>
          <a:stretch>
            <a:fillRect/>
          </a:stretch>
        </p:blipFill>
        <p:spPr>
          <a:xfrm>
            <a:off x="640812" y="476220"/>
            <a:ext cx="199705" cy="199705"/>
          </a:xfrm>
          <a:prstGeom prst="rect">
            <a:avLst/>
          </a:prstGeom>
        </p:spPr>
      </p:pic>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dot-1123"/>
          <p:cNvSpPr/>
          <p:nvPr/>
        </p:nvSpPr>
        <p:spPr>
          <a:xfrm>
            <a:off x="548640" y="384048"/>
            <a:ext cx="384048" cy="384048"/>
          </a:xfrm>
          <a:prstGeom prst="ellipse">
            <a:avLst/>
          </a:prstGeom>
          <a:solidFill>
            <a:schemeClr val="accent1"/>
          </a:solidFill>
          <a:ln/>
        </p:spPr>
      </p:sp>
      <p:sp>
        <p:nvSpPr>
          <p:cNvPr id="3" name="Text 1"/>
          <p:cNvSpPr/>
          <p:nvPr>
            <p:ph idx="101" type="body" hasCustomPrompt="1"/>
          </p:nvPr>
        </p:nvSpPr>
        <p:spPr>
          <a:xfrm>
            <a:off x="1051560" y="384048"/>
            <a:ext cx="9601200" cy="384048"/>
          </a:xfrm>
          <a:prstGeom prst="rect">
            <a:avLst/>
          </a:prstGeom>
          <a:noFill/>
          <a:ln/>
        </p:spPr>
        <p:txBody>
          <a:bodyPr wrap="square" lIns="0" tIns="0" rIns="0" bIns="0" rtlCol="0" anchor="ctr"/>
          <a:lstStyle/>
          <a:p>
            <a:pPr indent="0" marL="0">
              <a:buNone/>
            </a:pPr>
            <a:r>
              <a:rPr lang="en-US" sz="1300" b="1" spc="300" kern="0" dirty="0">
                <a:solidFill>
                  <a:schemeClr val="tx2"/>
                </a:solidFill>
              </a:rPr>
              <a:t>T13  ·  REVIEW</a:t>
            </a:r>
            <a:endParaRPr lang="en-US" sz="1300" dirty="0"/>
          </a:p>
        </p:txBody>
      </p:sp>
      <p:sp>
        <p:nvSpPr>
          <p:cNvPr id="4" name="Text 1"/>
          <p:cNvSpPr/>
          <p:nvPr>
            <p:ph idx="102" type="title" hasCustomPrompt="1"/>
          </p:nvPr>
        </p:nvSpPr>
        <p:spPr>
          <a:xfrm>
            <a:off x="548640" y="841248"/>
            <a:ext cx="11064240" cy="777240"/>
          </a:xfrm>
          <a:prstGeom prst="rect">
            <a:avLst/>
          </a:prstGeom>
          <a:noFill/>
          <a:ln/>
        </p:spPr>
        <p:txBody>
          <a:bodyPr wrap="square" lIns="0" tIns="0" rIns="0" bIns="0" rtlCol="0" anchor="ctr"/>
          <a:lstStyle/>
          <a:p>
            <a:pPr algn="l" indent="0" marL="0">
              <a:buNone/>
            </a:pPr>
            <a:r>
              <a:rPr lang="en-US" sz="3800" b="1" dirty="0">
                <a:solidFill>
                  <a:schemeClr val="tx1"/>
                </a:solidFill>
              </a:rPr>
              <a:t>Four design choices to defend</a:t>
            </a:r>
            <a:endParaRPr lang="en-US" sz="3800" dirty="0"/>
          </a:p>
        </p:txBody>
      </p:sp>
      <p:sp>
        <p:nvSpPr>
          <p:cNvPr id="5" name="Text 1"/>
          <p:cNvSpPr/>
          <p:nvPr>
            <p:ph idx="103" type="body" hasCustomPrompt="1"/>
          </p:nvPr>
        </p:nvSpPr>
        <p:spPr>
          <a:xfrm>
            <a:off x="548640" y="1627632"/>
            <a:ext cx="11064240" cy="457200"/>
          </a:xfrm>
          <a:prstGeom prst="rect">
            <a:avLst/>
          </a:prstGeom>
          <a:noFill/>
          <a:ln/>
        </p:spPr>
        <p:txBody>
          <a:bodyPr wrap="square" lIns="0" tIns="0" rIns="0" bIns="0" rtlCol="0" anchor="t"/>
          <a:lstStyle/>
          <a:p>
            <a:pPr indent="0" marL="0">
              <a:buNone/>
            </a:pPr>
            <a:r>
              <a:rPr lang="en-US" sz="2000" dirty="0">
                <a:solidFill>
                  <a:schemeClr val="tx2"/>
                </a:solidFill>
              </a:rPr>
              <a:t>Can you explain each one?</a:t>
            </a:r>
            <a:endParaRPr lang="en-US" sz="2000" dirty="0"/>
          </a:p>
        </p:txBody>
      </p:sp>
      <p:sp>
        <p:nvSpPr>
          <p:cNvPr id="7" name="box-1124"/>
          <p:cNvSpPr/>
          <p:nvPr/>
        </p:nvSpPr>
        <p:spPr>
          <a:xfrm>
            <a:off x="822960" y="2240280"/>
            <a:ext cx="1848002" cy="1328989"/>
          </a:xfrm>
          <a:prstGeom prst="roundRect">
            <a:avLst>
              <a:gd name="adj" fmla="val 5504"/>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8" name="box-1125"/>
          <p:cNvSpPr/>
          <p:nvPr/>
        </p:nvSpPr>
        <p:spPr>
          <a:xfrm>
            <a:off x="822960" y="2240280"/>
            <a:ext cx="1848002" cy="393192"/>
          </a:xfrm>
          <a:prstGeom prst="roundRect">
            <a:avLst>
              <a:gd name="adj" fmla="val 18605"/>
            </a:avLst>
          </a:prstGeom>
          <a:solidFill>
            <a:schemeClr val="accent1">
              <a:alpha val="15000"/>
            </a:schemeClr>
          </a:solidFill>
          <a:ln/>
        </p:spPr>
      </p:sp>
      <p:sp>
        <p:nvSpPr>
          <p:cNvPr id="9" name="text-1126"/>
          <p:cNvSpPr txBox="1"/>
          <p:nvPr/>
        </p:nvSpPr>
        <p:spPr>
          <a:xfrm>
            <a:off x="964509" y="2240280"/>
            <a:ext cx="1612087" cy="393192"/>
          </a:xfrm>
          <a:prstGeom prst="rect">
            <a:avLst/>
          </a:prstGeom>
          <a:noFill/>
          <a:ln/>
        </p:spPr>
        <p:txBody>
          <a:bodyPr wrap="square" lIns="0" tIns="0" rIns="0" bIns="0" rtlCol="0" anchor="ctr"/>
          <a:lstStyle/>
          <a:p>
            <a:pPr algn="l" indent="0" marL="0">
              <a:buNone/>
            </a:pPr>
            <a:r>
              <a:rPr lang="en-US" sz="1376" b="1" dirty="0">
                <a:solidFill>
                  <a:schemeClr val="tx1"/>
                </a:solidFill>
              </a:rPr>
              <a:t>users</a:t>
            </a:r>
            <a:endParaRPr lang="en-US" sz="1376" dirty="0"/>
          </a:p>
        </p:txBody>
      </p:sp>
      <p:sp>
        <p:nvSpPr>
          <p:cNvPr id="10" name="field-1127"/>
          <p:cNvSpPr txBox="1"/>
          <p:nvPr/>
        </p:nvSpPr>
        <p:spPr>
          <a:xfrm>
            <a:off x="964509" y="2696383"/>
            <a:ext cx="1612087" cy="267371"/>
          </a:xfrm>
          <a:prstGeom prst="rect">
            <a:avLst/>
          </a:prstGeom>
          <a:noFill/>
          <a:ln/>
        </p:spPr>
        <p:txBody>
          <a:bodyPr wrap="square" lIns="0" tIns="0" rIns="0" bIns="0" rtlCol="0" anchor="ctr"/>
          <a:lstStyle/>
          <a:p>
            <a:pPr indent="0" marL="0">
              <a:buNone/>
            </a:pPr>
            <a:r>
              <a:rPr lang="en-US" sz="1118" dirty="0">
                <a:solidFill>
                  <a:schemeClr val="tx1"/>
                </a:solidFill>
                <a:latin typeface="Roboto Mono" pitchFamily="34" charset="0"/>
                <a:ea typeface="Roboto Mono" pitchFamily="34" charset="-122"/>
                <a:cs typeface="Roboto Mono" pitchFamily="34" charset="-120"/>
              </a:rPr>
              <a:t>id  </a:t>
            </a:r>
            <a:pPr indent="0" marL="0">
              <a:buNone/>
            </a:pPr>
            <a:r>
              <a:rPr lang="en-US" sz="1118" b="1" dirty="0">
                <a:solidFill>
                  <a:schemeClr val="accent6"/>
                </a:solidFill>
                <a:latin typeface="Roboto Mono" pitchFamily="34" charset="0"/>
                <a:ea typeface="Roboto Mono" pitchFamily="34" charset="-122"/>
                <a:cs typeface="Roboto Mono" pitchFamily="34" charset="-120"/>
              </a:rPr>
              <a:t>PK</a:t>
            </a:r>
            <a:endParaRPr lang="en-US" sz="1118" dirty="0"/>
          </a:p>
        </p:txBody>
      </p:sp>
      <p:sp>
        <p:nvSpPr>
          <p:cNvPr id="11" name="field-1128"/>
          <p:cNvSpPr txBox="1"/>
          <p:nvPr/>
        </p:nvSpPr>
        <p:spPr>
          <a:xfrm>
            <a:off x="964509" y="2995209"/>
            <a:ext cx="1612087" cy="267371"/>
          </a:xfrm>
          <a:prstGeom prst="rect">
            <a:avLst/>
          </a:prstGeom>
          <a:noFill/>
          <a:ln/>
        </p:spPr>
        <p:txBody>
          <a:bodyPr wrap="square" lIns="0" tIns="0" rIns="0" bIns="0" rtlCol="0" anchor="ctr"/>
          <a:lstStyle/>
          <a:p>
            <a:pPr indent="0" marL="0">
              <a:buNone/>
            </a:pPr>
            <a:r>
              <a:rPr lang="en-US" sz="1118" dirty="0">
                <a:solidFill>
                  <a:schemeClr val="tx1"/>
                </a:solidFill>
                <a:latin typeface="Roboto Mono" pitchFamily="34" charset="0"/>
                <a:ea typeface="Roboto Mono" pitchFamily="34" charset="-122"/>
                <a:cs typeface="Roboto Mono" pitchFamily="34" charset="-120"/>
              </a:rPr>
              <a:t>email  </a:t>
            </a:r>
            <a:pPr indent="0" marL="0">
              <a:buNone/>
            </a:pPr>
            <a:r>
              <a:rPr lang="en-US" sz="1118" b="1" dirty="0">
                <a:solidFill>
                  <a:schemeClr val="accent6"/>
                </a:solidFill>
                <a:latin typeface="Roboto Mono" pitchFamily="34" charset="0"/>
                <a:ea typeface="Roboto Mono" pitchFamily="34" charset="-122"/>
                <a:cs typeface="Roboto Mono" pitchFamily="34" charset="-120"/>
              </a:rPr>
              <a:t>UNIQUE</a:t>
            </a:r>
            <a:endParaRPr lang="en-US" sz="1118" dirty="0"/>
          </a:p>
        </p:txBody>
      </p:sp>
      <p:sp>
        <p:nvSpPr>
          <p:cNvPr id="12" name="field-1129"/>
          <p:cNvSpPr txBox="1"/>
          <p:nvPr/>
        </p:nvSpPr>
        <p:spPr>
          <a:xfrm>
            <a:off x="964509" y="3294035"/>
            <a:ext cx="1612087" cy="267371"/>
          </a:xfrm>
          <a:prstGeom prst="rect">
            <a:avLst/>
          </a:prstGeom>
          <a:noFill/>
          <a:ln/>
        </p:spPr>
        <p:txBody>
          <a:bodyPr wrap="square" lIns="0" tIns="0" rIns="0" bIns="0" rtlCol="0" anchor="ctr"/>
          <a:lstStyle/>
          <a:p>
            <a:pPr indent="0" marL="0">
              <a:buNone/>
            </a:pPr>
            <a:r>
              <a:rPr lang="en-US" sz="1118" dirty="0">
                <a:solidFill>
                  <a:schemeClr val="tx1"/>
                </a:solidFill>
                <a:latin typeface="Roboto Mono" pitchFamily="34" charset="0"/>
                <a:ea typeface="Roboto Mono" pitchFamily="34" charset="-122"/>
                <a:cs typeface="Roboto Mono" pitchFamily="34" charset="-120"/>
              </a:rPr>
              <a:t>role  </a:t>
            </a:r>
            <a:endParaRPr lang="en-US" sz="1118" dirty="0"/>
          </a:p>
        </p:txBody>
      </p:sp>
      <p:sp>
        <p:nvSpPr>
          <p:cNvPr id="13" name="box-1130"/>
          <p:cNvSpPr/>
          <p:nvPr/>
        </p:nvSpPr>
        <p:spPr>
          <a:xfrm>
            <a:off x="3378708" y="2240280"/>
            <a:ext cx="1848002" cy="1328989"/>
          </a:xfrm>
          <a:prstGeom prst="roundRect">
            <a:avLst>
              <a:gd name="adj" fmla="val 5504"/>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14" name="box-1131"/>
          <p:cNvSpPr/>
          <p:nvPr/>
        </p:nvSpPr>
        <p:spPr>
          <a:xfrm>
            <a:off x="3378708" y="2240280"/>
            <a:ext cx="1848002" cy="393192"/>
          </a:xfrm>
          <a:prstGeom prst="roundRect">
            <a:avLst>
              <a:gd name="adj" fmla="val 18605"/>
            </a:avLst>
          </a:prstGeom>
          <a:solidFill>
            <a:schemeClr val="accent1">
              <a:alpha val="15000"/>
            </a:schemeClr>
          </a:solidFill>
          <a:ln/>
        </p:spPr>
      </p:sp>
      <p:sp>
        <p:nvSpPr>
          <p:cNvPr id="15" name="text-1132"/>
          <p:cNvSpPr txBox="1"/>
          <p:nvPr/>
        </p:nvSpPr>
        <p:spPr>
          <a:xfrm>
            <a:off x="3520257" y="2240280"/>
            <a:ext cx="1612087" cy="393192"/>
          </a:xfrm>
          <a:prstGeom prst="rect">
            <a:avLst/>
          </a:prstGeom>
          <a:noFill/>
          <a:ln/>
        </p:spPr>
        <p:txBody>
          <a:bodyPr wrap="square" lIns="0" tIns="0" rIns="0" bIns="0" rtlCol="0" anchor="ctr"/>
          <a:lstStyle/>
          <a:p>
            <a:pPr algn="l" indent="0" marL="0">
              <a:buNone/>
            </a:pPr>
            <a:r>
              <a:rPr lang="en-US" sz="1376" b="1" dirty="0">
                <a:solidFill>
                  <a:schemeClr val="tx1"/>
                </a:solidFill>
              </a:rPr>
              <a:t>orders</a:t>
            </a:r>
            <a:endParaRPr lang="en-US" sz="1376" dirty="0"/>
          </a:p>
        </p:txBody>
      </p:sp>
      <p:sp>
        <p:nvSpPr>
          <p:cNvPr id="16" name="field-1133"/>
          <p:cNvSpPr txBox="1"/>
          <p:nvPr/>
        </p:nvSpPr>
        <p:spPr>
          <a:xfrm>
            <a:off x="3520257" y="2696383"/>
            <a:ext cx="1612087" cy="267371"/>
          </a:xfrm>
          <a:prstGeom prst="rect">
            <a:avLst/>
          </a:prstGeom>
          <a:noFill/>
          <a:ln/>
        </p:spPr>
        <p:txBody>
          <a:bodyPr wrap="square" lIns="0" tIns="0" rIns="0" bIns="0" rtlCol="0" anchor="ctr"/>
          <a:lstStyle/>
          <a:p>
            <a:pPr indent="0" marL="0">
              <a:buNone/>
            </a:pPr>
            <a:r>
              <a:rPr lang="en-US" sz="1118" dirty="0">
                <a:solidFill>
                  <a:schemeClr val="tx1"/>
                </a:solidFill>
                <a:latin typeface="Roboto Mono" pitchFamily="34" charset="0"/>
                <a:ea typeface="Roboto Mono" pitchFamily="34" charset="-122"/>
                <a:cs typeface="Roboto Mono" pitchFamily="34" charset="-120"/>
              </a:rPr>
              <a:t>id  </a:t>
            </a:r>
            <a:pPr indent="0" marL="0">
              <a:buNone/>
            </a:pPr>
            <a:r>
              <a:rPr lang="en-US" sz="1118" b="1" dirty="0">
                <a:solidFill>
                  <a:schemeClr val="accent6"/>
                </a:solidFill>
                <a:latin typeface="Roboto Mono" pitchFamily="34" charset="0"/>
                <a:ea typeface="Roboto Mono" pitchFamily="34" charset="-122"/>
                <a:cs typeface="Roboto Mono" pitchFamily="34" charset="-120"/>
              </a:rPr>
              <a:t>PK</a:t>
            </a:r>
            <a:endParaRPr lang="en-US" sz="1118" dirty="0"/>
          </a:p>
        </p:txBody>
      </p:sp>
      <p:sp>
        <p:nvSpPr>
          <p:cNvPr id="17" name="field-1134"/>
          <p:cNvSpPr txBox="1"/>
          <p:nvPr/>
        </p:nvSpPr>
        <p:spPr>
          <a:xfrm>
            <a:off x="3520257" y="2995209"/>
            <a:ext cx="1612087" cy="267371"/>
          </a:xfrm>
          <a:prstGeom prst="rect">
            <a:avLst/>
          </a:prstGeom>
          <a:noFill/>
          <a:ln/>
        </p:spPr>
        <p:txBody>
          <a:bodyPr wrap="square" lIns="0" tIns="0" rIns="0" bIns="0" rtlCol="0" anchor="ctr"/>
          <a:lstStyle/>
          <a:p>
            <a:pPr indent="0" marL="0">
              <a:buNone/>
            </a:pPr>
            <a:r>
              <a:rPr lang="en-US" sz="1118" dirty="0">
                <a:solidFill>
                  <a:schemeClr val="tx1"/>
                </a:solidFill>
                <a:latin typeface="Roboto Mono" pitchFamily="34" charset="0"/>
                <a:ea typeface="Roboto Mono" pitchFamily="34" charset="-122"/>
                <a:cs typeface="Roboto Mono" pitchFamily="34" charset="-120"/>
              </a:rPr>
              <a:t>user_id  </a:t>
            </a:r>
            <a:pPr indent="0" marL="0">
              <a:buNone/>
            </a:pPr>
            <a:r>
              <a:rPr lang="en-US" sz="1118" b="1" dirty="0">
                <a:solidFill>
                  <a:schemeClr val="accent6"/>
                </a:solidFill>
                <a:latin typeface="Roboto Mono" pitchFamily="34" charset="0"/>
                <a:ea typeface="Roboto Mono" pitchFamily="34" charset="-122"/>
                <a:cs typeface="Roboto Mono" pitchFamily="34" charset="-120"/>
              </a:rPr>
              <a:t>FK</a:t>
            </a:r>
            <a:endParaRPr lang="en-US" sz="1118" dirty="0"/>
          </a:p>
        </p:txBody>
      </p:sp>
      <p:sp>
        <p:nvSpPr>
          <p:cNvPr id="18" name="field-1135"/>
          <p:cNvSpPr txBox="1"/>
          <p:nvPr/>
        </p:nvSpPr>
        <p:spPr>
          <a:xfrm>
            <a:off x="3520257" y="3294035"/>
            <a:ext cx="1612087" cy="267371"/>
          </a:xfrm>
          <a:prstGeom prst="rect">
            <a:avLst/>
          </a:prstGeom>
          <a:noFill/>
          <a:ln/>
        </p:spPr>
        <p:txBody>
          <a:bodyPr wrap="square" lIns="0" tIns="0" rIns="0" bIns="0" rtlCol="0" anchor="ctr"/>
          <a:lstStyle/>
          <a:p>
            <a:pPr indent="0" marL="0">
              <a:buNone/>
            </a:pPr>
            <a:r>
              <a:rPr lang="en-US" sz="1118" dirty="0">
                <a:solidFill>
                  <a:schemeClr val="tx1"/>
                </a:solidFill>
                <a:latin typeface="Roboto Mono" pitchFamily="34" charset="0"/>
                <a:ea typeface="Roboto Mono" pitchFamily="34" charset="-122"/>
                <a:cs typeface="Roboto Mono" pitchFamily="34" charset="-120"/>
              </a:rPr>
              <a:t>status  </a:t>
            </a:r>
            <a:endParaRPr lang="en-US" sz="1118" dirty="0"/>
          </a:p>
        </p:txBody>
      </p:sp>
      <p:sp>
        <p:nvSpPr>
          <p:cNvPr id="19" name="box-1136"/>
          <p:cNvSpPr/>
          <p:nvPr/>
        </p:nvSpPr>
        <p:spPr>
          <a:xfrm>
            <a:off x="5934456" y="2240280"/>
            <a:ext cx="1848002" cy="1328989"/>
          </a:xfrm>
          <a:prstGeom prst="roundRect">
            <a:avLst>
              <a:gd name="adj" fmla="val 5504"/>
            </a:avLst>
          </a:prstGeom>
          <a:solidFill>
            <a:schemeClr val="bg1"/>
          </a:solidFill>
          <a:ln w="31750">
            <a:solidFill>
              <a:schemeClr val="accent1"/>
            </a:solidFill>
            <a:prstDash val="solid"/>
          </a:ln>
          <a:effectLst>
            <a:outerShdw sx="100000" sy="100000" kx="0" ky="0" algn="bl" rotWithShape="0" blurRad="101600" dist="25400" dir="5400000">
              <a:srgbClr val="000000">
                <a:alpha val="8000"/>
              </a:srgbClr>
            </a:outerShdw>
          </a:effectLst>
        </p:spPr>
      </p:sp>
      <p:sp>
        <p:nvSpPr>
          <p:cNvPr id="20" name="box-1137"/>
          <p:cNvSpPr/>
          <p:nvPr/>
        </p:nvSpPr>
        <p:spPr>
          <a:xfrm>
            <a:off x="5934456" y="2240280"/>
            <a:ext cx="1848002" cy="393192"/>
          </a:xfrm>
          <a:prstGeom prst="roundRect">
            <a:avLst>
              <a:gd name="adj" fmla="val 18605"/>
            </a:avLst>
          </a:prstGeom>
          <a:solidFill>
            <a:schemeClr val="accent1">
              <a:alpha val="15000"/>
            </a:schemeClr>
          </a:solidFill>
          <a:ln/>
        </p:spPr>
      </p:sp>
      <p:sp>
        <p:nvSpPr>
          <p:cNvPr id="21" name="text-1138"/>
          <p:cNvSpPr txBox="1"/>
          <p:nvPr/>
        </p:nvSpPr>
        <p:spPr>
          <a:xfrm>
            <a:off x="6076005" y="2240280"/>
            <a:ext cx="1612087" cy="393192"/>
          </a:xfrm>
          <a:prstGeom prst="rect">
            <a:avLst/>
          </a:prstGeom>
          <a:noFill/>
          <a:ln/>
        </p:spPr>
        <p:txBody>
          <a:bodyPr wrap="square" lIns="0" tIns="0" rIns="0" bIns="0" rtlCol="0" anchor="ctr"/>
          <a:lstStyle/>
          <a:p>
            <a:pPr algn="l" indent="0" marL="0">
              <a:buNone/>
            </a:pPr>
            <a:r>
              <a:rPr lang="en-US" sz="1376" b="1" dirty="0">
                <a:solidFill>
                  <a:schemeClr val="tx1"/>
                </a:solidFill>
              </a:rPr>
              <a:t>order_items</a:t>
            </a:r>
            <a:endParaRPr lang="en-US" sz="1376" dirty="0"/>
          </a:p>
        </p:txBody>
      </p:sp>
      <p:sp>
        <p:nvSpPr>
          <p:cNvPr id="22" name="field-1139"/>
          <p:cNvSpPr txBox="1"/>
          <p:nvPr/>
        </p:nvSpPr>
        <p:spPr>
          <a:xfrm>
            <a:off x="6076005" y="2696383"/>
            <a:ext cx="1612087" cy="267371"/>
          </a:xfrm>
          <a:prstGeom prst="rect">
            <a:avLst/>
          </a:prstGeom>
          <a:noFill/>
          <a:ln/>
        </p:spPr>
        <p:txBody>
          <a:bodyPr wrap="square" lIns="0" tIns="0" rIns="0" bIns="0" rtlCol="0" anchor="ctr"/>
          <a:lstStyle/>
          <a:p>
            <a:pPr indent="0" marL="0">
              <a:buNone/>
            </a:pPr>
            <a:r>
              <a:rPr lang="en-US" sz="1118" dirty="0">
                <a:solidFill>
                  <a:schemeClr val="tx1"/>
                </a:solidFill>
                <a:latin typeface="Roboto Mono" pitchFamily="34" charset="0"/>
                <a:ea typeface="Roboto Mono" pitchFamily="34" charset="-122"/>
                <a:cs typeface="Roboto Mono" pitchFamily="34" charset="-120"/>
              </a:rPr>
              <a:t>order_id  </a:t>
            </a:r>
            <a:pPr indent="0" marL="0">
              <a:buNone/>
            </a:pPr>
            <a:r>
              <a:rPr lang="en-US" sz="1118" b="1" dirty="0">
                <a:solidFill>
                  <a:schemeClr val="accent6"/>
                </a:solidFill>
                <a:latin typeface="Roboto Mono" pitchFamily="34" charset="0"/>
                <a:ea typeface="Roboto Mono" pitchFamily="34" charset="-122"/>
                <a:cs typeface="Roboto Mono" pitchFamily="34" charset="-120"/>
              </a:rPr>
              <a:t>PK·FK</a:t>
            </a:r>
            <a:endParaRPr lang="en-US" sz="1118" dirty="0"/>
          </a:p>
        </p:txBody>
      </p:sp>
      <p:sp>
        <p:nvSpPr>
          <p:cNvPr id="23" name="field-1140"/>
          <p:cNvSpPr txBox="1"/>
          <p:nvPr/>
        </p:nvSpPr>
        <p:spPr>
          <a:xfrm>
            <a:off x="6076005" y="2995209"/>
            <a:ext cx="1612087" cy="267371"/>
          </a:xfrm>
          <a:prstGeom prst="rect">
            <a:avLst/>
          </a:prstGeom>
          <a:noFill/>
          <a:ln/>
        </p:spPr>
        <p:txBody>
          <a:bodyPr wrap="square" lIns="0" tIns="0" rIns="0" bIns="0" rtlCol="0" anchor="ctr"/>
          <a:lstStyle/>
          <a:p>
            <a:pPr indent="0" marL="0">
              <a:buNone/>
            </a:pPr>
            <a:r>
              <a:rPr lang="en-US" sz="1118" dirty="0">
                <a:solidFill>
                  <a:schemeClr val="tx1"/>
                </a:solidFill>
                <a:latin typeface="Roboto Mono" pitchFamily="34" charset="0"/>
                <a:ea typeface="Roboto Mono" pitchFamily="34" charset="-122"/>
                <a:cs typeface="Roboto Mono" pitchFamily="34" charset="-120"/>
              </a:rPr>
              <a:t>product_id  </a:t>
            </a:r>
            <a:pPr indent="0" marL="0">
              <a:buNone/>
            </a:pPr>
            <a:r>
              <a:rPr lang="en-US" sz="1118" b="1" dirty="0">
                <a:solidFill>
                  <a:schemeClr val="accent6"/>
                </a:solidFill>
                <a:latin typeface="Roboto Mono" pitchFamily="34" charset="0"/>
                <a:ea typeface="Roboto Mono" pitchFamily="34" charset="-122"/>
                <a:cs typeface="Roboto Mono" pitchFamily="34" charset="-120"/>
              </a:rPr>
              <a:t>PK·FK</a:t>
            </a:r>
            <a:endParaRPr lang="en-US" sz="1118" dirty="0"/>
          </a:p>
        </p:txBody>
      </p:sp>
      <p:sp>
        <p:nvSpPr>
          <p:cNvPr id="24" name="field-1141"/>
          <p:cNvSpPr txBox="1"/>
          <p:nvPr/>
        </p:nvSpPr>
        <p:spPr>
          <a:xfrm>
            <a:off x="6076005" y="3294035"/>
            <a:ext cx="1612087" cy="267371"/>
          </a:xfrm>
          <a:prstGeom prst="rect">
            <a:avLst/>
          </a:prstGeom>
          <a:noFill/>
          <a:ln/>
        </p:spPr>
        <p:txBody>
          <a:bodyPr wrap="square" lIns="0" tIns="0" rIns="0" bIns="0" rtlCol="0" anchor="ctr"/>
          <a:lstStyle/>
          <a:p>
            <a:pPr indent="0" marL="0">
              <a:buNone/>
            </a:pPr>
            <a:r>
              <a:rPr lang="en-US" sz="1118" dirty="0">
                <a:solidFill>
                  <a:schemeClr val="tx1"/>
                </a:solidFill>
                <a:latin typeface="Roboto Mono" pitchFamily="34" charset="0"/>
                <a:ea typeface="Roboto Mono" pitchFamily="34" charset="-122"/>
                <a:cs typeface="Roboto Mono" pitchFamily="34" charset="-120"/>
              </a:rPr>
              <a:t>unit_price_cents  </a:t>
            </a:r>
            <a:endParaRPr lang="en-US" sz="1118" dirty="0"/>
          </a:p>
        </p:txBody>
      </p:sp>
      <p:sp>
        <p:nvSpPr>
          <p:cNvPr id="25" name="box-1142"/>
          <p:cNvSpPr/>
          <p:nvPr/>
        </p:nvSpPr>
        <p:spPr>
          <a:xfrm>
            <a:off x="8490204" y="2240280"/>
            <a:ext cx="1848002" cy="1328989"/>
          </a:xfrm>
          <a:prstGeom prst="roundRect">
            <a:avLst>
              <a:gd name="adj" fmla="val 5504"/>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26" name="box-1143"/>
          <p:cNvSpPr/>
          <p:nvPr/>
        </p:nvSpPr>
        <p:spPr>
          <a:xfrm>
            <a:off x="8490204" y="2240280"/>
            <a:ext cx="1848002" cy="393192"/>
          </a:xfrm>
          <a:prstGeom prst="roundRect">
            <a:avLst>
              <a:gd name="adj" fmla="val 18605"/>
            </a:avLst>
          </a:prstGeom>
          <a:solidFill>
            <a:schemeClr val="accent1">
              <a:alpha val="15000"/>
            </a:schemeClr>
          </a:solidFill>
          <a:ln/>
        </p:spPr>
      </p:sp>
      <p:sp>
        <p:nvSpPr>
          <p:cNvPr id="27" name="text-1144"/>
          <p:cNvSpPr txBox="1"/>
          <p:nvPr/>
        </p:nvSpPr>
        <p:spPr>
          <a:xfrm>
            <a:off x="8631753" y="2240280"/>
            <a:ext cx="1612087" cy="393192"/>
          </a:xfrm>
          <a:prstGeom prst="rect">
            <a:avLst/>
          </a:prstGeom>
          <a:noFill/>
          <a:ln/>
        </p:spPr>
        <p:txBody>
          <a:bodyPr wrap="square" lIns="0" tIns="0" rIns="0" bIns="0" rtlCol="0" anchor="ctr"/>
          <a:lstStyle/>
          <a:p>
            <a:pPr algn="l" indent="0" marL="0">
              <a:buNone/>
            </a:pPr>
            <a:r>
              <a:rPr lang="en-US" sz="1376" b="1" dirty="0">
                <a:solidFill>
                  <a:schemeClr val="tx1"/>
                </a:solidFill>
              </a:rPr>
              <a:t>products</a:t>
            </a:r>
            <a:endParaRPr lang="en-US" sz="1376" dirty="0"/>
          </a:p>
        </p:txBody>
      </p:sp>
      <p:sp>
        <p:nvSpPr>
          <p:cNvPr id="28" name="field-1145"/>
          <p:cNvSpPr txBox="1"/>
          <p:nvPr/>
        </p:nvSpPr>
        <p:spPr>
          <a:xfrm>
            <a:off x="8631753" y="2696383"/>
            <a:ext cx="1612087" cy="267371"/>
          </a:xfrm>
          <a:prstGeom prst="rect">
            <a:avLst/>
          </a:prstGeom>
          <a:noFill/>
          <a:ln/>
        </p:spPr>
        <p:txBody>
          <a:bodyPr wrap="square" lIns="0" tIns="0" rIns="0" bIns="0" rtlCol="0" anchor="ctr"/>
          <a:lstStyle/>
          <a:p>
            <a:pPr indent="0" marL="0">
              <a:buNone/>
            </a:pPr>
            <a:r>
              <a:rPr lang="en-US" sz="1118" dirty="0">
                <a:solidFill>
                  <a:schemeClr val="tx1"/>
                </a:solidFill>
                <a:latin typeface="Roboto Mono" pitchFamily="34" charset="0"/>
                <a:ea typeface="Roboto Mono" pitchFamily="34" charset="-122"/>
                <a:cs typeface="Roboto Mono" pitchFamily="34" charset="-120"/>
              </a:rPr>
              <a:t>id  </a:t>
            </a:r>
            <a:pPr indent="0" marL="0">
              <a:buNone/>
            </a:pPr>
            <a:r>
              <a:rPr lang="en-US" sz="1118" b="1" dirty="0">
                <a:solidFill>
                  <a:schemeClr val="accent6"/>
                </a:solidFill>
                <a:latin typeface="Roboto Mono" pitchFamily="34" charset="0"/>
                <a:ea typeface="Roboto Mono" pitchFamily="34" charset="-122"/>
                <a:cs typeface="Roboto Mono" pitchFamily="34" charset="-120"/>
              </a:rPr>
              <a:t>PK</a:t>
            </a:r>
            <a:endParaRPr lang="en-US" sz="1118" dirty="0"/>
          </a:p>
        </p:txBody>
      </p:sp>
      <p:sp>
        <p:nvSpPr>
          <p:cNvPr id="29" name="field-1146"/>
          <p:cNvSpPr txBox="1"/>
          <p:nvPr/>
        </p:nvSpPr>
        <p:spPr>
          <a:xfrm>
            <a:off x="8631753" y="2995209"/>
            <a:ext cx="1612087" cy="267371"/>
          </a:xfrm>
          <a:prstGeom prst="rect">
            <a:avLst/>
          </a:prstGeom>
          <a:noFill/>
          <a:ln/>
        </p:spPr>
        <p:txBody>
          <a:bodyPr wrap="square" lIns="0" tIns="0" rIns="0" bIns="0" rtlCol="0" anchor="ctr"/>
          <a:lstStyle/>
          <a:p>
            <a:pPr indent="0" marL="0">
              <a:buNone/>
            </a:pPr>
            <a:r>
              <a:rPr lang="en-US" sz="1118" dirty="0">
                <a:solidFill>
                  <a:schemeClr val="tx1"/>
                </a:solidFill>
                <a:latin typeface="Roboto Mono" pitchFamily="34" charset="0"/>
                <a:ea typeface="Roboto Mono" pitchFamily="34" charset="-122"/>
                <a:cs typeface="Roboto Mono" pitchFamily="34" charset="-120"/>
              </a:rPr>
              <a:t>name  </a:t>
            </a:r>
            <a:endParaRPr lang="en-US" sz="1118" dirty="0"/>
          </a:p>
        </p:txBody>
      </p:sp>
      <p:sp>
        <p:nvSpPr>
          <p:cNvPr id="30" name="field-1147"/>
          <p:cNvSpPr txBox="1"/>
          <p:nvPr/>
        </p:nvSpPr>
        <p:spPr>
          <a:xfrm>
            <a:off x="8631753" y="3294035"/>
            <a:ext cx="1612087" cy="267371"/>
          </a:xfrm>
          <a:prstGeom prst="rect">
            <a:avLst/>
          </a:prstGeom>
          <a:noFill/>
          <a:ln/>
        </p:spPr>
        <p:txBody>
          <a:bodyPr wrap="square" lIns="0" tIns="0" rIns="0" bIns="0" rtlCol="0" anchor="ctr"/>
          <a:lstStyle/>
          <a:p>
            <a:pPr indent="0" marL="0">
              <a:buNone/>
            </a:pPr>
            <a:r>
              <a:rPr lang="en-US" sz="1118" dirty="0">
                <a:solidFill>
                  <a:schemeClr val="tx1"/>
                </a:solidFill>
                <a:latin typeface="Roboto Mono" pitchFamily="34" charset="0"/>
                <a:ea typeface="Roboto Mono" pitchFamily="34" charset="-122"/>
                <a:cs typeface="Roboto Mono" pitchFamily="34" charset="-120"/>
              </a:rPr>
              <a:t>price_cents  </a:t>
            </a:r>
            <a:endParaRPr lang="en-US" sz="1118" dirty="0"/>
          </a:p>
        </p:txBody>
      </p:sp>
      <p:sp>
        <p:nvSpPr>
          <p:cNvPr id="31" name="box-1148"/>
          <p:cNvSpPr/>
          <p:nvPr/>
        </p:nvSpPr>
        <p:spPr>
          <a:xfrm>
            <a:off x="822960" y="4166921"/>
            <a:ext cx="1848002" cy="1030163"/>
          </a:xfrm>
          <a:prstGeom prst="roundRect">
            <a:avLst>
              <a:gd name="adj" fmla="val 7101"/>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32" name="box-1149"/>
          <p:cNvSpPr/>
          <p:nvPr/>
        </p:nvSpPr>
        <p:spPr>
          <a:xfrm>
            <a:off x="822960" y="4166921"/>
            <a:ext cx="1848002" cy="393192"/>
          </a:xfrm>
          <a:prstGeom prst="roundRect">
            <a:avLst>
              <a:gd name="adj" fmla="val 18605"/>
            </a:avLst>
          </a:prstGeom>
          <a:solidFill>
            <a:schemeClr val="accent1">
              <a:alpha val="15000"/>
            </a:schemeClr>
          </a:solidFill>
          <a:ln/>
        </p:spPr>
      </p:sp>
      <p:sp>
        <p:nvSpPr>
          <p:cNvPr id="33" name="text-1150"/>
          <p:cNvSpPr txBox="1"/>
          <p:nvPr/>
        </p:nvSpPr>
        <p:spPr>
          <a:xfrm>
            <a:off x="964509" y="4166921"/>
            <a:ext cx="1612087" cy="393192"/>
          </a:xfrm>
          <a:prstGeom prst="rect">
            <a:avLst/>
          </a:prstGeom>
          <a:noFill/>
          <a:ln/>
        </p:spPr>
        <p:txBody>
          <a:bodyPr wrap="square" lIns="0" tIns="0" rIns="0" bIns="0" rtlCol="0" anchor="ctr"/>
          <a:lstStyle/>
          <a:p>
            <a:pPr algn="l" indent="0" marL="0">
              <a:buNone/>
            </a:pPr>
            <a:r>
              <a:rPr lang="en-US" sz="1376" b="1" dirty="0">
                <a:solidFill>
                  <a:schemeClr val="tx1"/>
                </a:solidFill>
              </a:rPr>
              <a:t>user_profiles</a:t>
            </a:r>
            <a:endParaRPr lang="en-US" sz="1376" dirty="0"/>
          </a:p>
        </p:txBody>
      </p:sp>
      <p:sp>
        <p:nvSpPr>
          <p:cNvPr id="34" name="field-1151"/>
          <p:cNvSpPr txBox="1"/>
          <p:nvPr/>
        </p:nvSpPr>
        <p:spPr>
          <a:xfrm>
            <a:off x="964509" y="4623024"/>
            <a:ext cx="1612087" cy="267371"/>
          </a:xfrm>
          <a:prstGeom prst="rect">
            <a:avLst/>
          </a:prstGeom>
          <a:noFill/>
          <a:ln/>
        </p:spPr>
        <p:txBody>
          <a:bodyPr wrap="square" lIns="0" tIns="0" rIns="0" bIns="0" rtlCol="0" anchor="ctr"/>
          <a:lstStyle/>
          <a:p>
            <a:pPr indent="0" marL="0">
              <a:buNone/>
            </a:pPr>
            <a:r>
              <a:rPr lang="en-US" sz="1118" dirty="0">
                <a:solidFill>
                  <a:schemeClr val="tx1"/>
                </a:solidFill>
                <a:latin typeface="Roboto Mono" pitchFamily="34" charset="0"/>
                <a:ea typeface="Roboto Mono" pitchFamily="34" charset="-122"/>
                <a:cs typeface="Roboto Mono" pitchFamily="34" charset="-120"/>
              </a:rPr>
              <a:t>user_id  </a:t>
            </a:r>
            <a:pPr indent="0" marL="0">
              <a:buNone/>
            </a:pPr>
            <a:r>
              <a:rPr lang="en-US" sz="1118" b="1" dirty="0">
                <a:solidFill>
                  <a:schemeClr val="accent6"/>
                </a:solidFill>
                <a:latin typeface="Roboto Mono" pitchFamily="34" charset="0"/>
                <a:ea typeface="Roboto Mono" pitchFamily="34" charset="-122"/>
                <a:cs typeface="Roboto Mono" pitchFamily="34" charset="-120"/>
              </a:rPr>
              <a:t>PK·FK</a:t>
            </a:r>
            <a:endParaRPr lang="en-US" sz="1118" dirty="0"/>
          </a:p>
        </p:txBody>
      </p:sp>
      <p:sp>
        <p:nvSpPr>
          <p:cNvPr id="35" name="field-1152"/>
          <p:cNvSpPr txBox="1"/>
          <p:nvPr/>
        </p:nvSpPr>
        <p:spPr>
          <a:xfrm>
            <a:off x="964509" y="4921849"/>
            <a:ext cx="1612087" cy="267371"/>
          </a:xfrm>
          <a:prstGeom prst="rect">
            <a:avLst/>
          </a:prstGeom>
          <a:noFill/>
          <a:ln/>
        </p:spPr>
        <p:txBody>
          <a:bodyPr wrap="square" lIns="0" tIns="0" rIns="0" bIns="0" rtlCol="0" anchor="ctr"/>
          <a:lstStyle/>
          <a:p>
            <a:pPr indent="0" marL="0">
              <a:buNone/>
            </a:pPr>
            <a:r>
              <a:rPr lang="en-US" sz="1118" dirty="0">
                <a:solidFill>
                  <a:schemeClr val="tx1"/>
                </a:solidFill>
                <a:latin typeface="Roboto Mono" pitchFamily="34" charset="0"/>
                <a:ea typeface="Roboto Mono" pitchFamily="34" charset="-122"/>
                <a:cs typeface="Roboto Mono" pitchFamily="34" charset="-120"/>
              </a:rPr>
              <a:t>full_name  </a:t>
            </a:r>
            <a:endParaRPr lang="en-US" sz="1118" dirty="0"/>
          </a:p>
        </p:txBody>
      </p:sp>
      <p:sp>
        <p:nvSpPr>
          <p:cNvPr id="36" name="line-1153"/>
          <p:cNvSpPr/>
          <p:nvPr/>
        </p:nvSpPr>
        <p:spPr>
          <a:xfrm>
            <a:off x="2670962" y="2987345"/>
            <a:ext cx="707746" cy="91"/>
          </a:xfrm>
          <a:prstGeom prst="line">
            <a:avLst/>
          </a:prstGeom>
          <a:noFill/>
          <a:ln w="25400">
            <a:solidFill>
              <a:schemeClr val="tx2"/>
            </a:solidFill>
            <a:prstDash val="solid"/>
          </a:ln>
        </p:spPr>
      </p:sp>
      <p:sp>
        <p:nvSpPr>
          <p:cNvPr id="37" name="text-1154"/>
          <p:cNvSpPr txBox="1"/>
          <p:nvPr/>
        </p:nvSpPr>
        <p:spPr>
          <a:xfrm>
            <a:off x="2710282" y="2657064"/>
            <a:ext cx="314554" cy="283098"/>
          </a:xfrm>
          <a:prstGeom prst="rect">
            <a:avLst/>
          </a:prstGeom>
          <a:noFill/>
          <a:ln/>
        </p:spPr>
        <p:txBody>
          <a:bodyPr wrap="square" lIns="0" tIns="0" rIns="0" bIns="0" rtlCol="0" anchor="ctr"/>
          <a:lstStyle/>
          <a:p>
            <a:pPr algn="l" indent="0" marL="0">
              <a:buNone/>
            </a:pPr>
            <a:r>
              <a:rPr lang="en-US" sz="1548" b="1" dirty="0">
                <a:solidFill>
                  <a:schemeClr val="accent6"/>
                </a:solidFill>
              </a:rPr>
              <a:t>1</a:t>
            </a:r>
            <a:endParaRPr lang="en-US" sz="1548" dirty="0"/>
          </a:p>
        </p:txBody>
      </p:sp>
      <p:sp>
        <p:nvSpPr>
          <p:cNvPr id="38" name="text-1155"/>
          <p:cNvSpPr txBox="1"/>
          <p:nvPr/>
        </p:nvSpPr>
        <p:spPr>
          <a:xfrm>
            <a:off x="3024835" y="2657064"/>
            <a:ext cx="314554" cy="283098"/>
          </a:xfrm>
          <a:prstGeom prst="rect">
            <a:avLst/>
          </a:prstGeom>
          <a:noFill/>
          <a:ln/>
        </p:spPr>
        <p:txBody>
          <a:bodyPr wrap="square" lIns="0" tIns="0" rIns="0" bIns="0" rtlCol="0" anchor="ctr"/>
          <a:lstStyle/>
          <a:p>
            <a:pPr algn="r" indent="0" marL="0">
              <a:buNone/>
            </a:pPr>
            <a:r>
              <a:rPr lang="en-US" sz="1548" b="1" dirty="0">
                <a:solidFill>
                  <a:schemeClr val="accent6"/>
                </a:solidFill>
              </a:rPr>
              <a:t>N</a:t>
            </a:r>
            <a:endParaRPr lang="en-US" sz="1548" dirty="0"/>
          </a:p>
        </p:txBody>
      </p:sp>
      <p:sp>
        <p:nvSpPr>
          <p:cNvPr id="39" name="line-1156"/>
          <p:cNvSpPr/>
          <p:nvPr/>
        </p:nvSpPr>
        <p:spPr>
          <a:xfrm>
            <a:off x="5226710" y="2987345"/>
            <a:ext cx="707746" cy="91"/>
          </a:xfrm>
          <a:prstGeom prst="line">
            <a:avLst/>
          </a:prstGeom>
          <a:noFill/>
          <a:ln w="25400">
            <a:solidFill>
              <a:schemeClr val="tx2"/>
            </a:solidFill>
            <a:prstDash val="solid"/>
          </a:ln>
        </p:spPr>
      </p:sp>
      <p:sp>
        <p:nvSpPr>
          <p:cNvPr id="40" name="text-1157"/>
          <p:cNvSpPr txBox="1"/>
          <p:nvPr/>
        </p:nvSpPr>
        <p:spPr>
          <a:xfrm>
            <a:off x="5266030" y="2657064"/>
            <a:ext cx="314554" cy="283098"/>
          </a:xfrm>
          <a:prstGeom prst="rect">
            <a:avLst/>
          </a:prstGeom>
          <a:noFill/>
          <a:ln/>
        </p:spPr>
        <p:txBody>
          <a:bodyPr wrap="square" lIns="0" tIns="0" rIns="0" bIns="0" rtlCol="0" anchor="ctr"/>
          <a:lstStyle/>
          <a:p>
            <a:pPr algn="l" indent="0" marL="0">
              <a:buNone/>
            </a:pPr>
            <a:r>
              <a:rPr lang="en-US" sz="1548" b="1" dirty="0">
                <a:solidFill>
                  <a:schemeClr val="accent6"/>
                </a:solidFill>
              </a:rPr>
              <a:t>1</a:t>
            </a:r>
            <a:endParaRPr lang="en-US" sz="1548" dirty="0"/>
          </a:p>
        </p:txBody>
      </p:sp>
      <p:sp>
        <p:nvSpPr>
          <p:cNvPr id="41" name="text-1158"/>
          <p:cNvSpPr txBox="1"/>
          <p:nvPr/>
        </p:nvSpPr>
        <p:spPr>
          <a:xfrm>
            <a:off x="5580583" y="2657064"/>
            <a:ext cx="314554" cy="283098"/>
          </a:xfrm>
          <a:prstGeom prst="rect">
            <a:avLst/>
          </a:prstGeom>
          <a:noFill/>
          <a:ln/>
        </p:spPr>
        <p:txBody>
          <a:bodyPr wrap="square" lIns="0" tIns="0" rIns="0" bIns="0" rtlCol="0" anchor="ctr"/>
          <a:lstStyle/>
          <a:p>
            <a:pPr algn="r" indent="0" marL="0">
              <a:buNone/>
            </a:pPr>
            <a:r>
              <a:rPr lang="en-US" sz="1548" b="1" dirty="0">
                <a:solidFill>
                  <a:schemeClr val="accent6"/>
                </a:solidFill>
              </a:rPr>
              <a:t>N</a:t>
            </a:r>
            <a:endParaRPr lang="en-US" sz="1548" dirty="0"/>
          </a:p>
        </p:txBody>
      </p:sp>
      <p:sp>
        <p:nvSpPr>
          <p:cNvPr id="42" name="line-1159"/>
          <p:cNvSpPr/>
          <p:nvPr/>
        </p:nvSpPr>
        <p:spPr>
          <a:xfrm>
            <a:off x="7782458" y="2987345"/>
            <a:ext cx="707746" cy="91"/>
          </a:xfrm>
          <a:prstGeom prst="line">
            <a:avLst/>
          </a:prstGeom>
          <a:noFill/>
          <a:ln w="25400">
            <a:solidFill>
              <a:schemeClr val="tx2"/>
            </a:solidFill>
            <a:prstDash val="solid"/>
          </a:ln>
        </p:spPr>
      </p:sp>
      <p:sp>
        <p:nvSpPr>
          <p:cNvPr id="43" name="text-1160"/>
          <p:cNvSpPr txBox="1"/>
          <p:nvPr/>
        </p:nvSpPr>
        <p:spPr>
          <a:xfrm>
            <a:off x="7821778" y="2657064"/>
            <a:ext cx="314554" cy="283098"/>
          </a:xfrm>
          <a:prstGeom prst="rect">
            <a:avLst/>
          </a:prstGeom>
          <a:noFill/>
          <a:ln/>
        </p:spPr>
        <p:txBody>
          <a:bodyPr wrap="square" lIns="0" tIns="0" rIns="0" bIns="0" rtlCol="0" anchor="ctr"/>
          <a:lstStyle/>
          <a:p>
            <a:pPr algn="l" indent="0" marL="0">
              <a:buNone/>
            </a:pPr>
            <a:r>
              <a:rPr lang="en-US" sz="1548" b="1" dirty="0">
                <a:solidFill>
                  <a:schemeClr val="accent6"/>
                </a:solidFill>
              </a:rPr>
              <a:t>N</a:t>
            </a:r>
            <a:endParaRPr lang="en-US" sz="1548" dirty="0"/>
          </a:p>
        </p:txBody>
      </p:sp>
      <p:sp>
        <p:nvSpPr>
          <p:cNvPr id="44" name="text-1161"/>
          <p:cNvSpPr txBox="1"/>
          <p:nvPr/>
        </p:nvSpPr>
        <p:spPr>
          <a:xfrm>
            <a:off x="8136331" y="2657064"/>
            <a:ext cx="314554" cy="283098"/>
          </a:xfrm>
          <a:prstGeom prst="rect">
            <a:avLst/>
          </a:prstGeom>
          <a:noFill/>
          <a:ln/>
        </p:spPr>
        <p:txBody>
          <a:bodyPr wrap="square" lIns="0" tIns="0" rIns="0" bIns="0" rtlCol="0" anchor="ctr"/>
          <a:lstStyle/>
          <a:p>
            <a:pPr algn="r" indent="0" marL="0">
              <a:buNone/>
            </a:pPr>
            <a:r>
              <a:rPr lang="en-US" sz="1548" b="1" dirty="0">
                <a:solidFill>
                  <a:schemeClr val="accent6"/>
                </a:solidFill>
              </a:rPr>
              <a:t>1</a:t>
            </a:r>
            <a:endParaRPr lang="en-US" sz="1548" dirty="0"/>
          </a:p>
        </p:txBody>
      </p:sp>
      <p:sp>
        <p:nvSpPr>
          <p:cNvPr id="45" name="line-1162"/>
          <p:cNvSpPr/>
          <p:nvPr/>
        </p:nvSpPr>
        <p:spPr>
          <a:xfrm>
            <a:off x="1746961" y="3569269"/>
            <a:ext cx="91" cy="597652"/>
          </a:xfrm>
          <a:prstGeom prst="line">
            <a:avLst/>
          </a:prstGeom>
          <a:noFill/>
          <a:ln w="25400">
            <a:solidFill>
              <a:schemeClr val="tx2"/>
            </a:solidFill>
            <a:prstDash val="solid"/>
          </a:ln>
        </p:spPr>
      </p:sp>
      <p:sp>
        <p:nvSpPr>
          <p:cNvPr id="46" name="text-1163"/>
          <p:cNvSpPr txBox="1"/>
          <p:nvPr/>
        </p:nvSpPr>
        <p:spPr>
          <a:xfrm>
            <a:off x="1829532" y="3592860"/>
            <a:ext cx="235915" cy="235915"/>
          </a:xfrm>
          <a:prstGeom prst="rect">
            <a:avLst/>
          </a:prstGeom>
          <a:noFill/>
          <a:ln/>
        </p:spPr>
        <p:txBody>
          <a:bodyPr wrap="square" lIns="0" tIns="0" rIns="0" bIns="0" rtlCol="0" anchor="ctr"/>
          <a:lstStyle/>
          <a:p>
            <a:pPr algn="l" indent="0" marL="0">
              <a:buNone/>
            </a:pPr>
            <a:r>
              <a:rPr lang="en-US" sz="1548" b="1" dirty="0">
                <a:solidFill>
                  <a:schemeClr val="accent6"/>
                </a:solidFill>
              </a:rPr>
              <a:t>1</a:t>
            </a:r>
            <a:endParaRPr lang="en-US" sz="1548" dirty="0"/>
          </a:p>
        </p:txBody>
      </p:sp>
      <p:sp>
        <p:nvSpPr>
          <p:cNvPr id="47" name="text-1164"/>
          <p:cNvSpPr txBox="1"/>
          <p:nvPr/>
        </p:nvSpPr>
        <p:spPr>
          <a:xfrm>
            <a:off x="1829532" y="3907414"/>
            <a:ext cx="235915" cy="235915"/>
          </a:xfrm>
          <a:prstGeom prst="rect">
            <a:avLst/>
          </a:prstGeom>
          <a:noFill/>
          <a:ln/>
        </p:spPr>
        <p:txBody>
          <a:bodyPr wrap="square" lIns="0" tIns="0" rIns="0" bIns="0" rtlCol="0" anchor="ctr"/>
          <a:lstStyle/>
          <a:p>
            <a:pPr algn="l" indent="0" marL="0">
              <a:buNone/>
            </a:pPr>
            <a:r>
              <a:rPr lang="en-US" sz="1548" b="1" dirty="0">
                <a:solidFill>
                  <a:schemeClr val="accent6"/>
                </a:solidFill>
              </a:rPr>
              <a:t>1</a:t>
            </a:r>
            <a:endParaRPr lang="en-US" sz="1548" dirty="0"/>
          </a:p>
        </p:txBody>
      </p:sp>
      <p:sp>
        <p:nvSpPr>
          <p:cNvPr id="48" name="dot-1165"/>
          <p:cNvSpPr/>
          <p:nvPr/>
        </p:nvSpPr>
        <p:spPr>
          <a:xfrm>
            <a:off x="2841955" y="2293315"/>
            <a:ext cx="384048" cy="384048"/>
          </a:xfrm>
          <a:prstGeom prst="ellipse">
            <a:avLst/>
          </a:prstGeom>
          <a:solidFill>
            <a:schemeClr val="accent1"/>
          </a:solidFill>
          <a:ln/>
        </p:spPr>
      </p:sp>
      <p:sp>
        <p:nvSpPr>
          <p:cNvPr id="49" name="text-1166"/>
          <p:cNvSpPr txBox="1"/>
          <p:nvPr/>
        </p:nvSpPr>
        <p:spPr>
          <a:xfrm>
            <a:off x="2841955" y="2293315"/>
            <a:ext cx="384048" cy="384048"/>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50" name="dot-1167"/>
          <p:cNvSpPr/>
          <p:nvPr/>
        </p:nvSpPr>
        <p:spPr>
          <a:xfrm>
            <a:off x="7599578" y="3244840"/>
            <a:ext cx="384048" cy="384048"/>
          </a:xfrm>
          <a:prstGeom prst="ellipse">
            <a:avLst/>
          </a:prstGeom>
          <a:solidFill>
            <a:schemeClr val="accent1"/>
          </a:solidFill>
          <a:ln/>
        </p:spPr>
      </p:sp>
      <p:sp>
        <p:nvSpPr>
          <p:cNvPr id="51" name="text-1168"/>
          <p:cNvSpPr txBox="1"/>
          <p:nvPr/>
        </p:nvSpPr>
        <p:spPr>
          <a:xfrm>
            <a:off x="7599578" y="3244840"/>
            <a:ext cx="384048" cy="384048"/>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52" name="dot-1169"/>
          <p:cNvSpPr/>
          <p:nvPr/>
        </p:nvSpPr>
        <p:spPr>
          <a:xfrm>
            <a:off x="7599578" y="2253996"/>
            <a:ext cx="384048" cy="384048"/>
          </a:xfrm>
          <a:prstGeom prst="ellipse">
            <a:avLst/>
          </a:prstGeom>
          <a:solidFill>
            <a:schemeClr val="accent1"/>
          </a:solidFill>
          <a:ln/>
        </p:spPr>
      </p:sp>
      <p:sp>
        <p:nvSpPr>
          <p:cNvPr id="53" name="text-1170"/>
          <p:cNvSpPr txBox="1"/>
          <p:nvPr/>
        </p:nvSpPr>
        <p:spPr>
          <a:xfrm>
            <a:off x="7599578" y="2253996"/>
            <a:ext cx="384048" cy="384048"/>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54" name="dot-1171"/>
          <p:cNvSpPr/>
          <p:nvPr/>
        </p:nvSpPr>
        <p:spPr>
          <a:xfrm>
            <a:off x="2488082" y="4180637"/>
            <a:ext cx="384048" cy="384048"/>
          </a:xfrm>
          <a:prstGeom prst="ellipse">
            <a:avLst/>
          </a:prstGeom>
          <a:solidFill>
            <a:schemeClr val="accent1"/>
          </a:solidFill>
          <a:ln/>
        </p:spPr>
      </p:sp>
      <p:sp>
        <p:nvSpPr>
          <p:cNvPr id="55" name="text-1172"/>
          <p:cNvSpPr txBox="1"/>
          <p:nvPr/>
        </p:nvSpPr>
        <p:spPr>
          <a:xfrm>
            <a:off x="2488082" y="4180637"/>
            <a:ext cx="384048" cy="384048"/>
          </a:xfrm>
          <a:prstGeom prst="rect">
            <a:avLst/>
          </a:prstGeom>
          <a:no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56" name="box-1173"/>
          <p:cNvSpPr/>
          <p:nvPr/>
        </p:nvSpPr>
        <p:spPr>
          <a:xfrm>
            <a:off x="548640" y="5349240"/>
            <a:ext cx="2651760" cy="868680"/>
          </a:xfrm>
          <a:prstGeom prst="roundRect">
            <a:avLst>
              <a:gd name="adj" fmla="val 8421"/>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57" name="dot-1174"/>
          <p:cNvSpPr/>
          <p:nvPr/>
        </p:nvSpPr>
        <p:spPr>
          <a:xfrm>
            <a:off x="731520" y="5532120"/>
            <a:ext cx="502920" cy="502920"/>
          </a:xfrm>
          <a:prstGeom prst="ellipse">
            <a:avLst/>
          </a:prstGeom>
          <a:solidFill>
            <a:schemeClr val="accent1"/>
          </a:solidFill>
          <a:ln/>
        </p:spPr>
      </p:sp>
      <p:sp>
        <p:nvSpPr>
          <p:cNvPr id="58" name="text-1175"/>
          <p:cNvSpPr txBox="1"/>
          <p:nvPr/>
        </p:nvSpPr>
        <p:spPr>
          <a:xfrm>
            <a:off x="731520" y="553212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59" name="text-1176"/>
          <p:cNvSpPr txBox="1"/>
          <p:nvPr/>
        </p:nvSpPr>
        <p:spPr>
          <a:xfrm>
            <a:off x="1371600" y="5394960"/>
            <a:ext cx="1737360" cy="777240"/>
          </a:xfrm>
          <a:prstGeom prst="rect">
            <a:avLst/>
          </a:prstGeom>
          <a:noFill/>
          <a:ln/>
        </p:spPr>
        <p:txBody>
          <a:bodyPr wrap="square" lIns="0" tIns="0" rIns="0" bIns="0" rtlCol="0" anchor="ctr"/>
          <a:lstStyle/>
          <a:p>
            <a:pPr algn="l" indent="0" marL="0">
              <a:buNone/>
            </a:pPr>
            <a:r>
              <a:rPr lang="en-US" sz="1300" b="1" dirty="0">
                <a:solidFill>
                  <a:schemeClr val="tx1"/>
                </a:solidFill>
              </a:rPr>
              <a:t>RESTRICT on users, CASCADE on items</a:t>
            </a:r>
            <a:endParaRPr lang="en-US" sz="1300" dirty="0"/>
          </a:p>
        </p:txBody>
      </p:sp>
      <p:sp>
        <p:nvSpPr>
          <p:cNvPr id="60" name="box-1177"/>
          <p:cNvSpPr/>
          <p:nvPr/>
        </p:nvSpPr>
        <p:spPr>
          <a:xfrm>
            <a:off x="3364992" y="5349240"/>
            <a:ext cx="2651760" cy="868680"/>
          </a:xfrm>
          <a:prstGeom prst="roundRect">
            <a:avLst>
              <a:gd name="adj" fmla="val 8421"/>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61" name="dot-1178"/>
          <p:cNvSpPr/>
          <p:nvPr/>
        </p:nvSpPr>
        <p:spPr>
          <a:xfrm>
            <a:off x="3547872" y="5532120"/>
            <a:ext cx="502920" cy="502920"/>
          </a:xfrm>
          <a:prstGeom prst="ellipse">
            <a:avLst/>
          </a:prstGeom>
          <a:solidFill>
            <a:schemeClr val="accent1"/>
          </a:solidFill>
          <a:ln/>
        </p:spPr>
      </p:sp>
      <p:sp>
        <p:nvSpPr>
          <p:cNvPr id="62" name="text-1179"/>
          <p:cNvSpPr txBox="1"/>
          <p:nvPr/>
        </p:nvSpPr>
        <p:spPr>
          <a:xfrm>
            <a:off x="3547872" y="553212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63" name="text-1180"/>
          <p:cNvSpPr txBox="1"/>
          <p:nvPr/>
        </p:nvSpPr>
        <p:spPr>
          <a:xfrm>
            <a:off x="4187952" y="5394960"/>
            <a:ext cx="1737360" cy="777240"/>
          </a:xfrm>
          <a:prstGeom prst="rect">
            <a:avLst/>
          </a:prstGeom>
          <a:noFill/>
          <a:ln/>
        </p:spPr>
        <p:txBody>
          <a:bodyPr wrap="square" lIns="0" tIns="0" rIns="0" bIns="0" rtlCol="0" anchor="ctr"/>
          <a:lstStyle/>
          <a:p>
            <a:pPr algn="l" indent="0" marL="0">
              <a:buNone/>
            </a:pPr>
            <a:r>
              <a:rPr lang="en-US" sz="1300" b="1" dirty="0">
                <a:solidFill>
                  <a:schemeClr val="tx1"/>
                </a:solidFill>
              </a:rPr>
              <a:t>price copied at purchase time</a:t>
            </a:r>
            <a:endParaRPr lang="en-US" sz="1300" dirty="0"/>
          </a:p>
        </p:txBody>
      </p:sp>
      <p:sp>
        <p:nvSpPr>
          <p:cNvPr id="64" name="box-1181"/>
          <p:cNvSpPr/>
          <p:nvPr/>
        </p:nvSpPr>
        <p:spPr>
          <a:xfrm>
            <a:off x="6181344" y="5349240"/>
            <a:ext cx="2651760" cy="868680"/>
          </a:xfrm>
          <a:prstGeom prst="roundRect">
            <a:avLst>
              <a:gd name="adj" fmla="val 8421"/>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65" name="dot-1182"/>
          <p:cNvSpPr/>
          <p:nvPr/>
        </p:nvSpPr>
        <p:spPr>
          <a:xfrm>
            <a:off x="6364224" y="5532120"/>
            <a:ext cx="502920" cy="502920"/>
          </a:xfrm>
          <a:prstGeom prst="ellipse">
            <a:avLst/>
          </a:prstGeom>
          <a:solidFill>
            <a:schemeClr val="accent1"/>
          </a:solidFill>
          <a:ln/>
        </p:spPr>
      </p:sp>
      <p:sp>
        <p:nvSpPr>
          <p:cNvPr id="66" name="text-1183"/>
          <p:cNvSpPr txBox="1"/>
          <p:nvPr/>
        </p:nvSpPr>
        <p:spPr>
          <a:xfrm>
            <a:off x="6364224" y="553212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67" name="text-1184"/>
          <p:cNvSpPr txBox="1"/>
          <p:nvPr/>
        </p:nvSpPr>
        <p:spPr>
          <a:xfrm>
            <a:off x="7004304" y="5394960"/>
            <a:ext cx="1737360" cy="777240"/>
          </a:xfrm>
          <a:prstGeom prst="rect">
            <a:avLst/>
          </a:prstGeom>
          <a:noFill/>
          <a:ln/>
        </p:spPr>
        <p:txBody>
          <a:bodyPr wrap="square" lIns="0" tIns="0" rIns="0" bIns="0" rtlCol="0" anchor="ctr"/>
          <a:lstStyle/>
          <a:p>
            <a:pPr algn="l" indent="0" marL="0">
              <a:buNone/>
            </a:pPr>
            <a:r>
              <a:rPr lang="en-US" sz="1300" b="1" dirty="0">
                <a:solidFill>
                  <a:schemeClr val="tx1"/>
                </a:solidFill>
              </a:rPr>
              <a:t>composite PK stops duplicates</a:t>
            </a:r>
            <a:endParaRPr lang="en-US" sz="1300" dirty="0"/>
          </a:p>
        </p:txBody>
      </p:sp>
      <p:sp>
        <p:nvSpPr>
          <p:cNvPr id="68" name="box-1185"/>
          <p:cNvSpPr/>
          <p:nvPr/>
        </p:nvSpPr>
        <p:spPr>
          <a:xfrm>
            <a:off x="8997696" y="5349240"/>
            <a:ext cx="2651760" cy="868680"/>
          </a:xfrm>
          <a:prstGeom prst="roundRect">
            <a:avLst>
              <a:gd name="adj" fmla="val 8421"/>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69" name="dot-1186"/>
          <p:cNvSpPr/>
          <p:nvPr/>
        </p:nvSpPr>
        <p:spPr>
          <a:xfrm>
            <a:off x="9180576" y="5532120"/>
            <a:ext cx="502920" cy="502920"/>
          </a:xfrm>
          <a:prstGeom prst="ellipse">
            <a:avLst/>
          </a:prstGeom>
          <a:solidFill>
            <a:schemeClr val="accent1"/>
          </a:solidFill>
          <a:ln/>
        </p:spPr>
      </p:sp>
      <p:sp>
        <p:nvSpPr>
          <p:cNvPr id="70" name="text-1187"/>
          <p:cNvSpPr txBox="1"/>
          <p:nvPr/>
        </p:nvSpPr>
        <p:spPr>
          <a:xfrm>
            <a:off x="9180576" y="553212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4</a:t>
            </a:r>
            <a:endParaRPr lang="en-US" sz="1800" dirty="0"/>
          </a:p>
        </p:txBody>
      </p:sp>
      <p:sp>
        <p:nvSpPr>
          <p:cNvPr id="71" name="text-1188"/>
          <p:cNvSpPr txBox="1"/>
          <p:nvPr/>
        </p:nvSpPr>
        <p:spPr>
          <a:xfrm>
            <a:off x="9820656" y="5394960"/>
            <a:ext cx="1737360" cy="777240"/>
          </a:xfrm>
          <a:prstGeom prst="rect">
            <a:avLst/>
          </a:prstGeom>
          <a:noFill/>
          <a:ln/>
        </p:spPr>
        <p:txBody>
          <a:bodyPr wrap="square" lIns="0" tIns="0" rIns="0" bIns="0" rtlCol="0" anchor="ctr"/>
          <a:lstStyle/>
          <a:p>
            <a:pPr algn="l" indent="0" marL="0">
              <a:buNone/>
            </a:pPr>
            <a:r>
              <a:rPr lang="en-US" sz="1300" b="1" dirty="0">
                <a:solidFill>
                  <a:schemeClr val="tx1"/>
                </a:solidFill>
              </a:rPr>
              <a:t>FK that is also the PK = 1:1</a:t>
            </a:r>
            <a:endParaRPr lang="en-US" sz="1300" dirty="0"/>
          </a:p>
        </p:txBody>
      </p:sp>
      <p:pic>
        <p:nvPicPr>
          <p:cNvPr id="72" name="Image 0" descr="FlagCheckered icon">    </p:cNvPr>
          <p:cNvPicPr>
            <a:picLocks noChangeAspect="1"/>
          </p:cNvPicPr>
          <p:nvPr/>
        </p:nvPicPr>
        <p:blipFill>
          <a:blip r:embed="rId1"/>
          <a:stretch>
            <a:fillRect/>
          </a:stretch>
        </p:blipFill>
        <p:spPr>
          <a:xfrm>
            <a:off x="640080" y="475488"/>
            <a:ext cx="201168" cy="201168"/>
          </a:xfrm>
          <a:prstGeom prst="rect">
            <a:avLst/>
          </a:prstGeom>
        </p:spPr>
      </p:pic>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dot-1189"/>
          <p:cNvSpPr/>
          <p:nvPr/>
        </p:nvSpPr>
        <p:spPr>
          <a:xfrm>
            <a:off x="548640" y="384048"/>
            <a:ext cx="384048" cy="384048"/>
          </a:xfrm>
          <a:prstGeom prst="ellipse">
            <a:avLst/>
          </a:prstGeom>
          <a:solidFill>
            <a:schemeClr val="accent1"/>
          </a:solidFill>
          <a:ln/>
        </p:spPr>
      </p:sp>
      <p:sp>
        <p:nvSpPr>
          <p:cNvPr id="3" name="Text 1"/>
          <p:cNvSpPr/>
          <p:nvPr>
            <p:ph idx="101" type="body" hasCustomPrompt="1"/>
          </p:nvPr>
        </p:nvSpPr>
        <p:spPr>
          <a:xfrm>
            <a:off x="1051560" y="384048"/>
            <a:ext cx="9601200" cy="384048"/>
          </a:xfrm>
          <a:prstGeom prst="rect">
            <a:avLst/>
          </a:prstGeom>
          <a:noFill/>
          <a:ln/>
        </p:spPr>
        <p:txBody>
          <a:bodyPr wrap="square" lIns="0" tIns="0" rIns="0" bIns="0" rtlCol="0" anchor="ctr"/>
          <a:lstStyle/>
          <a:p>
            <a:pPr indent="0" marL="0">
              <a:buNone/>
            </a:pPr>
            <a:r>
              <a:rPr lang="en-US" sz="1300" b="1" spc="300" kern="0" dirty="0">
                <a:solidFill>
                  <a:schemeClr val="tx2"/>
                </a:solidFill>
              </a:rPr>
              <a:t>T13  ·  REVIEW</a:t>
            </a:r>
            <a:endParaRPr lang="en-US" sz="1300" dirty="0"/>
          </a:p>
        </p:txBody>
      </p:sp>
      <p:sp>
        <p:nvSpPr>
          <p:cNvPr id="4" name="Text 1"/>
          <p:cNvSpPr/>
          <p:nvPr>
            <p:ph idx="102" type="title" hasCustomPrompt="1"/>
          </p:nvPr>
        </p:nvSpPr>
        <p:spPr>
          <a:xfrm>
            <a:off x="548640" y="841248"/>
            <a:ext cx="11064240" cy="777240"/>
          </a:xfrm>
          <a:prstGeom prst="rect">
            <a:avLst/>
          </a:prstGeom>
          <a:noFill/>
          <a:ln/>
        </p:spPr>
        <p:txBody>
          <a:bodyPr wrap="square" lIns="0" tIns="0" rIns="0" bIns="0" rtlCol="0" anchor="ctr"/>
          <a:lstStyle/>
          <a:p>
            <a:pPr algn="l" indent="0" marL="0">
              <a:buNone/>
            </a:pPr>
            <a:r>
              <a:rPr lang="en-US" sz="3800" b="1" dirty="0">
                <a:solidFill>
                  <a:schemeClr val="tx1"/>
                </a:solidFill>
              </a:rPr>
              <a:t>Five questions, one per layer</a:t>
            </a:r>
            <a:endParaRPr lang="en-US" sz="3800" dirty="0"/>
          </a:p>
        </p:txBody>
      </p:sp>
      <p:sp>
        <p:nvSpPr>
          <p:cNvPr id="5" name="Text 1"/>
          <p:cNvSpPr/>
          <p:nvPr>
            <p:ph idx="103" type="body" hasCustomPrompt="1"/>
          </p:nvPr>
        </p:nvSpPr>
        <p:spPr>
          <a:xfrm>
            <a:off x="548640" y="1627632"/>
            <a:ext cx="11064240" cy="457200"/>
          </a:xfrm>
          <a:prstGeom prst="rect">
            <a:avLst/>
          </a:prstGeom>
          <a:noFill/>
          <a:ln/>
        </p:spPr>
        <p:txBody>
          <a:bodyPr wrap="square" lIns="0" tIns="0" rIns="0" bIns="0" rtlCol="0" anchor="t"/>
          <a:lstStyle/>
          <a:p>
            <a:pPr indent="0" marL="0">
              <a:buNone/>
            </a:pPr>
            <a:r>
              <a:rPr lang="en-US" sz="2000" dirty="0">
                <a:solidFill>
                  <a:schemeClr val="tx2"/>
                </a:solidFill>
              </a:rPr>
              <a:t>Design · Joins · Subqueries · Transactions · Indexes</a:t>
            </a:r>
            <a:endParaRPr lang="en-US" sz="2000" dirty="0"/>
          </a:p>
        </p:txBody>
      </p:sp>
      <p:sp>
        <p:nvSpPr>
          <p:cNvPr id="7" name="box-1190"/>
          <p:cNvSpPr/>
          <p:nvPr/>
        </p:nvSpPr>
        <p:spPr>
          <a:xfrm>
            <a:off x="548640" y="2377440"/>
            <a:ext cx="2103120" cy="3383280"/>
          </a:xfrm>
          <a:prstGeom prst="roundRect">
            <a:avLst>
              <a:gd name="adj" fmla="val 3478"/>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8" name="box-1191"/>
          <p:cNvSpPr/>
          <p:nvPr/>
        </p:nvSpPr>
        <p:spPr>
          <a:xfrm>
            <a:off x="548640" y="2377440"/>
            <a:ext cx="2103120" cy="1097280"/>
          </a:xfrm>
          <a:prstGeom prst="roundRect">
            <a:avLst>
              <a:gd name="adj" fmla="val 6667"/>
            </a:avLst>
          </a:prstGeom>
          <a:solidFill>
            <a:schemeClr val="accent1"/>
          </a:solidFill>
          <a:ln/>
        </p:spPr>
      </p:sp>
      <p:sp>
        <p:nvSpPr>
          <p:cNvPr id="9" name="text-1192"/>
          <p:cNvSpPr txBox="1"/>
          <p:nvPr/>
        </p:nvSpPr>
        <p:spPr>
          <a:xfrm>
            <a:off x="548640" y="2377440"/>
            <a:ext cx="2103120" cy="1097280"/>
          </a:xfrm>
          <a:prstGeom prst="rect">
            <a:avLst/>
          </a:prstGeom>
          <a:noFill/>
          <a:ln/>
        </p:spPr>
        <p:txBody>
          <a:bodyPr wrap="square" lIns="0" tIns="0" rIns="0" bIns="0" rtlCol="0" anchor="ctr"/>
          <a:lstStyle/>
          <a:p>
            <a:pPr algn="ctr" indent="0" marL="0">
              <a:buNone/>
            </a:pPr>
            <a:r>
              <a:rPr lang="en-US" sz="3600" b="1" dirty="0">
                <a:solidFill>
                  <a:schemeClr val="tx1"/>
                </a:solidFill>
              </a:rPr>
              <a:t>Q1</a:t>
            </a:r>
            <a:endParaRPr lang="en-US" sz="3600" dirty="0"/>
          </a:p>
        </p:txBody>
      </p:sp>
      <p:sp>
        <p:nvSpPr>
          <p:cNvPr id="10" name="text-1193"/>
          <p:cNvSpPr txBox="1"/>
          <p:nvPr/>
        </p:nvSpPr>
        <p:spPr>
          <a:xfrm>
            <a:off x="731520" y="3657600"/>
            <a:ext cx="1737360" cy="1280160"/>
          </a:xfrm>
          <a:prstGeom prst="rect">
            <a:avLst/>
          </a:prstGeom>
          <a:noFill/>
          <a:ln/>
        </p:spPr>
        <p:txBody>
          <a:bodyPr wrap="square" lIns="0" tIns="0" rIns="0" bIns="0" rtlCol="0" anchor="t"/>
          <a:lstStyle/>
          <a:p>
            <a:pPr algn="ctr" indent="0" marL="0">
              <a:buNone/>
            </a:pPr>
            <a:r>
              <a:rPr lang="en-US" sz="1600" b="1" dirty="0">
                <a:solidFill>
                  <a:schemeClr val="tx1"/>
                </a:solidFill>
              </a:rPr>
              <a:t>Normalise this orders table</a:t>
            </a:r>
            <a:endParaRPr lang="en-US" sz="1600" dirty="0"/>
          </a:p>
        </p:txBody>
      </p:sp>
      <p:sp>
        <p:nvSpPr>
          <p:cNvPr id="11" name="text-1194"/>
          <p:cNvSpPr txBox="1"/>
          <p:nvPr/>
        </p:nvSpPr>
        <p:spPr>
          <a:xfrm>
            <a:off x="548640" y="5212080"/>
            <a:ext cx="2103120" cy="320040"/>
          </a:xfrm>
          <a:prstGeom prst="rect">
            <a:avLst/>
          </a:prstGeom>
          <a:noFill/>
          <a:ln/>
        </p:spPr>
        <p:txBody>
          <a:bodyPr wrap="square" lIns="0" tIns="0" rIns="0" bIns="0" rtlCol="0" anchor="ctr"/>
          <a:lstStyle/>
          <a:p>
            <a:pPr algn="ctr" indent="0" marL="0">
              <a:buNone/>
            </a:pPr>
            <a:r>
              <a:rPr lang="en-US" sz="1000" b="1" spc="200" kern="0" dirty="0">
                <a:solidFill>
                  <a:schemeClr val="accent4"/>
                </a:solidFill>
              </a:rPr>
              <a:t>L1 · MODEL</a:t>
            </a:r>
            <a:endParaRPr lang="en-US" sz="1000" dirty="0"/>
          </a:p>
        </p:txBody>
      </p:sp>
      <p:sp>
        <p:nvSpPr>
          <p:cNvPr id="12" name="box-1195"/>
          <p:cNvSpPr/>
          <p:nvPr/>
        </p:nvSpPr>
        <p:spPr>
          <a:xfrm>
            <a:off x="2816352" y="2651760"/>
            <a:ext cx="2103120" cy="3383280"/>
          </a:xfrm>
          <a:prstGeom prst="roundRect">
            <a:avLst>
              <a:gd name="adj" fmla="val 3478"/>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13" name="box-1196"/>
          <p:cNvSpPr/>
          <p:nvPr/>
        </p:nvSpPr>
        <p:spPr>
          <a:xfrm>
            <a:off x="2816352" y="2651760"/>
            <a:ext cx="2103120" cy="1097280"/>
          </a:xfrm>
          <a:prstGeom prst="roundRect">
            <a:avLst>
              <a:gd name="adj" fmla="val 6667"/>
            </a:avLst>
          </a:prstGeom>
          <a:solidFill>
            <a:schemeClr val="accent2"/>
          </a:solidFill>
          <a:ln/>
        </p:spPr>
      </p:sp>
      <p:sp>
        <p:nvSpPr>
          <p:cNvPr id="14" name="text-1197"/>
          <p:cNvSpPr txBox="1"/>
          <p:nvPr/>
        </p:nvSpPr>
        <p:spPr>
          <a:xfrm>
            <a:off x="2816352" y="2651760"/>
            <a:ext cx="2103120" cy="1097280"/>
          </a:xfrm>
          <a:prstGeom prst="rect">
            <a:avLst/>
          </a:prstGeom>
          <a:noFill/>
          <a:ln/>
        </p:spPr>
        <p:txBody>
          <a:bodyPr wrap="square" lIns="0" tIns="0" rIns="0" bIns="0" rtlCol="0" anchor="ctr"/>
          <a:lstStyle/>
          <a:p>
            <a:pPr algn="ctr" indent="0" marL="0">
              <a:buNone/>
            </a:pPr>
            <a:r>
              <a:rPr lang="en-US" sz="3600" b="1" dirty="0">
                <a:solidFill>
                  <a:schemeClr val="tx1"/>
                </a:solidFill>
              </a:rPr>
              <a:t>Q2</a:t>
            </a:r>
            <a:endParaRPr lang="en-US" sz="3600" dirty="0"/>
          </a:p>
        </p:txBody>
      </p:sp>
      <p:sp>
        <p:nvSpPr>
          <p:cNvPr id="15" name="text-1198"/>
          <p:cNvSpPr txBox="1"/>
          <p:nvPr/>
        </p:nvSpPr>
        <p:spPr>
          <a:xfrm>
            <a:off x="2999232" y="3931920"/>
            <a:ext cx="1737360" cy="1280160"/>
          </a:xfrm>
          <a:prstGeom prst="rect">
            <a:avLst/>
          </a:prstGeom>
          <a:noFill/>
          <a:ln/>
        </p:spPr>
        <p:txBody>
          <a:bodyPr wrap="square" lIns="0" tIns="0" rIns="0" bIns="0" rtlCol="0" anchor="t"/>
          <a:lstStyle/>
          <a:p>
            <a:pPr algn="ctr" indent="0" marL="0">
              <a:buNone/>
            </a:pPr>
            <a:r>
              <a:rPr lang="en-US" sz="1600" b="1" dirty="0">
                <a:solidFill>
                  <a:schemeClr val="tx1"/>
                </a:solidFill>
              </a:rPr>
              <a:t>Paid orders, including zero</a:t>
            </a:r>
            <a:endParaRPr lang="en-US" sz="1600" dirty="0"/>
          </a:p>
        </p:txBody>
      </p:sp>
      <p:sp>
        <p:nvSpPr>
          <p:cNvPr id="16" name="text-1199"/>
          <p:cNvSpPr txBox="1"/>
          <p:nvPr/>
        </p:nvSpPr>
        <p:spPr>
          <a:xfrm>
            <a:off x="2816352" y="5486400"/>
            <a:ext cx="2103120" cy="320040"/>
          </a:xfrm>
          <a:prstGeom prst="rect">
            <a:avLst/>
          </a:prstGeom>
          <a:noFill/>
          <a:ln/>
        </p:spPr>
        <p:txBody>
          <a:bodyPr wrap="square" lIns="0" tIns="0" rIns="0" bIns="0" rtlCol="0" anchor="ctr"/>
          <a:lstStyle/>
          <a:p>
            <a:pPr algn="ctr" indent="0" marL="0">
              <a:buNone/>
            </a:pPr>
            <a:r>
              <a:rPr lang="en-US" sz="1000" b="1" spc="200" kern="0" dirty="0">
                <a:solidFill>
                  <a:schemeClr val="accent4"/>
                </a:solidFill>
              </a:rPr>
              <a:t>L2 · QUERY</a:t>
            </a:r>
            <a:endParaRPr lang="en-US" sz="1000" dirty="0"/>
          </a:p>
        </p:txBody>
      </p:sp>
      <p:sp>
        <p:nvSpPr>
          <p:cNvPr id="17" name="box-1200"/>
          <p:cNvSpPr/>
          <p:nvPr/>
        </p:nvSpPr>
        <p:spPr>
          <a:xfrm>
            <a:off x="5084064" y="2377440"/>
            <a:ext cx="2103120" cy="3383280"/>
          </a:xfrm>
          <a:prstGeom prst="roundRect">
            <a:avLst>
              <a:gd name="adj" fmla="val 3478"/>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18" name="box-1201"/>
          <p:cNvSpPr/>
          <p:nvPr/>
        </p:nvSpPr>
        <p:spPr>
          <a:xfrm>
            <a:off x="5084064" y="2377440"/>
            <a:ext cx="2103120" cy="1097280"/>
          </a:xfrm>
          <a:prstGeom prst="roundRect">
            <a:avLst>
              <a:gd name="adj" fmla="val 6667"/>
            </a:avLst>
          </a:prstGeom>
          <a:solidFill>
            <a:schemeClr val="accent2"/>
          </a:solidFill>
          <a:ln/>
        </p:spPr>
      </p:sp>
      <p:sp>
        <p:nvSpPr>
          <p:cNvPr id="19" name="text-1202"/>
          <p:cNvSpPr txBox="1"/>
          <p:nvPr/>
        </p:nvSpPr>
        <p:spPr>
          <a:xfrm>
            <a:off x="5084064" y="2377440"/>
            <a:ext cx="2103120" cy="1097280"/>
          </a:xfrm>
          <a:prstGeom prst="rect">
            <a:avLst/>
          </a:prstGeom>
          <a:noFill/>
          <a:ln/>
        </p:spPr>
        <p:txBody>
          <a:bodyPr wrap="square" lIns="0" tIns="0" rIns="0" bIns="0" rtlCol="0" anchor="ctr"/>
          <a:lstStyle/>
          <a:p>
            <a:pPr algn="ctr" indent="0" marL="0">
              <a:buNone/>
            </a:pPr>
            <a:r>
              <a:rPr lang="en-US" sz="3600" b="1" dirty="0">
                <a:solidFill>
                  <a:schemeClr val="tx1"/>
                </a:solidFill>
              </a:rPr>
              <a:t>Q3</a:t>
            </a:r>
            <a:endParaRPr lang="en-US" sz="3600" dirty="0"/>
          </a:p>
        </p:txBody>
      </p:sp>
      <p:sp>
        <p:nvSpPr>
          <p:cNvPr id="20" name="text-1203"/>
          <p:cNvSpPr txBox="1"/>
          <p:nvPr/>
        </p:nvSpPr>
        <p:spPr>
          <a:xfrm>
            <a:off x="5266944" y="3657600"/>
            <a:ext cx="1737360" cy="1280160"/>
          </a:xfrm>
          <a:prstGeom prst="rect">
            <a:avLst/>
          </a:prstGeom>
          <a:noFill/>
          <a:ln/>
        </p:spPr>
        <p:txBody>
          <a:bodyPr wrap="square" lIns="0" tIns="0" rIns="0" bIns="0" rtlCol="0" anchor="t"/>
          <a:lstStyle/>
          <a:p>
            <a:pPr algn="ctr" indent="0" marL="0">
              <a:buNone/>
            </a:pPr>
            <a:r>
              <a:rPr lang="en-US" sz="1600" b="1" dirty="0">
                <a:solidFill>
                  <a:schemeClr val="tx1"/>
                </a:solidFill>
              </a:rPr>
              <a:t>Why NOT IN returns nothing</a:t>
            </a:r>
            <a:endParaRPr lang="en-US" sz="1600" dirty="0"/>
          </a:p>
        </p:txBody>
      </p:sp>
      <p:sp>
        <p:nvSpPr>
          <p:cNvPr id="21" name="text-1204"/>
          <p:cNvSpPr txBox="1"/>
          <p:nvPr/>
        </p:nvSpPr>
        <p:spPr>
          <a:xfrm>
            <a:off x="5084064" y="5212080"/>
            <a:ext cx="2103120" cy="320040"/>
          </a:xfrm>
          <a:prstGeom prst="rect">
            <a:avLst/>
          </a:prstGeom>
          <a:noFill/>
          <a:ln/>
        </p:spPr>
        <p:txBody>
          <a:bodyPr wrap="square" lIns="0" tIns="0" rIns="0" bIns="0" rtlCol="0" anchor="ctr"/>
          <a:lstStyle/>
          <a:p>
            <a:pPr algn="ctr" indent="0" marL="0">
              <a:buNone/>
            </a:pPr>
            <a:r>
              <a:rPr lang="en-US" sz="1000" b="1" spc="200" kern="0" dirty="0">
                <a:solidFill>
                  <a:schemeClr val="accent4"/>
                </a:solidFill>
              </a:rPr>
              <a:t>L2 · QUERY</a:t>
            </a:r>
            <a:endParaRPr lang="en-US" sz="1000" dirty="0"/>
          </a:p>
        </p:txBody>
      </p:sp>
      <p:sp>
        <p:nvSpPr>
          <p:cNvPr id="22" name="box-1205"/>
          <p:cNvSpPr/>
          <p:nvPr/>
        </p:nvSpPr>
        <p:spPr>
          <a:xfrm>
            <a:off x="7351776" y="2651760"/>
            <a:ext cx="2103120" cy="3383280"/>
          </a:xfrm>
          <a:prstGeom prst="roundRect">
            <a:avLst>
              <a:gd name="adj" fmla="val 3478"/>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23" name="box-1206"/>
          <p:cNvSpPr/>
          <p:nvPr/>
        </p:nvSpPr>
        <p:spPr>
          <a:xfrm>
            <a:off x="7351776" y="2651760"/>
            <a:ext cx="2103120" cy="1097280"/>
          </a:xfrm>
          <a:prstGeom prst="roundRect">
            <a:avLst>
              <a:gd name="adj" fmla="val 6667"/>
            </a:avLst>
          </a:prstGeom>
          <a:solidFill>
            <a:schemeClr val="tx1"/>
          </a:solidFill>
          <a:ln/>
        </p:spPr>
      </p:sp>
      <p:sp>
        <p:nvSpPr>
          <p:cNvPr id="24" name="text-1207"/>
          <p:cNvSpPr txBox="1"/>
          <p:nvPr/>
        </p:nvSpPr>
        <p:spPr>
          <a:xfrm>
            <a:off x="7351776" y="2651760"/>
            <a:ext cx="2103120" cy="1097280"/>
          </a:xfrm>
          <a:prstGeom prst="rect">
            <a:avLst/>
          </a:prstGeom>
          <a:noFill/>
          <a:ln/>
        </p:spPr>
        <p:txBody>
          <a:bodyPr wrap="square" lIns="0" tIns="0" rIns="0" bIns="0" rtlCol="0" anchor="ctr"/>
          <a:lstStyle/>
          <a:p>
            <a:pPr algn="ctr" indent="0" marL="0">
              <a:buNone/>
            </a:pPr>
            <a:r>
              <a:rPr lang="en-US" sz="3600" b="1" dirty="0">
                <a:solidFill>
                  <a:schemeClr val="bg1"/>
                </a:solidFill>
              </a:rPr>
              <a:t>Q4</a:t>
            </a:r>
            <a:endParaRPr lang="en-US" sz="3600" dirty="0"/>
          </a:p>
        </p:txBody>
      </p:sp>
      <p:sp>
        <p:nvSpPr>
          <p:cNvPr id="25" name="text-1208"/>
          <p:cNvSpPr txBox="1"/>
          <p:nvPr/>
        </p:nvSpPr>
        <p:spPr>
          <a:xfrm>
            <a:off x="7534656" y="3931920"/>
            <a:ext cx="1737360" cy="1280160"/>
          </a:xfrm>
          <a:prstGeom prst="rect">
            <a:avLst/>
          </a:prstGeom>
          <a:noFill/>
          <a:ln/>
        </p:spPr>
        <p:txBody>
          <a:bodyPr wrap="square" lIns="0" tIns="0" rIns="0" bIns="0" rtlCol="0" anchor="t"/>
          <a:lstStyle/>
          <a:p>
            <a:pPr algn="ctr" indent="0" marL="0">
              <a:buNone/>
            </a:pPr>
            <a:r>
              <a:rPr lang="en-US" sz="1600" b="1" dirty="0">
                <a:solidFill>
                  <a:schemeClr val="tx1"/>
                </a:solidFill>
              </a:rPr>
              <a:t>Find three transaction bugs</a:t>
            </a:r>
            <a:endParaRPr lang="en-US" sz="1600" dirty="0"/>
          </a:p>
        </p:txBody>
      </p:sp>
      <p:sp>
        <p:nvSpPr>
          <p:cNvPr id="26" name="text-1209"/>
          <p:cNvSpPr txBox="1"/>
          <p:nvPr/>
        </p:nvSpPr>
        <p:spPr>
          <a:xfrm>
            <a:off x="7351776" y="5486400"/>
            <a:ext cx="2103120" cy="320040"/>
          </a:xfrm>
          <a:prstGeom prst="rect">
            <a:avLst/>
          </a:prstGeom>
          <a:noFill/>
          <a:ln/>
        </p:spPr>
        <p:txBody>
          <a:bodyPr wrap="square" lIns="0" tIns="0" rIns="0" bIns="0" rtlCol="0" anchor="ctr"/>
          <a:lstStyle/>
          <a:p>
            <a:pPr algn="ctr" indent="0" marL="0">
              <a:buNone/>
            </a:pPr>
            <a:r>
              <a:rPr lang="en-US" sz="1000" b="1" spc="200" kern="0" dirty="0">
                <a:solidFill>
                  <a:schemeClr val="accent4"/>
                </a:solidFill>
              </a:rPr>
              <a:t>L3 · SAFETY</a:t>
            </a:r>
            <a:endParaRPr lang="en-US" sz="1000" dirty="0"/>
          </a:p>
        </p:txBody>
      </p:sp>
      <p:sp>
        <p:nvSpPr>
          <p:cNvPr id="27" name="box-1210"/>
          <p:cNvSpPr/>
          <p:nvPr/>
        </p:nvSpPr>
        <p:spPr>
          <a:xfrm>
            <a:off x="9619488" y="2377440"/>
            <a:ext cx="2103120" cy="3383280"/>
          </a:xfrm>
          <a:prstGeom prst="roundRect">
            <a:avLst>
              <a:gd name="adj" fmla="val 3478"/>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28" name="box-1211"/>
          <p:cNvSpPr/>
          <p:nvPr/>
        </p:nvSpPr>
        <p:spPr>
          <a:xfrm>
            <a:off x="9619488" y="2377440"/>
            <a:ext cx="2103120" cy="1097280"/>
          </a:xfrm>
          <a:prstGeom prst="roundRect">
            <a:avLst>
              <a:gd name="adj" fmla="val 6667"/>
            </a:avLst>
          </a:prstGeom>
          <a:solidFill>
            <a:schemeClr val="accent3"/>
          </a:solidFill>
          <a:ln/>
        </p:spPr>
      </p:sp>
      <p:sp>
        <p:nvSpPr>
          <p:cNvPr id="29" name="text-1212"/>
          <p:cNvSpPr txBox="1"/>
          <p:nvPr/>
        </p:nvSpPr>
        <p:spPr>
          <a:xfrm>
            <a:off x="9619488" y="2377440"/>
            <a:ext cx="2103120" cy="1097280"/>
          </a:xfrm>
          <a:prstGeom prst="rect">
            <a:avLst/>
          </a:prstGeom>
          <a:noFill/>
          <a:ln/>
        </p:spPr>
        <p:txBody>
          <a:bodyPr wrap="square" lIns="0" tIns="0" rIns="0" bIns="0" rtlCol="0" anchor="ctr"/>
          <a:lstStyle/>
          <a:p>
            <a:pPr algn="ctr" indent="0" marL="0">
              <a:buNone/>
            </a:pPr>
            <a:r>
              <a:rPr lang="en-US" sz="3600" b="1" dirty="0">
                <a:solidFill>
                  <a:schemeClr val="bg1"/>
                </a:solidFill>
              </a:rPr>
              <a:t>Q5</a:t>
            </a:r>
            <a:endParaRPr lang="en-US" sz="3600" dirty="0"/>
          </a:p>
        </p:txBody>
      </p:sp>
      <p:sp>
        <p:nvSpPr>
          <p:cNvPr id="30" name="text-1213"/>
          <p:cNvSpPr txBox="1"/>
          <p:nvPr/>
        </p:nvSpPr>
        <p:spPr>
          <a:xfrm>
            <a:off x="9802368" y="3657600"/>
            <a:ext cx="1737360" cy="1280160"/>
          </a:xfrm>
          <a:prstGeom prst="rect">
            <a:avLst/>
          </a:prstGeom>
          <a:noFill/>
          <a:ln/>
        </p:spPr>
        <p:txBody>
          <a:bodyPr wrap="square" lIns="0" tIns="0" rIns="0" bIns="0" rtlCol="0" anchor="t"/>
          <a:lstStyle/>
          <a:p>
            <a:pPr algn="ctr" indent="0" marL="0">
              <a:buNone/>
            </a:pPr>
            <a:r>
              <a:rPr lang="en-US" sz="1600" b="1" dirty="0">
                <a:solidFill>
                  <a:schemeClr val="tx1"/>
                </a:solidFill>
              </a:rPr>
              <a:t>Seq Scan on lower(email)</a:t>
            </a:r>
            <a:endParaRPr lang="en-US" sz="1600" dirty="0"/>
          </a:p>
        </p:txBody>
      </p:sp>
      <p:sp>
        <p:nvSpPr>
          <p:cNvPr id="31" name="text-1214"/>
          <p:cNvSpPr txBox="1"/>
          <p:nvPr/>
        </p:nvSpPr>
        <p:spPr>
          <a:xfrm>
            <a:off x="9619488" y="5212080"/>
            <a:ext cx="2103120" cy="320040"/>
          </a:xfrm>
          <a:prstGeom prst="rect">
            <a:avLst/>
          </a:prstGeom>
          <a:noFill/>
          <a:ln/>
        </p:spPr>
        <p:txBody>
          <a:bodyPr wrap="square" lIns="0" tIns="0" rIns="0" bIns="0" rtlCol="0" anchor="ctr"/>
          <a:lstStyle/>
          <a:p>
            <a:pPr algn="ctr" indent="0" marL="0">
              <a:buNone/>
            </a:pPr>
            <a:r>
              <a:rPr lang="en-US" sz="1000" b="1" spc="200" kern="0" dirty="0">
                <a:solidFill>
                  <a:schemeClr val="accent4"/>
                </a:solidFill>
              </a:rPr>
              <a:t>L4 · PERFORMANCE</a:t>
            </a:r>
            <a:endParaRPr lang="en-US" sz="1000" dirty="0"/>
          </a:p>
        </p:txBody>
      </p:sp>
      <p:pic>
        <p:nvPicPr>
          <p:cNvPr id="32" name="Image 0" descr="FlagCheckered icon">    </p:cNvPr>
          <p:cNvPicPr>
            <a:picLocks noChangeAspect="1"/>
          </p:cNvPicPr>
          <p:nvPr/>
        </p:nvPicPr>
        <p:blipFill>
          <a:blip r:embed="rId1"/>
          <a:stretch>
            <a:fillRect/>
          </a:stretch>
        </p:blipFill>
        <p:spPr>
          <a:xfrm>
            <a:off x="640080" y="475488"/>
            <a:ext cx="201168" cy="201168"/>
          </a:xfrm>
          <a:prstGeom prst="rect">
            <a:avLst/>
          </a:prstGeom>
        </p:spPr>
      </p:pic>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dot-1215"/>
          <p:cNvSpPr/>
          <p:nvPr/>
        </p:nvSpPr>
        <p:spPr>
          <a:xfrm>
            <a:off x="548640" y="384048"/>
            <a:ext cx="384048" cy="384048"/>
          </a:xfrm>
          <a:prstGeom prst="ellipse">
            <a:avLst/>
          </a:prstGeom>
          <a:solidFill>
            <a:schemeClr val="accent1"/>
          </a:solidFill>
          <a:ln/>
        </p:spPr>
      </p:sp>
      <p:sp>
        <p:nvSpPr>
          <p:cNvPr id="3" name="Text 1"/>
          <p:cNvSpPr/>
          <p:nvPr>
            <p:ph idx="101" type="body" hasCustomPrompt="1"/>
          </p:nvPr>
        </p:nvSpPr>
        <p:spPr>
          <a:xfrm>
            <a:off x="1051560" y="384048"/>
            <a:ext cx="9601200" cy="384048"/>
          </a:xfrm>
          <a:prstGeom prst="rect">
            <a:avLst/>
          </a:prstGeom>
          <a:noFill/>
          <a:ln/>
        </p:spPr>
        <p:txBody>
          <a:bodyPr wrap="square" lIns="0" tIns="0" rIns="0" bIns="0" rtlCol="0" anchor="ctr"/>
          <a:lstStyle/>
          <a:p>
            <a:pPr indent="0" marL="0">
              <a:buNone/>
            </a:pPr>
            <a:r>
              <a:rPr lang="en-US" sz="1300" b="1" spc="300" kern="0" dirty="0">
                <a:solidFill>
                  <a:schemeClr val="tx2"/>
                </a:solidFill>
              </a:rPr>
              <a:t>T13  ·  REVIEW</a:t>
            </a:r>
            <a:endParaRPr lang="en-US" sz="1300" dirty="0"/>
          </a:p>
        </p:txBody>
      </p:sp>
      <p:sp>
        <p:nvSpPr>
          <p:cNvPr id="4" name="Text 1"/>
          <p:cNvSpPr/>
          <p:nvPr>
            <p:ph idx="102" type="title" hasCustomPrompt="1"/>
          </p:nvPr>
        </p:nvSpPr>
        <p:spPr>
          <a:xfrm>
            <a:off x="548640" y="841248"/>
            <a:ext cx="11064240" cy="777240"/>
          </a:xfrm>
          <a:prstGeom prst="rect">
            <a:avLst/>
          </a:prstGeom>
          <a:noFill/>
          <a:ln/>
        </p:spPr>
        <p:txBody>
          <a:bodyPr wrap="square" lIns="0" tIns="0" rIns="0" bIns="0" rtlCol="0" anchor="ctr"/>
          <a:lstStyle/>
          <a:p>
            <a:pPr algn="l" indent="0" marL="0">
              <a:buNone/>
            </a:pPr>
            <a:r>
              <a:rPr lang="en-US" sz="3800" b="1" dirty="0">
                <a:solidFill>
                  <a:schemeClr val="tx1"/>
                </a:solidFill>
              </a:rPr>
              <a:t>Build it, seed it, speed it up</a:t>
            </a:r>
            <a:endParaRPr lang="en-US" sz="3800" dirty="0"/>
          </a:p>
        </p:txBody>
      </p:sp>
      <p:sp>
        <p:nvSpPr>
          <p:cNvPr id="5" name="Text 1"/>
          <p:cNvSpPr/>
          <p:nvPr>
            <p:ph idx="103" type="body" hasCustomPrompt="1"/>
          </p:nvPr>
        </p:nvSpPr>
        <p:spPr>
          <a:xfrm>
            <a:off x="548640" y="1627632"/>
            <a:ext cx="11064240" cy="457200"/>
          </a:xfrm>
          <a:prstGeom prst="rect">
            <a:avLst/>
          </a:prstGeom>
          <a:noFill/>
          <a:ln/>
        </p:spPr>
        <p:txBody>
          <a:bodyPr wrap="square" lIns="0" tIns="0" rIns="0" bIns="0" rtlCol="0" anchor="t"/>
          <a:lstStyle/>
          <a:p>
            <a:pPr indent="0" marL="0">
              <a:buNone/>
            </a:pPr>
            <a:r>
              <a:rPr lang="en-US" sz="2000" dirty="0">
                <a:solidFill>
                  <a:schemeClr val="tx2"/>
                </a:solidFill>
              </a:rPr>
              <a:t>Six steps · one migration · one cancel-order function</a:t>
            </a:r>
            <a:endParaRPr lang="en-US" sz="2000" dirty="0"/>
          </a:p>
        </p:txBody>
      </p:sp>
      <p:sp>
        <p:nvSpPr>
          <p:cNvPr id="7" name="line-1216"/>
          <p:cNvSpPr/>
          <p:nvPr/>
        </p:nvSpPr>
        <p:spPr>
          <a:xfrm>
            <a:off x="1234440" y="3291840"/>
            <a:ext cx="9692640" cy="91"/>
          </a:xfrm>
          <a:prstGeom prst="line">
            <a:avLst/>
          </a:prstGeom>
          <a:noFill/>
          <a:ln w="38100">
            <a:solidFill>
              <a:schemeClr val="accent5"/>
            </a:solidFill>
            <a:prstDash val="solid"/>
          </a:ln>
        </p:spPr>
      </p:sp>
      <p:sp>
        <p:nvSpPr>
          <p:cNvPr id="8" name="dot-1217"/>
          <p:cNvSpPr/>
          <p:nvPr/>
        </p:nvSpPr>
        <p:spPr>
          <a:xfrm>
            <a:off x="960120" y="2743200"/>
            <a:ext cx="1097280" cy="1097280"/>
          </a:xfrm>
          <a:prstGeom prst="ellipse">
            <a:avLst/>
          </a:prstGeom>
          <a:solidFill>
            <a:schemeClr val="accent1"/>
          </a:solidFill>
          <a:ln/>
        </p:spPr>
      </p:sp>
      <p:sp>
        <p:nvSpPr>
          <p:cNvPr id="9" name="text-1218"/>
          <p:cNvSpPr txBox="1"/>
          <p:nvPr/>
        </p:nvSpPr>
        <p:spPr>
          <a:xfrm>
            <a:off x="960120" y="2240280"/>
            <a:ext cx="1097280" cy="411480"/>
          </a:xfrm>
          <a:prstGeom prst="rect">
            <a:avLst/>
          </a:prstGeom>
          <a:noFill/>
          <a:ln/>
        </p:spPr>
        <p:txBody>
          <a:bodyPr wrap="square" lIns="0" tIns="0" rIns="0" bIns="0" rtlCol="0" anchor="ctr"/>
          <a:lstStyle/>
          <a:p>
            <a:pPr algn="ctr" indent="0" marL="0">
              <a:buNone/>
            </a:pPr>
            <a:r>
              <a:rPr lang="en-US" sz="1600" b="1" dirty="0">
                <a:solidFill>
                  <a:schemeClr val="accent4"/>
                </a:solidFill>
              </a:rPr>
              <a:t>1</a:t>
            </a:r>
            <a:endParaRPr lang="en-US" sz="1600" dirty="0"/>
          </a:p>
        </p:txBody>
      </p:sp>
      <p:sp>
        <p:nvSpPr>
          <p:cNvPr id="10" name="text-1219"/>
          <p:cNvSpPr txBox="1"/>
          <p:nvPr/>
        </p:nvSpPr>
        <p:spPr>
          <a:xfrm>
            <a:off x="548640" y="4069080"/>
            <a:ext cx="1920240" cy="457200"/>
          </a:xfrm>
          <a:prstGeom prst="rect">
            <a:avLst/>
          </a:prstGeom>
          <a:noFill/>
          <a:ln/>
        </p:spPr>
        <p:txBody>
          <a:bodyPr wrap="square" lIns="0" tIns="0" rIns="0" bIns="0" rtlCol="0" anchor="ctr"/>
          <a:lstStyle/>
          <a:p>
            <a:pPr algn="ctr" indent="0" marL="0">
              <a:buNone/>
            </a:pPr>
            <a:r>
              <a:rPr lang="en-US" sz="1700" b="1" dirty="0">
                <a:solidFill>
                  <a:schemeClr val="tx1"/>
                </a:solidFill>
              </a:rPr>
              <a:t>Migration</a:t>
            </a:r>
            <a:endParaRPr lang="en-US" sz="1700" dirty="0"/>
          </a:p>
        </p:txBody>
      </p:sp>
      <p:sp>
        <p:nvSpPr>
          <p:cNvPr id="11" name="text-1220"/>
          <p:cNvSpPr txBox="1"/>
          <p:nvPr/>
        </p:nvSpPr>
        <p:spPr>
          <a:xfrm>
            <a:off x="594360" y="4526280"/>
            <a:ext cx="1828800" cy="731520"/>
          </a:xfrm>
          <a:prstGeom prst="rect">
            <a:avLst/>
          </a:prstGeom>
          <a:noFill/>
          <a:ln/>
        </p:spPr>
        <p:txBody>
          <a:bodyPr wrap="square" lIns="0" tIns="0" rIns="0" bIns="0" rtlCol="0" anchor="t"/>
          <a:lstStyle/>
          <a:p>
            <a:pPr algn="ctr" indent="0" marL="0">
              <a:buNone/>
            </a:pPr>
            <a:r>
              <a:rPr lang="en-US" sz="1300" dirty="0">
                <a:solidFill>
                  <a:schemeClr val="tx2"/>
                </a:solidFill>
              </a:rPr>
              <a:t>schema in one file</a:t>
            </a:r>
            <a:endParaRPr lang="en-US" sz="1300" dirty="0"/>
          </a:p>
        </p:txBody>
      </p:sp>
      <p:sp>
        <p:nvSpPr>
          <p:cNvPr id="12" name="dot-1221"/>
          <p:cNvSpPr/>
          <p:nvPr/>
        </p:nvSpPr>
        <p:spPr>
          <a:xfrm>
            <a:off x="2898648" y="2743200"/>
            <a:ext cx="1097280" cy="1097280"/>
          </a:xfrm>
          <a:prstGeom prst="ellipse">
            <a:avLst/>
          </a:prstGeom>
          <a:solidFill>
            <a:schemeClr val="accent3"/>
          </a:solidFill>
          <a:ln/>
        </p:spPr>
      </p:sp>
      <p:sp>
        <p:nvSpPr>
          <p:cNvPr id="13" name="text-1222"/>
          <p:cNvSpPr txBox="1"/>
          <p:nvPr/>
        </p:nvSpPr>
        <p:spPr>
          <a:xfrm>
            <a:off x="2898648" y="2240280"/>
            <a:ext cx="1097280" cy="411480"/>
          </a:xfrm>
          <a:prstGeom prst="rect">
            <a:avLst/>
          </a:prstGeom>
          <a:noFill/>
          <a:ln/>
        </p:spPr>
        <p:txBody>
          <a:bodyPr wrap="square" lIns="0" tIns="0" rIns="0" bIns="0" rtlCol="0" anchor="ctr"/>
          <a:lstStyle/>
          <a:p>
            <a:pPr algn="ctr" indent="0" marL="0">
              <a:buNone/>
            </a:pPr>
            <a:r>
              <a:rPr lang="en-US" sz="1600" b="1" dirty="0">
                <a:solidFill>
                  <a:schemeClr val="accent4"/>
                </a:solidFill>
              </a:rPr>
              <a:t>2</a:t>
            </a:r>
            <a:endParaRPr lang="en-US" sz="1600" dirty="0"/>
          </a:p>
        </p:txBody>
      </p:sp>
      <p:sp>
        <p:nvSpPr>
          <p:cNvPr id="14" name="text-1223"/>
          <p:cNvSpPr txBox="1"/>
          <p:nvPr/>
        </p:nvSpPr>
        <p:spPr>
          <a:xfrm>
            <a:off x="2487168" y="4069080"/>
            <a:ext cx="1920240" cy="457200"/>
          </a:xfrm>
          <a:prstGeom prst="rect">
            <a:avLst/>
          </a:prstGeom>
          <a:noFill/>
          <a:ln/>
        </p:spPr>
        <p:txBody>
          <a:bodyPr wrap="square" lIns="0" tIns="0" rIns="0" bIns="0" rtlCol="0" anchor="ctr"/>
          <a:lstStyle/>
          <a:p>
            <a:pPr algn="ctr" indent="0" marL="0">
              <a:buNone/>
            </a:pPr>
            <a:r>
              <a:rPr lang="en-US" sz="1700" b="1" dirty="0">
                <a:solidFill>
                  <a:schemeClr val="tx1"/>
                </a:solidFill>
              </a:rPr>
              <a:t>Seed</a:t>
            </a:r>
            <a:endParaRPr lang="en-US" sz="1700" dirty="0"/>
          </a:p>
        </p:txBody>
      </p:sp>
      <p:sp>
        <p:nvSpPr>
          <p:cNvPr id="15" name="text-1224"/>
          <p:cNvSpPr txBox="1"/>
          <p:nvPr/>
        </p:nvSpPr>
        <p:spPr>
          <a:xfrm>
            <a:off x="2532888" y="4526280"/>
            <a:ext cx="1828800" cy="731520"/>
          </a:xfrm>
          <a:prstGeom prst="rect">
            <a:avLst/>
          </a:prstGeom>
          <a:noFill/>
          <a:ln/>
        </p:spPr>
        <p:txBody>
          <a:bodyPr wrap="square" lIns="0" tIns="0" rIns="0" bIns="0" rtlCol="0" anchor="t"/>
          <a:lstStyle/>
          <a:p>
            <a:pPr algn="ctr" indent="0" marL="0">
              <a:buNone/>
            </a:pPr>
            <a:r>
              <a:rPr lang="en-US" sz="1300" dirty="0">
                <a:solidFill>
                  <a:schemeClr val="tx2"/>
                </a:solidFill>
              </a:rPr>
              <a:t>the 3.11 statements</a:t>
            </a:r>
            <a:endParaRPr lang="en-US" sz="1300" dirty="0"/>
          </a:p>
        </p:txBody>
      </p:sp>
      <p:sp>
        <p:nvSpPr>
          <p:cNvPr id="16" name="dot-1225"/>
          <p:cNvSpPr/>
          <p:nvPr/>
        </p:nvSpPr>
        <p:spPr>
          <a:xfrm>
            <a:off x="4837176" y="2743200"/>
            <a:ext cx="1097280" cy="1097280"/>
          </a:xfrm>
          <a:prstGeom prst="ellipse">
            <a:avLst/>
          </a:prstGeom>
          <a:solidFill>
            <a:schemeClr val="accent3"/>
          </a:solidFill>
          <a:ln/>
        </p:spPr>
      </p:sp>
      <p:sp>
        <p:nvSpPr>
          <p:cNvPr id="17" name="text-1226"/>
          <p:cNvSpPr txBox="1"/>
          <p:nvPr/>
        </p:nvSpPr>
        <p:spPr>
          <a:xfrm>
            <a:off x="4837176" y="2240280"/>
            <a:ext cx="1097280" cy="411480"/>
          </a:xfrm>
          <a:prstGeom prst="rect">
            <a:avLst/>
          </a:prstGeom>
          <a:noFill/>
          <a:ln/>
        </p:spPr>
        <p:txBody>
          <a:bodyPr wrap="square" lIns="0" tIns="0" rIns="0" bIns="0" rtlCol="0" anchor="ctr"/>
          <a:lstStyle/>
          <a:p>
            <a:pPr algn="ctr" indent="0" marL="0">
              <a:buNone/>
            </a:pPr>
            <a:r>
              <a:rPr lang="en-US" sz="1600" b="1" dirty="0">
                <a:solidFill>
                  <a:schemeClr val="accent4"/>
                </a:solidFill>
              </a:rPr>
              <a:t>3</a:t>
            </a:r>
            <a:endParaRPr lang="en-US" sz="1600" dirty="0"/>
          </a:p>
        </p:txBody>
      </p:sp>
      <p:sp>
        <p:nvSpPr>
          <p:cNvPr id="18" name="text-1227"/>
          <p:cNvSpPr txBox="1"/>
          <p:nvPr/>
        </p:nvSpPr>
        <p:spPr>
          <a:xfrm>
            <a:off x="4425696" y="4069080"/>
            <a:ext cx="1920240" cy="457200"/>
          </a:xfrm>
          <a:prstGeom prst="rect">
            <a:avLst/>
          </a:prstGeom>
          <a:noFill/>
          <a:ln/>
        </p:spPr>
        <p:txBody>
          <a:bodyPr wrap="square" lIns="0" tIns="0" rIns="0" bIns="0" rtlCol="0" anchor="ctr"/>
          <a:lstStyle/>
          <a:p>
            <a:pPr algn="ctr" indent="0" marL="0">
              <a:buNone/>
            </a:pPr>
            <a:r>
              <a:rPr lang="en-US" sz="1700" b="1" dirty="0">
                <a:solidFill>
                  <a:schemeClr val="tx1"/>
                </a:solidFill>
              </a:rPr>
              <a:t>Baseline</a:t>
            </a:r>
            <a:endParaRPr lang="en-US" sz="1700" dirty="0"/>
          </a:p>
        </p:txBody>
      </p:sp>
      <p:sp>
        <p:nvSpPr>
          <p:cNvPr id="19" name="text-1228"/>
          <p:cNvSpPr txBox="1"/>
          <p:nvPr/>
        </p:nvSpPr>
        <p:spPr>
          <a:xfrm>
            <a:off x="4471416" y="4526280"/>
            <a:ext cx="1828800" cy="731520"/>
          </a:xfrm>
          <a:prstGeom prst="rect">
            <a:avLst/>
          </a:prstGeom>
          <a:noFill/>
          <a:ln/>
        </p:spPr>
        <p:txBody>
          <a:bodyPr wrap="square" lIns="0" tIns="0" rIns="0" bIns="0" rtlCol="0" anchor="t"/>
          <a:lstStyle/>
          <a:p>
            <a:pPr algn="ctr" indent="0" marL="0">
              <a:buNone/>
            </a:pPr>
            <a:r>
              <a:rPr lang="en-US" sz="1300" dirty="0">
                <a:solidFill>
                  <a:schemeClr val="tx2"/>
                </a:solidFill>
              </a:rPr>
              <a:t>EXPLAIN, note time</a:t>
            </a:r>
            <a:endParaRPr lang="en-US" sz="1300" dirty="0"/>
          </a:p>
        </p:txBody>
      </p:sp>
      <p:sp>
        <p:nvSpPr>
          <p:cNvPr id="20" name="dot-1229"/>
          <p:cNvSpPr/>
          <p:nvPr/>
        </p:nvSpPr>
        <p:spPr>
          <a:xfrm>
            <a:off x="6775704" y="2743200"/>
            <a:ext cx="1097280" cy="1097280"/>
          </a:xfrm>
          <a:prstGeom prst="ellipse">
            <a:avLst/>
          </a:prstGeom>
          <a:solidFill>
            <a:schemeClr val="accent3"/>
          </a:solidFill>
          <a:ln/>
        </p:spPr>
      </p:sp>
      <p:sp>
        <p:nvSpPr>
          <p:cNvPr id="21" name="text-1230"/>
          <p:cNvSpPr txBox="1"/>
          <p:nvPr/>
        </p:nvSpPr>
        <p:spPr>
          <a:xfrm>
            <a:off x="6775704" y="2240280"/>
            <a:ext cx="1097280" cy="411480"/>
          </a:xfrm>
          <a:prstGeom prst="rect">
            <a:avLst/>
          </a:prstGeom>
          <a:noFill/>
          <a:ln/>
        </p:spPr>
        <p:txBody>
          <a:bodyPr wrap="square" lIns="0" tIns="0" rIns="0" bIns="0" rtlCol="0" anchor="ctr"/>
          <a:lstStyle/>
          <a:p>
            <a:pPr algn="ctr" indent="0" marL="0">
              <a:buNone/>
            </a:pPr>
            <a:r>
              <a:rPr lang="en-US" sz="1600" b="1" dirty="0">
                <a:solidFill>
                  <a:schemeClr val="accent4"/>
                </a:solidFill>
              </a:rPr>
              <a:t>4</a:t>
            </a:r>
            <a:endParaRPr lang="en-US" sz="1600" dirty="0"/>
          </a:p>
        </p:txBody>
      </p:sp>
      <p:sp>
        <p:nvSpPr>
          <p:cNvPr id="22" name="text-1231"/>
          <p:cNvSpPr txBox="1"/>
          <p:nvPr/>
        </p:nvSpPr>
        <p:spPr>
          <a:xfrm>
            <a:off x="6364224" y="4069080"/>
            <a:ext cx="1920240" cy="457200"/>
          </a:xfrm>
          <a:prstGeom prst="rect">
            <a:avLst/>
          </a:prstGeom>
          <a:noFill/>
          <a:ln/>
        </p:spPr>
        <p:txBody>
          <a:bodyPr wrap="square" lIns="0" tIns="0" rIns="0" bIns="0" rtlCol="0" anchor="ctr"/>
          <a:lstStyle/>
          <a:p>
            <a:pPr algn="ctr" indent="0" marL="0">
              <a:buNone/>
            </a:pPr>
            <a:r>
              <a:rPr lang="en-US" sz="1700" b="1" dirty="0">
                <a:solidFill>
                  <a:schemeClr val="tx1"/>
                </a:solidFill>
              </a:rPr>
              <a:t>Index</a:t>
            </a:r>
            <a:endParaRPr lang="en-US" sz="1700" dirty="0"/>
          </a:p>
        </p:txBody>
      </p:sp>
      <p:sp>
        <p:nvSpPr>
          <p:cNvPr id="23" name="text-1232"/>
          <p:cNvSpPr txBox="1"/>
          <p:nvPr/>
        </p:nvSpPr>
        <p:spPr>
          <a:xfrm>
            <a:off x="6409944" y="4526280"/>
            <a:ext cx="1828800" cy="731520"/>
          </a:xfrm>
          <a:prstGeom prst="rect">
            <a:avLst/>
          </a:prstGeom>
          <a:noFill/>
          <a:ln/>
        </p:spPr>
        <p:txBody>
          <a:bodyPr wrap="square" lIns="0" tIns="0" rIns="0" bIns="0" rtlCol="0" anchor="t"/>
          <a:lstStyle/>
          <a:p>
            <a:pPr algn="ctr" indent="0" marL="0">
              <a:buNone/>
            </a:pPr>
            <a:r>
              <a:rPr lang="en-US" sz="1300" dirty="0">
                <a:solidFill>
                  <a:schemeClr val="tx2"/>
                </a:solidFill>
                <a:latin typeface="Roboto Mono" pitchFamily="34" charset="0"/>
                <a:ea typeface="Roboto Mono" pitchFamily="34" charset="-122"/>
                <a:cs typeface="Roboto Mono" pitchFamily="34" charset="-120"/>
              </a:rPr>
              <a:t>(user_id, created_at)</a:t>
            </a:r>
            <a:endParaRPr lang="en-US" sz="1300" dirty="0"/>
          </a:p>
        </p:txBody>
      </p:sp>
      <p:sp>
        <p:nvSpPr>
          <p:cNvPr id="24" name="dot-1233"/>
          <p:cNvSpPr/>
          <p:nvPr/>
        </p:nvSpPr>
        <p:spPr>
          <a:xfrm>
            <a:off x="8714232" y="2743200"/>
            <a:ext cx="1097280" cy="1097280"/>
          </a:xfrm>
          <a:prstGeom prst="ellipse">
            <a:avLst/>
          </a:prstGeom>
          <a:solidFill>
            <a:schemeClr val="tx1"/>
          </a:solidFill>
          <a:ln/>
        </p:spPr>
      </p:sp>
      <p:sp>
        <p:nvSpPr>
          <p:cNvPr id="25" name="text-1234"/>
          <p:cNvSpPr txBox="1"/>
          <p:nvPr/>
        </p:nvSpPr>
        <p:spPr>
          <a:xfrm>
            <a:off x="8714232" y="2240280"/>
            <a:ext cx="1097280" cy="411480"/>
          </a:xfrm>
          <a:prstGeom prst="rect">
            <a:avLst/>
          </a:prstGeom>
          <a:noFill/>
          <a:ln/>
        </p:spPr>
        <p:txBody>
          <a:bodyPr wrap="square" lIns="0" tIns="0" rIns="0" bIns="0" rtlCol="0" anchor="ctr"/>
          <a:lstStyle/>
          <a:p>
            <a:pPr algn="ctr" indent="0" marL="0">
              <a:buNone/>
            </a:pPr>
            <a:r>
              <a:rPr lang="en-US" sz="1600" b="1" dirty="0">
                <a:solidFill>
                  <a:schemeClr val="accent4"/>
                </a:solidFill>
              </a:rPr>
              <a:t>5</a:t>
            </a:r>
            <a:endParaRPr lang="en-US" sz="1600" dirty="0"/>
          </a:p>
        </p:txBody>
      </p:sp>
      <p:sp>
        <p:nvSpPr>
          <p:cNvPr id="26" name="text-1235"/>
          <p:cNvSpPr txBox="1"/>
          <p:nvPr/>
        </p:nvSpPr>
        <p:spPr>
          <a:xfrm>
            <a:off x="8302752" y="4069080"/>
            <a:ext cx="1920240" cy="457200"/>
          </a:xfrm>
          <a:prstGeom prst="rect">
            <a:avLst/>
          </a:prstGeom>
          <a:noFill/>
          <a:ln/>
        </p:spPr>
        <p:txBody>
          <a:bodyPr wrap="square" lIns="0" tIns="0" rIns="0" bIns="0" rtlCol="0" anchor="ctr"/>
          <a:lstStyle/>
          <a:p>
            <a:pPr algn="ctr" indent="0" marL="0">
              <a:buNone/>
            </a:pPr>
            <a:r>
              <a:rPr lang="en-US" sz="1700" b="1" dirty="0">
                <a:solidFill>
                  <a:schemeClr val="tx1"/>
                </a:solidFill>
              </a:rPr>
              <a:t>Cancel order</a:t>
            </a:r>
            <a:endParaRPr lang="en-US" sz="1700" dirty="0"/>
          </a:p>
        </p:txBody>
      </p:sp>
      <p:sp>
        <p:nvSpPr>
          <p:cNvPr id="27" name="text-1236"/>
          <p:cNvSpPr txBox="1"/>
          <p:nvPr/>
        </p:nvSpPr>
        <p:spPr>
          <a:xfrm>
            <a:off x="8348472" y="4526280"/>
            <a:ext cx="1828800" cy="731520"/>
          </a:xfrm>
          <a:prstGeom prst="rect">
            <a:avLst/>
          </a:prstGeom>
          <a:noFill/>
          <a:ln/>
        </p:spPr>
        <p:txBody>
          <a:bodyPr wrap="square" lIns="0" tIns="0" rIns="0" bIns="0" rtlCol="0" anchor="t"/>
          <a:lstStyle/>
          <a:p>
            <a:pPr algn="ctr" indent="0" marL="0">
              <a:buNone/>
            </a:pPr>
            <a:r>
              <a:rPr lang="en-US" sz="1300" dirty="0">
                <a:solidFill>
                  <a:schemeClr val="tx2"/>
                </a:solidFill>
              </a:rPr>
              <a:t>ROLLBACK if shipped</a:t>
            </a:r>
            <a:endParaRPr lang="en-US" sz="1300" dirty="0"/>
          </a:p>
        </p:txBody>
      </p:sp>
      <p:sp>
        <p:nvSpPr>
          <p:cNvPr id="28" name="dot-1237"/>
          <p:cNvSpPr/>
          <p:nvPr/>
        </p:nvSpPr>
        <p:spPr>
          <a:xfrm>
            <a:off x="10652760" y="2743200"/>
            <a:ext cx="1097280" cy="1097280"/>
          </a:xfrm>
          <a:prstGeom prst="ellipse">
            <a:avLst/>
          </a:prstGeom>
          <a:solidFill>
            <a:schemeClr val="tx2"/>
          </a:solidFill>
          <a:ln/>
        </p:spPr>
      </p:sp>
      <p:sp>
        <p:nvSpPr>
          <p:cNvPr id="29" name="text-1238"/>
          <p:cNvSpPr txBox="1"/>
          <p:nvPr/>
        </p:nvSpPr>
        <p:spPr>
          <a:xfrm>
            <a:off x="10652760" y="2240280"/>
            <a:ext cx="1097280" cy="411480"/>
          </a:xfrm>
          <a:prstGeom prst="rect">
            <a:avLst/>
          </a:prstGeom>
          <a:noFill/>
          <a:ln/>
        </p:spPr>
        <p:txBody>
          <a:bodyPr wrap="square" lIns="0" tIns="0" rIns="0" bIns="0" rtlCol="0" anchor="ctr"/>
          <a:lstStyle/>
          <a:p>
            <a:pPr algn="ctr" indent="0" marL="0">
              <a:buNone/>
            </a:pPr>
            <a:r>
              <a:rPr lang="en-US" sz="1600" b="1" dirty="0">
                <a:solidFill>
                  <a:schemeClr val="accent4"/>
                </a:solidFill>
              </a:rPr>
              <a:t>6</a:t>
            </a:r>
            <a:endParaRPr lang="en-US" sz="1600" dirty="0"/>
          </a:p>
        </p:txBody>
      </p:sp>
      <p:sp>
        <p:nvSpPr>
          <p:cNvPr id="30" name="text-1239"/>
          <p:cNvSpPr txBox="1"/>
          <p:nvPr/>
        </p:nvSpPr>
        <p:spPr>
          <a:xfrm>
            <a:off x="10241280" y="4069080"/>
            <a:ext cx="1920240" cy="457200"/>
          </a:xfrm>
          <a:prstGeom prst="rect">
            <a:avLst/>
          </a:prstGeom>
          <a:noFill/>
          <a:ln/>
        </p:spPr>
        <p:txBody>
          <a:bodyPr wrap="square" lIns="0" tIns="0" rIns="0" bIns="0" rtlCol="0" anchor="ctr"/>
          <a:lstStyle/>
          <a:p>
            <a:pPr algn="ctr" indent="0" marL="0">
              <a:buNone/>
            </a:pPr>
            <a:r>
              <a:rPr lang="en-US" sz="1700" b="1" dirty="0">
                <a:solidFill>
                  <a:schemeClr val="tx1"/>
                </a:solidFill>
              </a:rPr>
              <a:t>Notes</a:t>
            </a:r>
            <a:endParaRPr lang="en-US" sz="1700" dirty="0"/>
          </a:p>
        </p:txBody>
      </p:sp>
      <p:sp>
        <p:nvSpPr>
          <p:cNvPr id="31" name="text-1240"/>
          <p:cNvSpPr txBox="1"/>
          <p:nvPr/>
        </p:nvSpPr>
        <p:spPr>
          <a:xfrm>
            <a:off x="10287000" y="4526280"/>
            <a:ext cx="1828800" cy="731520"/>
          </a:xfrm>
          <a:prstGeom prst="rect">
            <a:avLst/>
          </a:prstGeom>
          <a:noFill/>
          <a:ln/>
        </p:spPr>
        <p:txBody>
          <a:bodyPr wrap="square" lIns="0" tIns="0" rIns="0" bIns="0" rtlCol="0" anchor="t"/>
          <a:lstStyle/>
          <a:p>
            <a:pPr algn="ctr" indent="0" marL="0">
              <a:buNone/>
            </a:pPr>
            <a:r>
              <a:rPr lang="en-US" sz="1300" dirty="0">
                <a:solidFill>
                  <a:schemeClr val="tx2"/>
                </a:solidFill>
              </a:rPr>
              <a:t>speed-up vs write cost</a:t>
            </a:r>
            <a:endParaRPr lang="en-US" sz="1300" dirty="0"/>
          </a:p>
        </p:txBody>
      </p:sp>
      <p:pic>
        <p:nvPicPr>
          <p:cNvPr id="32" name="Image 0" descr="FlagCheckered icon">    </p:cNvPr>
          <p:cNvPicPr>
            <a:picLocks noChangeAspect="1"/>
          </p:cNvPicPr>
          <p:nvPr/>
        </p:nvPicPr>
        <p:blipFill>
          <a:blip r:embed="rId1"/>
          <a:stretch>
            <a:fillRect/>
          </a:stretch>
        </p:blipFill>
        <p:spPr>
          <a:xfrm>
            <a:off x="640080" y="475488"/>
            <a:ext cx="201168" cy="201168"/>
          </a:xfrm>
          <a:prstGeom prst="rect">
            <a:avLst/>
          </a:prstGeom>
        </p:spPr>
      </p:pic>
      <p:pic>
        <p:nvPicPr>
          <p:cNvPr id="33" name="Image 1" descr="FileCode icon">    </p:cNvPr>
          <p:cNvPicPr>
            <a:picLocks noChangeAspect="1"/>
          </p:cNvPicPr>
          <p:nvPr/>
        </p:nvPicPr>
        <p:blipFill>
          <a:blip r:embed="rId2"/>
          <a:stretch>
            <a:fillRect/>
          </a:stretch>
        </p:blipFill>
        <p:spPr>
          <a:xfrm>
            <a:off x="1223467" y="3006547"/>
            <a:ext cx="570586" cy="570586"/>
          </a:xfrm>
          <a:prstGeom prst="rect">
            <a:avLst/>
          </a:prstGeom>
        </p:spPr>
      </p:pic>
      <p:pic>
        <p:nvPicPr>
          <p:cNvPr id="34" name="Image 2" descr="Seedling icon">    </p:cNvPr>
          <p:cNvPicPr>
            <a:picLocks noChangeAspect="1"/>
          </p:cNvPicPr>
          <p:nvPr/>
        </p:nvPicPr>
        <p:blipFill>
          <a:blip r:embed="rId3"/>
          <a:stretch>
            <a:fillRect/>
          </a:stretch>
        </p:blipFill>
        <p:spPr>
          <a:xfrm>
            <a:off x="3161995" y="3006547"/>
            <a:ext cx="570586" cy="570586"/>
          </a:xfrm>
          <a:prstGeom prst="rect">
            <a:avLst/>
          </a:prstGeom>
        </p:spPr>
      </p:pic>
      <p:pic>
        <p:nvPicPr>
          <p:cNvPr id="35" name="Image 3" descr="Stopwatch icon">    </p:cNvPr>
          <p:cNvPicPr>
            <a:picLocks noChangeAspect="1"/>
          </p:cNvPicPr>
          <p:nvPr/>
        </p:nvPicPr>
        <p:blipFill>
          <a:blip r:embed="rId4"/>
          <a:stretch>
            <a:fillRect/>
          </a:stretch>
        </p:blipFill>
        <p:spPr>
          <a:xfrm>
            <a:off x="5100523" y="3006547"/>
            <a:ext cx="570586" cy="570586"/>
          </a:xfrm>
          <a:prstGeom prst="rect">
            <a:avLst/>
          </a:prstGeom>
        </p:spPr>
      </p:pic>
      <p:pic>
        <p:nvPicPr>
          <p:cNvPr id="36" name="Image 4" descr="Bolt icon">    </p:cNvPr>
          <p:cNvPicPr>
            <a:picLocks noChangeAspect="1"/>
          </p:cNvPicPr>
          <p:nvPr/>
        </p:nvPicPr>
        <p:blipFill>
          <a:blip r:embed="rId5"/>
          <a:stretch>
            <a:fillRect/>
          </a:stretch>
        </p:blipFill>
        <p:spPr>
          <a:xfrm>
            <a:off x="7039051" y="3006547"/>
            <a:ext cx="570586" cy="570586"/>
          </a:xfrm>
          <a:prstGeom prst="rect">
            <a:avLst/>
          </a:prstGeom>
        </p:spPr>
      </p:pic>
      <p:pic>
        <p:nvPicPr>
          <p:cNvPr id="37" name="Image 5" descr="Undo icon">    </p:cNvPr>
          <p:cNvPicPr>
            <a:picLocks noChangeAspect="1"/>
          </p:cNvPicPr>
          <p:nvPr/>
        </p:nvPicPr>
        <p:blipFill>
          <a:blip r:embed="rId6"/>
          <a:stretch>
            <a:fillRect/>
          </a:stretch>
        </p:blipFill>
        <p:spPr>
          <a:xfrm>
            <a:off x="8977579" y="3006547"/>
            <a:ext cx="570586" cy="570586"/>
          </a:xfrm>
          <a:prstGeom prst="rect">
            <a:avLst/>
          </a:prstGeom>
        </p:spPr>
      </p:pic>
      <p:pic>
        <p:nvPicPr>
          <p:cNvPr id="38" name="Image 6" descr="Pen icon">    </p:cNvPr>
          <p:cNvPicPr>
            <a:picLocks noChangeAspect="1"/>
          </p:cNvPicPr>
          <p:nvPr/>
        </p:nvPicPr>
        <p:blipFill>
          <a:blip r:embed="rId7"/>
          <a:stretch>
            <a:fillRect/>
          </a:stretch>
        </p:blipFill>
        <p:spPr>
          <a:xfrm>
            <a:off x="10916107" y="3006547"/>
            <a:ext cx="570586" cy="570586"/>
          </a:xfrm>
          <a:prstGeom prst="rect">
            <a:avLst/>
          </a:prstGeom>
        </p:spPr>
      </p:pic>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dot-1241"/>
          <p:cNvSpPr/>
          <p:nvPr/>
        </p:nvSpPr>
        <p:spPr>
          <a:xfrm>
            <a:off x="548640" y="384048"/>
            <a:ext cx="384048" cy="384048"/>
          </a:xfrm>
          <a:prstGeom prst="ellipse">
            <a:avLst/>
          </a:prstGeom>
          <a:solidFill>
            <a:schemeClr val="accent1"/>
          </a:solidFill>
          <a:ln/>
        </p:spPr>
      </p:sp>
      <p:sp>
        <p:nvSpPr>
          <p:cNvPr id="3" name="Text 1"/>
          <p:cNvSpPr/>
          <p:nvPr>
            <p:ph idx="101" type="body" hasCustomPrompt="1"/>
          </p:nvPr>
        </p:nvSpPr>
        <p:spPr>
          <a:xfrm>
            <a:off x="1051560" y="384048"/>
            <a:ext cx="9601200" cy="384048"/>
          </a:xfrm>
          <a:prstGeom prst="rect">
            <a:avLst/>
          </a:prstGeom>
          <a:noFill/>
          <a:ln/>
        </p:spPr>
        <p:txBody>
          <a:bodyPr wrap="square" lIns="0" tIns="0" rIns="0" bIns="0" rtlCol="0" anchor="ctr"/>
          <a:lstStyle/>
          <a:p>
            <a:pPr indent="0" marL="0">
              <a:buNone/>
            </a:pPr>
            <a:r>
              <a:rPr lang="en-US" sz="1300" b="1" spc="300" kern="0" dirty="0">
                <a:solidFill>
                  <a:schemeClr val="tx2"/>
                </a:solidFill>
              </a:rPr>
              <a:t>T13  ·  REVIEW</a:t>
            </a:r>
            <a:endParaRPr lang="en-US" sz="1300" dirty="0"/>
          </a:p>
        </p:txBody>
      </p:sp>
      <p:sp>
        <p:nvSpPr>
          <p:cNvPr id="4" name="Text 1"/>
          <p:cNvSpPr/>
          <p:nvPr>
            <p:ph idx="102" type="title" hasCustomPrompt="1"/>
          </p:nvPr>
        </p:nvSpPr>
        <p:spPr>
          <a:xfrm>
            <a:off x="548640" y="841248"/>
            <a:ext cx="11064240" cy="777240"/>
          </a:xfrm>
          <a:prstGeom prst="rect">
            <a:avLst/>
          </a:prstGeom>
          <a:noFill/>
          <a:ln/>
        </p:spPr>
        <p:txBody>
          <a:bodyPr wrap="square" lIns="0" tIns="0" rIns="0" bIns="0" rtlCol="0" anchor="ctr"/>
          <a:lstStyle/>
          <a:p>
            <a:pPr algn="l" indent="0" marL="0">
              <a:buNone/>
            </a:pPr>
            <a:r>
              <a:rPr lang="en-US" sz="3800" b="1" dirty="0">
                <a:solidFill>
                  <a:schemeClr val="tx1"/>
                </a:solidFill>
              </a:rPr>
              <a:t>Model · Query · Protect · Measure</a:t>
            </a:r>
            <a:endParaRPr lang="en-US" sz="3800" dirty="0"/>
          </a:p>
        </p:txBody>
      </p:sp>
      <p:sp>
        <p:nvSpPr>
          <p:cNvPr id="5" name="Text 1"/>
          <p:cNvSpPr/>
          <p:nvPr>
            <p:ph idx="103" type="body" hasCustomPrompt="1"/>
          </p:nvPr>
        </p:nvSpPr>
        <p:spPr>
          <a:xfrm>
            <a:off x="548640" y="1627632"/>
            <a:ext cx="11064240" cy="457200"/>
          </a:xfrm>
          <a:prstGeom prst="rect">
            <a:avLst/>
          </a:prstGeom>
          <a:noFill/>
          <a:ln/>
        </p:spPr>
        <p:txBody>
          <a:bodyPr wrap="square" lIns="0" tIns="0" rIns="0" bIns="0" rtlCol="0" anchor="t"/>
          <a:lstStyle/>
          <a:p>
            <a:pPr indent="0" marL="0">
              <a:buNone/>
            </a:pPr>
            <a:r>
              <a:rPr lang="en-US" sz="2000" dirty="0">
                <a:solidFill>
                  <a:schemeClr val="tx2"/>
                </a:solidFill>
              </a:rPr>
              <a:t>Let the database enforce the rules   ·   Prove every speed-up with EXPLAIN</a:t>
            </a:r>
            <a:endParaRPr lang="en-US" sz="2000" dirty="0"/>
          </a:p>
        </p:txBody>
      </p:sp>
      <p:sp>
        <p:nvSpPr>
          <p:cNvPr id="7" name="box-1242"/>
          <p:cNvSpPr/>
          <p:nvPr/>
        </p:nvSpPr>
        <p:spPr>
          <a:xfrm>
            <a:off x="548640" y="2331720"/>
            <a:ext cx="2606040" cy="3017520"/>
          </a:xfrm>
          <a:prstGeom prst="roundRect">
            <a:avLst>
              <a:gd name="adj" fmla="val 2807"/>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8" name="dot-1243"/>
          <p:cNvSpPr/>
          <p:nvPr/>
        </p:nvSpPr>
        <p:spPr>
          <a:xfrm>
            <a:off x="1325880" y="2606040"/>
            <a:ext cx="1051560" cy="1051560"/>
          </a:xfrm>
          <a:prstGeom prst="ellipse">
            <a:avLst/>
          </a:prstGeom>
          <a:solidFill>
            <a:schemeClr val="accent1"/>
          </a:solidFill>
          <a:ln/>
        </p:spPr>
      </p:sp>
      <p:sp>
        <p:nvSpPr>
          <p:cNvPr id="9" name="text-1244"/>
          <p:cNvSpPr txBox="1"/>
          <p:nvPr/>
        </p:nvSpPr>
        <p:spPr>
          <a:xfrm>
            <a:off x="685800" y="3794760"/>
            <a:ext cx="2331720" cy="777240"/>
          </a:xfrm>
          <a:prstGeom prst="rect">
            <a:avLst/>
          </a:prstGeom>
          <a:noFill/>
          <a:ln/>
        </p:spPr>
        <p:txBody>
          <a:bodyPr wrap="square" lIns="0" tIns="0" rIns="0" bIns="0" rtlCol="0" anchor="ctr"/>
          <a:lstStyle/>
          <a:p>
            <a:pPr algn="ctr" indent="0" marL="0">
              <a:buNone/>
            </a:pPr>
            <a:r>
              <a:rPr lang="en-US" sz="1800" b="1" dirty="0">
                <a:solidFill>
                  <a:schemeClr val="tx1"/>
                </a:solidFill>
              </a:rPr>
              <a:t>Normalise to 3NF</a:t>
            </a:r>
            <a:endParaRPr lang="en-US" sz="1800" dirty="0"/>
          </a:p>
        </p:txBody>
      </p:sp>
      <p:sp>
        <p:nvSpPr>
          <p:cNvPr id="10" name="text-1245"/>
          <p:cNvSpPr txBox="1"/>
          <p:nvPr/>
        </p:nvSpPr>
        <p:spPr>
          <a:xfrm>
            <a:off x="685800" y="4572000"/>
            <a:ext cx="2331720" cy="457200"/>
          </a:xfrm>
          <a:prstGeom prst="rect">
            <a:avLst/>
          </a:prstGeom>
          <a:noFill/>
          <a:ln/>
        </p:spPr>
        <p:txBody>
          <a:bodyPr wrap="square" lIns="0" tIns="0" rIns="0" bIns="0" rtlCol="0" anchor="ctr"/>
          <a:lstStyle/>
          <a:p>
            <a:pPr algn="ctr" indent="0" marL="0">
              <a:buNone/>
            </a:pPr>
            <a:r>
              <a:rPr lang="en-US" sz="1400" dirty="0">
                <a:solidFill>
                  <a:schemeClr val="tx2"/>
                </a:solidFill>
              </a:rPr>
              <a:t>constraints do the policing</a:t>
            </a:r>
            <a:endParaRPr lang="en-US" sz="1400" dirty="0"/>
          </a:p>
        </p:txBody>
      </p:sp>
      <p:sp>
        <p:nvSpPr>
          <p:cNvPr id="11" name="box-1246"/>
          <p:cNvSpPr/>
          <p:nvPr/>
        </p:nvSpPr>
        <p:spPr>
          <a:xfrm>
            <a:off x="3364992" y="2331720"/>
            <a:ext cx="2606040" cy="3017520"/>
          </a:xfrm>
          <a:prstGeom prst="roundRect">
            <a:avLst>
              <a:gd name="adj" fmla="val 2807"/>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12" name="dot-1247"/>
          <p:cNvSpPr/>
          <p:nvPr/>
        </p:nvSpPr>
        <p:spPr>
          <a:xfrm>
            <a:off x="4142232" y="2606040"/>
            <a:ext cx="1051560" cy="1051560"/>
          </a:xfrm>
          <a:prstGeom prst="ellipse">
            <a:avLst/>
          </a:prstGeom>
          <a:solidFill>
            <a:schemeClr val="accent2"/>
          </a:solidFill>
          <a:ln/>
        </p:spPr>
      </p:sp>
      <p:sp>
        <p:nvSpPr>
          <p:cNvPr id="13" name="text-1248"/>
          <p:cNvSpPr txBox="1"/>
          <p:nvPr/>
        </p:nvSpPr>
        <p:spPr>
          <a:xfrm>
            <a:off x="3502152" y="3794760"/>
            <a:ext cx="2331720" cy="777240"/>
          </a:xfrm>
          <a:prstGeom prst="rect">
            <a:avLst/>
          </a:prstGeom>
          <a:noFill/>
          <a:ln/>
        </p:spPr>
        <p:txBody>
          <a:bodyPr wrap="square" lIns="0" tIns="0" rIns="0" bIns="0" rtlCol="0" anchor="ctr"/>
          <a:lstStyle/>
          <a:p>
            <a:pPr algn="ctr" indent="0" marL="0">
              <a:buNone/>
            </a:pPr>
            <a:r>
              <a:rPr lang="en-US" sz="1800" b="1" dirty="0">
                <a:solidFill>
                  <a:schemeClr val="tx1"/>
                </a:solidFill>
              </a:rPr>
              <a:t>Sets + parameters</a:t>
            </a:r>
            <a:endParaRPr lang="en-US" sz="1800" dirty="0"/>
          </a:p>
        </p:txBody>
      </p:sp>
      <p:sp>
        <p:nvSpPr>
          <p:cNvPr id="14" name="text-1249"/>
          <p:cNvSpPr txBox="1"/>
          <p:nvPr/>
        </p:nvSpPr>
        <p:spPr>
          <a:xfrm>
            <a:off x="3502152" y="4572000"/>
            <a:ext cx="2331720" cy="457200"/>
          </a:xfrm>
          <a:prstGeom prst="rect">
            <a:avLst/>
          </a:prstGeom>
          <a:noFill/>
          <a:ln/>
        </p:spPr>
        <p:txBody>
          <a:bodyPr wrap="square" lIns="0" tIns="0" rIns="0" bIns="0" rtlCol="0" anchor="ctr"/>
          <a:lstStyle/>
          <a:p>
            <a:pPr algn="ctr" indent="0" marL="0">
              <a:buNone/>
            </a:pPr>
            <a:r>
              <a:rPr lang="en-US" sz="1400" dirty="0">
                <a:solidFill>
                  <a:schemeClr val="tx2"/>
                </a:solidFill>
              </a:rPr>
              <a:t>mind NULLs and joins</a:t>
            </a:r>
            <a:endParaRPr lang="en-US" sz="1400" dirty="0"/>
          </a:p>
        </p:txBody>
      </p:sp>
      <p:sp>
        <p:nvSpPr>
          <p:cNvPr id="15" name="box-1250"/>
          <p:cNvSpPr/>
          <p:nvPr/>
        </p:nvSpPr>
        <p:spPr>
          <a:xfrm>
            <a:off x="6181344" y="2331720"/>
            <a:ext cx="2606040" cy="3017520"/>
          </a:xfrm>
          <a:prstGeom prst="roundRect">
            <a:avLst>
              <a:gd name="adj" fmla="val 2807"/>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16" name="dot-1251"/>
          <p:cNvSpPr/>
          <p:nvPr/>
        </p:nvSpPr>
        <p:spPr>
          <a:xfrm>
            <a:off x="6958584" y="2606040"/>
            <a:ext cx="1051560" cy="1051560"/>
          </a:xfrm>
          <a:prstGeom prst="ellipse">
            <a:avLst/>
          </a:prstGeom>
          <a:solidFill>
            <a:schemeClr val="tx1"/>
          </a:solidFill>
          <a:ln/>
        </p:spPr>
      </p:sp>
      <p:sp>
        <p:nvSpPr>
          <p:cNvPr id="17" name="text-1252"/>
          <p:cNvSpPr txBox="1"/>
          <p:nvPr/>
        </p:nvSpPr>
        <p:spPr>
          <a:xfrm>
            <a:off x="6318504" y="3794760"/>
            <a:ext cx="2331720" cy="777240"/>
          </a:xfrm>
          <a:prstGeom prst="rect">
            <a:avLst/>
          </a:prstGeom>
          <a:noFill/>
          <a:ln/>
        </p:spPr>
        <p:txBody>
          <a:bodyPr wrap="square" lIns="0" tIns="0" rIns="0" bIns="0" rtlCol="0" anchor="ctr"/>
          <a:lstStyle/>
          <a:p>
            <a:pPr algn="ctr" indent="0" marL="0">
              <a:buNone/>
            </a:pPr>
            <a:r>
              <a:rPr lang="en-US" sz="1800" b="1" dirty="0">
                <a:solidFill>
                  <a:schemeClr val="tx1"/>
                </a:solidFill>
              </a:rPr>
              <a:t>One client per transaction</a:t>
            </a:r>
            <a:endParaRPr lang="en-US" sz="1800" dirty="0"/>
          </a:p>
        </p:txBody>
      </p:sp>
      <p:sp>
        <p:nvSpPr>
          <p:cNvPr id="18" name="text-1253"/>
          <p:cNvSpPr txBox="1"/>
          <p:nvPr/>
        </p:nvSpPr>
        <p:spPr>
          <a:xfrm>
            <a:off x="6318504" y="4572000"/>
            <a:ext cx="2331720" cy="457200"/>
          </a:xfrm>
          <a:prstGeom prst="rect">
            <a:avLst/>
          </a:prstGeom>
          <a:noFill/>
          <a:ln/>
        </p:spPr>
        <p:txBody>
          <a:bodyPr wrap="square" lIns="0" tIns="0" rIns="0" bIns="0" rtlCol="0" anchor="ctr"/>
          <a:lstStyle/>
          <a:p>
            <a:pPr algn="ctr" indent="0" marL="0">
              <a:buNone/>
            </a:pPr>
            <a:r>
              <a:rPr lang="en-US" sz="1400" dirty="0">
                <a:solidFill>
                  <a:schemeClr val="tx2"/>
                </a:solidFill>
              </a:rPr>
              <a:t>always release()</a:t>
            </a:r>
            <a:endParaRPr lang="en-US" sz="1400" dirty="0"/>
          </a:p>
        </p:txBody>
      </p:sp>
      <p:sp>
        <p:nvSpPr>
          <p:cNvPr id="19" name="box-1254"/>
          <p:cNvSpPr/>
          <p:nvPr/>
        </p:nvSpPr>
        <p:spPr>
          <a:xfrm>
            <a:off x="8997696" y="2331720"/>
            <a:ext cx="2606040" cy="3017520"/>
          </a:xfrm>
          <a:prstGeom prst="roundRect">
            <a:avLst>
              <a:gd name="adj" fmla="val 2807"/>
            </a:avLst>
          </a:prstGeom>
          <a:solidFill>
            <a:schemeClr val="bg1"/>
          </a:solidFill>
          <a:ln w="12700">
            <a:solidFill>
              <a:schemeClr val="accent5"/>
            </a:solidFill>
            <a:prstDash val="solid"/>
          </a:ln>
          <a:effectLst>
            <a:outerShdw sx="100000" sy="100000" kx="0" ky="0" algn="bl" rotWithShape="0" blurRad="101600" dist="25400" dir="5400000">
              <a:srgbClr val="000000">
                <a:alpha val="8000"/>
              </a:srgbClr>
            </a:outerShdw>
          </a:effectLst>
        </p:spPr>
      </p:sp>
      <p:sp>
        <p:nvSpPr>
          <p:cNvPr id="20" name="dot-1255"/>
          <p:cNvSpPr/>
          <p:nvPr/>
        </p:nvSpPr>
        <p:spPr>
          <a:xfrm>
            <a:off x="9774936" y="2606040"/>
            <a:ext cx="1051560" cy="1051560"/>
          </a:xfrm>
          <a:prstGeom prst="ellipse">
            <a:avLst/>
          </a:prstGeom>
          <a:solidFill>
            <a:schemeClr val="accent3"/>
          </a:solidFill>
          <a:ln/>
        </p:spPr>
      </p:sp>
      <p:sp>
        <p:nvSpPr>
          <p:cNvPr id="21" name="text-1256"/>
          <p:cNvSpPr txBox="1"/>
          <p:nvPr/>
        </p:nvSpPr>
        <p:spPr>
          <a:xfrm>
            <a:off x="9134856" y="3794760"/>
            <a:ext cx="2331720" cy="777240"/>
          </a:xfrm>
          <a:prstGeom prst="rect">
            <a:avLst/>
          </a:prstGeom>
          <a:noFill/>
          <a:ln/>
        </p:spPr>
        <p:txBody>
          <a:bodyPr wrap="square" lIns="0" tIns="0" rIns="0" bIns="0" rtlCol="0" anchor="ctr"/>
          <a:lstStyle/>
          <a:p>
            <a:pPr algn="ctr" indent="0" marL="0">
              <a:buNone/>
            </a:pPr>
            <a:r>
              <a:rPr lang="en-US" sz="1800" b="1" dirty="0">
                <a:solidFill>
                  <a:schemeClr val="tx1"/>
                </a:solidFill>
              </a:rPr>
              <a:t>Seed, index, EXPLAIN</a:t>
            </a:r>
            <a:endParaRPr lang="en-US" sz="1800" dirty="0"/>
          </a:p>
        </p:txBody>
      </p:sp>
      <p:sp>
        <p:nvSpPr>
          <p:cNvPr id="22" name="text-1257"/>
          <p:cNvSpPr txBox="1"/>
          <p:nvPr/>
        </p:nvSpPr>
        <p:spPr>
          <a:xfrm>
            <a:off x="9134856" y="4572000"/>
            <a:ext cx="2331720" cy="457200"/>
          </a:xfrm>
          <a:prstGeom prst="rect">
            <a:avLst/>
          </a:prstGeom>
          <a:noFill/>
          <a:ln/>
        </p:spPr>
        <p:txBody>
          <a:bodyPr wrap="square" lIns="0" tIns="0" rIns="0" bIns="0" rtlCol="0" anchor="ctr"/>
          <a:lstStyle/>
          <a:p>
            <a:pPr algn="ctr" indent="0" marL="0">
              <a:buNone/>
            </a:pPr>
            <a:r>
              <a:rPr lang="en-US" sz="1400" dirty="0">
                <a:solidFill>
                  <a:schemeClr val="tx2"/>
                </a:solidFill>
              </a:rPr>
              <a:t>prove every speed-up</a:t>
            </a:r>
            <a:endParaRPr lang="en-US" sz="1400" dirty="0"/>
          </a:p>
        </p:txBody>
      </p:sp>
      <p:sp>
        <p:nvSpPr>
          <p:cNvPr id="23" name="box-1258"/>
          <p:cNvSpPr/>
          <p:nvPr/>
        </p:nvSpPr>
        <p:spPr>
          <a:xfrm>
            <a:off x="548640" y="5623560"/>
            <a:ext cx="6400800" cy="502920"/>
          </a:xfrm>
          <a:prstGeom prst="roundRect">
            <a:avLst>
              <a:gd name="adj" fmla="val 21818"/>
            </a:avLst>
          </a:prstGeom>
          <a:solidFill>
            <a:schemeClr val="accent1"/>
          </a:solidFill>
          <a:ln/>
        </p:spPr>
      </p:sp>
      <p:sp>
        <p:nvSpPr>
          <p:cNvPr id="24" name="text-1259"/>
          <p:cNvSpPr txBox="1"/>
          <p:nvPr/>
        </p:nvSpPr>
        <p:spPr>
          <a:xfrm>
            <a:off x="621792" y="5623560"/>
            <a:ext cx="6254496" cy="502920"/>
          </a:xfrm>
          <a:prstGeom prst="rect">
            <a:avLst/>
          </a:prstGeom>
          <a:noFill/>
          <a:ln/>
        </p:spPr>
        <p:txBody>
          <a:bodyPr wrap="square" lIns="0" tIns="0" rIns="0" bIns="0" rtlCol="0" anchor="ctr"/>
          <a:lstStyle/>
          <a:p>
            <a:pPr algn="ctr" indent="0" marL="0">
              <a:buNone/>
            </a:pPr>
            <a:r>
              <a:rPr lang="en-US" sz="1500" b="1" dirty="0">
                <a:solidFill>
                  <a:schemeClr val="tx1"/>
                </a:solidFill>
              </a:rPr>
              <a:t>Next: T14 · data access, migrations, SQL vs NoSQL</a:t>
            </a:r>
            <a:endParaRPr lang="en-US" sz="1500" dirty="0"/>
          </a:p>
        </p:txBody>
      </p:sp>
      <p:pic>
        <p:nvPicPr>
          <p:cNvPr id="25" name="Image 0" descr="FlagCheckered icon">    </p:cNvPr>
          <p:cNvPicPr>
            <a:picLocks noChangeAspect="1"/>
          </p:cNvPicPr>
          <p:nvPr/>
        </p:nvPicPr>
        <p:blipFill>
          <a:blip r:embed="rId1"/>
          <a:stretch>
            <a:fillRect/>
          </a:stretch>
        </p:blipFill>
        <p:spPr>
          <a:xfrm>
            <a:off x="640080" y="475488"/>
            <a:ext cx="201168" cy="201168"/>
          </a:xfrm>
          <a:prstGeom prst="rect">
            <a:avLst/>
          </a:prstGeom>
        </p:spPr>
      </p:pic>
      <p:pic>
        <p:nvPicPr>
          <p:cNvPr id="26" name="Image 1" descr="DraftingCompass icon">    </p:cNvPr>
          <p:cNvPicPr>
            <a:picLocks noChangeAspect="1"/>
          </p:cNvPicPr>
          <p:nvPr/>
        </p:nvPicPr>
        <p:blipFill>
          <a:blip r:embed="rId2"/>
          <a:stretch>
            <a:fillRect/>
          </a:stretch>
        </p:blipFill>
        <p:spPr>
          <a:xfrm>
            <a:off x="1578254" y="2858414"/>
            <a:ext cx="546811" cy="546811"/>
          </a:xfrm>
          <a:prstGeom prst="rect">
            <a:avLst/>
          </a:prstGeom>
        </p:spPr>
      </p:pic>
      <p:pic>
        <p:nvPicPr>
          <p:cNvPr id="27" name="Image 2" descr="Search icon">    </p:cNvPr>
          <p:cNvPicPr>
            <a:picLocks noChangeAspect="1"/>
          </p:cNvPicPr>
          <p:nvPr/>
        </p:nvPicPr>
        <p:blipFill>
          <a:blip r:embed="rId3"/>
          <a:stretch>
            <a:fillRect/>
          </a:stretch>
        </p:blipFill>
        <p:spPr>
          <a:xfrm>
            <a:off x="4394606" y="2858414"/>
            <a:ext cx="546811" cy="546811"/>
          </a:xfrm>
          <a:prstGeom prst="rect">
            <a:avLst/>
          </a:prstGeom>
        </p:spPr>
      </p:pic>
      <p:pic>
        <p:nvPicPr>
          <p:cNvPr id="28" name="Image 3" descr="ShieldAlt icon">    </p:cNvPr>
          <p:cNvPicPr>
            <a:picLocks noChangeAspect="1"/>
          </p:cNvPicPr>
          <p:nvPr/>
        </p:nvPicPr>
        <p:blipFill>
          <a:blip r:embed="rId4"/>
          <a:stretch>
            <a:fillRect/>
          </a:stretch>
        </p:blipFill>
        <p:spPr>
          <a:xfrm>
            <a:off x="7210958" y="2858414"/>
            <a:ext cx="546811" cy="546811"/>
          </a:xfrm>
          <a:prstGeom prst="rect">
            <a:avLst/>
          </a:prstGeom>
        </p:spPr>
      </p:pic>
      <p:pic>
        <p:nvPicPr>
          <p:cNvPr id="29" name="Image 4" descr="TachometerAlt icon">    </p:cNvPr>
          <p:cNvPicPr>
            <a:picLocks noChangeAspect="1"/>
          </p:cNvPicPr>
          <p:nvPr/>
        </p:nvPicPr>
        <p:blipFill>
          <a:blip r:embed="rId5"/>
          <a:stretch>
            <a:fillRect/>
          </a:stretch>
        </p:blipFill>
        <p:spPr>
          <a:xfrm>
            <a:off x="10027310" y="2858414"/>
            <a:ext cx="546811" cy="546811"/>
          </a:xfrm>
          <a:prstGeom prst="rect">
            <a:avLst/>
          </a:prstGeom>
        </p:spPr>
      </p:pic>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38</a:t>
            </a:fld>
            <a:endParaRPr lang="en-US"/>
          </a:p>
        </p:txBody>
      </p:sp>
    </p:spTree>
  </p:cSld>
  <p:clrMapOvr>
    <a:masterClrMapping/>
  </p:clrMapOvr>
</p:sld>
</file>

<file path=ppt/theme/theme1.xml><?xml version="1.0" encoding="utf-8"?>
<a:theme xmlns:a="http://schemas.openxmlformats.org/drawingml/2006/main" name="Tech4Youth Edo">
  <a:themeElements>
    <a:clrScheme name="Tech4Youth Edo">
      <a:dk1>
        <a:srgbClr val="2B3034"/>
      </a:dk1>
      <a:lt1>
        <a:srgbClr val="FFFFFF"/>
      </a:lt1>
      <a:dk2>
        <a:srgbClr val="4C5459"/>
      </a:dk2>
      <a:lt2>
        <a:srgbClr val="F7F8F4"/>
      </a:lt2>
      <a:accent1>
        <a:srgbClr val="FE7801"/>
      </a:accent1>
      <a:accent2>
        <a:srgbClr val="9EC421"/>
      </a:accent2>
      <a:accent3>
        <a:srgbClr val="5E7D12"/>
      </a:accent3>
      <a:accent4>
        <a:srgbClr val="6B7378"/>
      </a:accent4>
      <a:accent5>
        <a:srgbClr val="E4E6E3"/>
      </a:accent5>
      <a:accent6>
        <a:srgbClr val="C65A00"/>
      </a:accent6>
      <a:hlink>
        <a:srgbClr val="5E7D12"/>
      </a:hlink>
      <a:folHlink>
        <a:srgbClr val="4C5459"/>
      </a:folHlink>
    </a:clrScheme>
    <a:fontScheme name="Tech4Youth Edo">
      <a:majorFont>
        <a:latin typeface="Poppi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oppi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AG Southern Limited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T13 SQL and Relational Modelling</dc:title>
  <dc:subject>PptxGenJS Presentation</dc:subject>
  <dc:creator>AG Southern Limited</dc:creator>
  <cp:lastModifiedBy>AG Southern Limited</cp:lastModifiedBy>
  <cp:revision>1</cp:revision>
  <dcterms:created xsi:type="dcterms:W3CDTF">2026-10-26T06:14:07Z</dcterms:created>
  <dcterms:modified xsi:type="dcterms:W3CDTF">2026-10-26T06:14:07Z</dcterms:modified>
</cp:coreProperties>
</file>
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move from the frontend to the backend. In React you call APIs with fetch; from now on you build the server that answers those calls. Before we write any Express code, we need to understand where our code runs: Node.js. Four topics today: the runtime, asynchronous I/O, the event loop, and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today. First, what Node.js actually is. Second, asynchronous I/O, the reason Node is good at servers. Third, the event loop, which explains the order your code runs in. Fourth, configuration: changing settings like the port without changing code. Fifth, HTTP basics: the methods and status codes every API uses. Everything here sets up the Express section that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Node.js is a runtime, not a language and not a framework. Walk the stack from top to bottom: our code sits on V8, the same JavaScript engine that runs inside Chrome. Below it is libuv, which talks to the operating system for files, network and timers, and runs the event loop. Analogy: V8 is the engine of a car; Node.js is the whole car, built to drive on servers instead of inside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what learners already know. The browser is sandboxed for safety: a website can’t read your files. Node has full access, which is what a server needs. There is no DOM in Node, so window, document and localStorage don’t exist there. A common first error is “document is not defined”. On the TypeScript note: types help while coding, but they are gone when the code runs, which is why we will validate request data later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Servers spend most of their time waiting: for the database, for files, for other APIs. If a server blocks while waiting, it can only serve one user at a time. Node uses non-blocking I/O: it starts the task, moves on, and comes back when the result is ready. Tell the waiter story. Ask the class: which waiter would you hire for a busy restaurant?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Node APIs come in two versions: async, and a Sync version. Inside an API route always use the async version with await. Common mistake: forgetting await, and getting a Promise instead of the data. Another misconception: async does not create new threads; two heavy async functions still run one at a time on the main thread. It only means Node can wait without blocking.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one main thread, one callback at a time. The simple rule learners need: synchronous code first, then microtasks (promises and code after await), then timers and I/O callbacks. The phases row is for curious learners: timers run setTimeout callbacks, poll handles I/O such as incoming requests, check runs setImmediate, close runs cleanup. Analogy: one cashier, one queue; VIP customers (promises) are served before regular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a minute to predict before revealing. Most people guess A, B, C, D. The answer is A, D, C, B. A and D are synchronous, so they run first. C is a promise callback, a microtask, so it runs right after the synchronous code. B is a timer; even with 0 milliseconds it waits for the next timers phase of the loop. Lesson: setTimeout with 0 does not mean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takes several seconds of pure CPU work. While it runs, Node cannot run any other callback, so even a simple health check waits. This is the most common cause of “the whole API got slow” in Node apps. Fixes: use async APIs for I/O; move heavy calculations off the main thread with worker threads or a background job; keep route handlers short. Note: wrapping heavy code in a Promise does not fix it; it still runs on the main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Configuration is anything that changes between environments without changing code. Locally we keep values in a .env file and load it with the --env-file flag: our dev script is tsx watch --env-file=.env src/server.ts. We read process.env once, in config/env.ts, and every other file imports env. Three gotchas: values are always strings, so "3000" + 1 is "30001"; never commit .env, commit a .env.example with fake values; and on a Mac, port 5000 is taken by AirPlay Receiver, which answers with 403 Forbidden.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row and ask learners which slide it relates to. The first and fourth rows are about blocking the event loop. The second is about async code. The third is the event-loop order from the prediction exercise. The last two are configuration: environment values are strings, and secrets never go into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language our server speaks: HTTP. Learners already send requests with fetch; here we look at both sides. A request has a method, the action, and a URL, the resource. It can carry headers and a body. The server always answers with a status code, the result, plus headers and usually a JSON body. The next slides cover methods, then status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tells the server what to do with the resource in the URL. The same URL, /api/tasks/42, can be read with GET, updated with PATCH or PUT, and removed with DELETE. GET and DELETE usually have no body; POST, PUT and PATCH send JSON in the body. Common mistake: putting the action in the URL, like /getTasks or /deleteTask. The method already says the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and PATCH both update, but differently. PATCH changes only the fields you send. PUT replaces the whole resource with what you send, so anything you leave out is lost. Most APIs, including ours, use PATCH for updates. Two useful words: safe means the request changes nothing, which is true for GET. Idempotent means sending the same request again gives the same result. GET, PUT and DELETE are idempotent; POST is not, because sending it twice creates two tasks. Analogy: pressing a lift button for floor 5 many times still takes you to floor 5 once; pressing a vending machine’s buy button many times gives many snacks.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don’t need to memorize every code. The first digit already tells most of the story. 2xx means success. 3xx means redirect, which we rarely use in a JSON API. 4xx means the client did something wrong, so sending the same request again won’t help. 5xx means the server failed, which is our fault, and the request may work later. Monitoring tools count 5xx errors as our problems, so using the right code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nine codes cover almost everything in a beginner API. Success: 200 for reads and updates, 201 when POST creates something, 204 when there is nothing to send back, like after a delete. Client errors: 400 for bad request data, 401 when the user is not logged in, 403 when they are logged in but not allowed, 404 when the thing doesn’t exist, 409 when the action clashes with the current state. Server error: 500 for a bug. In our Express app, services throw AppError with the right code and the error handler sends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to what learners already know from React. fetch only rejects on a network failure, not on a 404 or 500, so the frontend checks res.ok. That only works if the server sends honest status codes. Walk through the four mistakes: sending 200 with an error message hides failures; an empty list is still a success; 401 means not logged in while 403 means logged in but not allowed; and a 204 response must have no body. In our API, every error comes back as { success: false, message } with the right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six ideas. Ask one or two learners to explain the event-loop order in their own words, and ask which status code to send when a task doesn’t exist. Then bridge to the next section: Express runs on Node, every request is handled by the event loop, routes use these HTTP methods, and our error handler sends these status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16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16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B"/>
        </a:solidFill>
      </p:bgPr>
    </p:bg>
    <p:spTree>
      <p:nvGrpSpPr>
        <p:cNvPr id="1" name=""/>
        <p:cNvGrpSpPr/>
        <p:nvPr/>
      </p:nvGrpSpPr>
      <p:grpSpPr>
        <a:xfrm>
          <a:off x="0" y="0"/>
          <a:ext cx="0" cy="0"/>
          <a:chOff x="0" y="0"/>
          <a:chExt cx="0" cy="0"/>
        </a:xfrm>
      </p:grpSpPr>
      <p:sp>
        <p:nvSpPr>
          <p:cNvPr id="2" name="Text 0"/>
          <p:cNvSpPr/>
          <p:nvPr/>
        </p:nvSpPr>
        <p:spPr>
          <a:xfrm>
            <a:off x="812800" y="2232174"/>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FD9AE"/>
                </a:solidFill>
                <a:latin typeface="JetBrains Mono" pitchFamily="49" charset="0"/>
                <a:ea typeface="JetBrains Mono" pitchFamily="49" charset="-122"/>
                <a:cs typeface="JetBrains Mono" pitchFamily="49" charset="-120"/>
              </a:rPr>
              <a:t>BACKEND FOUNDATIONS · PART 1</a:t>
            </a:r>
            <a:endParaRPr lang="en-US" sz="1400" dirty="0"/>
          </a:p>
        </p:txBody>
      </p:sp>
      <p:sp>
        <p:nvSpPr>
          <p:cNvPr id="3" name="Text 1"/>
          <p:cNvSpPr/>
          <p:nvPr>
            <p:ph type="title"/>
          </p:nvPr>
        </p:nvSpPr>
        <p:spPr>
          <a:xfrm>
            <a:off x="812800" y="2735064"/>
            <a:ext cx="10883392" cy="1342132"/>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6F5F0"/>
                </a:solidFill>
                <a:latin typeface="IBM Plex Sans" pitchFamily="34" charset="0"/>
                <a:ea typeface="IBM Plex Sans" pitchFamily="34" charset="-122"/>
                <a:cs typeface="IBM Plex Sans" pitchFamily="34" charset="-120"/>
              </a:rPr>
              <a:t>Node.js: Runtime,</a:t>
            </a:r>
            <a:endParaRPr lang="en-US" sz="4800" dirty="0"/>
          </a:p>
          <a:p>
            <a:pPr algn="l" indent="0" marL="0">
              <a:lnSpc>
                <a:spcPts val="5184"/>
              </a:lnSpc>
              <a:buNone/>
            </a:pPr>
            <a:r>
              <a:rPr lang="en-US" sz="4800" b="1" i="0" dirty="0">
                <a:solidFill>
                  <a:srgbClr val="F6F5F0"/>
                </a:solidFill>
                <a:latin typeface="IBM Plex Sans" pitchFamily="34" charset="0"/>
                <a:ea typeface="IBM Plex Sans" pitchFamily="34" charset="-122"/>
                <a:cs typeface="IBM Plex Sans" pitchFamily="34" charset="-120"/>
              </a:rPr>
              <a:t>Async I/O &amp; the Event Loop</a:t>
            </a:r>
            <a:endParaRPr lang="en-US" sz="4800" dirty="0"/>
          </a:p>
        </p:txBody>
      </p:sp>
      <p:sp>
        <p:nvSpPr>
          <p:cNvPr id="4" name="Text 2"/>
          <p:cNvSpPr/>
          <p:nvPr/>
        </p:nvSpPr>
        <p:spPr>
          <a:xfrm>
            <a:off x="812800" y="4305796"/>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CAD3"/>
                </a:solidFill>
                <a:latin typeface="IBM Plex Sans" pitchFamily="34" charset="0"/>
                <a:ea typeface="IBM Plex Sans" pitchFamily="34" charset="-122"/>
                <a:cs typeface="IBM Plex Sans" pitchFamily="34" charset="-120"/>
              </a:rPr>
              <a:t>How Node runs your code, why it can handle many requests at once, and how to configure it.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What we’ll cover today</a:t>
            </a:r>
            <a:endParaRPr lang="en-US" sz="3200" dirty="0"/>
          </a:p>
        </p:txBody>
      </p:sp>
      <p:sp>
        <p:nvSpPr>
          <p:cNvPr id="3" name="Shape 1"/>
          <p:cNvSpPr/>
          <p:nvPr/>
        </p:nvSpPr>
        <p:spPr>
          <a:xfrm>
            <a:off x="815975" y="1669405"/>
            <a:ext cx="1984970" cy="1802061"/>
          </a:xfrm>
          <a:prstGeom prst="roundRect">
            <a:avLst>
              <a:gd name="adj" fmla="val 5462"/>
            </a:avLst>
          </a:prstGeom>
          <a:solidFill>
            <a:srgbClr val="FFFEFB"/>
          </a:solidFill>
          <a:ln w="6350">
            <a:solidFill>
              <a:srgbClr val="DEDBD2"/>
            </a:solidFill>
            <a:prstDash val="solid"/>
          </a:ln>
        </p:spPr>
      </p:sp>
      <p:sp>
        <p:nvSpPr>
          <p:cNvPr id="4" name="Text 2"/>
          <p:cNvSpPr/>
          <p:nvPr/>
        </p:nvSpPr>
        <p:spPr>
          <a:xfrm>
            <a:off x="1022350" y="1875780"/>
            <a:ext cx="162302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7A55"/>
                </a:solidFill>
                <a:latin typeface="JetBrains Mono" pitchFamily="49" charset="0"/>
                <a:ea typeface="JetBrains Mono" pitchFamily="49" charset="-122"/>
                <a:cs typeface="JetBrains Mono" pitchFamily="49" charset="-120"/>
              </a:rPr>
              <a:t>01</a:t>
            </a:r>
            <a:endParaRPr lang="en-US" sz="1400" dirty="0"/>
          </a:p>
        </p:txBody>
      </p:sp>
      <p:sp>
        <p:nvSpPr>
          <p:cNvPr id="5" name="Text 3"/>
          <p:cNvSpPr/>
          <p:nvPr/>
        </p:nvSpPr>
        <p:spPr>
          <a:xfrm>
            <a:off x="1022350" y="2226270"/>
            <a:ext cx="16230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The runtime</a:t>
            </a:r>
            <a:endParaRPr lang="en-US" sz="1600" dirty="0"/>
          </a:p>
        </p:txBody>
      </p:sp>
      <p:sp>
        <p:nvSpPr>
          <p:cNvPr id="6" name="Text 4"/>
          <p:cNvSpPr/>
          <p:nvPr/>
        </p:nvSpPr>
        <p:spPr>
          <a:xfrm>
            <a:off x="1022350" y="2571700"/>
            <a:ext cx="162302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What Node.js is and how it differs from the browser</a:t>
            </a:r>
            <a:endParaRPr lang="en-US" sz="1300" dirty="0"/>
          </a:p>
        </p:txBody>
      </p:sp>
      <p:sp>
        <p:nvSpPr>
          <p:cNvPr id="7" name="Shape 5"/>
          <p:cNvSpPr/>
          <p:nvPr/>
        </p:nvSpPr>
        <p:spPr>
          <a:xfrm>
            <a:off x="2959695" y="1669405"/>
            <a:ext cx="1985020" cy="1802061"/>
          </a:xfrm>
          <a:prstGeom prst="roundRect">
            <a:avLst>
              <a:gd name="adj" fmla="val 5462"/>
            </a:avLst>
          </a:prstGeom>
          <a:solidFill>
            <a:srgbClr val="FFFEFB"/>
          </a:solidFill>
          <a:ln w="6350">
            <a:solidFill>
              <a:srgbClr val="DEDBD2"/>
            </a:solidFill>
            <a:prstDash val="solid"/>
          </a:ln>
        </p:spPr>
      </p:sp>
      <p:sp>
        <p:nvSpPr>
          <p:cNvPr id="8" name="Text 6"/>
          <p:cNvSpPr/>
          <p:nvPr/>
        </p:nvSpPr>
        <p:spPr>
          <a:xfrm>
            <a:off x="3166070" y="1875780"/>
            <a:ext cx="16230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7A55"/>
                </a:solidFill>
                <a:latin typeface="JetBrains Mono" pitchFamily="49" charset="0"/>
                <a:ea typeface="JetBrains Mono" pitchFamily="49" charset="-122"/>
                <a:cs typeface="JetBrains Mono" pitchFamily="49" charset="-120"/>
              </a:rPr>
              <a:t>02</a:t>
            </a:r>
            <a:endParaRPr lang="en-US" sz="1400" dirty="0"/>
          </a:p>
        </p:txBody>
      </p:sp>
      <p:sp>
        <p:nvSpPr>
          <p:cNvPr id="9" name="Text 7"/>
          <p:cNvSpPr/>
          <p:nvPr/>
        </p:nvSpPr>
        <p:spPr>
          <a:xfrm>
            <a:off x="3166070" y="2226270"/>
            <a:ext cx="16230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Async I/O</a:t>
            </a:r>
            <a:endParaRPr lang="en-US" sz="1600" dirty="0"/>
          </a:p>
        </p:txBody>
      </p:sp>
      <p:sp>
        <p:nvSpPr>
          <p:cNvPr id="10" name="Text 8"/>
          <p:cNvSpPr/>
          <p:nvPr/>
        </p:nvSpPr>
        <p:spPr>
          <a:xfrm>
            <a:off x="3166070" y="2571700"/>
            <a:ext cx="162307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Blocking vs non-blocking, and why it matters</a:t>
            </a:r>
            <a:endParaRPr lang="en-US" sz="1300" dirty="0"/>
          </a:p>
        </p:txBody>
      </p:sp>
      <p:sp>
        <p:nvSpPr>
          <p:cNvPr id="11" name="Shape 9"/>
          <p:cNvSpPr/>
          <p:nvPr/>
        </p:nvSpPr>
        <p:spPr>
          <a:xfrm>
            <a:off x="5103465" y="1669405"/>
            <a:ext cx="1985020" cy="1802061"/>
          </a:xfrm>
          <a:prstGeom prst="roundRect">
            <a:avLst>
              <a:gd name="adj" fmla="val 5462"/>
            </a:avLst>
          </a:prstGeom>
          <a:solidFill>
            <a:srgbClr val="FFFEFB"/>
          </a:solidFill>
          <a:ln w="6350">
            <a:solidFill>
              <a:srgbClr val="DEDBD2"/>
            </a:solidFill>
            <a:prstDash val="solid"/>
          </a:ln>
        </p:spPr>
      </p:sp>
      <p:sp>
        <p:nvSpPr>
          <p:cNvPr id="12" name="Text 10"/>
          <p:cNvSpPr/>
          <p:nvPr/>
        </p:nvSpPr>
        <p:spPr>
          <a:xfrm>
            <a:off x="5309840" y="1875780"/>
            <a:ext cx="16230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7A55"/>
                </a:solidFill>
                <a:latin typeface="JetBrains Mono" pitchFamily="49" charset="0"/>
                <a:ea typeface="JetBrains Mono" pitchFamily="49" charset="-122"/>
                <a:cs typeface="JetBrains Mono" pitchFamily="49" charset="-120"/>
              </a:rPr>
              <a:t>03</a:t>
            </a:r>
            <a:endParaRPr lang="en-US" sz="1400" dirty="0"/>
          </a:p>
        </p:txBody>
      </p:sp>
      <p:sp>
        <p:nvSpPr>
          <p:cNvPr id="13" name="Text 11"/>
          <p:cNvSpPr/>
          <p:nvPr/>
        </p:nvSpPr>
        <p:spPr>
          <a:xfrm>
            <a:off x="5309840" y="2226270"/>
            <a:ext cx="16230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The event loop</a:t>
            </a:r>
            <a:endParaRPr lang="en-US" sz="1600" dirty="0"/>
          </a:p>
        </p:txBody>
      </p:sp>
      <p:sp>
        <p:nvSpPr>
          <p:cNvPr id="14" name="Text 12"/>
          <p:cNvSpPr/>
          <p:nvPr/>
        </p:nvSpPr>
        <p:spPr>
          <a:xfrm>
            <a:off x="5309840" y="2571700"/>
            <a:ext cx="162307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How Node decides what code runs next</a:t>
            </a:r>
            <a:endParaRPr lang="en-US" sz="1300" dirty="0"/>
          </a:p>
        </p:txBody>
      </p:sp>
      <p:sp>
        <p:nvSpPr>
          <p:cNvPr id="15" name="Shape 13"/>
          <p:cNvSpPr/>
          <p:nvPr/>
        </p:nvSpPr>
        <p:spPr>
          <a:xfrm>
            <a:off x="7247235" y="1669405"/>
            <a:ext cx="1985020" cy="1802061"/>
          </a:xfrm>
          <a:prstGeom prst="roundRect">
            <a:avLst>
              <a:gd name="adj" fmla="val 5462"/>
            </a:avLst>
          </a:prstGeom>
          <a:solidFill>
            <a:srgbClr val="FFFEFB"/>
          </a:solidFill>
          <a:ln w="6350">
            <a:solidFill>
              <a:srgbClr val="DEDBD2"/>
            </a:solidFill>
            <a:prstDash val="solid"/>
          </a:ln>
        </p:spPr>
      </p:sp>
      <p:sp>
        <p:nvSpPr>
          <p:cNvPr id="16" name="Text 14"/>
          <p:cNvSpPr/>
          <p:nvPr/>
        </p:nvSpPr>
        <p:spPr>
          <a:xfrm>
            <a:off x="7453610" y="1875780"/>
            <a:ext cx="16230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7A55"/>
                </a:solidFill>
                <a:latin typeface="JetBrains Mono" pitchFamily="49" charset="0"/>
                <a:ea typeface="JetBrains Mono" pitchFamily="49" charset="-122"/>
                <a:cs typeface="JetBrains Mono" pitchFamily="49" charset="-120"/>
              </a:rPr>
              <a:t>04</a:t>
            </a:r>
            <a:endParaRPr lang="en-US" sz="1400" dirty="0"/>
          </a:p>
        </p:txBody>
      </p:sp>
      <p:sp>
        <p:nvSpPr>
          <p:cNvPr id="17" name="Text 15"/>
          <p:cNvSpPr/>
          <p:nvPr/>
        </p:nvSpPr>
        <p:spPr>
          <a:xfrm>
            <a:off x="7453610" y="2226270"/>
            <a:ext cx="16230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Configuration</a:t>
            </a:r>
            <a:endParaRPr lang="en-US" sz="1600" dirty="0"/>
          </a:p>
        </p:txBody>
      </p:sp>
      <p:sp>
        <p:nvSpPr>
          <p:cNvPr id="18" name="Text 16"/>
          <p:cNvSpPr/>
          <p:nvPr/>
        </p:nvSpPr>
        <p:spPr>
          <a:xfrm>
            <a:off x="7453610" y="2571700"/>
            <a:ext cx="162307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Settings with environment variables</a:t>
            </a:r>
            <a:endParaRPr lang="en-US" sz="1300" dirty="0"/>
          </a:p>
        </p:txBody>
      </p:sp>
      <p:sp>
        <p:nvSpPr>
          <p:cNvPr id="19" name="Shape 17"/>
          <p:cNvSpPr/>
          <p:nvPr/>
        </p:nvSpPr>
        <p:spPr>
          <a:xfrm>
            <a:off x="9391005" y="1669405"/>
            <a:ext cx="1985020" cy="1802061"/>
          </a:xfrm>
          <a:prstGeom prst="roundRect">
            <a:avLst>
              <a:gd name="adj" fmla="val 5462"/>
            </a:avLst>
          </a:prstGeom>
          <a:solidFill>
            <a:srgbClr val="FFFEFB"/>
          </a:solidFill>
          <a:ln w="6350">
            <a:solidFill>
              <a:srgbClr val="DEDBD2"/>
            </a:solidFill>
            <a:prstDash val="solid"/>
          </a:ln>
        </p:spPr>
      </p:sp>
      <p:sp>
        <p:nvSpPr>
          <p:cNvPr id="20" name="Text 18"/>
          <p:cNvSpPr/>
          <p:nvPr/>
        </p:nvSpPr>
        <p:spPr>
          <a:xfrm>
            <a:off x="9597380" y="1875780"/>
            <a:ext cx="162307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7A55"/>
                </a:solidFill>
                <a:latin typeface="JetBrains Mono" pitchFamily="49" charset="0"/>
                <a:ea typeface="JetBrains Mono" pitchFamily="49" charset="-122"/>
                <a:cs typeface="JetBrains Mono" pitchFamily="49" charset="-120"/>
              </a:rPr>
              <a:t>05</a:t>
            </a:r>
            <a:endParaRPr lang="en-US" sz="1400" dirty="0"/>
          </a:p>
        </p:txBody>
      </p:sp>
      <p:sp>
        <p:nvSpPr>
          <p:cNvPr id="21" name="Text 19"/>
          <p:cNvSpPr/>
          <p:nvPr/>
        </p:nvSpPr>
        <p:spPr>
          <a:xfrm>
            <a:off x="9597380" y="2226270"/>
            <a:ext cx="16230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HTTP basics</a:t>
            </a:r>
            <a:endParaRPr lang="en-US" sz="1600" dirty="0"/>
          </a:p>
        </p:txBody>
      </p:sp>
      <p:sp>
        <p:nvSpPr>
          <p:cNvPr id="22" name="Text 20"/>
          <p:cNvSpPr/>
          <p:nvPr/>
        </p:nvSpPr>
        <p:spPr>
          <a:xfrm>
            <a:off x="9597380" y="2571700"/>
            <a:ext cx="162307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Methods and status codes</a:t>
            </a:r>
            <a:endParaRPr lang="en-US" sz="1300" dirty="0"/>
          </a:p>
        </p:txBody>
      </p:sp>
      <p:sp>
        <p:nvSpPr>
          <p:cNvPr id="23" name="Text 21"/>
          <p:cNvSpPr/>
          <p:nvPr/>
        </p:nvSpPr>
        <p:spPr>
          <a:xfrm>
            <a:off x="812800" y="55753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5505C"/>
                </a:solidFill>
                <a:latin typeface="IBM Plex Sans" pitchFamily="34" charset="0"/>
                <a:ea typeface="IBM Plex Sans" pitchFamily="34" charset="-122"/>
                <a:cs typeface="IBM Plex Sans" pitchFamily="34" charset="-120"/>
              </a:rPr>
              <a:t>Goal: understand </a:t>
            </a:r>
            <a:r>
              <a:rPr lang="en-US" sz="1500" b="1" dirty="0">
                <a:solidFill>
                  <a:srgbClr val="45505C"/>
                </a:solidFill>
                <a:latin typeface="IBM Plex Sans" pitchFamily="34" charset="0"/>
                <a:ea typeface="IBM Plex Sans" pitchFamily="34" charset="-122"/>
                <a:cs typeface="IBM Plex Sans" pitchFamily="34" charset="-120"/>
              </a:rPr>
              <a:t>where</a:t>
            </a:r>
            <a:r>
              <a:rPr lang="en-US" sz="1500" dirty="0">
                <a:solidFill>
                  <a:srgbClr val="45505C"/>
                </a:solidFill>
                <a:latin typeface="IBM Plex Sans" pitchFamily="34" charset="0"/>
                <a:ea typeface="IBM Plex Sans" pitchFamily="34" charset="-122"/>
                <a:cs typeface="IBM Plex Sans" pitchFamily="34" charset="-120"/>
              </a:rPr>
              <a:t> your backend code runs and </a:t>
            </a:r>
            <a:r>
              <a:rPr lang="en-US" sz="1500" b="1" dirty="0">
                <a:solidFill>
                  <a:srgbClr val="45505C"/>
                </a:solidFill>
                <a:latin typeface="IBM Plex Sans" pitchFamily="34" charset="0"/>
                <a:ea typeface="IBM Plex Sans" pitchFamily="34" charset="-122"/>
                <a:cs typeface="IBM Plex Sans" pitchFamily="34" charset="-120"/>
              </a:rPr>
              <a:t>how</a:t>
            </a:r>
            <a:r>
              <a:rPr lang="en-US" sz="1500" dirty="0">
                <a:solidFill>
                  <a:srgbClr val="45505C"/>
                </a:solidFill>
                <a:latin typeface="IBM Plex Sans" pitchFamily="34" charset="0"/>
                <a:ea typeface="IBM Plex Sans" pitchFamily="34" charset="-122"/>
                <a:cs typeface="IBM Plex Sans" pitchFamily="34" charset="-120"/>
              </a:rPr>
              <a:t> it talks to clients, before we build an API with Express.</a:t>
            </a:r>
            <a:endParaRPr lang="en-US" sz="1500"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What is Node.js?</a:t>
            </a:r>
            <a:endParaRPr lang="en-US" sz="3200" dirty="0"/>
          </a:p>
        </p:txBody>
      </p:sp>
      <p:sp>
        <p:nvSpPr>
          <p:cNvPr id="3" name="Text 1"/>
          <p:cNvSpPr/>
          <p:nvPr/>
        </p:nvSpPr>
        <p:spPr>
          <a:xfrm>
            <a:off x="812800" y="2247850"/>
            <a:ext cx="5755640"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02B"/>
                </a:solidFill>
                <a:latin typeface="IBM Plex Sans" pitchFamily="34" charset="0"/>
                <a:ea typeface="IBM Plex Sans" pitchFamily="34" charset="-122"/>
                <a:cs typeface="IBM Plex Sans" pitchFamily="34" charset="-120"/>
              </a:rPr>
              <a:t>A </a:t>
            </a:r>
            <a:r>
              <a:rPr lang="en-US" sz="2000" b="1" dirty="0">
                <a:solidFill>
                  <a:srgbClr val="2D7A55"/>
                </a:solidFill>
                <a:latin typeface="IBM Plex Sans" pitchFamily="34" charset="0"/>
                <a:ea typeface="IBM Plex Sans" pitchFamily="34" charset="-122"/>
                <a:cs typeface="IBM Plex Sans" pitchFamily="34" charset="-120"/>
              </a:rPr>
              <a:t>runtime</a:t>
            </a:r>
            <a:r>
              <a:rPr lang="en-US" sz="2000" b="1" dirty="0">
                <a:solidFill>
                  <a:srgbClr val="16202B"/>
                </a:solidFill>
                <a:latin typeface="IBM Plex Sans" pitchFamily="34" charset="0"/>
                <a:ea typeface="IBM Plex Sans" pitchFamily="34" charset="-122"/>
                <a:cs typeface="IBM Plex Sans" pitchFamily="34" charset="-120"/>
              </a:rPr>
              <a:t>: a program that runs JavaScript outside the browser.</a:t>
            </a:r>
            <a:endParaRPr lang="en-US" sz="2000" dirty="0"/>
          </a:p>
        </p:txBody>
      </p:sp>
      <p:sp>
        <p:nvSpPr>
          <p:cNvPr id="4" name="Text 2"/>
          <p:cNvSpPr/>
          <p:nvPr/>
        </p:nvSpPr>
        <p:spPr>
          <a:xfrm>
            <a:off x="812800" y="3111450"/>
            <a:ext cx="575564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5505C"/>
                </a:solidFill>
                <a:latin typeface="IBM Plex Sans" pitchFamily="34" charset="0"/>
                <a:ea typeface="IBM Plex Sans" pitchFamily="34" charset="-122"/>
                <a:cs typeface="IBM Plex Sans" pitchFamily="34" charset="-120"/>
              </a:rPr>
              <a:t>It runs on servers and on your computer, so you can build APIs, scripts and tools with the language you already know.</a:t>
            </a:r>
            <a:endParaRPr lang="en-US" sz="1500" dirty="0"/>
          </a:p>
        </p:txBody>
      </p:sp>
      <p:sp>
        <p:nvSpPr>
          <p:cNvPr id="5" name="Text 3"/>
          <p:cNvSpPr/>
          <p:nvPr/>
        </p:nvSpPr>
        <p:spPr>
          <a:xfrm>
            <a:off x="812800" y="3867100"/>
            <a:ext cx="575564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5505C"/>
                </a:solidFill>
                <a:latin typeface="IBM Plex Sans" pitchFamily="34" charset="0"/>
                <a:ea typeface="IBM Plex Sans" pitchFamily="34" charset="-122"/>
                <a:cs typeface="IBM Plex Sans" pitchFamily="34" charset="-120"/>
              </a:rPr>
              <a:t>Not a language (that’s JavaScript/TypeScript). Not a framework (that’s Express).</a:t>
            </a:r>
            <a:endParaRPr lang="en-US" sz="1500" dirty="0"/>
          </a:p>
        </p:txBody>
      </p:sp>
      <p:sp>
        <p:nvSpPr>
          <p:cNvPr id="6" name="Shape 4"/>
          <p:cNvSpPr/>
          <p:nvPr/>
        </p:nvSpPr>
        <p:spPr>
          <a:xfrm>
            <a:off x="6813550" y="1570980"/>
            <a:ext cx="4559300" cy="881360"/>
          </a:xfrm>
          <a:custGeom>
            <a:avLst/>
            <a:gdLst/>
            <a:ahLst/>
            <a:cxnLst/>
            <a:rect l="l" t="t" r="r" b="b"/>
            <a:pathLst>
              <a:path w="4559300" h="881360">
                <a:moveTo>
                  <a:pt x="95250" y="0"/>
                </a:moveTo>
                <a:lnTo>
                  <a:pt x="4464050" y="0"/>
                </a:lnTo>
                <a:arcTo hR="95250" wR="95250" stAng="16200000" swAng="5400000"/>
                <a:lnTo>
                  <a:pt x="4559300" y="881360"/>
                </a:lnTo>
                <a:lnTo>
                  <a:pt x="0" y="881360"/>
                </a:lnTo>
                <a:lnTo>
                  <a:pt x="0" y="95250"/>
                </a:lnTo>
                <a:arcTo hR="95250" wR="95250" stAng="10800000" swAng="5400000"/>
                <a:close/>
              </a:path>
            </a:pathLst>
          </a:custGeom>
          <a:solidFill>
            <a:srgbClr val="FFFEFB"/>
          </a:solidFill>
          <a:ln w="12700">
            <a:solidFill>
              <a:srgbClr val="16202B"/>
            </a:solidFill>
            <a:prstDash val="solid"/>
          </a:ln>
        </p:spPr>
      </p:sp>
      <p:sp>
        <p:nvSpPr>
          <p:cNvPr id="7" name="Text 5"/>
          <p:cNvSpPr/>
          <p:nvPr/>
        </p:nvSpPr>
        <p:spPr>
          <a:xfrm>
            <a:off x="7048500" y="1755130"/>
            <a:ext cx="421208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Your code</a:t>
            </a:r>
            <a:endParaRPr lang="en-US" sz="1600" dirty="0"/>
          </a:p>
        </p:txBody>
      </p:sp>
      <p:sp>
        <p:nvSpPr>
          <p:cNvPr id="8" name="Text 6"/>
          <p:cNvSpPr/>
          <p:nvPr/>
        </p:nvSpPr>
        <p:spPr>
          <a:xfrm>
            <a:off x="7048500" y="2037060"/>
            <a:ext cx="421208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JavaScript / TypeScript</a:t>
            </a:r>
            <a:endParaRPr lang="en-US" sz="1300" dirty="0"/>
          </a:p>
        </p:txBody>
      </p:sp>
      <p:sp>
        <p:nvSpPr>
          <p:cNvPr id="9" name="Shape 7"/>
          <p:cNvSpPr/>
          <p:nvPr/>
        </p:nvSpPr>
        <p:spPr>
          <a:xfrm>
            <a:off x="6807200" y="2458690"/>
            <a:ext cx="4572000" cy="881360"/>
          </a:xfrm>
          <a:prstGeom prst="rect">
            <a:avLst/>
          </a:prstGeom>
          <a:solidFill>
            <a:srgbClr val="DDEFE4"/>
          </a:solidFill>
          <a:ln/>
        </p:spPr>
      </p:sp>
      <p:sp>
        <p:nvSpPr>
          <p:cNvPr id="10" name="Shape 8"/>
          <p:cNvSpPr/>
          <p:nvPr/>
        </p:nvSpPr>
        <p:spPr>
          <a:xfrm>
            <a:off x="11372850" y="2458690"/>
            <a:ext cx="0" cy="881360"/>
          </a:xfrm>
          <a:prstGeom prst="line">
            <a:avLst/>
          </a:prstGeom>
          <a:noFill/>
          <a:ln w="12700">
            <a:solidFill>
              <a:srgbClr val="16202B"/>
            </a:solidFill>
            <a:prstDash val="solid"/>
          </a:ln>
        </p:spPr>
      </p:sp>
      <p:sp>
        <p:nvSpPr>
          <p:cNvPr id="11" name="Shape 9"/>
          <p:cNvSpPr/>
          <p:nvPr/>
        </p:nvSpPr>
        <p:spPr>
          <a:xfrm>
            <a:off x="6807200" y="3333700"/>
            <a:ext cx="4572000" cy="0"/>
          </a:xfrm>
          <a:prstGeom prst="line">
            <a:avLst/>
          </a:prstGeom>
          <a:noFill/>
          <a:ln w="12700">
            <a:solidFill>
              <a:srgbClr val="16202B"/>
            </a:solidFill>
            <a:prstDash val="solid"/>
          </a:ln>
        </p:spPr>
      </p:sp>
      <p:sp>
        <p:nvSpPr>
          <p:cNvPr id="12" name="Shape 10"/>
          <p:cNvSpPr/>
          <p:nvPr/>
        </p:nvSpPr>
        <p:spPr>
          <a:xfrm>
            <a:off x="6813550" y="2458690"/>
            <a:ext cx="0" cy="881360"/>
          </a:xfrm>
          <a:prstGeom prst="line">
            <a:avLst/>
          </a:prstGeom>
          <a:noFill/>
          <a:ln w="12700">
            <a:solidFill>
              <a:srgbClr val="16202B"/>
            </a:solidFill>
            <a:prstDash val="solid"/>
          </a:ln>
        </p:spPr>
      </p:sp>
      <p:sp>
        <p:nvSpPr>
          <p:cNvPr id="13" name="Text 11"/>
          <p:cNvSpPr/>
          <p:nvPr/>
        </p:nvSpPr>
        <p:spPr>
          <a:xfrm>
            <a:off x="7048500" y="2636490"/>
            <a:ext cx="421208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V8</a:t>
            </a:r>
            <a:endParaRPr lang="en-US" sz="1600" dirty="0"/>
          </a:p>
        </p:txBody>
      </p:sp>
      <p:sp>
        <p:nvSpPr>
          <p:cNvPr id="14" name="Text 12"/>
          <p:cNvSpPr/>
          <p:nvPr/>
        </p:nvSpPr>
        <p:spPr>
          <a:xfrm>
            <a:off x="7048500" y="2918420"/>
            <a:ext cx="421208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03A"/>
                </a:solidFill>
                <a:latin typeface="IBM Plex Sans" pitchFamily="34" charset="0"/>
                <a:ea typeface="IBM Plex Sans" pitchFamily="34" charset="-122"/>
                <a:cs typeface="IBM Plex Sans" pitchFamily="34" charset="-120"/>
              </a:rPr>
              <a:t>The engine from Chrome: runs your JavaScript</a:t>
            </a:r>
            <a:endParaRPr lang="en-US" sz="1300" dirty="0"/>
          </a:p>
        </p:txBody>
      </p:sp>
      <p:sp>
        <p:nvSpPr>
          <p:cNvPr id="15" name="Shape 13"/>
          <p:cNvSpPr/>
          <p:nvPr/>
        </p:nvSpPr>
        <p:spPr>
          <a:xfrm>
            <a:off x="6807200" y="3340050"/>
            <a:ext cx="4572000" cy="881360"/>
          </a:xfrm>
          <a:prstGeom prst="rect">
            <a:avLst/>
          </a:prstGeom>
          <a:solidFill>
            <a:srgbClr val="DDEFE4"/>
          </a:solidFill>
          <a:ln/>
        </p:spPr>
      </p:sp>
      <p:sp>
        <p:nvSpPr>
          <p:cNvPr id="16" name="Shape 14"/>
          <p:cNvSpPr/>
          <p:nvPr/>
        </p:nvSpPr>
        <p:spPr>
          <a:xfrm>
            <a:off x="11372850" y="3340050"/>
            <a:ext cx="0" cy="881360"/>
          </a:xfrm>
          <a:prstGeom prst="line">
            <a:avLst/>
          </a:prstGeom>
          <a:noFill/>
          <a:ln w="12700">
            <a:solidFill>
              <a:srgbClr val="16202B"/>
            </a:solidFill>
            <a:prstDash val="solid"/>
          </a:ln>
        </p:spPr>
      </p:sp>
      <p:sp>
        <p:nvSpPr>
          <p:cNvPr id="17" name="Shape 15"/>
          <p:cNvSpPr/>
          <p:nvPr/>
        </p:nvSpPr>
        <p:spPr>
          <a:xfrm>
            <a:off x="6807200" y="4215061"/>
            <a:ext cx="4572000" cy="0"/>
          </a:xfrm>
          <a:prstGeom prst="line">
            <a:avLst/>
          </a:prstGeom>
          <a:noFill/>
          <a:ln w="12700">
            <a:solidFill>
              <a:srgbClr val="16202B"/>
            </a:solidFill>
            <a:prstDash val="solid"/>
          </a:ln>
        </p:spPr>
      </p:sp>
      <p:sp>
        <p:nvSpPr>
          <p:cNvPr id="18" name="Shape 16"/>
          <p:cNvSpPr/>
          <p:nvPr/>
        </p:nvSpPr>
        <p:spPr>
          <a:xfrm>
            <a:off x="6813550" y="3340050"/>
            <a:ext cx="0" cy="881360"/>
          </a:xfrm>
          <a:prstGeom prst="line">
            <a:avLst/>
          </a:prstGeom>
          <a:noFill/>
          <a:ln w="12700">
            <a:solidFill>
              <a:srgbClr val="16202B"/>
            </a:solidFill>
            <a:prstDash val="solid"/>
          </a:ln>
        </p:spPr>
      </p:sp>
      <p:sp>
        <p:nvSpPr>
          <p:cNvPr id="19" name="Text 17"/>
          <p:cNvSpPr/>
          <p:nvPr/>
        </p:nvSpPr>
        <p:spPr>
          <a:xfrm>
            <a:off x="7048500" y="3517850"/>
            <a:ext cx="421208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libuv</a:t>
            </a:r>
            <a:endParaRPr lang="en-US" sz="1600" dirty="0"/>
          </a:p>
        </p:txBody>
      </p:sp>
      <p:sp>
        <p:nvSpPr>
          <p:cNvPr id="20" name="Text 18"/>
          <p:cNvSpPr/>
          <p:nvPr/>
        </p:nvSpPr>
        <p:spPr>
          <a:xfrm>
            <a:off x="7048500" y="3799780"/>
            <a:ext cx="421208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03A"/>
                </a:solidFill>
                <a:latin typeface="IBM Plex Sans" pitchFamily="34" charset="0"/>
                <a:ea typeface="IBM Plex Sans" pitchFamily="34" charset="-122"/>
                <a:cs typeface="IBM Plex Sans" pitchFamily="34" charset="-120"/>
              </a:rPr>
              <a:t>Async I/O and the event loop</a:t>
            </a:r>
            <a:endParaRPr lang="en-US" sz="1300" dirty="0"/>
          </a:p>
        </p:txBody>
      </p:sp>
      <p:sp>
        <p:nvSpPr>
          <p:cNvPr id="21" name="Shape 19"/>
          <p:cNvSpPr/>
          <p:nvPr/>
        </p:nvSpPr>
        <p:spPr>
          <a:xfrm>
            <a:off x="6807200" y="4221411"/>
            <a:ext cx="4572000" cy="881360"/>
          </a:xfrm>
          <a:custGeom>
            <a:avLst/>
            <a:gdLst/>
            <a:ahLst/>
            <a:cxnLst/>
            <a:rect l="l" t="t" r="r" b="b"/>
            <a:pathLst>
              <a:path w="4572000" h="881360">
                <a:moveTo>
                  <a:pt x="0" y="0"/>
                </a:moveTo>
                <a:lnTo>
                  <a:pt x="4572000" y="0"/>
                </a:lnTo>
                <a:lnTo>
                  <a:pt x="4572000" y="779760"/>
                </a:lnTo>
                <a:arcTo hR="101600" wR="101600" stAng="0" swAng="5400000"/>
                <a:lnTo>
                  <a:pt x="101600" y="881360"/>
                </a:lnTo>
                <a:arcTo hR="101600" wR="101600" stAng="5400000" swAng="5400000"/>
                <a:lnTo>
                  <a:pt x="0" y="0"/>
                </a:lnTo>
                <a:close/>
              </a:path>
            </a:pathLst>
          </a:custGeom>
          <a:solidFill>
            <a:srgbClr val="16202B"/>
          </a:solidFill>
          <a:ln/>
        </p:spPr>
      </p:sp>
      <p:sp>
        <p:nvSpPr>
          <p:cNvPr id="22" name="Shape 20"/>
          <p:cNvSpPr/>
          <p:nvPr/>
        </p:nvSpPr>
        <p:spPr>
          <a:xfrm>
            <a:off x="6807200" y="4221411"/>
            <a:ext cx="4572000" cy="881360"/>
          </a:xfrm>
          <a:custGeom>
            <a:avLst/>
            <a:gdLst/>
            <a:ahLst/>
            <a:cxnLst/>
            <a:rect l="l" t="t" r="r" b="b"/>
            <a:pathLst>
              <a:path w="4572000" h="881360">
                <a:moveTo>
                  <a:pt x="4559300" y="0"/>
                </a:moveTo>
                <a:lnTo>
                  <a:pt x="4572000" y="0"/>
                </a:lnTo>
                <a:lnTo>
                  <a:pt x="4572000" y="779760"/>
                </a:lnTo>
                <a:arcTo hR="101600" wR="101600" stAng="0" swAng="5400000"/>
                <a:lnTo>
                  <a:pt x="101600" y="881360"/>
                </a:lnTo>
                <a:arcTo hR="101600" wR="101600" stAng="5400000" swAng="5400000"/>
                <a:lnTo>
                  <a:pt x="0" y="0"/>
                </a:lnTo>
                <a:lnTo>
                  <a:pt x="12700" y="0"/>
                </a:lnTo>
                <a:lnTo>
                  <a:pt x="12700" y="779760"/>
                </a:lnTo>
                <a:arcTo hR="88900" wR="88900" stAng="10800000" swAng="-5400000"/>
                <a:lnTo>
                  <a:pt x="4470400" y="868660"/>
                </a:lnTo>
                <a:arcTo hR="88900" wR="88900" stAng="5400000" swAng="-5400000"/>
                <a:lnTo>
                  <a:pt x="4559300" y="0"/>
                </a:lnTo>
                <a:close/>
              </a:path>
            </a:pathLst>
          </a:custGeom>
          <a:solidFill>
            <a:srgbClr val="16202B"/>
          </a:solidFill>
          <a:ln/>
        </p:spPr>
      </p:sp>
      <p:sp>
        <p:nvSpPr>
          <p:cNvPr id="23" name="Text 21"/>
          <p:cNvSpPr/>
          <p:nvPr/>
        </p:nvSpPr>
        <p:spPr>
          <a:xfrm>
            <a:off x="7048500" y="4399211"/>
            <a:ext cx="421208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5F0"/>
                </a:solidFill>
                <a:latin typeface="IBM Plex Sans" pitchFamily="34" charset="0"/>
                <a:ea typeface="IBM Plex Sans" pitchFamily="34" charset="-122"/>
                <a:cs typeface="IBM Plex Sans" pitchFamily="34" charset="-120"/>
              </a:rPr>
              <a:t>Operating system</a:t>
            </a:r>
            <a:endParaRPr lang="en-US" sz="1600" dirty="0"/>
          </a:p>
        </p:txBody>
      </p:sp>
      <p:sp>
        <p:nvSpPr>
          <p:cNvPr id="24" name="Text 22"/>
          <p:cNvSpPr/>
          <p:nvPr/>
        </p:nvSpPr>
        <p:spPr>
          <a:xfrm>
            <a:off x="7048500" y="4681141"/>
            <a:ext cx="421208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AD3"/>
                </a:solidFill>
                <a:latin typeface="IBM Plex Sans" pitchFamily="34" charset="0"/>
                <a:ea typeface="IBM Plex Sans" pitchFamily="34" charset="-122"/>
                <a:cs typeface="IBM Plex Sans" pitchFamily="34" charset="-120"/>
              </a:rPr>
              <a:t>Files, network, timers</a:t>
            </a:r>
            <a:endParaRPr lang="en-US" sz="1300" dirty="0"/>
          </a:p>
        </p:txBody>
      </p:sp>
      <p:sp>
        <p:nvSpPr>
          <p:cNvPr id="25"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Browser vs Node.js</a:t>
            </a:r>
            <a:endParaRPr lang="en-US" sz="3200" dirty="0"/>
          </a:p>
        </p:txBody>
      </p:sp>
      <p:sp>
        <p:nvSpPr>
          <p:cNvPr id="3" name="Shape 1"/>
          <p:cNvSpPr/>
          <p:nvPr/>
        </p:nvSpPr>
        <p:spPr>
          <a:xfrm>
            <a:off x="812800" y="1564630"/>
            <a:ext cx="10566400" cy="2495550"/>
          </a:xfrm>
          <a:prstGeom prst="rect">
            <a:avLst/>
          </a:prstGeom>
          <a:solidFill>
            <a:srgbClr val="FFFEFB"/>
          </a:solidFill>
          <a:ln/>
        </p:spPr>
      </p:sp>
      <p:sp>
        <p:nvSpPr>
          <p:cNvPr id="4" name="Shape 2"/>
          <p:cNvSpPr/>
          <p:nvPr/>
        </p:nvSpPr>
        <p:spPr>
          <a:xfrm>
            <a:off x="11376025" y="1564630"/>
            <a:ext cx="0" cy="2495550"/>
          </a:xfrm>
          <a:prstGeom prst="line">
            <a:avLst/>
          </a:prstGeom>
          <a:noFill/>
          <a:ln w="6350">
            <a:solidFill>
              <a:srgbClr val="DEDBD2"/>
            </a:solidFill>
            <a:prstDash val="solid"/>
          </a:ln>
        </p:spPr>
      </p:sp>
      <p:sp>
        <p:nvSpPr>
          <p:cNvPr id="5" name="Shape 3"/>
          <p:cNvSpPr/>
          <p:nvPr/>
        </p:nvSpPr>
        <p:spPr>
          <a:xfrm>
            <a:off x="812800" y="4057005"/>
            <a:ext cx="10566400" cy="0"/>
          </a:xfrm>
          <a:prstGeom prst="line">
            <a:avLst/>
          </a:prstGeom>
          <a:noFill/>
          <a:ln w="6350">
            <a:solidFill>
              <a:srgbClr val="DEDBD2"/>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577330"/>
          <a:ext cx="10547350" cy="2476500"/>
        </p:xfrm>
        <a:graphic>
          <a:graphicData uri="http://schemas.openxmlformats.org/drawingml/2006/table">
            <a:tbl>
              <a:tblPr/>
              <a:tblGrid>
                <a:gridCol w="2953258"/>
                <a:gridCol w="3797046"/>
                <a:gridCol w="3797046"/>
              </a:tblGrid>
              <a:tr h="412750">
                <a:tc>
                  <a:txBody>
                    <a:bodyPr/>
                    <a:lstStyle/>
                    <a:p>
                      <a:pPr indent="0" marL="0">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 </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c>
                  <a:txBody>
                    <a:bodyPr/>
                    <a:lstStyle/>
                    <a:p>
                      <a:pPr indent="0" marL="0">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Browser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61D26"/>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c>
                  <a:txBody>
                    <a:bodyPr/>
                    <a:lstStyle/>
                    <a:p>
                      <a:pPr indent="0" marL="0">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Node.js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61D26"/>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r>
              <a:tr h="412750">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Global object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window</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globalThis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DOM / document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No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412750">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Files &amp; network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Sandboxed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Full access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412750">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Used for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User interfaces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APIs, servers, scripts, tools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412750">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Version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The user’s browser decides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You choose and pin it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bl>
          </a:graphicData>
        </a:graphic>
      </p:graphicFrame>
      <p:sp>
        <p:nvSpPr>
          <p:cNvPr id="7" name="Shape 4"/>
          <p:cNvSpPr/>
          <p:nvPr/>
        </p:nvSpPr>
        <p:spPr>
          <a:xfrm>
            <a:off x="812800" y="4902200"/>
            <a:ext cx="10566400" cy="939800"/>
          </a:xfrm>
          <a:prstGeom prst="roundRect">
            <a:avLst>
              <a:gd name="adj" fmla="val 10811"/>
            </a:avLst>
          </a:prstGeom>
          <a:solidFill>
            <a:srgbClr val="DDEFE4"/>
          </a:solidFill>
          <a:ln/>
        </p:spPr>
      </p:sp>
      <p:pic>
        <p:nvPicPr>
          <p:cNvPr id="8" name="Image 0" descr="Lightbulb">    </p:cNvPr>
          <p:cNvPicPr>
            <a:picLocks noChangeAspect="1"/>
          </p:cNvPicPr>
          <p:nvPr/>
        </p:nvPicPr>
        <p:blipFill>
          <a:blip r:embed="rId1"/>
          <a:srcRect l="0" r="0" t="0" b="0"/>
          <a:stretch/>
        </p:blipFill>
        <p:spPr>
          <a:xfrm>
            <a:off x="1066800" y="5219700"/>
            <a:ext cx="304800" cy="304800"/>
          </a:xfrm>
          <a:prstGeom prst="rect">
            <a:avLst/>
          </a:prstGeom>
        </p:spPr>
      </p:pic>
      <p:sp>
        <p:nvSpPr>
          <p:cNvPr id="9" name="Text 5"/>
          <p:cNvSpPr/>
          <p:nvPr/>
        </p:nvSpPr>
        <p:spPr>
          <a:xfrm>
            <a:off x="1524000" y="5105400"/>
            <a:ext cx="988923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B"/>
                </a:solidFill>
                <a:latin typeface="IBM Plex Sans" pitchFamily="34" charset="0"/>
                <a:ea typeface="IBM Plex Sans" pitchFamily="34" charset="-122"/>
                <a:cs typeface="IBM Plex Sans" pitchFamily="34" charset="-120"/>
              </a:rPr>
              <a:t>TypeScript note:</a:t>
            </a:r>
            <a:r>
              <a:rPr lang="en-US" sz="1500" dirty="0">
                <a:solidFill>
                  <a:srgbClr val="16202B"/>
                </a:solidFill>
                <a:latin typeface="IBM Plex Sans" pitchFamily="34" charset="0"/>
                <a:ea typeface="IBM Plex Sans" pitchFamily="34" charset="-122"/>
                <a:cs typeface="IBM Plex Sans" pitchFamily="34" charset="-120"/>
              </a:rPr>
              <a:t> types are checked while you write code, then removed. Node runs plain JavaScript, so </a:t>
            </a:r>
            <a:r>
              <a:rPr lang="en-US" sz="1500" b="1" dirty="0">
                <a:solidFill>
                  <a:srgbClr val="16202B"/>
                </a:solidFill>
                <a:latin typeface="IBM Plex Sans" pitchFamily="34" charset="0"/>
                <a:ea typeface="IBM Plex Sans" pitchFamily="34" charset="-122"/>
                <a:cs typeface="IBM Plex Sans" pitchFamily="34" charset="-120"/>
              </a:rPr>
              <a:t>types don’t exist at runtime.</a:t>
            </a:r>
            <a:endParaRPr lang="en-US" sz="1500" dirty="0"/>
          </a:p>
        </p:txBody>
      </p:sp>
      <p:sp>
        <p:nvSpPr>
          <p:cNvPr id="10"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Blocking vs non-blocking I/O</a:t>
            </a:r>
            <a:endParaRPr lang="en-US" sz="3200" dirty="0"/>
          </a:p>
        </p:txBody>
      </p:sp>
      <p:sp>
        <p:nvSpPr>
          <p:cNvPr id="3" name="Text 1"/>
          <p:cNvSpPr/>
          <p:nvPr/>
        </p:nvSpPr>
        <p:spPr>
          <a:xfrm>
            <a:off x="812800" y="151383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02B"/>
                </a:solidFill>
                <a:latin typeface="IBM Plex Sans" pitchFamily="34" charset="0"/>
                <a:ea typeface="IBM Plex Sans" pitchFamily="34" charset="-122"/>
                <a:cs typeface="IBM Plex Sans" pitchFamily="34" charset="-120"/>
              </a:rPr>
              <a:t>I/O</a:t>
            </a:r>
            <a:r>
              <a:rPr lang="en-US" sz="1600" dirty="0">
                <a:solidFill>
                  <a:srgbClr val="45505C"/>
                </a:solidFill>
                <a:latin typeface="IBM Plex Sans" pitchFamily="34" charset="0"/>
                <a:ea typeface="IBM Plex Sans" pitchFamily="34" charset="-122"/>
                <a:cs typeface="IBM Plex Sans" pitchFamily="34" charset="-120"/>
              </a:rPr>
              <a:t> is work outside your code: reading files, querying a database, calling another API. It’s slow, so Node never sits and waits.</a:t>
            </a:r>
            <a:endParaRPr lang="en-US" sz="1600" dirty="0"/>
          </a:p>
        </p:txBody>
      </p:sp>
      <p:sp>
        <p:nvSpPr>
          <p:cNvPr id="4" name="Shape 2"/>
          <p:cNvSpPr/>
          <p:nvPr/>
        </p:nvSpPr>
        <p:spPr>
          <a:xfrm>
            <a:off x="815975" y="2339925"/>
            <a:ext cx="5175250" cy="2546152"/>
          </a:xfrm>
          <a:prstGeom prst="roundRect">
            <a:avLst>
              <a:gd name="adj" fmla="val 3866"/>
            </a:avLst>
          </a:prstGeom>
          <a:solidFill>
            <a:srgbClr val="FFFEFB"/>
          </a:solidFill>
          <a:ln w="6350">
            <a:solidFill>
              <a:srgbClr val="DEDBD2"/>
            </a:solidFill>
            <a:prstDash val="solid"/>
          </a:ln>
        </p:spPr>
      </p:sp>
      <p:sp>
        <p:nvSpPr>
          <p:cNvPr id="5" name="Text 3"/>
          <p:cNvSpPr/>
          <p:nvPr/>
        </p:nvSpPr>
        <p:spPr>
          <a:xfrm>
            <a:off x="1073150" y="2597100"/>
            <a:ext cx="1633587" cy="314920"/>
          </a:xfrm>
          <a:prstGeom prst="roundRect">
            <a:avLst>
              <a:gd name="adj" fmla="val 50000"/>
            </a:avLst>
          </a:prstGeom>
          <a:solidFill>
            <a:srgbClr val="F7E6D6"/>
          </a:solidFill>
          <a:ln/>
        </p:spPr>
        <p:txBody>
          <a:bodyPr wrap="none" lIns="0" tIns="0" rIns="0" bIns="0" rtlCol="0" anchor="ctr">
            <a:normAutofit/>
          </a:bodyPr>
          <a:lstStyle/>
          <a:p>
            <a:pPr algn="ctr" indent="0" marL="0">
              <a:lnSpc>
                <a:spcPts val="1680"/>
              </a:lnSpc>
              <a:buNone/>
            </a:pPr>
            <a:r>
              <a:rPr lang="en-US" sz="1200" b="1" spc="50" kern="0" dirty="0">
                <a:solidFill>
                  <a:srgbClr val="A34E0E"/>
                </a:solidFill>
                <a:latin typeface="IBM Plex Sans" pitchFamily="34" charset="0"/>
                <a:ea typeface="IBM Plex Sans" pitchFamily="34" charset="-122"/>
                <a:cs typeface="IBM Plex Sans" pitchFamily="34" charset="-120"/>
              </a:rPr>
              <a:t>BLOCKING · SYNC</a:t>
            </a:r>
            <a:endParaRPr lang="en-US" sz="1200" dirty="0"/>
          </a:p>
        </p:txBody>
      </p:sp>
      <p:sp>
        <p:nvSpPr>
          <p:cNvPr id="6" name="Text 4"/>
          <p:cNvSpPr/>
          <p:nvPr/>
        </p:nvSpPr>
        <p:spPr>
          <a:xfrm>
            <a:off x="1073150" y="3039021"/>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B"/>
                </a:solidFill>
                <a:latin typeface="IBM Plex Sans" pitchFamily="34" charset="0"/>
                <a:ea typeface="IBM Plex Sans" pitchFamily="34" charset="-122"/>
                <a:cs typeface="IBM Plex Sans" pitchFamily="34" charset="-120"/>
              </a:rPr>
              <a:t>The program stops and waits</a:t>
            </a:r>
            <a:endParaRPr lang="en-US" sz="2000" dirty="0"/>
          </a:p>
        </p:txBody>
      </p:sp>
      <p:sp>
        <p:nvSpPr>
          <p:cNvPr id="7" name="Text 5"/>
          <p:cNvSpPr/>
          <p:nvPr/>
        </p:nvSpPr>
        <p:spPr>
          <a:xfrm>
            <a:off x="1073150" y="3470821"/>
            <a:ext cx="4800727"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5505C"/>
                </a:solidFill>
                <a:latin typeface="IBM Plex Sans" pitchFamily="34" charset="0"/>
                <a:ea typeface="IBM Plex Sans" pitchFamily="34" charset="-122"/>
                <a:cs typeface="IBM Plex Sans" pitchFamily="34" charset="-120"/>
              </a:rPr>
              <a:t>Nothing else runs until the file or database answers.</a:t>
            </a:r>
            <a:endParaRPr lang="en-US" sz="1400" dirty="0"/>
          </a:p>
        </p:txBody>
      </p:sp>
      <p:sp>
        <p:nvSpPr>
          <p:cNvPr id="8" name="Text 6"/>
          <p:cNvSpPr/>
          <p:nvPr/>
        </p:nvSpPr>
        <p:spPr>
          <a:xfrm>
            <a:off x="1073150" y="3855591"/>
            <a:ext cx="4800727" cy="540941"/>
          </a:xfrm>
          <a:prstGeom prst="rect">
            <a:avLst/>
          </a:prstGeom>
          <a:noFill/>
          <a:ln/>
        </p:spPr>
        <p:txBody>
          <a:bodyPr wrap="square" lIns="0" tIns="0" rIns="0" bIns="0" rtlCol="0" anchor="t">
            <a:normAutofit/>
          </a:bodyPr>
          <a:lstStyle/>
          <a:p>
            <a:pPr algn="l" indent="0" marL="0">
              <a:lnSpc>
                <a:spcPts val="2030"/>
              </a:lnSpc>
              <a:buNone/>
            </a:pPr>
            <a:r>
              <a:rPr lang="en-US" sz="1400" i="1" dirty="0">
                <a:solidFill>
                  <a:srgbClr val="45505C"/>
                </a:solidFill>
                <a:latin typeface="IBM Plex Sans" pitchFamily="34" charset="0"/>
                <a:ea typeface="IBM Plex Sans" pitchFamily="34" charset="-122"/>
                <a:cs typeface="IBM Plex Sans" pitchFamily="34" charset="-120"/>
              </a:rPr>
              <a:t>The waiter stands in the kitchen until your food is ready, ignoring every other table.</a:t>
            </a:r>
            <a:endParaRPr lang="en-US" sz="1400" dirty="0"/>
          </a:p>
        </p:txBody>
      </p:sp>
      <p:sp>
        <p:nvSpPr>
          <p:cNvPr id="9" name="Shape 7"/>
          <p:cNvSpPr/>
          <p:nvPr/>
        </p:nvSpPr>
        <p:spPr>
          <a:xfrm>
            <a:off x="6200775" y="2339925"/>
            <a:ext cx="5175250" cy="2546152"/>
          </a:xfrm>
          <a:prstGeom prst="roundRect">
            <a:avLst>
              <a:gd name="adj" fmla="val 3866"/>
            </a:avLst>
          </a:prstGeom>
          <a:solidFill>
            <a:srgbClr val="FFFEFB"/>
          </a:solidFill>
          <a:ln w="6350">
            <a:solidFill>
              <a:srgbClr val="DEDBD2"/>
            </a:solidFill>
            <a:prstDash val="solid"/>
          </a:ln>
        </p:spPr>
      </p:sp>
      <p:sp>
        <p:nvSpPr>
          <p:cNvPr id="10" name="Text 8"/>
          <p:cNvSpPr/>
          <p:nvPr/>
        </p:nvSpPr>
        <p:spPr>
          <a:xfrm>
            <a:off x="6457950" y="2597100"/>
            <a:ext cx="2156668" cy="314920"/>
          </a:xfrm>
          <a:prstGeom prst="roundRect">
            <a:avLst>
              <a:gd name="adj" fmla="val 50000"/>
            </a:avLst>
          </a:prstGeom>
          <a:solidFill>
            <a:srgbClr val="DDEFE4"/>
          </a:solidFill>
          <a:ln/>
        </p:spPr>
        <p:txBody>
          <a:bodyPr wrap="none" lIns="0" tIns="0" rIns="0" bIns="0" rtlCol="0" anchor="ctr">
            <a:normAutofit/>
          </a:bodyPr>
          <a:lstStyle/>
          <a:p>
            <a:pPr algn="ctr" indent="0" marL="0">
              <a:lnSpc>
                <a:spcPts val="1680"/>
              </a:lnSpc>
              <a:buNone/>
            </a:pPr>
            <a:r>
              <a:rPr lang="en-US" sz="1200" b="1" spc="50" kern="0" dirty="0">
                <a:solidFill>
                  <a:srgbClr val="2D7A55"/>
                </a:solidFill>
                <a:latin typeface="IBM Plex Sans" pitchFamily="34" charset="0"/>
                <a:ea typeface="IBM Plex Sans" pitchFamily="34" charset="-122"/>
                <a:cs typeface="IBM Plex Sans" pitchFamily="34" charset="-120"/>
              </a:rPr>
              <a:t>NON-BLOCKING · ASYNC</a:t>
            </a:r>
            <a:endParaRPr lang="en-US" sz="1200" dirty="0"/>
          </a:p>
        </p:txBody>
      </p:sp>
      <p:sp>
        <p:nvSpPr>
          <p:cNvPr id="11" name="Text 9"/>
          <p:cNvSpPr/>
          <p:nvPr/>
        </p:nvSpPr>
        <p:spPr>
          <a:xfrm>
            <a:off x="6457950" y="3039021"/>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B"/>
                </a:solidFill>
                <a:latin typeface="IBM Plex Sans" pitchFamily="34" charset="0"/>
                <a:ea typeface="IBM Plex Sans" pitchFamily="34" charset="-122"/>
                <a:cs typeface="IBM Plex Sans" pitchFamily="34" charset="-120"/>
              </a:rPr>
              <a:t>Start the task, keep working</a:t>
            </a:r>
            <a:endParaRPr lang="en-US" sz="2000" dirty="0"/>
          </a:p>
        </p:txBody>
      </p:sp>
      <p:sp>
        <p:nvSpPr>
          <p:cNvPr id="12" name="Text 10"/>
          <p:cNvSpPr/>
          <p:nvPr/>
        </p:nvSpPr>
        <p:spPr>
          <a:xfrm>
            <a:off x="6457950" y="3470821"/>
            <a:ext cx="4800727"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5505C"/>
                </a:solidFill>
                <a:latin typeface="IBM Plex Sans" pitchFamily="34" charset="0"/>
                <a:ea typeface="IBM Plex Sans" pitchFamily="34" charset="-122"/>
                <a:cs typeface="IBM Plex Sans" pitchFamily="34" charset="-120"/>
              </a:rPr>
              <a:t>Node handles other requests, then runs your code when the result is ready.</a:t>
            </a:r>
            <a:endParaRPr lang="en-US" sz="1400" dirty="0"/>
          </a:p>
        </p:txBody>
      </p:sp>
      <p:sp>
        <p:nvSpPr>
          <p:cNvPr id="13" name="Text 11"/>
          <p:cNvSpPr/>
          <p:nvPr/>
        </p:nvSpPr>
        <p:spPr>
          <a:xfrm>
            <a:off x="6457950" y="4113361"/>
            <a:ext cx="4800727" cy="540941"/>
          </a:xfrm>
          <a:prstGeom prst="rect">
            <a:avLst/>
          </a:prstGeom>
          <a:noFill/>
          <a:ln/>
        </p:spPr>
        <p:txBody>
          <a:bodyPr wrap="square" lIns="0" tIns="0" rIns="0" bIns="0" rtlCol="0" anchor="t">
            <a:normAutofit/>
          </a:bodyPr>
          <a:lstStyle/>
          <a:p>
            <a:pPr algn="l" indent="0" marL="0">
              <a:lnSpc>
                <a:spcPts val="2030"/>
              </a:lnSpc>
              <a:buNone/>
            </a:pPr>
            <a:r>
              <a:rPr lang="en-US" sz="1400" i="1" dirty="0">
                <a:solidFill>
                  <a:srgbClr val="45505C"/>
                </a:solidFill>
                <a:latin typeface="IBM Plex Sans" pitchFamily="34" charset="0"/>
                <a:ea typeface="IBM Plex Sans" pitchFamily="34" charset="-122"/>
                <a:cs typeface="IBM Plex Sans" pitchFamily="34" charset="-120"/>
              </a:rPr>
              <a:t>The waiter hands your order to the kitchen and serves other tables. One waiter, many tables.</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Async I/O in code</a:t>
            </a:r>
            <a:endParaRPr lang="en-US" sz="3200" dirty="0"/>
          </a:p>
        </p:txBody>
      </p:sp>
      <p:sp>
        <p:nvSpPr>
          <p:cNvPr id="3" name="Shape 1"/>
          <p:cNvSpPr/>
          <p:nvPr/>
        </p:nvSpPr>
        <p:spPr>
          <a:xfrm>
            <a:off x="812800" y="1564630"/>
            <a:ext cx="5842000" cy="2667000"/>
          </a:xfrm>
          <a:prstGeom prst="roundRect">
            <a:avLst>
              <a:gd name="adj" fmla="val 3810"/>
            </a:avLst>
          </a:prstGeom>
          <a:solidFill>
            <a:srgbClr val="16202B"/>
          </a:solidFill>
          <a:ln/>
        </p:spPr>
      </p:sp>
      <p:sp>
        <p:nvSpPr>
          <p:cNvPr id="4" name="Text 2"/>
          <p:cNvSpPr/>
          <p:nvPr/>
        </p:nvSpPr>
        <p:spPr>
          <a:xfrm>
            <a:off x="1066800" y="1818630"/>
            <a:ext cx="549402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import { readFile } from "node:fs/promises";</a:t>
            </a:r>
            <a:endParaRPr lang="en-US" sz="1300" dirty="0"/>
          </a:p>
        </p:txBody>
      </p:sp>
      <p:sp>
        <p:nvSpPr>
          <p:cNvPr id="5" name="Text 3"/>
          <p:cNvSpPr/>
          <p:nvPr/>
        </p:nvSpPr>
        <p:spPr>
          <a:xfrm>
            <a:off x="1066800" y="2091680"/>
            <a:ext cx="549402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import { readFileSync } from "node:fs";</a:t>
            </a:r>
            <a:endParaRPr lang="en-US" sz="1300" dirty="0"/>
          </a:p>
        </p:txBody>
      </p:sp>
      <p:sp>
        <p:nvSpPr>
          <p:cNvPr id="6" name="Text 4"/>
          <p:cNvSpPr/>
          <p:nvPr/>
        </p:nvSpPr>
        <p:spPr>
          <a:xfrm>
            <a:off x="1066800" y="2637780"/>
            <a:ext cx="549402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8FD9AE"/>
                </a:solidFill>
                <a:latin typeface="JetBrains Mono" pitchFamily="49" charset="0"/>
                <a:ea typeface="JetBrains Mono" pitchFamily="49" charset="-122"/>
                <a:cs typeface="JetBrains Mono" pitchFamily="49" charset="-120"/>
              </a:rPr>
              <a:t>// GOOD: non-blocking, Node serves others</a:t>
            </a:r>
            <a:endParaRPr lang="en-US" sz="1300" dirty="0"/>
          </a:p>
        </p:txBody>
      </p:sp>
      <p:sp>
        <p:nvSpPr>
          <p:cNvPr id="7" name="Text 5"/>
          <p:cNvSpPr/>
          <p:nvPr/>
        </p:nvSpPr>
        <p:spPr>
          <a:xfrm>
            <a:off x="1066800" y="2910830"/>
            <a:ext cx="549402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const data = await readFile("data.json", "utf8");</a:t>
            </a:r>
            <a:endParaRPr lang="en-US" sz="1300" dirty="0"/>
          </a:p>
        </p:txBody>
      </p:sp>
      <p:sp>
        <p:nvSpPr>
          <p:cNvPr id="8" name="Text 6"/>
          <p:cNvSpPr/>
          <p:nvPr/>
        </p:nvSpPr>
        <p:spPr>
          <a:xfrm>
            <a:off x="1066800" y="3456930"/>
            <a:ext cx="549402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F2A766"/>
                </a:solidFill>
                <a:latin typeface="JetBrains Mono" pitchFamily="49" charset="0"/>
                <a:ea typeface="JetBrains Mono" pitchFamily="49" charset="-122"/>
                <a:cs typeface="JetBrains Mono" pitchFamily="49" charset="-120"/>
              </a:rPr>
              <a:t>// BAD: blocking, everything stops</a:t>
            </a:r>
            <a:endParaRPr lang="en-US" sz="1300" dirty="0"/>
          </a:p>
        </p:txBody>
      </p:sp>
      <p:sp>
        <p:nvSpPr>
          <p:cNvPr id="9" name="Text 7"/>
          <p:cNvSpPr/>
          <p:nvPr/>
        </p:nvSpPr>
        <p:spPr>
          <a:xfrm>
            <a:off x="1066800" y="3729980"/>
            <a:ext cx="549402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const text = readFileSync("data.json", "utf8");</a:t>
            </a:r>
            <a:endParaRPr lang="en-US" sz="1300" dirty="0"/>
          </a:p>
        </p:txBody>
      </p:sp>
      <p:sp>
        <p:nvSpPr>
          <p:cNvPr id="10" name="Shape 8"/>
          <p:cNvSpPr/>
          <p:nvPr/>
        </p:nvSpPr>
        <p:spPr>
          <a:xfrm>
            <a:off x="6962775" y="1567805"/>
            <a:ext cx="4413250" cy="887710"/>
          </a:xfrm>
          <a:prstGeom prst="roundRect">
            <a:avLst>
              <a:gd name="adj" fmla="val 11088"/>
            </a:avLst>
          </a:prstGeom>
          <a:solidFill>
            <a:srgbClr val="FFFEFB"/>
          </a:solidFill>
          <a:ln w="6350">
            <a:solidFill>
              <a:srgbClr val="DEDBD2"/>
            </a:solidFill>
            <a:prstDash val="solid"/>
          </a:ln>
        </p:spPr>
      </p:sp>
      <p:sp>
        <p:nvSpPr>
          <p:cNvPr id="11" name="Text 9"/>
          <p:cNvSpPr/>
          <p:nvPr/>
        </p:nvSpPr>
        <p:spPr>
          <a:xfrm>
            <a:off x="7169150" y="1748780"/>
            <a:ext cx="412051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Use async / await</a:t>
            </a:r>
            <a:endParaRPr lang="en-US" sz="1600" dirty="0"/>
          </a:p>
        </p:txBody>
      </p:sp>
      <p:sp>
        <p:nvSpPr>
          <p:cNvPr id="12" name="Text 10"/>
          <p:cNvSpPr/>
          <p:nvPr/>
        </p:nvSpPr>
        <p:spPr>
          <a:xfrm>
            <a:off x="7169150" y="2043410"/>
            <a:ext cx="412051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The same promises you use with fetch in React.</a:t>
            </a:r>
            <a:endParaRPr lang="en-US" sz="1300" dirty="0"/>
          </a:p>
        </p:txBody>
      </p:sp>
      <p:sp>
        <p:nvSpPr>
          <p:cNvPr id="13" name="Shape 11"/>
          <p:cNvSpPr/>
          <p:nvPr/>
        </p:nvSpPr>
        <p:spPr>
          <a:xfrm>
            <a:off x="6962775" y="2614265"/>
            <a:ext cx="4413250" cy="887710"/>
          </a:xfrm>
          <a:prstGeom prst="roundRect">
            <a:avLst>
              <a:gd name="adj" fmla="val 11088"/>
            </a:avLst>
          </a:prstGeom>
          <a:solidFill>
            <a:srgbClr val="FFFEFB"/>
          </a:solidFill>
          <a:ln w="6350">
            <a:solidFill>
              <a:srgbClr val="DEDBD2"/>
            </a:solidFill>
            <a:prstDash val="solid"/>
          </a:ln>
        </p:spPr>
      </p:sp>
      <p:sp>
        <p:nvSpPr>
          <p:cNvPr id="14" name="Text 12"/>
          <p:cNvSpPr/>
          <p:nvPr/>
        </p:nvSpPr>
        <p:spPr>
          <a:xfrm>
            <a:off x="7169150" y="2795240"/>
            <a:ext cx="412051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Avoid …Sync in routes</a:t>
            </a:r>
            <a:endParaRPr lang="en-US" sz="1600" dirty="0"/>
          </a:p>
        </p:txBody>
      </p:sp>
      <p:sp>
        <p:nvSpPr>
          <p:cNvPr id="15" name="Text 13"/>
          <p:cNvSpPr/>
          <p:nvPr/>
        </p:nvSpPr>
        <p:spPr>
          <a:xfrm>
            <a:off x="7169150" y="3089870"/>
            <a:ext cx="412051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Fine in a startup script, harmful while serving users.</a:t>
            </a:r>
            <a:endParaRPr lang="en-US" sz="1300" dirty="0"/>
          </a:p>
        </p:txBody>
      </p:sp>
      <p:sp>
        <p:nvSpPr>
          <p:cNvPr id="16" name="Shape 14"/>
          <p:cNvSpPr/>
          <p:nvPr/>
        </p:nvSpPr>
        <p:spPr>
          <a:xfrm>
            <a:off x="6962775" y="3660725"/>
            <a:ext cx="4413250" cy="1118840"/>
          </a:xfrm>
          <a:prstGeom prst="roundRect">
            <a:avLst>
              <a:gd name="adj" fmla="val 8797"/>
            </a:avLst>
          </a:prstGeom>
          <a:solidFill>
            <a:srgbClr val="FFFEFB"/>
          </a:solidFill>
          <a:ln w="6350">
            <a:solidFill>
              <a:srgbClr val="DEDBD2"/>
            </a:solidFill>
            <a:prstDash val="solid"/>
          </a:ln>
        </p:spPr>
      </p:sp>
      <p:sp>
        <p:nvSpPr>
          <p:cNvPr id="17" name="Text 15"/>
          <p:cNvSpPr/>
          <p:nvPr/>
        </p:nvSpPr>
        <p:spPr>
          <a:xfrm>
            <a:off x="7169150" y="3841700"/>
            <a:ext cx="412051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async isn’t parallel</a:t>
            </a:r>
            <a:endParaRPr lang="en-US" sz="1600" dirty="0"/>
          </a:p>
        </p:txBody>
      </p:sp>
      <p:sp>
        <p:nvSpPr>
          <p:cNvPr id="18" name="Text 16"/>
          <p:cNvSpPr/>
          <p:nvPr/>
        </p:nvSpPr>
        <p:spPr>
          <a:xfrm>
            <a:off x="7169150" y="4136330"/>
            <a:ext cx="412051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It lets Node wait without blocking. It doesn’t add threads.</a:t>
            </a:r>
            <a:endParaRPr lang="en-US" sz="13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The event loop: what runs next?</a:t>
            </a:r>
            <a:endParaRPr lang="en-US" sz="3200" dirty="0"/>
          </a:p>
        </p:txBody>
      </p:sp>
      <p:sp>
        <p:nvSpPr>
          <p:cNvPr id="3" name="Text 1"/>
          <p:cNvSpPr/>
          <p:nvPr/>
        </p:nvSpPr>
        <p:spPr>
          <a:xfrm>
            <a:off x="812800" y="151383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5505C"/>
                </a:solidFill>
                <a:latin typeface="IBM Plex Sans" pitchFamily="34" charset="0"/>
                <a:ea typeface="IBM Plex Sans" pitchFamily="34" charset="-122"/>
                <a:cs typeface="IBM Plex Sans" pitchFamily="34" charset="-120"/>
              </a:rPr>
              <a:t>Node runs your JavaScript on </a:t>
            </a:r>
            <a:r>
              <a:rPr lang="en-US" sz="1500" b="1" dirty="0">
                <a:solidFill>
                  <a:srgbClr val="16202B"/>
                </a:solidFill>
                <a:latin typeface="IBM Plex Sans" pitchFamily="34" charset="0"/>
                <a:ea typeface="IBM Plex Sans" pitchFamily="34" charset="-122"/>
                <a:cs typeface="IBM Plex Sans" pitchFamily="34" charset="-120"/>
              </a:rPr>
              <a:t>one main thread</a:t>
            </a:r>
            <a:r>
              <a:rPr lang="en-US" sz="1500" dirty="0">
                <a:solidFill>
                  <a:srgbClr val="45505C"/>
                </a:solidFill>
                <a:latin typeface="IBM Plex Sans" pitchFamily="34" charset="0"/>
                <a:ea typeface="IBM Plex Sans" pitchFamily="34" charset="-122"/>
                <a:cs typeface="IBM Plex Sans" pitchFamily="34" charset="-120"/>
              </a:rPr>
              <a:t>. The event loop picks the next piece of code, one at a time, in this order:</a:t>
            </a:r>
            <a:endParaRPr lang="en-US" sz="1500" dirty="0"/>
          </a:p>
        </p:txBody>
      </p:sp>
      <p:sp>
        <p:nvSpPr>
          <p:cNvPr id="4" name="Shape 2"/>
          <p:cNvSpPr/>
          <p:nvPr/>
        </p:nvSpPr>
        <p:spPr>
          <a:xfrm>
            <a:off x="815975" y="2153245"/>
            <a:ext cx="3041650" cy="1319461"/>
          </a:xfrm>
          <a:prstGeom prst="roundRect">
            <a:avLst>
              <a:gd name="adj" fmla="val 7459"/>
            </a:avLst>
          </a:prstGeom>
          <a:solidFill>
            <a:srgbClr val="FFFEFB"/>
          </a:solidFill>
          <a:ln w="6350">
            <a:solidFill>
              <a:srgbClr val="DEDBD2"/>
            </a:solidFill>
            <a:prstDash val="solid"/>
          </a:ln>
        </p:spPr>
      </p:sp>
      <p:sp>
        <p:nvSpPr>
          <p:cNvPr id="5" name="Text 3"/>
          <p:cNvSpPr/>
          <p:nvPr/>
        </p:nvSpPr>
        <p:spPr>
          <a:xfrm>
            <a:off x="1022350" y="2359620"/>
            <a:ext cx="270776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7A55"/>
                </a:solidFill>
                <a:latin typeface="JetBrains Mono" pitchFamily="49" charset="0"/>
                <a:ea typeface="JetBrains Mono" pitchFamily="49" charset="-122"/>
                <a:cs typeface="JetBrains Mono" pitchFamily="49" charset="-120"/>
              </a:rPr>
              <a:t>1</a:t>
            </a:r>
            <a:endParaRPr lang="en-US" sz="1400" dirty="0"/>
          </a:p>
        </p:txBody>
      </p:sp>
      <p:sp>
        <p:nvSpPr>
          <p:cNvPr id="6" name="Text 4"/>
          <p:cNvSpPr/>
          <p:nvPr/>
        </p:nvSpPr>
        <p:spPr>
          <a:xfrm>
            <a:off x="1022350" y="2684711"/>
            <a:ext cx="270776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B"/>
                </a:solidFill>
                <a:latin typeface="IBM Plex Sans" pitchFamily="34" charset="0"/>
                <a:ea typeface="IBM Plex Sans" pitchFamily="34" charset="-122"/>
                <a:cs typeface="IBM Plex Sans" pitchFamily="34" charset="-120"/>
              </a:rPr>
              <a:t>Synchronous code</a:t>
            </a:r>
            <a:endParaRPr lang="en-US" sz="1800" dirty="0"/>
          </a:p>
        </p:txBody>
      </p:sp>
      <p:sp>
        <p:nvSpPr>
          <p:cNvPr id="7" name="Text 5"/>
          <p:cNvSpPr/>
          <p:nvPr/>
        </p:nvSpPr>
        <p:spPr>
          <a:xfrm>
            <a:off x="1022350" y="3035201"/>
            <a:ext cx="270776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Runs first, top to bottom.</a:t>
            </a:r>
            <a:endParaRPr lang="en-US" sz="1300" dirty="0"/>
          </a:p>
        </p:txBody>
      </p:sp>
      <p:pic>
        <p:nvPicPr>
          <p:cNvPr id="8" name="Image 0" descr="arrow-right">    </p:cNvPr>
          <p:cNvPicPr>
            <a:picLocks noChangeAspect="1"/>
          </p:cNvPicPr>
          <p:nvPr/>
        </p:nvPicPr>
        <p:blipFill>
          <a:blip r:embed="rId1"/>
          <a:srcRect l="0" r="0" t="0" b="0"/>
          <a:stretch/>
        </p:blipFill>
        <p:spPr>
          <a:xfrm>
            <a:off x="4013200" y="2711400"/>
            <a:ext cx="406400" cy="203200"/>
          </a:xfrm>
          <a:prstGeom prst="rect">
            <a:avLst/>
          </a:prstGeom>
        </p:spPr>
      </p:pic>
      <p:sp>
        <p:nvSpPr>
          <p:cNvPr id="9" name="Shape 6"/>
          <p:cNvSpPr/>
          <p:nvPr/>
        </p:nvSpPr>
        <p:spPr>
          <a:xfrm>
            <a:off x="4575175" y="2153245"/>
            <a:ext cx="3041650" cy="1319461"/>
          </a:xfrm>
          <a:prstGeom prst="roundRect">
            <a:avLst>
              <a:gd name="adj" fmla="val 7459"/>
            </a:avLst>
          </a:prstGeom>
          <a:solidFill>
            <a:srgbClr val="FFFEFB"/>
          </a:solidFill>
          <a:ln w="6350">
            <a:solidFill>
              <a:srgbClr val="DEDBD2"/>
            </a:solidFill>
            <a:prstDash val="solid"/>
          </a:ln>
        </p:spPr>
      </p:sp>
      <p:sp>
        <p:nvSpPr>
          <p:cNvPr id="10" name="Text 7"/>
          <p:cNvSpPr/>
          <p:nvPr/>
        </p:nvSpPr>
        <p:spPr>
          <a:xfrm>
            <a:off x="4781550" y="2359620"/>
            <a:ext cx="270776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7A55"/>
                </a:solidFill>
                <a:latin typeface="JetBrains Mono" pitchFamily="49" charset="0"/>
                <a:ea typeface="JetBrains Mono" pitchFamily="49" charset="-122"/>
                <a:cs typeface="JetBrains Mono" pitchFamily="49" charset="-120"/>
              </a:rPr>
              <a:t>2</a:t>
            </a:r>
            <a:endParaRPr lang="en-US" sz="1400" dirty="0"/>
          </a:p>
        </p:txBody>
      </p:sp>
      <p:sp>
        <p:nvSpPr>
          <p:cNvPr id="11" name="Text 8"/>
          <p:cNvSpPr/>
          <p:nvPr/>
        </p:nvSpPr>
        <p:spPr>
          <a:xfrm>
            <a:off x="4781550" y="2684711"/>
            <a:ext cx="270776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B"/>
                </a:solidFill>
                <a:latin typeface="IBM Plex Sans" pitchFamily="34" charset="0"/>
                <a:ea typeface="IBM Plex Sans" pitchFamily="34" charset="-122"/>
                <a:cs typeface="IBM Plex Sans" pitchFamily="34" charset="-120"/>
              </a:rPr>
              <a:t>Microtasks</a:t>
            </a:r>
            <a:endParaRPr lang="en-US" sz="1800" dirty="0"/>
          </a:p>
        </p:txBody>
      </p:sp>
      <p:sp>
        <p:nvSpPr>
          <p:cNvPr id="12" name="Text 9"/>
          <p:cNvSpPr/>
          <p:nvPr/>
        </p:nvSpPr>
        <p:spPr>
          <a:xfrm>
            <a:off x="4781550" y="3035201"/>
            <a:ext cx="28321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Promise .then and code after await.</a:t>
            </a:r>
            <a:endParaRPr lang="en-US" sz="1300" dirty="0"/>
          </a:p>
        </p:txBody>
      </p:sp>
      <p:pic>
        <p:nvPicPr>
          <p:cNvPr id="13" name="Image 1" descr="arrow-right">    </p:cNvPr>
          <p:cNvPicPr>
            <a:picLocks noChangeAspect="1"/>
          </p:cNvPicPr>
          <p:nvPr/>
        </p:nvPicPr>
        <p:blipFill>
          <a:blip r:embed="rId2"/>
          <a:srcRect l="0" r="0" t="0" b="0"/>
          <a:stretch/>
        </p:blipFill>
        <p:spPr>
          <a:xfrm>
            <a:off x="7772400" y="2711400"/>
            <a:ext cx="406400" cy="203200"/>
          </a:xfrm>
          <a:prstGeom prst="rect">
            <a:avLst/>
          </a:prstGeom>
        </p:spPr>
      </p:pic>
      <p:sp>
        <p:nvSpPr>
          <p:cNvPr id="14" name="Shape 10"/>
          <p:cNvSpPr/>
          <p:nvPr/>
        </p:nvSpPr>
        <p:spPr>
          <a:xfrm>
            <a:off x="8334375" y="2037705"/>
            <a:ext cx="3041650" cy="1550591"/>
          </a:xfrm>
          <a:prstGeom prst="roundRect">
            <a:avLst>
              <a:gd name="adj" fmla="val 6348"/>
            </a:avLst>
          </a:prstGeom>
          <a:solidFill>
            <a:srgbClr val="FFFEFB"/>
          </a:solidFill>
          <a:ln w="6350">
            <a:solidFill>
              <a:srgbClr val="DEDBD2"/>
            </a:solidFill>
            <a:prstDash val="solid"/>
          </a:ln>
        </p:spPr>
      </p:sp>
      <p:sp>
        <p:nvSpPr>
          <p:cNvPr id="15" name="Text 11"/>
          <p:cNvSpPr/>
          <p:nvPr/>
        </p:nvSpPr>
        <p:spPr>
          <a:xfrm>
            <a:off x="8540750" y="2244080"/>
            <a:ext cx="270776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7A55"/>
                </a:solidFill>
                <a:latin typeface="JetBrains Mono" pitchFamily="49" charset="0"/>
                <a:ea typeface="JetBrains Mono" pitchFamily="49" charset="-122"/>
                <a:cs typeface="JetBrains Mono" pitchFamily="49" charset="-120"/>
              </a:rPr>
              <a:t>3</a:t>
            </a:r>
            <a:endParaRPr lang="en-US" sz="1400" dirty="0"/>
          </a:p>
        </p:txBody>
      </p:sp>
      <p:sp>
        <p:nvSpPr>
          <p:cNvPr id="16" name="Text 12"/>
          <p:cNvSpPr/>
          <p:nvPr/>
        </p:nvSpPr>
        <p:spPr>
          <a:xfrm>
            <a:off x="8540750" y="2569170"/>
            <a:ext cx="270776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B"/>
                </a:solidFill>
                <a:latin typeface="IBM Plex Sans" pitchFamily="34" charset="0"/>
                <a:ea typeface="IBM Plex Sans" pitchFamily="34" charset="-122"/>
                <a:cs typeface="IBM Plex Sans" pitchFamily="34" charset="-120"/>
              </a:rPr>
              <a:t>Timers &amp; I/O callbacks</a:t>
            </a:r>
            <a:endParaRPr lang="en-US" sz="1800" dirty="0"/>
          </a:p>
        </p:txBody>
      </p:sp>
      <p:sp>
        <p:nvSpPr>
          <p:cNvPr id="17" name="Text 13"/>
          <p:cNvSpPr/>
          <p:nvPr/>
        </p:nvSpPr>
        <p:spPr>
          <a:xfrm>
            <a:off x="8540750" y="2919661"/>
            <a:ext cx="270776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setTimeout, finished file reads, new requests.</a:t>
            </a:r>
            <a:endParaRPr lang="en-US" sz="1300" dirty="0"/>
          </a:p>
        </p:txBody>
      </p:sp>
      <p:sp>
        <p:nvSpPr>
          <p:cNvPr id="18" name="Text 14"/>
          <p:cNvSpPr/>
          <p:nvPr/>
        </p:nvSpPr>
        <p:spPr>
          <a:xfrm>
            <a:off x="812800" y="384547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05C"/>
                </a:solidFill>
                <a:latin typeface="IBM Plex Sans" pitchFamily="34" charset="0"/>
                <a:ea typeface="IBM Plex Sans" pitchFamily="34" charset="-122"/>
                <a:cs typeface="IBM Plex Sans" pitchFamily="34" charset="-120"/>
              </a:rPr>
              <a:t>Then the loop goes round again. Between every callback, waiting microtasks run first.</a:t>
            </a:r>
            <a:endParaRPr lang="en-US" sz="1400" dirty="0"/>
          </a:p>
        </p:txBody>
      </p:sp>
      <p:sp>
        <p:nvSpPr>
          <p:cNvPr id="19" name="Text 15"/>
          <p:cNvSpPr/>
          <p:nvPr/>
        </p:nvSpPr>
        <p:spPr>
          <a:xfrm>
            <a:off x="812800" y="4399161"/>
            <a:ext cx="110772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02B"/>
                </a:solidFill>
                <a:latin typeface="IBM Plex Sans" pitchFamily="34" charset="0"/>
                <a:ea typeface="IBM Plex Sans" pitchFamily="34" charset="-122"/>
                <a:cs typeface="IBM Plex Sans" pitchFamily="34" charset="-120"/>
              </a:rPr>
              <a:t>Loop phases:</a:t>
            </a:r>
            <a:endParaRPr lang="en-US" sz="1300" dirty="0"/>
          </a:p>
        </p:txBody>
      </p:sp>
      <p:sp>
        <p:nvSpPr>
          <p:cNvPr id="20" name="Text 16"/>
          <p:cNvSpPr/>
          <p:nvPr/>
        </p:nvSpPr>
        <p:spPr>
          <a:xfrm>
            <a:off x="1920528" y="4348361"/>
            <a:ext cx="816322" cy="332730"/>
          </a:xfrm>
          <a:prstGeom prst="roundRect">
            <a:avLst>
              <a:gd name="adj" fmla="val 50000"/>
            </a:avLst>
          </a:prstGeom>
          <a:solidFill>
            <a:srgbClr val="DDEFE4"/>
          </a:solidFill>
          <a:ln/>
        </p:spPr>
        <p:txBody>
          <a:bodyPr wrap="none" lIns="0" tIns="0" rIns="0" bIns="0" rtlCol="0" anchor="ctr">
            <a:normAutofit/>
          </a:bodyPr>
          <a:lstStyle/>
          <a:p>
            <a:pPr algn="ct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Timers</a:t>
            </a:r>
            <a:endParaRPr lang="en-US" sz="1300" dirty="0"/>
          </a:p>
        </p:txBody>
      </p:sp>
      <p:pic>
        <p:nvPicPr>
          <p:cNvPr id="21" name="Image 2" descr="arrow-right">    </p:cNvPr>
          <p:cNvPicPr>
            <a:picLocks noChangeAspect="1"/>
          </p:cNvPicPr>
          <p:nvPr/>
        </p:nvPicPr>
        <p:blipFill>
          <a:blip r:embed="rId3"/>
          <a:srcRect l="0" r="0" t="0" b="0"/>
          <a:stretch/>
        </p:blipFill>
        <p:spPr>
          <a:xfrm>
            <a:off x="2838450" y="4451201"/>
            <a:ext cx="254000" cy="127000"/>
          </a:xfrm>
          <a:prstGeom prst="rect">
            <a:avLst/>
          </a:prstGeom>
        </p:spPr>
      </p:pic>
      <p:sp>
        <p:nvSpPr>
          <p:cNvPr id="22" name="Text 17"/>
          <p:cNvSpPr/>
          <p:nvPr/>
        </p:nvSpPr>
        <p:spPr>
          <a:xfrm>
            <a:off x="3194050" y="4348361"/>
            <a:ext cx="976263" cy="332730"/>
          </a:xfrm>
          <a:prstGeom prst="roundRect">
            <a:avLst>
              <a:gd name="adj" fmla="val 50000"/>
            </a:avLst>
          </a:prstGeom>
          <a:solidFill>
            <a:srgbClr val="DDEFE4"/>
          </a:solidFill>
          <a:ln/>
        </p:spPr>
        <p:txBody>
          <a:bodyPr wrap="none" lIns="0" tIns="0" rIns="0" bIns="0" rtlCol="0" anchor="ctr">
            <a:normAutofit/>
          </a:bodyPr>
          <a:lstStyle/>
          <a:p>
            <a:pPr algn="ct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Poll (I/O)</a:t>
            </a:r>
            <a:endParaRPr lang="en-US" sz="1300" dirty="0"/>
          </a:p>
        </p:txBody>
      </p:sp>
      <p:pic>
        <p:nvPicPr>
          <p:cNvPr id="23" name="Image 3" descr="arrow-right">    </p:cNvPr>
          <p:cNvPicPr>
            <a:picLocks noChangeAspect="1"/>
          </p:cNvPicPr>
          <p:nvPr/>
        </p:nvPicPr>
        <p:blipFill>
          <a:blip r:embed="rId4"/>
          <a:srcRect l="0" r="0" t="0" b="0"/>
          <a:stretch/>
        </p:blipFill>
        <p:spPr>
          <a:xfrm>
            <a:off x="4271913" y="4451201"/>
            <a:ext cx="254000" cy="127000"/>
          </a:xfrm>
          <a:prstGeom prst="rect">
            <a:avLst/>
          </a:prstGeom>
        </p:spPr>
      </p:pic>
      <p:sp>
        <p:nvSpPr>
          <p:cNvPr id="24" name="Text 18"/>
          <p:cNvSpPr/>
          <p:nvPr/>
        </p:nvSpPr>
        <p:spPr>
          <a:xfrm>
            <a:off x="4627513" y="4348361"/>
            <a:ext cx="1958479" cy="332730"/>
          </a:xfrm>
          <a:prstGeom prst="roundRect">
            <a:avLst>
              <a:gd name="adj" fmla="val 50000"/>
            </a:avLst>
          </a:prstGeom>
          <a:solidFill>
            <a:srgbClr val="DDEFE4"/>
          </a:solidFill>
          <a:ln/>
        </p:spPr>
        <p:txBody>
          <a:bodyPr wrap="none" lIns="0" tIns="0" rIns="0" bIns="0" rtlCol="0" anchor="ctr">
            <a:normAutofit/>
          </a:bodyPr>
          <a:lstStyle/>
          <a:p>
            <a:pPr algn="ct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Check (setImmediate)</a:t>
            </a:r>
            <a:endParaRPr lang="en-US" sz="1300" dirty="0"/>
          </a:p>
        </p:txBody>
      </p:sp>
      <p:pic>
        <p:nvPicPr>
          <p:cNvPr id="25" name="Image 4" descr="arrow-right">    </p:cNvPr>
          <p:cNvPicPr>
            <a:picLocks noChangeAspect="1"/>
          </p:cNvPicPr>
          <p:nvPr/>
        </p:nvPicPr>
        <p:blipFill>
          <a:blip r:embed="rId5"/>
          <a:srcRect l="0" r="0" t="0" b="0"/>
          <a:stretch/>
        </p:blipFill>
        <p:spPr>
          <a:xfrm>
            <a:off x="6687592" y="4451201"/>
            <a:ext cx="254000" cy="127000"/>
          </a:xfrm>
          <a:prstGeom prst="rect">
            <a:avLst/>
          </a:prstGeom>
        </p:spPr>
      </p:pic>
      <p:sp>
        <p:nvSpPr>
          <p:cNvPr id="26" name="Text 19"/>
          <p:cNvSpPr/>
          <p:nvPr/>
        </p:nvSpPr>
        <p:spPr>
          <a:xfrm>
            <a:off x="7043192" y="4348361"/>
            <a:ext cx="715764" cy="332730"/>
          </a:xfrm>
          <a:prstGeom prst="roundRect">
            <a:avLst>
              <a:gd name="adj" fmla="val 50000"/>
            </a:avLst>
          </a:prstGeom>
          <a:solidFill>
            <a:srgbClr val="DDEFE4"/>
          </a:solidFill>
          <a:ln/>
        </p:spPr>
        <p:txBody>
          <a:bodyPr wrap="none" lIns="0" tIns="0" rIns="0" bIns="0" rtlCol="0" anchor="ctr">
            <a:normAutofit/>
          </a:bodyPr>
          <a:lstStyle/>
          <a:p>
            <a:pPr algn="ct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Close</a:t>
            </a:r>
            <a:endParaRPr lang="en-US" sz="1300" dirty="0"/>
          </a:p>
        </p:txBody>
      </p:sp>
      <p:sp>
        <p:nvSpPr>
          <p:cNvPr id="27"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Predict the output</a:t>
            </a:r>
            <a:endParaRPr lang="en-US" sz="3200" dirty="0"/>
          </a:p>
        </p:txBody>
      </p:sp>
      <p:sp>
        <p:nvSpPr>
          <p:cNvPr id="3" name="Text 1"/>
          <p:cNvSpPr/>
          <p:nvPr/>
        </p:nvSpPr>
        <p:spPr>
          <a:xfrm>
            <a:off x="812800" y="151383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5505C"/>
                </a:solidFill>
                <a:latin typeface="IBM Plex Sans" pitchFamily="34" charset="0"/>
                <a:ea typeface="IBM Plex Sans" pitchFamily="34" charset="-122"/>
                <a:cs typeface="IBM Plex Sans" pitchFamily="34" charset="-120"/>
              </a:rPr>
              <a:t>Read the code. In what order do the letters print?</a:t>
            </a:r>
            <a:endParaRPr lang="en-US" sz="1500" dirty="0"/>
          </a:p>
        </p:txBody>
      </p:sp>
      <p:sp>
        <p:nvSpPr>
          <p:cNvPr id="4" name="Shape 2"/>
          <p:cNvSpPr/>
          <p:nvPr/>
        </p:nvSpPr>
        <p:spPr>
          <a:xfrm>
            <a:off x="812800" y="2034530"/>
            <a:ext cx="6096000" cy="1722041"/>
          </a:xfrm>
          <a:prstGeom prst="roundRect">
            <a:avLst>
              <a:gd name="adj" fmla="val 5900"/>
            </a:avLst>
          </a:prstGeom>
          <a:solidFill>
            <a:srgbClr val="16202B"/>
          </a:solidFill>
          <a:ln/>
        </p:spPr>
      </p:sp>
      <p:sp>
        <p:nvSpPr>
          <p:cNvPr id="5" name="Text 3"/>
          <p:cNvSpPr/>
          <p:nvPr/>
        </p:nvSpPr>
        <p:spPr>
          <a:xfrm>
            <a:off x="1066800" y="2288530"/>
            <a:ext cx="5755640" cy="309860"/>
          </a:xfrm>
          <a:prstGeom prst="rect">
            <a:avLst/>
          </a:prstGeom>
          <a:noFill/>
          <a:ln/>
        </p:spPr>
        <p:txBody>
          <a:bodyPr wrap="none" lIns="0" tIns="0" rIns="0" bIns="0" rtlCol="0" anchor="t">
            <a:normAutofit/>
          </a:bodyPr>
          <a:lstStyle/>
          <a:p>
            <a:pPr algn="l" indent="0" marL="0">
              <a:lnSpc>
                <a:spcPts val="2240"/>
              </a:lnSpc>
              <a:buNone/>
            </a:pPr>
            <a:r>
              <a:rPr lang="en-US" sz="1400" dirty="0">
                <a:solidFill>
                  <a:srgbClr val="E7ECEF"/>
                </a:solidFill>
                <a:latin typeface="JetBrains Mono" pitchFamily="49" charset="0"/>
                <a:ea typeface="JetBrains Mono" pitchFamily="49" charset="-122"/>
                <a:cs typeface="JetBrains Mono" pitchFamily="49" charset="-120"/>
              </a:rPr>
              <a:t>console.log("A");</a:t>
            </a:r>
            <a:endParaRPr lang="en-US" sz="1400" dirty="0"/>
          </a:p>
        </p:txBody>
      </p:sp>
      <p:sp>
        <p:nvSpPr>
          <p:cNvPr id="6" name="Text 4"/>
          <p:cNvSpPr/>
          <p:nvPr/>
        </p:nvSpPr>
        <p:spPr>
          <a:xfrm>
            <a:off x="1066800" y="2598390"/>
            <a:ext cx="5755640" cy="309860"/>
          </a:xfrm>
          <a:prstGeom prst="rect">
            <a:avLst/>
          </a:prstGeom>
          <a:noFill/>
          <a:ln/>
        </p:spPr>
        <p:txBody>
          <a:bodyPr wrap="none" lIns="0" tIns="0" rIns="0" bIns="0" rtlCol="0" anchor="t">
            <a:normAutofit/>
          </a:bodyPr>
          <a:lstStyle/>
          <a:p>
            <a:pPr algn="l" indent="0" marL="0">
              <a:lnSpc>
                <a:spcPts val="2240"/>
              </a:lnSpc>
              <a:buNone/>
            </a:pPr>
            <a:r>
              <a:rPr lang="en-US" sz="1400" dirty="0">
                <a:solidFill>
                  <a:srgbClr val="E7ECEF"/>
                </a:solidFill>
                <a:latin typeface="JetBrains Mono" pitchFamily="49" charset="0"/>
                <a:ea typeface="JetBrains Mono" pitchFamily="49" charset="-122"/>
                <a:cs typeface="JetBrains Mono" pitchFamily="49" charset="-120"/>
              </a:rPr>
              <a:t>setTimeout(() =&gt; console.log("B"), 0);</a:t>
            </a:r>
            <a:endParaRPr lang="en-US" sz="1400" dirty="0"/>
          </a:p>
        </p:txBody>
      </p:sp>
      <p:sp>
        <p:nvSpPr>
          <p:cNvPr id="7" name="Text 5"/>
          <p:cNvSpPr/>
          <p:nvPr/>
        </p:nvSpPr>
        <p:spPr>
          <a:xfrm>
            <a:off x="1066800" y="2908250"/>
            <a:ext cx="5755640" cy="309860"/>
          </a:xfrm>
          <a:prstGeom prst="rect">
            <a:avLst/>
          </a:prstGeom>
          <a:noFill/>
          <a:ln/>
        </p:spPr>
        <p:txBody>
          <a:bodyPr wrap="none" lIns="0" tIns="0" rIns="0" bIns="0" rtlCol="0" anchor="t">
            <a:normAutofit/>
          </a:bodyPr>
          <a:lstStyle/>
          <a:p>
            <a:pPr algn="l" indent="0" marL="0">
              <a:lnSpc>
                <a:spcPts val="2240"/>
              </a:lnSpc>
              <a:buNone/>
            </a:pPr>
            <a:r>
              <a:rPr lang="en-US" sz="1400" dirty="0">
                <a:solidFill>
                  <a:srgbClr val="E7ECEF"/>
                </a:solidFill>
                <a:latin typeface="JetBrains Mono" pitchFamily="49" charset="0"/>
                <a:ea typeface="JetBrains Mono" pitchFamily="49" charset="-122"/>
                <a:cs typeface="JetBrains Mono" pitchFamily="49" charset="-120"/>
              </a:rPr>
              <a:t>Promise.resolve().then(() =&gt; console.log("C"));</a:t>
            </a:r>
            <a:endParaRPr lang="en-US" sz="1400" dirty="0"/>
          </a:p>
        </p:txBody>
      </p:sp>
      <p:sp>
        <p:nvSpPr>
          <p:cNvPr id="8" name="Text 6"/>
          <p:cNvSpPr/>
          <p:nvPr/>
        </p:nvSpPr>
        <p:spPr>
          <a:xfrm>
            <a:off x="1066800" y="3218111"/>
            <a:ext cx="5755640" cy="309860"/>
          </a:xfrm>
          <a:prstGeom prst="rect">
            <a:avLst/>
          </a:prstGeom>
          <a:noFill/>
          <a:ln/>
        </p:spPr>
        <p:txBody>
          <a:bodyPr wrap="none" lIns="0" tIns="0" rIns="0" bIns="0" rtlCol="0" anchor="t">
            <a:normAutofit/>
          </a:bodyPr>
          <a:lstStyle/>
          <a:p>
            <a:pPr algn="l" indent="0" marL="0">
              <a:lnSpc>
                <a:spcPts val="2240"/>
              </a:lnSpc>
              <a:buNone/>
            </a:pPr>
            <a:r>
              <a:rPr lang="en-US" sz="1400" dirty="0">
                <a:solidFill>
                  <a:srgbClr val="E7ECEF"/>
                </a:solidFill>
                <a:latin typeface="JetBrains Mono" pitchFamily="49" charset="0"/>
                <a:ea typeface="JetBrains Mono" pitchFamily="49" charset="-122"/>
                <a:cs typeface="JetBrains Mono" pitchFamily="49" charset="-120"/>
              </a:rPr>
              <a:t>console.log("D");</a:t>
            </a:r>
            <a:endParaRPr lang="en-US" sz="1400" dirty="0"/>
          </a:p>
        </p:txBody>
      </p:sp>
      <p:sp>
        <p:nvSpPr>
          <p:cNvPr id="9" name="Text 7"/>
          <p:cNvSpPr/>
          <p:nvPr/>
        </p:nvSpPr>
        <p:spPr>
          <a:xfrm>
            <a:off x="812800" y="401057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05C"/>
                </a:solidFill>
                <a:latin typeface="IBM Plex Sans" pitchFamily="34" charset="0"/>
                <a:ea typeface="IBM Plex Sans" pitchFamily="34" charset="-122"/>
                <a:cs typeface="IBM Plex Sans" pitchFamily="34" charset="-120"/>
              </a:rPr>
              <a:t>Discuss with a partner, then reveal the answer.</a:t>
            </a:r>
            <a:endParaRPr lang="en-US" sz="1400" dirty="0"/>
          </a:p>
        </p:txBody>
      </p:sp>
      <p:sp>
        <p:nvSpPr>
          <p:cNvPr id="10" name="Shape 8"/>
          <p:cNvSpPr/>
          <p:nvPr/>
        </p:nvSpPr>
        <p:spPr>
          <a:xfrm>
            <a:off x="7315200" y="1905000"/>
            <a:ext cx="4064000" cy="2301081"/>
          </a:xfrm>
          <a:prstGeom prst="roundRect">
            <a:avLst>
              <a:gd name="adj" fmla="val 4415"/>
            </a:avLst>
          </a:prstGeom>
          <a:solidFill>
            <a:srgbClr val="1F5F45"/>
          </a:solidFill>
          <a:ln/>
        </p:spPr>
      </p:sp>
      <p:sp>
        <p:nvSpPr>
          <p:cNvPr id="11" name="Text 9"/>
          <p:cNvSpPr/>
          <p:nvPr/>
        </p:nvSpPr>
        <p:spPr>
          <a:xfrm>
            <a:off x="7569200" y="2159000"/>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D9AE"/>
                </a:solidFill>
                <a:latin typeface="JetBrains Mono" pitchFamily="49" charset="0"/>
                <a:ea typeface="JetBrains Mono" pitchFamily="49" charset="-122"/>
                <a:cs typeface="JetBrains Mono" pitchFamily="49" charset="-120"/>
              </a:rPr>
              <a:t>OUTPUT</a:t>
            </a:r>
            <a:endParaRPr lang="en-US" sz="1200" dirty="0"/>
          </a:p>
        </p:txBody>
      </p:sp>
      <p:sp>
        <p:nvSpPr>
          <p:cNvPr id="12" name="Text 10"/>
          <p:cNvSpPr/>
          <p:nvPr/>
        </p:nvSpPr>
        <p:spPr>
          <a:xfrm>
            <a:off x="7569200" y="2473920"/>
            <a:ext cx="3662680" cy="45209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F6F5F0"/>
                </a:solidFill>
                <a:latin typeface="JetBrains Mono" pitchFamily="49" charset="0"/>
                <a:ea typeface="JetBrains Mono" pitchFamily="49" charset="-122"/>
                <a:cs typeface="JetBrains Mono" pitchFamily="49" charset="-120"/>
              </a:rPr>
              <a:t>A, D, C, B</a:t>
            </a:r>
            <a:endParaRPr lang="en-US" sz="2800" dirty="0"/>
          </a:p>
        </p:txBody>
      </p:sp>
      <p:sp>
        <p:nvSpPr>
          <p:cNvPr id="13" name="Text 11"/>
          <p:cNvSpPr/>
          <p:nvPr/>
        </p:nvSpPr>
        <p:spPr>
          <a:xfrm>
            <a:off x="7569200" y="3002211"/>
            <a:ext cx="36626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3F1E9"/>
                </a:solidFill>
                <a:latin typeface="IBM Plex Sans" pitchFamily="34" charset="0"/>
                <a:ea typeface="IBM Plex Sans" pitchFamily="34" charset="-122"/>
                <a:cs typeface="IBM Plex Sans" pitchFamily="34" charset="-120"/>
              </a:rPr>
              <a:t>1. Sync code first: A, then D</a:t>
            </a:r>
            <a:endParaRPr lang="en-US" sz="1400" dirty="0"/>
          </a:p>
        </p:txBody>
      </p:sp>
      <p:sp>
        <p:nvSpPr>
          <p:cNvPr id="14" name="Text 12"/>
          <p:cNvSpPr/>
          <p:nvPr/>
        </p:nvSpPr>
        <p:spPr>
          <a:xfrm>
            <a:off x="7569200" y="3352701"/>
            <a:ext cx="36626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3F1E9"/>
                </a:solidFill>
                <a:latin typeface="IBM Plex Sans" pitchFamily="34" charset="0"/>
                <a:ea typeface="IBM Plex Sans" pitchFamily="34" charset="-122"/>
                <a:cs typeface="IBM Plex Sans" pitchFamily="34" charset="-120"/>
              </a:rPr>
              <a:t>2. Then promises: C</a:t>
            </a:r>
            <a:endParaRPr lang="en-US" sz="1400" dirty="0"/>
          </a:p>
        </p:txBody>
      </p:sp>
      <p:sp>
        <p:nvSpPr>
          <p:cNvPr id="15" name="Text 13"/>
          <p:cNvSpPr/>
          <p:nvPr/>
        </p:nvSpPr>
        <p:spPr>
          <a:xfrm>
            <a:off x="7569200" y="3703191"/>
            <a:ext cx="366268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3F1E9"/>
                </a:solidFill>
                <a:latin typeface="IBM Plex Sans" pitchFamily="34" charset="0"/>
                <a:ea typeface="IBM Plex Sans" pitchFamily="34" charset="-122"/>
                <a:cs typeface="IBM Plex Sans" pitchFamily="34" charset="-120"/>
              </a:rPr>
              <a:t>3. Then timers, even with a 0 ms delay: B</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Blocking the event loop</a:t>
            </a:r>
            <a:endParaRPr lang="en-US" sz="3200" dirty="0"/>
          </a:p>
        </p:txBody>
      </p:sp>
      <p:sp>
        <p:nvSpPr>
          <p:cNvPr id="3" name="Text 1"/>
          <p:cNvSpPr/>
          <p:nvPr/>
        </p:nvSpPr>
        <p:spPr>
          <a:xfrm>
            <a:off x="812800" y="151383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5505C"/>
                </a:solidFill>
                <a:latin typeface="IBM Plex Sans" pitchFamily="34" charset="0"/>
                <a:ea typeface="IBM Plex Sans" pitchFamily="34" charset="-122"/>
                <a:cs typeface="IBM Plex Sans" pitchFamily="34" charset="-120"/>
              </a:rPr>
              <a:t>One slow </a:t>
            </a:r>
            <a:r>
              <a:rPr lang="en-US" sz="1600" b="1" dirty="0">
                <a:solidFill>
                  <a:srgbClr val="16202B"/>
                </a:solidFill>
                <a:latin typeface="IBM Plex Sans" pitchFamily="34" charset="0"/>
                <a:ea typeface="IBM Plex Sans" pitchFamily="34" charset="-122"/>
                <a:cs typeface="IBM Plex Sans" pitchFamily="34" charset="-120"/>
              </a:rPr>
              <a:t>synchronous</a:t>
            </a:r>
            <a:r>
              <a:rPr lang="en-US" sz="1600" dirty="0">
                <a:solidFill>
                  <a:srgbClr val="45505C"/>
                </a:solidFill>
                <a:latin typeface="IBM Plex Sans" pitchFamily="34" charset="0"/>
                <a:ea typeface="IBM Plex Sans" pitchFamily="34" charset="-122"/>
                <a:cs typeface="IBM Plex Sans" pitchFamily="34" charset="-120"/>
              </a:rPr>
              <a:t> task freezes </a:t>
            </a:r>
            <a:r>
              <a:rPr lang="en-US" sz="1600" b="1" dirty="0">
                <a:solidFill>
                  <a:srgbClr val="16202B"/>
                </a:solidFill>
                <a:latin typeface="IBM Plex Sans" pitchFamily="34" charset="0"/>
                <a:ea typeface="IBM Plex Sans" pitchFamily="34" charset="-122"/>
                <a:cs typeface="IBM Plex Sans" pitchFamily="34" charset="-120"/>
              </a:rPr>
              <a:t>every</a:t>
            </a:r>
            <a:r>
              <a:rPr lang="en-US" sz="1600" dirty="0">
                <a:solidFill>
                  <a:srgbClr val="45505C"/>
                </a:solidFill>
                <a:latin typeface="IBM Plex Sans" pitchFamily="34" charset="0"/>
                <a:ea typeface="IBM Plex Sans" pitchFamily="34" charset="-122"/>
                <a:cs typeface="IBM Plex Sans" pitchFamily="34" charset="-120"/>
              </a:rPr>
              <a:t> request, because there’s only one main thread.</a:t>
            </a:r>
            <a:endParaRPr lang="en-US" sz="1600" dirty="0"/>
          </a:p>
        </p:txBody>
      </p:sp>
      <p:sp>
        <p:nvSpPr>
          <p:cNvPr id="4" name="Shape 2"/>
          <p:cNvSpPr/>
          <p:nvPr/>
        </p:nvSpPr>
        <p:spPr>
          <a:xfrm>
            <a:off x="812800" y="2052290"/>
            <a:ext cx="6096000" cy="2393950"/>
          </a:xfrm>
          <a:prstGeom prst="roundRect">
            <a:avLst>
              <a:gd name="adj" fmla="val 4244"/>
            </a:avLst>
          </a:prstGeom>
          <a:solidFill>
            <a:srgbClr val="16202B"/>
          </a:solidFill>
          <a:ln/>
        </p:spPr>
      </p:sp>
      <p:sp>
        <p:nvSpPr>
          <p:cNvPr id="5" name="Text 3"/>
          <p:cNvSpPr/>
          <p:nvPr/>
        </p:nvSpPr>
        <p:spPr>
          <a:xfrm>
            <a:off x="1066800" y="2306290"/>
            <a:ext cx="575564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app.get("/slow", (_req, res) =&gt; {</a:t>
            </a:r>
            <a:endParaRPr lang="en-US" sz="1300" dirty="0"/>
          </a:p>
        </p:txBody>
      </p:sp>
      <p:sp>
        <p:nvSpPr>
          <p:cNvPr id="6" name="Text 4"/>
          <p:cNvSpPr/>
          <p:nvPr/>
        </p:nvSpPr>
        <p:spPr>
          <a:xfrm>
            <a:off x="1066800" y="2579340"/>
            <a:ext cx="575564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  let total = 0;</a:t>
            </a:r>
            <a:endParaRPr lang="en-US" sz="1300" dirty="0"/>
          </a:p>
        </p:txBody>
      </p:sp>
      <p:sp>
        <p:nvSpPr>
          <p:cNvPr id="7" name="Text 5"/>
          <p:cNvSpPr/>
          <p:nvPr/>
        </p:nvSpPr>
        <p:spPr>
          <a:xfrm>
            <a:off x="1066800" y="2852390"/>
            <a:ext cx="575564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  for (let i = 0; i &lt; 5_000_000_000; i++) total += i;</a:t>
            </a:r>
            <a:endParaRPr lang="en-US" sz="1300" dirty="0"/>
          </a:p>
        </p:txBody>
      </p:sp>
      <p:sp>
        <p:nvSpPr>
          <p:cNvPr id="8" name="Text 6"/>
          <p:cNvSpPr/>
          <p:nvPr/>
        </p:nvSpPr>
        <p:spPr>
          <a:xfrm>
            <a:off x="1066800" y="3125440"/>
            <a:ext cx="575564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  res.json({ total });</a:t>
            </a:r>
            <a:endParaRPr lang="en-US" sz="1300" dirty="0"/>
          </a:p>
        </p:txBody>
      </p:sp>
      <p:sp>
        <p:nvSpPr>
          <p:cNvPr id="9" name="Text 7"/>
          <p:cNvSpPr/>
          <p:nvPr/>
        </p:nvSpPr>
        <p:spPr>
          <a:xfrm>
            <a:off x="1066800" y="3398490"/>
            <a:ext cx="575564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a:t>
            </a:r>
            <a:endParaRPr lang="en-US" sz="1300" dirty="0"/>
          </a:p>
        </p:txBody>
      </p:sp>
      <p:sp>
        <p:nvSpPr>
          <p:cNvPr id="10" name="Text 8"/>
          <p:cNvSpPr/>
          <p:nvPr/>
        </p:nvSpPr>
        <p:spPr>
          <a:xfrm>
            <a:off x="1066800" y="3944590"/>
            <a:ext cx="575564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F2A766"/>
                </a:solidFill>
                <a:latin typeface="JetBrains Mono" pitchFamily="49" charset="0"/>
                <a:ea typeface="JetBrains Mono" pitchFamily="49" charset="-122"/>
                <a:cs typeface="JetBrains Mono" pitchFamily="49" charset="-120"/>
              </a:rPr>
              <a:t>// While /slow runs, every request waits</a:t>
            </a:r>
            <a:endParaRPr lang="en-US" sz="1300" dirty="0"/>
          </a:p>
        </p:txBody>
      </p:sp>
      <p:sp>
        <p:nvSpPr>
          <p:cNvPr id="11" name="Text 9"/>
          <p:cNvSpPr/>
          <p:nvPr/>
        </p:nvSpPr>
        <p:spPr>
          <a:xfrm>
            <a:off x="7213600" y="2052290"/>
            <a:ext cx="429056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B"/>
                </a:solidFill>
                <a:latin typeface="IBM Plex Sans" pitchFamily="34" charset="0"/>
                <a:ea typeface="IBM Plex Sans" pitchFamily="34" charset="-122"/>
                <a:cs typeface="IBM Plex Sans" pitchFamily="34" charset="-120"/>
              </a:rPr>
              <a:t>How to avoid it</a:t>
            </a:r>
            <a:endParaRPr lang="en-US" sz="1800" dirty="0"/>
          </a:p>
        </p:txBody>
      </p:sp>
      <p:pic>
        <p:nvPicPr>
          <p:cNvPr id="12" name="Image 0" descr="Check">    </p:cNvPr>
          <p:cNvPicPr>
            <a:picLocks noChangeAspect="1"/>
          </p:cNvPicPr>
          <p:nvPr/>
        </p:nvPicPr>
        <p:blipFill>
          <a:blip r:embed="rId1"/>
          <a:srcRect l="0" r="0" t="0" b="0"/>
          <a:stretch/>
        </p:blipFill>
        <p:spPr>
          <a:xfrm>
            <a:off x="7213600" y="2478980"/>
            <a:ext cx="254000" cy="254000"/>
          </a:xfrm>
          <a:prstGeom prst="rect">
            <a:avLst/>
          </a:prstGeom>
        </p:spPr>
      </p:pic>
      <p:sp>
        <p:nvSpPr>
          <p:cNvPr id="13" name="Text 10"/>
          <p:cNvSpPr/>
          <p:nvPr/>
        </p:nvSpPr>
        <p:spPr>
          <a:xfrm>
            <a:off x="7569200" y="2478980"/>
            <a:ext cx="39243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05C"/>
                </a:solidFill>
                <a:latin typeface="IBM Plex Sans" pitchFamily="34" charset="0"/>
                <a:ea typeface="IBM Plex Sans" pitchFamily="34" charset="-122"/>
                <a:cs typeface="IBM Plex Sans" pitchFamily="34" charset="-120"/>
              </a:rPr>
              <a:t>Use async APIs for I/O (files, databases)</a:t>
            </a:r>
            <a:endParaRPr lang="en-US" sz="1400" dirty="0"/>
          </a:p>
        </p:txBody>
      </p:sp>
      <p:pic>
        <p:nvPicPr>
          <p:cNvPr id="14" name="Image 1" descr="Check">    </p:cNvPr>
          <p:cNvPicPr>
            <a:picLocks noChangeAspect="1"/>
          </p:cNvPicPr>
          <p:nvPr/>
        </p:nvPicPr>
        <p:blipFill>
          <a:blip r:embed="rId2"/>
          <a:srcRect l="0" r="0" t="0" b="0"/>
          <a:stretch/>
        </p:blipFill>
        <p:spPr>
          <a:xfrm>
            <a:off x="7213600" y="2885380"/>
            <a:ext cx="254000" cy="254000"/>
          </a:xfrm>
          <a:prstGeom prst="rect">
            <a:avLst/>
          </a:prstGeom>
        </p:spPr>
      </p:pic>
      <p:sp>
        <p:nvSpPr>
          <p:cNvPr id="15" name="Text 11"/>
          <p:cNvSpPr/>
          <p:nvPr/>
        </p:nvSpPr>
        <p:spPr>
          <a:xfrm>
            <a:off x="7569200" y="2885380"/>
            <a:ext cx="392430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05C"/>
                </a:solidFill>
                <a:latin typeface="IBM Plex Sans" pitchFamily="34" charset="0"/>
                <a:ea typeface="IBM Plex Sans" pitchFamily="34" charset="-122"/>
                <a:cs typeface="IBM Plex Sans" pitchFamily="34" charset="-120"/>
              </a:rPr>
              <a:t>Move heavy calculations to worker threads or a background job</a:t>
            </a:r>
            <a:endParaRPr lang="en-US" sz="1400" dirty="0"/>
          </a:p>
        </p:txBody>
      </p:sp>
      <p:pic>
        <p:nvPicPr>
          <p:cNvPr id="16" name="Image 2" descr="Check">    </p:cNvPr>
          <p:cNvPicPr>
            <a:picLocks noChangeAspect="1"/>
          </p:cNvPicPr>
          <p:nvPr/>
        </p:nvPicPr>
        <p:blipFill>
          <a:blip r:embed="rId3"/>
          <a:srcRect l="0" r="0" t="0" b="0"/>
          <a:stretch/>
        </p:blipFill>
        <p:spPr>
          <a:xfrm>
            <a:off x="7213600" y="3535561"/>
            <a:ext cx="254000" cy="254000"/>
          </a:xfrm>
          <a:prstGeom prst="rect">
            <a:avLst/>
          </a:prstGeom>
        </p:spPr>
      </p:pic>
      <p:sp>
        <p:nvSpPr>
          <p:cNvPr id="17" name="Text 12"/>
          <p:cNvSpPr/>
          <p:nvPr/>
        </p:nvSpPr>
        <p:spPr>
          <a:xfrm>
            <a:off x="7569200" y="3535561"/>
            <a:ext cx="39243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05C"/>
                </a:solidFill>
                <a:latin typeface="IBM Plex Sans" pitchFamily="34" charset="0"/>
                <a:ea typeface="IBM Plex Sans" pitchFamily="34" charset="-122"/>
                <a:cs typeface="IBM Plex Sans" pitchFamily="34" charset="-120"/>
              </a:rPr>
              <a:t>Keep route handlers short and fast</a:t>
            </a:r>
            <a:endParaRPr lang="en-US" sz="1400" dirty="0"/>
          </a:p>
        </p:txBody>
      </p:sp>
      <p:sp>
        <p:nvSpPr>
          <p:cNvPr id="18" name="Shape 13"/>
          <p:cNvSpPr/>
          <p:nvPr/>
        </p:nvSpPr>
        <p:spPr>
          <a:xfrm>
            <a:off x="812800" y="4700240"/>
            <a:ext cx="10566400" cy="635000"/>
          </a:xfrm>
          <a:prstGeom prst="roundRect">
            <a:avLst>
              <a:gd name="adj" fmla="val 16000"/>
            </a:avLst>
          </a:prstGeom>
          <a:solidFill>
            <a:srgbClr val="F7E6D6"/>
          </a:solidFill>
          <a:ln/>
        </p:spPr>
      </p:sp>
      <p:pic>
        <p:nvPicPr>
          <p:cNvPr id="19" name="Image 3" descr="Users">    </p:cNvPr>
          <p:cNvPicPr>
            <a:picLocks noChangeAspect="1"/>
          </p:cNvPicPr>
          <p:nvPr/>
        </p:nvPicPr>
        <p:blipFill>
          <a:blip r:embed="rId4"/>
          <a:srcRect l="0" r="0" t="0" b="0"/>
          <a:stretch/>
        </p:blipFill>
        <p:spPr>
          <a:xfrm>
            <a:off x="1066800" y="4878040"/>
            <a:ext cx="279400" cy="279400"/>
          </a:xfrm>
          <a:prstGeom prst="rect">
            <a:avLst/>
          </a:prstGeom>
        </p:spPr>
      </p:pic>
      <p:sp>
        <p:nvSpPr>
          <p:cNvPr id="20" name="Text 14"/>
          <p:cNvSpPr/>
          <p:nvPr/>
        </p:nvSpPr>
        <p:spPr>
          <a:xfrm>
            <a:off x="1498600" y="4893270"/>
            <a:ext cx="991539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B"/>
                </a:solidFill>
                <a:latin typeface="IBM Plex Sans" pitchFamily="34" charset="0"/>
                <a:ea typeface="IBM Plex Sans" pitchFamily="34" charset="-122"/>
                <a:cs typeface="IBM Plex Sans" pitchFamily="34" charset="-120"/>
              </a:rPr>
              <a:t>One cashier, one queue:</a:t>
            </a:r>
            <a:r>
              <a:rPr lang="en-US" sz="1400" dirty="0">
                <a:solidFill>
                  <a:srgbClr val="16202B"/>
                </a:solidFill>
                <a:latin typeface="IBM Plex Sans" pitchFamily="34" charset="0"/>
                <a:ea typeface="IBM Plex Sans" pitchFamily="34" charset="-122"/>
                <a:cs typeface="IBM Plex Sans" pitchFamily="34" charset="-120"/>
              </a:rPr>
              <a:t> if one customer takes 10 minutes, everyone behind them waits.</a:t>
            </a:r>
            <a:endParaRPr lang="en-US" sz="1400" dirty="0"/>
          </a:p>
        </p:txBody>
      </p:sp>
      <p:sp>
        <p:nvSpPr>
          <p:cNvPr id="21"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Configuration with environment variables</a:t>
            </a:r>
            <a:endParaRPr lang="en-US" sz="3200" dirty="0"/>
          </a:p>
        </p:txBody>
      </p:sp>
      <p:sp>
        <p:nvSpPr>
          <p:cNvPr id="3" name="Text 1"/>
          <p:cNvSpPr/>
          <p:nvPr/>
        </p:nvSpPr>
        <p:spPr>
          <a:xfrm>
            <a:off x="812800" y="1488430"/>
            <a:ext cx="11379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5505C"/>
                </a:solidFill>
                <a:latin typeface="IBM Plex Sans" pitchFamily="34" charset="0"/>
                <a:ea typeface="IBM Plex Sans" pitchFamily="34" charset="-122"/>
                <a:cs typeface="IBM Plex Sans" pitchFamily="34" charset="-120"/>
              </a:rPr>
              <a:t>Settings that change between your laptop and production (port, log level, API keys) live </a:t>
            </a:r>
            <a:r>
              <a:rPr lang="en-US" sz="1500" b="1" dirty="0">
                <a:solidFill>
                  <a:srgbClr val="16202B"/>
                </a:solidFill>
                <a:latin typeface="IBM Plex Sans" pitchFamily="34" charset="0"/>
                <a:ea typeface="IBM Plex Sans" pitchFamily="34" charset="-122"/>
                <a:cs typeface="IBM Plex Sans" pitchFamily="34" charset="-120"/>
              </a:rPr>
              <a:t>outside</a:t>
            </a:r>
            <a:r>
              <a:rPr lang="en-US" sz="1500" dirty="0">
                <a:solidFill>
                  <a:srgbClr val="45505C"/>
                </a:solidFill>
                <a:latin typeface="IBM Plex Sans" pitchFamily="34" charset="0"/>
                <a:ea typeface="IBM Plex Sans" pitchFamily="34" charset="-122"/>
                <a:cs typeface="IBM Plex Sans" pitchFamily="34" charset="-120"/>
              </a:rPr>
              <a:t> your code, in </a:t>
            </a:r>
            <a:r>
              <a:rPr lang="en-US" sz="1500" b="1" dirty="0">
                <a:solidFill>
                  <a:srgbClr val="16202B"/>
                </a:solidFill>
                <a:latin typeface="IBM Plex Sans" pitchFamily="34" charset="0"/>
                <a:ea typeface="IBM Plex Sans" pitchFamily="34" charset="-122"/>
                <a:cs typeface="IBM Plex Sans" pitchFamily="34" charset="-120"/>
              </a:rPr>
              <a:t>process.env</a:t>
            </a:r>
            <a:r>
              <a:rPr lang="en-US" sz="1500" dirty="0">
                <a:solidFill>
                  <a:srgbClr val="45505C"/>
                </a:solidFill>
                <a:latin typeface="IBM Plex Sans" pitchFamily="34" charset="0"/>
                <a:ea typeface="IBM Plex Sans" pitchFamily="34" charset="-122"/>
                <a:cs typeface="IBM Plex Sans" pitchFamily="34" charset="-120"/>
              </a:rPr>
              <a:t>.</a:t>
            </a:r>
            <a:endParaRPr lang="en-US" sz="1500" dirty="0"/>
          </a:p>
        </p:txBody>
      </p:sp>
      <p:sp>
        <p:nvSpPr>
          <p:cNvPr id="4" name="Shape 2"/>
          <p:cNvSpPr/>
          <p:nvPr/>
        </p:nvSpPr>
        <p:spPr>
          <a:xfrm>
            <a:off x="812800" y="1983730"/>
            <a:ext cx="3302000" cy="2260600"/>
          </a:xfrm>
          <a:prstGeom prst="roundRect">
            <a:avLst>
              <a:gd name="adj" fmla="val 4494"/>
            </a:avLst>
          </a:prstGeom>
          <a:solidFill>
            <a:srgbClr val="16202B"/>
          </a:solidFill>
          <a:ln/>
        </p:spPr>
      </p:sp>
      <p:sp>
        <p:nvSpPr>
          <p:cNvPr id="5" name="Text 3"/>
          <p:cNvSpPr/>
          <p:nvPr/>
        </p:nvSpPr>
        <p:spPr>
          <a:xfrm>
            <a:off x="1066800" y="2237730"/>
            <a:ext cx="287782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9FB0BD"/>
                </a:solidFill>
                <a:latin typeface="JetBrains Mono" pitchFamily="49" charset="0"/>
                <a:ea typeface="JetBrains Mono" pitchFamily="49" charset="-122"/>
                <a:cs typeface="JetBrains Mono" pitchFamily="49" charset="-120"/>
              </a:rPr>
              <a:t># .env (never commit)</a:t>
            </a:r>
            <a:endParaRPr lang="en-US" sz="1300" dirty="0"/>
          </a:p>
        </p:txBody>
      </p:sp>
      <p:sp>
        <p:nvSpPr>
          <p:cNvPr id="6" name="Text 4"/>
          <p:cNvSpPr/>
          <p:nvPr/>
        </p:nvSpPr>
        <p:spPr>
          <a:xfrm>
            <a:off x="1066800" y="2510780"/>
            <a:ext cx="287782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PORT=3000</a:t>
            </a:r>
            <a:endParaRPr lang="en-US" sz="1300" dirty="0"/>
          </a:p>
        </p:txBody>
      </p:sp>
      <p:sp>
        <p:nvSpPr>
          <p:cNvPr id="7" name="Text 5"/>
          <p:cNvSpPr/>
          <p:nvPr/>
        </p:nvSpPr>
        <p:spPr>
          <a:xfrm>
            <a:off x="1066800" y="2783830"/>
            <a:ext cx="287782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NODE_ENV=development</a:t>
            </a:r>
            <a:endParaRPr lang="en-US" sz="1300" dirty="0"/>
          </a:p>
        </p:txBody>
      </p:sp>
      <p:sp>
        <p:nvSpPr>
          <p:cNvPr id="8" name="Text 6"/>
          <p:cNvSpPr/>
          <p:nvPr/>
        </p:nvSpPr>
        <p:spPr>
          <a:xfrm>
            <a:off x="1066800" y="3056880"/>
            <a:ext cx="287782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LOG_LEVEL=debug</a:t>
            </a:r>
            <a:endParaRPr lang="en-US" sz="1300" dirty="0"/>
          </a:p>
        </p:txBody>
      </p:sp>
      <p:sp>
        <p:nvSpPr>
          <p:cNvPr id="9" name="Shape 7"/>
          <p:cNvSpPr/>
          <p:nvPr/>
        </p:nvSpPr>
        <p:spPr>
          <a:xfrm>
            <a:off x="4318000" y="1983730"/>
            <a:ext cx="7061200" cy="2260600"/>
          </a:xfrm>
          <a:prstGeom prst="roundRect">
            <a:avLst>
              <a:gd name="adj" fmla="val 4494"/>
            </a:avLst>
          </a:prstGeom>
          <a:solidFill>
            <a:srgbClr val="16202B"/>
          </a:solidFill>
          <a:ln/>
        </p:spPr>
      </p:sp>
      <p:sp>
        <p:nvSpPr>
          <p:cNvPr id="10" name="Text 8"/>
          <p:cNvSpPr/>
          <p:nvPr/>
        </p:nvSpPr>
        <p:spPr>
          <a:xfrm>
            <a:off x="4572000" y="2237730"/>
            <a:ext cx="674979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9FB0BD"/>
                </a:solidFill>
                <a:latin typeface="JetBrains Mono" pitchFamily="49" charset="0"/>
                <a:ea typeface="JetBrains Mono" pitchFamily="49" charset="-122"/>
                <a:cs typeface="JetBrains Mono" pitchFamily="49" charset="-120"/>
              </a:rPr>
              <a:t>// src/config/env.ts — read once, use everywhere</a:t>
            </a:r>
            <a:endParaRPr lang="en-US" sz="1200" dirty="0"/>
          </a:p>
        </p:txBody>
      </p:sp>
      <p:sp>
        <p:nvSpPr>
          <p:cNvPr id="11" name="Text 9"/>
          <p:cNvSpPr/>
          <p:nvPr/>
        </p:nvSpPr>
        <p:spPr>
          <a:xfrm>
            <a:off x="4572000" y="2491730"/>
            <a:ext cx="674979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7ECEF"/>
                </a:solidFill>
                <a:latin typeface="JetBrains Mono" pitchFamily="49" charset="0"/>
                <a:ea typeface="JetBrains Mono" pitchFamily="49" charset="-122"/>
                <a:cs typeface="JetBrains Mono" pitchFamily="49" charset="-120"/>
              </a:rPr>
              <a:t>export const env = {</a:t>
            </a:r>
            <a:endParaRPr lang="en-US" sz="1200" dirty="0"/>
          </a:p>
        </p:txBody>
      </p:sp>
      <p:sp>
        <p:nvSpPr>
          <p:cNvPr id="12" name="Text 10"/>
          <p:cNvSpPr/>
          <p:nvPr/>
        </p:nvSpPr>
        <p:spPr>
          <a:xfrm>
            <a:off x="4572000" y="2745730"/>
            <a:ext cx="674979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7ECEF"/>
                </a:solidFill>
                <a:latin typeface="JetBrains Mono" pitchFamily="49" charset="0"/>
                <a:ea typeface="JetBrains Mono" pitchFamily="49" charset="-122"/>
                <a:cs typeface="JetBrains Mono" pitchFamily="49" charset="-120"/>
              </a:rPr>
              <a:t>  port: Number(process.env.PORT ?? 3000),</a:t>
            </a:r>
            <a:endParaRPr lang="en-US" sz="1200" dirty="0"/>
          </a:p>
        </p:txBody>
      </p:sp>
      <p:sp>
        <p:nvSpPr>
          <p:cNvPr id="13" name="Text 11"/>
          <p:cNvSpPr/>
          <p:nvPr/>
        </p:nvSpPr>
        <p:spPr>
          <a:xfrm>
            <a:off x="4572000" y="2999730"/>
            <a:ext cx="674979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7ECEF"/>
                </a:solidFill>
                <a:latin typeface="JetBrains Mono" pitchFamily="49" charset="0"/>
                <a:ea typeface="JetBrains Mono" pitchFamily="49" charset="-122"/>
                <a:cs typeface="JetBrains Mono" pitchFamily="49" charset="-120"/>
              </a:rPr>
              <a:t>  nodeEnv: process.env.NODE_ENV ?? "development",</a:t>
            </a:r>
            <a:endParaRPr lang="en-US" sz="1200" dirty="0"/>
          </a:p>
        </p:txBody>
      </p:sp>
      <p:sp>
        <p:nvSpPr>
          <p:cNvPr id="14" name="Text 12"/>
          <p:cNvSpPr/>
          <p:nvPr/>
        </p:nvSpPr>
        <p:spPr>
          <a:xfrm>
            <a:off x="4572000" y="3253730"/>
            <a:ext cx="674979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7ECEF"/>
                </a:solidFill>
                <a:latin typeface="JetBrains Mono" pitchFamily="49" charset="0"/>
                <a:ea typeface="JetBrains Mono" pitchFamily="49" charset="-122"/>
                <a:cs typeface="JetBrains Mono" pitchFamily="49" charset="-120"/>
              </a:rPr>
              <a:t>  isProduction: process.env.NODE_ENV === "production",</a:t>
            </a:r>
            <a:endParaRPr lang="en-US" sz="1200" dirty="0"/>
          </a:p>
        </p:txBody>
      </p:sp>
      <p:sp>
        <p:nvSpPr>
          <p:cNvPr id="15" name="Text 13"/>
          <p:cNvSpPr/>
          <p:nvPr/>
        </p:nvSpPr>
        <p:spPr>
          <a:xfrm>
            <a:off x="4572000" y="3507730"/>
            <a:ext cx="674979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7ECEF"/>
                </a:solidFill>
                <a:latin typeface="JetBrains Mono" pitchFamily="49" charset="0"/>
                <a:ea typeface="JetBrains Mono" pitchFamily="49" charset="-122"/>
                <a:cs typeface="JetBrains Mono" pitchFamily="49" charset="-120"/>
              </a:rPr>
              <a:t>  logLevel: process.env.LOG_LEVEL ?? "info",</a:t>
            </a:r>
            <a:endParaRPr lang="en-US" sz="1200" dirty="0"/>
          </a:p>
        </p:txBody>
      </p:sp>
      <p:sp>
        <p:nvSpPr>
          <p:cNvPr id="16" name="Text 14"/>
          <p:cNvSpPr/>
          <p:nvPr/>
        </p:nvSpPr>
        <p:spPr>
          <a:xfrm>
            <a:off x="4572000" y="3761730"/>
            <a:ext cx="674979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7ECEF"/>
                </a:solidFill>
                <a:latin typeface="JetBrains Mono" pitchFamily="49" charset="0"/>
                <a:ea typeface="JetBrains Mono" pitchFamily="49" charset="-122"/>
                <a:cs typeface="JetBrains Mono" pitchFamily="49" charset="-120"/>
              </a:rPr>
              <a:t>};</a:t>
            </a:r>
            <a:endParaRPr lang="en-US" sz="1200" dirty="0"/>
          </a:p>
        </p:txBody>
      </p:sp>
      <p:sp>
        <p:nvSpPr>
          <p:cNvPr id="17" name="Shape 15"/>
          <p:cNvSpPr/>
          <p:nvPr/>
        </p:nvSpPr>
        <p:spPr>
          <a:xfrm>
            <a:off x="815975" y="4476105"/>
            <a:ext cx="3414167" cy="756841"/>
          </a:xfrm>
          <a:prstGeom prst="roundRect">
            <a:avLst>
              <a:gd name="adj" fmla="val 13005"/>
            </a:avLst>
          </a:prstGeom>
          <a:solidFill>
            <a:srgbClr val="FFFEFB"/>
          </a:solidFill>
          <a:ln w="6350">
            <a:solidFill>
              <a:srgbClr val="DEDBD2"/>
            </a:solidFill>
            <a:prstDash val="solid"/>
          </a:ln>
        </p:spPr>
      </p:sp>
      <p:pic>
        <p:nvPicPr>
          <p:cNvPr id="18" name="Image 0" descr="Key">    </p:cNvPr>
          <p:cNvPicPr>
            <a:picLocks noChangeAspect="1"/>
          </p:cNvPicPr>
          <p:nvPr/>
        </p:nvPicPr>
        <p:blipFill>
          <a:blip r:embed="rId1"/>
          <a:srcRect l="0" r="0" t="0" b="0"/>
          <a:stretch/>
        </p:blipFill>
        <p:spPr>
          <a:xfrm>
            <a:off x="996950" y="4727525"/>
            <a:ext cx="254000" cy="254000"/>
          </a:xfrm>
          <a:prstGeom prst="rect">
            <a:avLst/>
          </a:prstGeom>
        </p:spPr>
      </p:pic>
      <p:sp>
        <p:nvSpPr>
          <p:cNvPr id="19" name="Text 16"/>
          <p:cNvSpPr/>
          <p:nvPr/>
        </p:nvSpPr>
        <p:spPr>
          <a:xfrm>
            <a:off x="1352550" y="4743103"/>
            <a:ext cx="277751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202B"/>
                </a:solidFill>
                <a:latin typeface="IBM Plex Sans" pitchFamily="34" charset="0"/>
                <a:ea typeface="IBM Plex Sans" pitchFamily="34" charset="-122"/>
                <a:cs typeface="IBM Plex Sans" pitchFamily="34" charset="-120"/>
              </a:rPr>
              <a:t>Values are strings: use Number()</a:t>
            </a:r>
            <a:endParaRPr lang="en-US" sz="1300" dirty="0"/>
          </a:p>
        </p:txBody>
      </p:sp>
      <p:sp>
        <p:nvSpPr>
          <p:cNvPr id="20" name="Shape 17"/>
          <p:cNvSpPr/>
          <p:nvPr/>
        </p:nvSpPr>
        <p:spPr>
          <a:xfrm>
            <a:off x="4388892" y="4476105"/>
            <a:ext cx="3414216" cy="756841"/>
          </a:xfrm>
          <a:prstGeom prst="roundRect">
            <a:avLst>
              <a:gd name="adj" fmla="val 13005"/>
            </a:avLst>
          </a:prstGeom>
          <a:solidFill>
            <a:srgbClr val="FFFEFB"/>
          </a:solidFill>
          <a:ln w="6350">
            <a:solidFill>
              <a:srgbClr val="DEDBD2"/>
            </a:solidFill>
            <a:prstDash val="solid"/>
          </a:ln>
        </p:spPr>
      </p:sp>
      <p:pic>
        <p:nvPicPr>
          <p:cNvPr id="21" name="Image 1" descr="Lock">    </p:cNvPr>
          <p:cNvPicPr>
            <a:picLocks noChangeAspect="1"/>
          </p:cNvPicPr>
          <p:nvPr/>
        </p:nvPicPr>
        <p:blipFill>
          <a:blip r:embed="rId2"/>
          <a:srcRect l="0" r="0" t="0" b="0"/>
          <a:stretch/>
        </p:blipFill>
        <p:spPr>
          <a:xfrm>
            <a:off x="4569867" y="4727525"/>
            <a:ext cx="254000" cy="254000"/>
          </a:xfrm>
          <a:prstGeom prst="rect">
            <a:avLst/>
          </a:prstGeom>
        </p:spPr>
      </p:pic>
      <p:sp>
        <p:nvSpPr>
          <p:cNvPr id="22" name="Text 18"/>
          <p:cNvSpPr/>
          <p:nvPr/>
        </p:nvSpPr>
        <p:spPr>
          <a:xfrm>
            <a:off x="4925467" y="4631680"/>
            <a:ext cx="277756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202B"/>
                </a:solidFill>
                <a:latin typeface="IBM Plex Sans" pitchFamily="34" charset="0"/>
                <a:ea typeface="IBM Plex Sans" pitchFamily="34" charset="-122"/>
                <a:cs typeface="IBM Plex Sans" pitchFamily="34" charset="-120"/>
              </a:rPr>
              <a:t>Never commit .env; commit .env.example</a:t>
            </a:r>
            <a:endParaRPr lang="en-US" sz="1300" dirty="0"/>
          </a:p>
        </p:txBody>
      </p:sp>
      <p:sp>
        <p:nvSpPr>
          <p:cNvPr id="23" name="Shape 19"/>
          <p:cNvSpPr/>
          <p:nvPr/>
        </p:nvSpPr>
        <p:spPr>
          <a:xfrm>
            <a:off x="7961858" y="4476105"/>
            <a:ext cx="3414167" cy="756841"/>
          </a:xfrm>
          <a:prstGeom prst="roundRect">
            <a:avLst>
              <a:gd name="adj" fmla="val 13005"/>
            </a:avLst>
          </a:prstGeom>
          <a:solidFill>
            <a:srgbClr val="FFFEFB"/>
          </a:solidFill>
          <a:ln w="6350">
            <a:solidFill>
              <a:srgbClr val="DEDBD2"/>
            </a:solidFill>
            <a:prstDash val="solid"/>
          </a:ln>
        </p:spPr>
      </p:sp>
      <p:pic>
        <p:nvPicPr>
          <p:cNvPr id="24" name="Image 2" descr="Warning">    </p:cNvPr>
          <p:cNvPicPr>
            <a:picLocks noChangeAspect="1"/>
          </p:cNvPicPr>
          <p:nvPr/>
        </p:nvPicPr>
        <p:blipFill>
          <a:blip r:embed="rId3"/>
          <a:srcRect l="0" r="0" t="0" b="0"/>
          <a:stretch/>
        </p:blipFill>
        <p:spPr>
          <a:xfrm>
            <a:off x="8142833" y="4727525"/>
            <a:ext cx="254000" cy="254000"/>
          </a:xfrm>
          <a:prstGeom prst="rect">
            <a:avLst/>
          </a:prstGeom>
        </p:spPr>
      </p:pic>
      <p:sp>
        <p:nvSpPr>
          <p:cNvPr id="25" name="Text 20"/>
          <p:cNvSpPr/>
          <p:nvPr/>
        </p:nvSpPr>
        <p:spPr>
          <a:xfrm>
            <a:off x="8498433" y="4631680"/>
            <a:ext cx="277751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202B"/>
                </a:solidFill>
                <a:latin typeface="IBM Plex Sans" pitchFamily="34" charset="0"/>
                <a:ea typeface="IBM Plex Sans" pitchFamily="34" charset="-122"/>
                <a:cs typeface="IBM Plex Sans" pitchFamily="34" charset="-120"/>
              </a:rPr>
              <a:t>macOS: avoid port 5000 (AirPlay answers 403)</a:t>
            </a:r>
            <a:endParaRPr lang="en-US" sz="1300" dirty="0"/>
          </a:p>
        </p:txBody>
      </p:sp>
      <p:sp>
        <p:nvSpPr>
          <p:cNvPr id="26"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Common beginner mistakes</a:t>
            </a:r>
            <a:endParaRPr lang="en-US" sz="3200" dirty="0"/>
          </a:p>
        </p:txBody>
      </p:sp>
      <p:sp>
        <p:nvSpPr>
          <p:cNvPr id="3" name="Shape 1"/>
          <p:cNvSpPr/>
          <p:nvPr/>
        </p:nvSpPr>
        <p:spPr>
          <a:xfrm>
            <a:off x="812800" y="1564630"/>
            <a:ext cx="10566400" cy="2721124"/>
          </a:xfrm>
          <a:prstGeom prst="rect">
            <a:avLst/>
          </a:prstGeom>
          <a:solidFill>
            <a:srgbClr val="FFFEFB"/>
          </a:solidFill>
          <a:ln/>
        </p:spPr>
      </p:sp>
      <p:sp>
        <p:nvSpPr>
          <p:cNvPr id="4" name="Shape 2"/>
          <p:cNvSpPr/>
          <p:nvPr/>
        </p:nvSpPr>
        <p:spPr>
          <a:xfrm>
            <a:off x="11376025" y="1564630"/>
            <a:ext cx="0" cy="2721124"/>
          </a:xfrm>
          <a:prstGeom prst="line">
            <a:avLst/>
          </a:prstGeom>
          <a:noFill/>
          <a:ln w="6350">
            <a:solidFill>
              <a:srgbClr val="DEDBD2"/>
            </a:solidFill>
            <a:prstDash val="solid"/>
          </a:ln>
        </p:spPr>
      </p:sp>
      <p:sp>
        <p:nvSpPr>
          <p:cNvPr id="5" name="Shape 3"/>
          <p:cNvSpPr/>
          <p:nvPr/>
        </p:nvSpPr>
        <p:spPr>
          <a:xfrm>
            <a:off x="812800" y="4282579"/>
            <a:ext cx="10566400" cy="0"/>
          </a:xfrm>
          <a:prstGeom prst="line">
            <a:avLst/>
          </a:prstGeom>
          <a:noFill/>
          <a:ln w="6350">
            <a:solidFill>
              <a:srgbClr val="DEDBD2"/>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577330"/>
          <a:ext cx="10547350" cy="2702074"/>
        </p:xfrm>
        <a:graphic>
          <a:graphicData uri="http://schemas.openxmlformats.org/drawingml/2006/table">
            <a:tbl>
              <a:tblPr/>
              <a:tblGrid>
                <a:gridCol w="3375152"/>
                <a:gridCol w="3375152"/>
                <a:gridCol w="3797046"/>
              </a:tblGrid>
              <a:tr h="386011">
                <a:tc>
                  <a:txBody>
                    <a:bodyPr/>
                    <a:lstStyle/>
                    <a:p>
                      <a:pPr indent="0" marL="0">
                        <a:lnSpc>
                          <a:spcPts val="1960"/>
                        </a:lnSpc>
                        <a:buNone/>
                      </a:pPr>
                      <a:r>
                        <a:rPr lang="en-US" sz="1400" b="1" dirty="0">
                          <a:solidFill>
                            <a:srgbClr val="F6F5F0"/>
                          </a:solidFill>
                          <a:latin typeface="IBM Plex Sans" pitchFamily="34" charset="0"/>
                          <a:ea typeface="IBM Plex Sans" pitchFamily="34" charset="-122"/>
                          <a:cs typeface="IBM Plex Sans" pitchFamily="34" charset="-120"/>
                        </a:rPr>
                        <a:t>Mistake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c>
                  <a:txBody>
                    <a:bodyPr/>
                    <a:lstStyle/>
                    <a:p>
                      <a:pPr indent="0" marL="0">
                        <a:lnSpc>
                          <a:spcPts val="1960"/>
                        </a:lnSpc>
                        <a:buNone/>
                      </a:pPr>
                      <a:r>
                        <a:rPr lang="en-US" sz="1400" b="1" dirty="0">
                          <a:solidFill>
                            <a:srgbClr val="F6F5F0"/>
                          </a:solidFill>
                          <a:latin typeface="IBM Plex Sans" pitchFamily="34" charset="0"/>
                          <a:ea typeface="IBM Plex Sans" pitchFamily="34" charset="-122"/>
                          <a:cs typeface="IBM Plex Sans" pitchFamily="34" charset="-120"/>
                        </a:rPr>
                        <a:t>Why it hurts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1D26"/>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c>
                  <a:txBody>
                    <a:bodyPr/>
                    <a:lstStyle/>
                    <a:p>
                      <a:pPr indent="0" marL="0">
                        <a:lnSpc>
                          <a:spcPts val="1960"/>
                        </a:lnSpc>
                        <a:buNone/>
                      </a:pPr>
                      <a:r>
                        <a:rPr lang="en-US" sz="1400" b="1" dirty="0">
                          <a:solidFill>
                            <a:srgbClr val="F6F5F0"/>
                          </a:solidFill>
                          <a:latin typeface="IBM Plex Sans" pitchFamily="34" charset="0"/>
                          <a:ea typeface="IBM Plex Sans" pitchFamily="34" charset="-122"/>
                          <a:cs typeface="IBM Plex Sans" pitchFamily="34" charset="-120"/>
                        </a:rPr>
                        <a:t>Do this instead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1D26"/>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r>
              <a:tr h="386011">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readFileSync in a route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Blocks every user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await readFile(...)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Forgetting await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You get a Promise, not data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await every async call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386011">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setTimeout(fn, 0) means “now”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Runs after sync code and promises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Sync, then promises, then timers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Heavy loops in a route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Freezes the whole server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Worker thread or background job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386011">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PORT + 1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"3000" + 1 is "30001"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Number(process.env.PORT)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Committing .env</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Leaks secrets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960"/>
                        </a:lnSpc>
                        <a:buNone/>
                      </a:pPr>
                      <a:r>
                        <a:rPr lang="en-US" sz="1400" dirty="0">
                          <a:solidFill>
                            <a:srgbClr val="16202B"/>
                          </a:solidFill>
                          <a:latin typeface="IBM Plex Sans" pitchFamily="34" charset="0"/>
                          <a:ea typeface="IBM Plex Sans" pitchFamily="34" charset="-122"/>
                          <a:cs typeface="IBM Plex Sans" pitchFamily="34" charset="-120"/>
                        </a:rPr>
                        <a:t>Commit .env.example instead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bl>
          </a:graphicData>
        </a:graphic>
      </p:graphicFrame>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Every request gets a response</a:t>
            </a:r>
            <a:endParaRPr lang="en-US" sz="3200" dirty="0"/>
          </a:p>
        </p:txBody>
      </p:sp>
      <p:sp>
        <p:nvSpPr>
          <p:cNvPr id="3" name="Text 1"/>
          <p:cNvSpPr/>
          <p:nvPr/>
        </p:nvSpPr>
        <p:spPr>
          <a:xfrm>
            <a:off x="812800" y="1513830"/>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D7A55"/>
                </a:solidFill>
                <a:latin typeface="JetBrains Mono" pitchFamily="49" charset="0"/>
                <a:ea typeface="JetBrains Mono" pitchFamily="49" charset="-122"/>
                <a:cs typeface="JetBrains Mono" pitchFamily="49" charset="-120"/>
              </a:rPr>
              <a:t>REQUEST · FROM REACT</a:t>
            </a:r>
            <a:endParaRPr lang="en-US" sz="1200" dirty="0"/>
          </a:p>
        </p:txBody>
      </p:sp>
      <p:sp>
        <p:nvSpPr>
          <p:cNvPr id="4" name="Shape 2"/>
          <p:cNvSpPr/>
          <p:nvPr/>
        </p:nvSpPr>
        <p:spPr>
          <a:xfrm>
            <a:off x="812800" y="1828750"/>
            <a:ext cx="5181600" cy="1574800"/>
          </a:xfrm>
          <a:prstGeom prst="roundRect">
            <a:avLst>
              <a:gd name="adj" fmla="val 6452"/>
            </a:avLst>
          </a:prstGeom>
          <a:solidFill>
            <a:srgbClr val="16202B"/>
          </a:solidFill>
          <a:ln/>
        </p:spPr>
      </p:sp>
      <p:sp>
        <p:nvSpPr>
          <p:cNvPr id="5" name="Text 3"/>
          <p:cNvSpPr/>
          <p:nvPr/>
        </p:nvSpPr>
        <p:spPr>
          <a:xfrm>
            <a:off x="1066800" y="2082750"/>
            <a:ext cx="4813808"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8FD9AE"/>
                </a:solidFill>
                <a:latin typeface="JetBrains Mono" pitchFamily="49" charset="0"/>
                <a:ea typeface="JetBrains Mono" pitchFamily="49" charset="-122"/>
                <a:cs typeface="JetBrains Mono" pitchFamily="49" charset="-120"/>
              </a:rPr>
              <a:t>POST</a:t>
            </a:r>
            <a:r>
              <a:rPr lang="en-US" sz="1300" dirty="0">
                <a:solidFill>
                  <a:srgbClr val="E7ECEF"/>
                </a:solidFill>
                <a:latin typeface="JetBrains Mono" pitchFamily="49" charset="0"/>
                <a:ea typeface="JetBrains Mono" pitchFamily="49" charset="-122"/>
                <a:cs typeface="JetBrains Mono" pitchFamily="49" charset="-120"/>
              </a:rPr>
              <a:t> /api/tasks</a:t>
            </a:r>
            <a:endParaRPr lang="en-US" sz="1300" dirty="0"/>
          </a:p>
        </p:txBody>
      </p:sp>
      <p:sp>
        <p:nvSpPr>
          <p:cNvPr id="6" name="Text 4"/>
          <p:cNvSpPr/>
          <p:nvPr/>
        </p:nvSpPr>
        <p:spPr>
          <a:xfrm>
            <a:off x="1066800" y="2355800"/>
            <a:ext cx="4813808"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9FB0BD"/>
                </a:solidFill>
                <a:latin typeface="JetBrains Mono" pitchFamily="49" charset="0"/>
                <a:ea typeface="JetBrains Mono" pitchFamily="49" charset="-122"/>
                <a:cs typeface="JetBrains Mono" pitchFamily="49" charset="-120"/>
              </a:rPr>
              <a:t>Content-Type: application/json</a:t>
            </a:r>
            <a:endParaRPr lang="en-US" sz="1300" dirty="0"/>
          </a:p>
        </p:txBody>
      </p:sp>
      <p:sp>
        <p:nvSpPr>
          <p:cNvPr id="7" name="Text 5"/>
          <p:cNvSpPr/>
          <p:nvPr/>
        </p:nvSpPr>
        <p:spPr>
          <a:xfrm>
            <a:off x="1066800" y="2901900"/>
            <a:ext cx="4813808"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 "title": "Prepare lesson" }</a:t>
            </a:r>
            <a:endParaRPr lang="en-US" sz="1300" dirty="0"/>
          </a:p>
        </p:txBody>
      </p:sp>
      <p:sp>
        <p:nvSpPr>
          <p:cNvPr id="8" name="Text 6"/>
          <p:cNvSpPr/>
          <p:nvPr/>
        </p:nvSpPr>
        <p:spPr>
          <a:xfrm>
            <a:off x="6197600" y="1513830"/>
            <a:ext cx="533704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D7A55"/>
                </a:solidFill>
                <a:latin typeface="JetBrains Mono" pitchFamily="49" charset="0"/>
                <a:ea typeface="JetBrains Mono" pitchFamily="49" charset="-122"/>
                <a:cs typeface="JetBrains Mono" pitchFamily="49" charset="-120"/>
              </a:rPr>
              <a:t>RESPONSE · FROM EXPRESS</a:t>
            </a:r>
            <a:endParaRPr lang="en-US" sz="1200" dirty="0"/>
          </a:p>
        </p:txBody>
      </p:sp>
      <p:sp>
        <p:nvSpPr>
          <p:cNvPr id="9" name="Shape 7"/>
          <p:cNvSpPr/>
          <p:nvPr/>
        </p:nvSpPr>
        <p:spPr>
          <a:xfrm>
            <a:off x="6197600" y="1828750"/>
            <a:ext cx="5181600" cy="1574800"/>
          </a:xfrm>
          <a:prstGeom prst="roundRect">
            <a:avLst>
              <a:gd name="adj" fmla="val 6452"/>
            </a:avLst>
          </a:prstGeom>
          <a:solidFill>
            <a:srgbClr val="16202B"/>
          </a:solidFill>
          <a:ln/>
        </p:spPr>
      </p:sp>
      <p:sp>
        <p:nvSpPr>
          <p:cNvPr id="10" name="Text 8"/>
          <p:cNvSpPr/>
          <p:nvPr/>
        </p:nvSpPr>
        <p:spPr>
          <a:xfrm>
            <a:off x="6451600" y="2082750"/>
            <a:ext cx="4813808"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8FD9AE"/>
                </a:solidFill>
                <a:latin typeface="JetBrains Mono" pitchFamily="49" charset="0"/>
                <a:ea typeface="JetBrains Mono" pitchFamily="49" charset="-122"/>
                <a:cs typeface="JetBrains Mono" pitchFamily="49" charset="-120"/>
              </a:rPr>
              <a:t>201 Created</a:t>
            </a:r>
            <a:endParaRPr lang="en-US" sz="1300" dirty="0"/>
          </a:p>
        </p:txBody>
      </p:sp>
      <p:sp>
        <p:nvSpPr>
          <p:cNvPr id="11" name="Text 9"/>
          <p:cNvSpPr/>
          <p:nvPr/>
        </p:nvSpPr>
        <p:spPr>
          <a:xfrm>
            <a:off x="6451600" y="2355800"/>
            <a:ext cx="4813808"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9FB0BD"/>
                </a:solidFill>
                <a:latin typeface="JetBrains Mono" pitchFamily="49" charset="0"/>
                <a:ea typeface="JetBrains Mono" pitchFamily="49" charset="-122"/>
                <a:cs typeface="JetBrains Mono" pitchFamily="49" charset="-120"/>
              </a:rPr>
              <a:t>Content-Type: application/json</a:t>
            </a:r>
            <a:endParaRPr lang="en-US" sz="1300" dirty="0"/>
          </a:p>
        </p:txBody>
      </p:sp>
      <p:sp>
        <p:nvSpPr>
          <p:cNvPr id="12" name="Text 10"/>
          <p:cNvSpPr/>
          <p:nvPr/>
        </p:nvSpPr>
        <p:spPr>
          <a:xfrm>
            <a:off x="6451600" y="2901900"/>
            <a:ext cx="4813808"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 "success": true, "data": { ... } }</a:t>
            </a:r>
            <a:endParaRPr lang="en-US" sz="1300" dirty="0"/>
          </a:p>
        </p:txBody>
      </p:sp>
      <p:sp>
        <p:nvSpPr>
          <p:cNvPr id="13" name="Shape 11"/>
          <p:cNvSpPr/>
          <p:nvPr/>
        </p:nvSpPr>
        <p:spPr>
          <a:xfrm>
            <a:off x="815975" y="3660725"/>
            <a:ext cx="5200650" cy="560040"/>
          </a:xfrm>
          <a:prstGeom prst="roundRect">
            <a:avLst>
              <a:gd name="adj" fmla="val 17575"/>
            </a:avLst>
          </a:prstGeom>
          <a:solidFill>
            <a:srgbClr val="FFFEFB"/>
          </a:solidFill>
          <a:ln w="6350">
            <a:solidFill>
              <a:srgbClr val="DEDBD2"/>
            </a:solidFill>
            <a:prstDash val="solid"/>
          </a:ln>
        </p:spPr>
      </p:sp>
      <p:sp>
        <p:nvSpPr>
          <p:cNvPr id="14" name="Text 12"/>
          <p:cNvSpPr/>
          <p:nvPr/>
        </p:nvSpPr>
        <p:spPr>
          <a:xfrm>
            <a:off x="1022350" y="3816300"/>
            <a:ext cx="72960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7A55"/>
                </a:solidFill>
                <a:latin typeface="IBM Plex Sans" pitchFamily="34" charset="0"/>
                <a:ea typeface="IBM Plex Sans" pitchFamily="34" charset="-122"/>
                <a:cs typeface="IBM Plex Sans" pitchFamily="34" charset="-120"/>
              </a:rPr>
              <a:t>Method</a:t>
            </a:r>
            <a:endParaRPr lang="en-US" sz="1400" dirty="0"/>
          </a:p>
        </p:txBody>
      </p:sp>
      <p:sp>
        <p:nvSpPr>
          <p:cNvPr id="15" name="Text 13"/>
          <p:cNvSpPr/>
          <p:nvPr/>
        </p:nvSpPr>
        <p:spPr>
          <a:xfrm>
            <a:off x="1751955" y="3816300"/>
            <a:ext cx="418004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05C"/>
                </a:solidFill>
                <a:latin typeface="IBM Plex Sans" pitchFamily="34" charset="0"/>
                <a:ea typeface="IBM Plex Sans" pitchFamily="34" charset="-122"/>
                <a:cs typeface="IBM Plex Sans" pitchFamily="34" charset="-120"/>
              </a:rPr>
              <a:t>the action (POST = create)</a:t>
            </a:r>
            <a:endParaRPr lang="en-US" sz="1400" dirty="0"/>
          </a:p>
        </p:txBody>
      </p:sp>
      <p:sp>
        <p:nvSpPr>
          <p:cNvPr id="16" name="Shape 14"/>
          <p:cNvSpPr/>
          <p:nvPr/>
        </p:nvSpPr>
        <p:spPr>
          <a:xfrm>
            <a:off x="6175375" y="3660725"/>
            <a:ext cx="5200650" cy="560040"/>
          </a:xfrm>
          <a:prstGeom prst="roundRect">
            <a:avLst>
              <a:gd name="adj" fmla="val 17575"/>
            </a:avLst>
          </a:prstGeom>
          <a:solidFill>
            <a:srgbClr val="FFFEFB"/>
          </a:solidFill>
          <a:ln w="6350">
            <a:solidFill>
              <a:srgbClr val="DEDBD2"/>
            </a:solidFill>
            <a:prstDash val="solid"/>
          </a:ln>
        </p:spPr>
      </p:sp>
      <p:sp>
        <p:nvSpPr>
          <p:cNvPr id="17" name="Text 15"/>
          <p:cNvSpPr/>
          <p:nvPr/>
        </p:nvSpPr>
        <p:spPr>
          <a:xfrm>
            <a:off x="6381750" y="3816300"/>
            <a:ext cx="108485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7A55"/>
                </a:solidFill>
                <a:latin typeface="IBM Plex Sans" pitchFamily="34" charset="0"/>
                <a:ea typeface="IBM Plex Sans" pitchFamily="34" charset="-122"/>
                <a:cs typeface="IBM Plex Sans" pitchFamily="34" charset="-120"/>
              </a:rPr>
              <a:t>Status code</a:t>
            </a:r>
            <a:endParaRPr lang="en-US" sz="1400" dirty="0"/>
          </a:p>
        </p:txBody>
      </p:sp>
      <p:sp>
        <p:nvSpPr>
          <p:cNvPr id="18" name="Text 16"/>
          <p:cNvSpPr/>
          <p:nvPr/>
        </p:nvSpPr>
        <p:spPr>
          <a:xfrm>
            <a:off x="7466608" y="3816300"/>
            <a:ext cx="38141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05C"/>
                </a:solidFill>
                <a:latin typeface="IBM Plex Sans" pitchFamily="34" charset="0"/>
                <a:ea typeface="IBM Plex Sans" pitchFamily="34" charset="-122"/>
                <a:cs typeface="IBM Plex Sans" pitchFamily="34" charset="-120"/>
              </a:rPr>
              <a:t>the result (201 = created)</a:t>
            </a:r>
            <a:endParaRPr lang="en-US" sz="1400" dirty="0"/>
          </a:p>
        </p:txBody>
      </p:sp>
      <p:sp>
        <p:nvSpPr>
          <p:cNvPr id="19" name="Shape 17"/>
          <p:cNvSpPr/>
          <p:nvPr/>
        </p:nvSpPr>
        <p:spPr>
          <a:xfrm>
            <a:off x="815975" y="4379516"/>
            <a:ext cx="5200650" cy="560040"/>
          </a:xfrm>
          <a:prstGeom prst="roundRect">
            <a:avLst>
              <a:gd name="adj" fmla="val 17575"/>
            </a:avLst>
          </a:prstGeom>
          <a:solidFill>
            <a:srgbClr val="FFFEFB"/>
          </a:solidFill>
          <a:ln w="6350">
            <a:solidFill>
              <a:srgbClr val="DEDBD2"/>
            </a:solidFill>
            <a:prstDash val="solid"/>
          </a:ln>
        </p:spPr>
      </p:sp>
      <p:sp>
        <p:nvSpPr>
          <p:cNvPr id="20" name="Text 18"/>
          <p:cNvSpPr/>
          <p:nvPr/>
        </p:nvSpPr>
        <p:spPr>
          <a:xfrm>
            <a:off x="1022350" y="4535091"/>
            <a:ext cx="40499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7A55"/>
                </a:solidFill>
                <a:latin typeface="IBM Plex Sans" pitchFamily="34" charset="0"/>
                <a:ea typeface="IBM Plex Sans" pitchFamily="34" charset="-122"/>
                <a:cs typeface="IBM Plex Sans" pitchFamily="34" charset="-120"/>
              </a:rPr>
              <a:t>URL</a:t>
            </a:r>
            <a:endParaRPr lang="en-US" sz="1400" dirty="0"/>
          </a:p>
        </p:txBody>
      </p:sp>
      <p:sp>
        <p:nvSpPr>
          <p:cNvPr id="21" name="Text 19"/>
          <p:cNvSpPr/>
          <p:nvPr/>
        </p:nvSpPr>
        <p:spPr>
          <a:xfrm>
            <a:off x="1461443" y="4535091"/>
            <a:ext cx="447927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05C"/>
                </a:solidFill>
                <a:latin typeface="IBM Plex Sans" pitchFamily="34" charset="0"/>
                <a:ea typeface="IBM Plex Sans" pitchFamily="34" charset="-122"/>
                <a:cs typeface="IBM Plex Sans" pitchFamily="34" charset="-120"/>
              </a:rPr>
              <a:t>the resource (/api/tasks)</a:t>
            </a:r>
            <a:endParaRPr lang="en-US" sz="1400" dirty="0"/>
          </a:p>
        </p:txBody>
      </p:sp>
      <p:sp>
        <p:nvSpPr>
          <p:cNvPr id="22" name="Shape 20"/>
          <p:cNvSpPr/>
          <p:nvPr/>
        </p:nvSpPr>
        <p:spPr>
          <a:xfrm>
            <a:off x="6175375" y="4379516"/>
            <a:ext cx="5200650" cy="560040"/>
          </a:xfrm>
          <a:prstGeom prst="roundRect">
            <a:avLst>
              <a:gd name="adj" fmla="val 17575"/>
            </a:avLst>
          </a:prstGeom>
          <a:solidFill>
            <a:srgbClr val="FFFEFB"/>
          </a:solidFill>
          <a:ln w="6350">
            <a:solidFill>
              <a:srgbClr val="DEDBD2"/>
            </a:solidFill>
            <a:prstDash val="solid"/>
          </a:ln>
        </p:spPr>
      </p:sp>
      <p:sp>
        <p:nvSpPr>
          <p:cNvPr id="23" name="Text 21"/>
          <p:cNvSpPr/>
          <p:nvPr/>
        </p:nvSpPr>
        <p:spPr>
          <a:xfrm>
            <a:off x="6381750" y="4535091"/>
            <a:ext cx="50631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7A55"/>
                </a:solidFill>
                <a:latin typeface="IBM Plex Sans" pitchFamily="34" charset="0"/>
                <a:ea typeface="IBM Plex Sans" pitchFamily="34" charset="-122"/>
                <a:cs typeface="IBM Plex Sans" pitchFamily="34" charset="-120"/>
              </a:rPr>
              <a:t>Body</a:t>
            </a:r>
            <a:endParaRPr lang="en-US" sz="1400" dirty="0"/>
          </a:p>
        </p:txBody>
      </p:sp>
      <p:sp>
        <p:nvSpPr>
          <p:cNvPr id="24" name="Text 22"/>
          <p:cNvSpPr/>
          <p:nvPr/>
        </p:nvSpPr>
        <p:spPr>
          <a:xfrm>
            <a:off x="6905278" y="4535091"/>
            <a:ext cx="439230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05C"/>
                </a:solidFill>
                <a:latin typeface="IBM Plex Sans" pitchFamily="34" charset="0"/>
                <a:ea typeface="IBM Plex Sans" pitchFamily="34" charset="-122"/>
                <a:cs typeface="IBM Plex Sans" pitchFamily="34" charset="-120"/>
              </a:rPr>
              <a:t>the data, usually JSON</a:t>
            </a:r>
            <a:endParaRPr lang="en-US" sz="1400" dirty="0"/>
          </a:p>
        </p:txBody>
      </p:sp>
      <p:sp>
        <p:nvSpPr>
          <p:cNvPr id="25"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HTTP methods: what to do</a:t>
            </a:r>
            <a:endParaRPr lang="en-US" sz="3200" dirty="0"/>
          </a:p>
        </p:txBody>
      </p:sp>
      <p:sp>
        <p:nvSpPr>
          <p:cNvPr id="3" name="Shape 1"/>
          <p:cNvSpPr/>
          <p:nvPr/>
        </p:nvSpPr>
        <p:spPr>
          <a:xfrm>
            <a:off x="812800" y="1564630"/>
            <a:ext cx="10566400" cy="2495550"/>
          </a:xfrm>
          <a:prstGeom prst="rect">
            <a:avLst/>
          </a:prstGeom>
          <a:solidFill>
            <a:srgbClr val="FFFEFB"/>
          </a:solidFill>
          <a:ln/>
        </p:spPr>
      </p:sp>
      <p:sp>
        <p:nvSpPr>
          <p:cNvPr id="4" name="Shape 2"/>
          <p:cNvSpPr/>
          <p:nvPr/>
        </p:nvSpPr>
        <p:spPr>
          <a:xfrm>
            <a:off x="11376025" y="1564630"/>
            <a:ext cx="0" cy="2495550"/>
          </a:xfrm>
          <a:prstGeom prst="line">
            <a:avLst/>
          </a:prstGeom>
          <a:noFill/>
          <a:ln w="6350">
            <a:solidFill>
              <a:srgbClr val="DEDBD2"/>
            </a:solidFill>
            <a:prstDash val="solid"/>
          </a:ln>
        </p:spPr>
      </p:sp>
      <p:sp>
        <p:nvSpPr>
          <p:cNvPr id="5" name="Shape 3"/>
          <p:cNvSpPr/>
          <p:nvPr/>
        </p:nvSpPr>
        <p:spPr>
          <a:xfrm>
            <a:off x="812800" y="4057005"/>
            <a:ext cx="10566400" cy="0"/>
          </a:xfrm>
          <a:prstGeom prst="line">
            <a:avLst/>
          </a:prstGeom>
          <a:noFill/>
          <a:ln w="6350">
            <a:solidFill>
              <a:srgbClr val="DEDBD2"/>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577330"/>
          <a:ext cx="10547350" cy="2476500"/>
        </p:xfrm>
        <a:graphic>
          <a:graphicData uri="http://schemas.openxmlformats.org/drawingml/2006/table">
            <a:tbl>
              <a:tblPr/>
              <a:tblGrid>
                <a:gridCol w="1687576"/>
                <a:gridCol w="3164205"/>
                <a:gridCol w="4007993"/>
                <a:gridCol w="1687576"/>
              </a:tblGrid>
              <a:tr h="412750">
                <a:tc>
                  <a:txBody>
                    <a:bodyPr/>
                    <a:lstStyle/>
                    <a:p>
                      <a:pPr indent="0" marL="0">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Method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c>
                  <a:txBody>
                    <a:bodyPr/>
                    <a:lstStyle/>
                    <a:p>
                      <a:pPr indent="0" marL="0">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Action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61D26"/>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c>
                  <a:txBody>
                    <a:bodyPr/>
                    <a:lstStyle/>
                    <a:p>
                      <a:pPr indent="0" marL="0">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Example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61D26"/>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c>
                  <a:txBody>
                    <a:bodyPr/>
                    <a:lstStyle/>
                    <a:p>
                      <a:pPr indent="0" marL="0">
                        <a:lnSpc>
                          <a:spcPts val="2100"/>
                        </a:lnSpc>
                        <a:buNone/>
                      </a:pPr>
                      <a:r>
                        <a:rPr lang="en-US" sz="1500" b="1" dirty="0">
                          <a:solidFill>
                            <a:srgbClr val="F6F5F0"/>
                          </a:solidFill>
                          <a:latin typeface="IBM Plex Sans" pitchFamily="34" charset="0"/>
                          <a:ea typeface="IBM Plex Sans" pitchFamily="34" charset="-122"/>
                          <a:cs typeface="IBM Plex Sans" pitchFamily="34" charset="-120"/>
                        </a:rPr>
                        <a:t>Body?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61D26"/>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r>
              <a:tr h="412750">
                <a:tc>
                  <a:txBody>
                    <a:bodyPr/>
                    <a:lstStyle/>
                    <a:p>
                      <a:pPr indent="0" marL="0">
                        <a:lnSpc>
                          <a:spcPts val="2100"/>
                        </a:lnSpc>
                        <a:buNone/>
                      </a:pPr>
                      <a:r>
                        <a:rPr lang="en-US" sz="1500" dirty="0">
                          <a:solidFill>
                            <a:srgbClr val="2D7A55"/>
                          </a:solidFill>
                          <a:latin typeface="IBM Plex Sans" pitchFamily="34" charset="0"/>
                          <a:ea typeface="IBM Plex Sans" pitchFamily="34" charset="-122"/>
                          <a:cs typeface="IBM Plex Sans" pitchFamily="34" charset="-120"/>
                        </a:rPr>
                        <a:t>GET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Read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GET /api/tasks/42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No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412750">
                <a:tc>
                  <a:txBody>
                    <a:bodyPr/>
                    <a:lstStyle/>
                    <a:p>
                      <a:pPr indent="0" marL="0">
                        <a:lnSpc>
                          <a:spcPts val="2100"/>
                        </a:lnSpc>
                        <a:buNone/>
                      </a:pPr>
                      <a:r>
                        <a:rPr lang="en-US" sz="1500" dirty="0">
                          <a:solidFill>
                            <a:srgbClr val="2D7A55"/>
                          </a:solidFill>
                          <a:latin typeface="IBM Plex Sans" pitchFamily="34" charset="0"/>
                          <a:ea typeface="IBM Plex Sans" pitchFamily="34" charset="-122"/>
                          <a:cs typeface="IBM Plex Sans" pitchFamily="34" charset="-120"/>
                        </a:rPr>
                        <a:t>POST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Create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POST /api/tasks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412750">
                <a:tc>
                  <a:txBody>
                    <a:bodyPr/>
                    <a:lstStyle/>
                    <a:p>
                      <a:pPr indent="0" marL="0">
                        <a:lnSpc>
                          <a:spcPts val="2100"/>
                        </a:lnSpc>
                        <a:buNone/>
                      </a:pPr>
                      <a:r>
                        <a:rPr lang="en-US" sz="1500" dirty="0">
                          <a:solidFill>
                            <a:srgbClr val="2D7A55"/>
                          </a:solidFill>
                          <a:latin typeface="IBM Plex Sans" pitchFamily="34" charset="0"/>
                          <a:ea typeface="IBM Plex Sans" pitchFamily="34" charset="-122"/>
                          <a:cs typeface="IBM Plex Sans" pitchFamily="34" charset="-120"/>
                        </a:rPr>
                        <a:t>PUT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Replace the whole thing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PUT /api/tasks/42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412750">
                <a:tc>
                  <a:txBody>
                    <a:bodyPr/>
                    <a:lstStyle/>
                    <a:p>
                      <a:pPr indent="0" marL="0">
                        <a:lnSpc>
                          <a:spcPts val="2100"/>
                        </a:lnSpc>
                        <a:buNone/>
                      </a:pPr>
                      <a:r>
                        <a:rPr lang="en-US" sz="1500" dirty="0">
                          <a:solidFill>
                            <a:srgbClr val="2D7A55"/>
                          </a:solidFill>
                          <a:latin typeface="IBM Plex Sans" pitchFamily="34" charset="0"/>
                          <a:ea typeface="IBM Plex Sans" pitchFamily="34" charset="-122"/>
                          <a:cs typeface="IBM Plex Sans" pitchFamily="34" charset="-120"/>
                        </a:rPr>
                        <a:t>PATCH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Update some fields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PATCH /api/tasks/42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Yes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412750">
                <a:tc>
                  <a:txBody>
                    <a:bodyPr/>
                    <a:lstStyle/>
                    <a:p>
                      <a:pPr indent="0" marL="0">
                        <a:lnSpc>
                          <a:spcPts val="2100"/>
                        </a:lnSpc>
                        <a:buNone/>
                      </a:pPr>
                      <a:r>
                        <a:rPr lang="en-US" sz="1500" dirty="0">
                          <a:solidFill>
                            <a:srgbClr val="2D7A55"/>
                          </a:solidFill>
                          <a:latin typeface="IBM Plex Sans" pitchFamily="34" charset="0"/>
                          <a:ea typeface="IBM Plex Sans" pitchFamily="34" charset="-122"/>
                          <a:cs typeface="IBM Plex Sans" pitchFamily="34" charset="-120"/>
                        </a:rPr>
                        <a:t>DELETE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Remove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DELETE /api/tasks/42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2100"/>
                        </a:lnSpc>
                        <a:buNone/>
                      </a:pPr>
                      <a:r>
                        <a:rPr lang="en-US" sz="1500" dirty="0">
                          <a:solidFill>
                            <a:srgbClr val="16202B"/>
                          </a:solidFill>
                          <a:latin typeface="IBM Plex Sans" pitchFamily="34" charset="0"/>
                          <a:ea typeface="IBM Plex Sans" pitchFamily="34" charset="-122"/>
                          <a:cs typeface="IBM Plex Sans" pitchFamily="34" charset="-120"/>
                        </a:rPr>
                        <a:t>No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bl>
          </a:graphicData>
        </a:graphic>
      </p:graphicFrame>
      <p:sp>
        <p:nvSpPr>
          <p:cNvPr id="7" name="Shape 4"/>
          <p:cNvSpPr/>
          <p:nvPr/>
        </p:nvSpPr>
        <p:spPr>
          <a:xfrm>
            <a:off x="812800" y="5130800"/>
            <a:ext cx="10566400" cy="711200"/>
          </a:xfrm>
          <a:prstGeom prst="roundRect">
            <a:avLst>
              <a:gd name="adj" fmla="val 14286"/>
            </a:avLst>
          </a:prstGeom>
          <a:solidFill>
            <a:srgbClr val="DDEFE4"/>
          </a:solidFill>
          <a:ln/>
        </p:spPr>
      </p:sp>
      <p:pic>
        <p:nvPicPr>
          <p:cNvPr id="8" name="Image 0" descr="Lightbulb">    </p:cNvPr>
          <p:cNvPicPr>
            <a:picLocks noChangeAspect="1"/>
          </p:cNvPicPr>
          <p:nvPr/>
        </p:nvPicPr>
        <p:blipFill>
          <a:blip r:embed="rId1"/>
          <a:srcRect l="0" r="0" t="0" b="0"/>
          <a:stretch/>
        </p:blipFill>
        <p:spPr>
          <a:xfrm>
            <a:off x="1066800" y="5334000"/>
            <a:ext cx="304800" cy="304800"/>
          </a:xfrm>
          <a:prstGeom prst="rect">
            <a:avLst/>
          </a:prstGeom>
        </p:spPr>
      </p:pic>
      <p:sp>
        <p:nvSpPr>
          <p:cNvPr id="9" name="Text 5"/>
          <p:cNvSpPr/>
          <p:nvPr/>
        </p:nvSpPr>
        <p:spPr>
          <a:xfrm>
            <a:off x="1524000" y="5353050"/>
            <a:ext cx="988923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B"/>
                </a:solidFill>
                <a:latin typeface="IBM Plex Sans" pitchFamily="34" charset="0"/>
                <a:ea typeface="IBM Plex Sans" pitchFamily="34" charset="-122"/>
                <a:cs typeface="IBM Plex Sans" pitchFamily="34" charset="-120"/>
              </a:rPr>
              <a:t>Nouns in URLs, methods for actions:</a:t>
            </a:r>
            <a:r>
              <a:rPr lang="en-US" sz="1500" dirty="0">
                <a:solidFill>
                  <a:srgbClr val="16202B"/>
                </a:solidFill>
                <a:latin typeface="IBM Plex Sans" pitchFamily="34" charset="0"/>
                <a:ea typeface="IBM Plex Sans" pitchFamily="34" charset="-122"/>
                <a:cs typeface="IBM Plex Sans" pitchFamily="34" charset="-120"/>
              </a:rPr>
              <a:t> use /api/tasks, not /api/getTasks or /api/deleteTask/42.</a:t>
            </a:r>
            <a:endParaRPr lang="en-US" sz="1500" dirty="0"/>
          </a:p>
        </p:txBody>
      </p:sp>
      <p:sp>
        <p:nvSpPr>
          <p:cNvPr id="10"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PUT vs PATCH</a:t>
            </a:r>
            <a:endParaRPr lang="en-US" sz="3200" dirty="0"/>
          </a:p>
        </p:txBody>
      </p:sp>
      <p:sp>
        <p:nvSpPr>
          <p:cNvPr id="3" name="Text 1"/>
          <p:cNvSpPr/>
          <p:nvPr/>
        </p:nvSpPr>
        <p:spPr>
          <a:xfrm>
            <a:off x="812800" y="1517650"/>
            <a:ext cx="120783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B"/>
                </a:solidFill>
                <a:latin typeface="IBM Plex Sans" pitchFamily="34" charset="0"/>
                <a:ea typeface="IBM Plex Sans" pitchFamily="34" charset="-122"/>
                <a:cs typeface="IBM Plex Sans" pitchFamily="34" charset="-120"/>
              </a:rPr>
              <a:t>Current task:</a:t>
            </a:r>
            <a:endParaRPr lang="en-US" sz="1400" dirty="0"/>
          </a:p>
        </p:txBody>
      </p:sp>
      <p:sp>
        <p:nvSpPr>
          <p:cNvPr id="4" name="Text 2"/>
          <p:cNvSpPr/>
          <p:nvPr/>
        </p:nvSpPr>
        <p:spPr>
          <a:xfrm>
            <a:off x="2020639" y="1463030"/>
            <a:ext cx="4564410" cy="358130"/>
          </a:xfrm>
          <a:prstGeom prst="roundRect">
            <a:avLst>
              <a:gd name="adj" fmla="val 21277"/>
            </a:avLst>
          </a:prstGeom>
          <a:solidFill>
            <a:srgbClr val="E9E6DD"/>
          </a:solidFill>
          <a:ln/>
        </p:spPr>
        <p:txBody>
          <a:bodyPr wrap="none" lIns="0" tIns="0" rIns="0" bIns="0" rtlCol="0" anchor="ctr">
            <a:normAutofit/>
          </a:bodyPr>
          <a:lstStyle/>
          <a:p>
            <a:pPr algn="ctr" indent="0" marL="0">
              <a:lnSpc>
                <a:spcPts val="1820"/>
              </a:lnSpc>
              <a:buNone/>
            </a:pPr>
            <a:r>
              <a:rPr lang="en-US" sz="1300" dirty="0">
                <a:solidFill>
                  <a:srgbClr val="16202B"/>
                </a:solidFill>
                <a:latin typeface="JetBrains Mono" pitchFamily="49" charset="0"/>
                <a:ea typeface="JetBrains Mono" pitchFamily="49" charset="-122"/>
                <a:cs typeface="JetBrains Mono" pitchFamily="49" charset="-120"/>
              </a:rPr>
              <a:t>{ "title": "Buy milk", "completed": false }</a:t>
            </a:r>
            <a:endParaRPr lang="en-US" sz="1300" dirty="0"/>
          </a:p>
        </p:txBody>
      </p:sp>
      <p:sp>
        <p:nvSpPr>
          <p:cNvPr id="5" name="Shape 3"/>
          <p:cNvSpPr/>
          <p:nvPr/>
        </p:nvSpPr>
        <p:spPr>
          <a:xfrm>
            <a:off x="815975" y="2027535"/>
            <a:ext cx="5175250" cy="1896070"/>
          </a:xfrm>
          <a:prstGeom prst="roundRect">
            <a:avLst>
              <a:gd name="adj" fmla="val 5191"/>
            </a:avLst>
          </a:prstGeom>
          <a:solidFill>
            <a:srgbClr val="FFFEFB"/>
          </a:solidFill>
          <a:ln w="6350">
            <a:solidFill>
              <a:srgbClr val="DEDBD2"/>
            </a:solidFill>
            <a:prstDash val="solid"/>
          </a:ln>
        </p:spPr>
      </p:sp>
      <p:sp>
        <p:nvSpPr>
          <p:cNvPr id="6" name="Text 4"/>
          <p:cNvSpPr/>
          <p:nvPr/>
        </p:nvSpPr>
        <p:spPr>
          <a:xfrm>
            <a:off x="1022350" y="2233910"/>
            <a:ext cx="490537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7A55"/>
                </a:solidFill>
                <a:latin typeface="IBM Plex Sans" pitchFamily="34" charset="0"/>
                <a:ea typeface="IBM Plex Sans" pitchFamily="34" charset="-122"/>
                <a:cs typeface="IBM Plex Sans" pitchFamily="34" charset="-120"/>
              </a:rPr>
              <a:t>PATCH: update some fields</a:t>
            </a:r>
            <a:endParaRPr lang="en-US" sz="1600" dirty="0"/>
          </a:p>
        </p:txBody>
      </p:sp>
      <p:sp>
        <p:nvSpPr>
          <p:cNvPr id="7" name="Shape 5"/>
          <p:cNvSpPr/>
          <p:nvPr/>
        </p:nvSpPr>
        <p:spPr>
          <a:xfrm>
            <a:off x="1022350" y="2579340"/>
            <a:ext cx="4762500" cy="787400"/>
          </a:xfrm>
          <a:prstGeom prst="roundRect">
            <a:avLst>
              <a:gd name="adj" fmla="val 9677"/>
            </a:avLst>
          </a:prstGeom>
          <a:solidFill>
            <a:srgbClr val="16202B"/>
          </a:solidFill>
          <a:ln/>
        </p:spPr>
      </p:sp>
      <p:sp>
        <p:nvSpPr>
          <p:cNvPr id="8" name="Text 6"/>
          <p:cNvSpPr/>
          <p:nvPr/>
        </p:nvSpPr>
        <p:spPr>
          <a:xfrm>
            <a:off x="1174750" y="2731740"/>
            <a:ext cx="4591431"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7ECEF"/>
                </a:solidFill>
                <a:latin typeface="JetBrains Mono" pitchFamily="49" charset="0"/>
                <a:ea typeface="JetBrains Mono" pitchFamily="49" charset="-122"/>
                <a:cs typeface="JetBrains Mono" pitchFamily="49" charset="-120"/>
              </a:rPr>
              <a:t>PATCH /api/tasks/42 { "completed": true }</a:t>
            </a:r>
            <a:endParaRPr lang="en-US" sz="1200" dirty="0"/>
          </a:p>
        </p:txBody>
      </p:sp>
      <p:sp>
        <p:nvSpPr>
          <p:cNvPr id="9" name="Text 7"/>
          <p:cNvSpPr/>
          <p:nvPr/>
        </p:nvSpPr>
        <p:spPr>
          <a:xfrm>
            <a:off x="1174750" y="2985740"/>
            <a:ext cx="4591431"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8FD9AE"/>
                </a:solidFill>
                <a:latin typeface="JetBrains Mono" pitchFamily="49" charset="0"/>
                <a:ea typeface="JetBrains Mono" pitchFamily="49" charset="-122"/>
                <a:cs typeface="JetBrains Mono" pitchFamily="49" charset="-120"/>
              </a:rPr>
              <a:t>→ { "title": "Buy milk", "completed": true }</a:t>
            </a:r>
            <a:endParaRPr lang="en-US" sz="1200" dirty="0"/>
          </a:p>
        </p:txBody>
      </p:sp>
      <p:sp>
        <p:nvSpPr>
          <p:cNvPr id="10" name="Text 8"/>
          <p:cNvSpPr/>
          <p:nvPr/>
        </p:nvSpPr>
        <p:spPr>
          <a:xfrm>
            <a:off x="1022350" y="3468340"/>
            <a:ext cx="490537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05C"/>
                </a:solidFill>
                <a:latin typeface="IBM Plex Sans" pitchFamily="34" charset="0"/>
                <a:ea typeface="IBM Plex Sans" pitchFamily="34" charset="-122"/>
                <a:cs typeface="IBM Plex Sans" pitchFamily="34" charset="-120"/>
              </a:rPr>
              <a:t>Only </a:t>
            </a:r>
            <a:r>
              <a:rPr lang="en-US" sz="1400" b="1" dirty="0">
                <a:solidFill>
                  <a:srgbClr val="16202B"/>
                </a:solidFill>
                <a:latin typeface="IBM Plex Sans" pitchFamily="34" charset="0"/>
                <a:ea typeface="IBM Plex Sans" pitchFamily="34" charset="-122"/>
                <a:cs typeface="IBM Plex Sans" pitchFamily="34" charset="-120"/>
              </a:rPr>
              <a:t>completed</a:t>
            </a:r>
            <a:r>
              <a:rPr lang="en-US" sz="1400" dirty="0">
                <a:solidFill>
                  <a:srgbClr val="45505C"/>
                </a:solidFill>
                <a:latin typeface="IBM Plex Sans" pitchFamily="34" charset="0"/>
                <a:ea typeface="IBM Plex Sans" pitchFamily="34" charset="-122"/>
                <a:cs typeface="IBM Plex Sans" pitchFamily="34" charset="-120"/>
              </a:rPr>
              <a:t> changed. The title is kept.</a:t>
            </a:r>
            <a:endParaRPr lang="en-US" sz="1400" dirty="0"/>
          </a:p>
        </p:txBody>
      </p:sp>
      <p:sp>
        <p:nvSpPr>
          <p:cNvPr id="11" name="Shape 9"/>
          <p:cNvSpPr/>
          <p:nvPr/>
        </p:nvSpPr>
        <p:spPr>
          <a:xfrm>
            <a:off x="6200775" y="2027535"/>
            <a:ext cx="5175250" cy="1896070"/>
          </a:xfrm>
          <a:prstGeom prst="roundRect">
            <a:avLst>
              <a:gd name="adj" fmla="val 5191"/>
            </a:avLst>
          </a:prstGeom>
          <a:solidFill>
            <a:srgbClr val="FFFEFB"/>
          </a:solidFill>
          <a:ln w="6350">
            <a:solidFill>
              <a:srgbClr val="DEDBD2"/>
            </a:solidFill>
            <a:prstDash val="solid"/>
          </a:ln>
        </p:spPr>
      </p:sp>
      <p:sp>
        <p:nvSpPr>
          <p:cNvPr id="12" name="Text 10"/>
          <p:cNvSpPr/>
          <p:nvPr/>
        </p:nvSpPr>
        <p:spPr>
          <a:xfrm>
            <a:off x="6407150" y="2233910"/>
            <a:ext cx="490537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34E0E"/>
                </a:solidFill>
                <a:latin typeface="IBM Plex Sans" pitchFamily="34" charset="0"/>
                <a:ea typeface="IBM Plex Sans" pitchFamily="34" charset="-122"/>
                <a:cs typeface="IBM Plex Sans" pitchFamily="34" charset="-120"/>
              </a:rPr>
              <a:t>PUT: replace the whole thing</a:t>
            </a:r>
            <a:endParaRPr lang="en-US" sz="1600" dirty="0"/>
          </a:p>
        </p:txBody>
      </p:sp>
      <p:sp>
        <p:nvSpPr>
          <p:cNvPr id="13" name="Shape 11"/>
          <p:cNvSpPr/>
          <p:nvPr/>
        </p:nvSpPr>
        <p:spPr>
          <a:xfrm>
            <a:off x="6407150" y="2579340"/>
            <a:ext cx="4762500" cy="787400"/>
          </a:xfrm>
          <a:prstGeom prst="roundRect">
            <a:avLst>
              <a:gd name="adj" fmla="val 9677"/>
            </a:avLst>
          </a:prstGeom>
          <a:solidFill>
            <a:srgbClr val="16202B"/>
          </a:solidFill>
          <a:ln/>
        </p:spPr>
      </p:sp>
      <p:sp>
        <p:nvSpPr>
          <p:cNvPr id="14" name="Text 12"/>
          <p:cNvSpPr/>
          <p:nvPr/>
        </p:nvSpPr>
        <p:spPr>
          <a:xfrm>
            <a:off x="6559550" y="2731740"/>
            <a:ext cx="4591431"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7ECEF"/>
                </a:solidFill>
                <a:latin typeface="JetBrains Mono" pitchFamily="49" charset="0"/>
                <a:ea typeface="JetBrains Mono" pitchFamily="49" charset="-122"/>
                <a:cs typeface="JetBrains Mono" pitchFamily="49" charset="-120"/>
              </a:rPr>
              <a:t>PUT /api/tasks/42 { "completed": true }</a:t>
            </a:r>
            <a:endParaRPr lang="en-US" sz="1200" dirty="0"/>
          </a:p>
        </p:txBody>
      </p:sp>
      <p:sp>
        <p:nvSpPr>
          <p:cNvPr id="15" name="Text 13"/>
          <p:cNvSpPr/>
          <p:nvPr/>
        </p:nvSpPr>
        <p:spPr>
          <a:xfrm>
            <a:off x="6559550" y="2985740"/>
            <a:ext cx="4591431"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2A766"/>
                </a:solidFill>
                <a:latin typeface="JetBrains Mono" pitchFamily="49" charset="0"/>
                <a:ea typeface="JetBrains Mono" pitchFamily="49" charset="-122"/>
                <a:cs typeface="JetBrains Mono" pitchFamily="49" charset="-120"/>
              </a:rPr>
              <a:t>→ { "completed": true }</a:t>
            </a:r>
            <a:endParaRPr lang="en-US" sz="1200" dirty="0"/>
          </a:p>
        </p:txBody>
      </p:sp>
      <p:sp>
        <p:nvSpPr>
          <p:cNvPr id="16" name="Text 14"/>
          <p:cNvSpPr/>
          <p:nvPr/>
        </p:nvSpPr>
        <p:spPr>
          <a:xfrm>
            <a:off x="6407150" y="3468340"/>
            <a:ext cx="490537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5505C"/>
                </a:solidFill>
                <a:latin typeface="IBM Plex Sans" pitchFamily="34" charset="0"/>
                <a:ea typeface="IBM Plex Sans" pitchFamily="34" charset="-122"/>
                <a:cs typeface="IBM Plex Sans" pitchFamily="34" charset="-120"/>
              </a:rPr>
              <a:t>The whole task was replaced. </a:t>
            </a:r>
            <a:r>
              <a:rPr lang="en-US" sz="1400" b="1" dirty="0">
                <a:solidFill>
                  <a:srgbClr val="16202B"/>
                </a:solidFill>
                <a:latin typeface="IBM Plex Sans" pitchFamily="34" charset="0"/>
                <a:ea typeface="IBM Plex Sans" pitchFamily="34" charset="-122"/>
                <a:cs typeface="IBM Plex Sans" pitchFamily="34" charset="-120"/>
              </a:rPr>
              <a:t>The title is gone.</a:t>
            </a:r>
            <a:endParaRPr lang="en-US" sz="1400" dirty="0"/>
          </a:p>
        </p:txBody>
      </p:sp>
      <p:sp>
        <p:nvSpPr>
          <p:cNvPr id="17" name="Shape 15"/>
          <p:cNvSpPr/>
          <p:nvPr/>
        </p:nvSpPr>
        <p:spPr>
          <a:xfrm>
            <a:off x="812800" y="4129980"/>
            <a:ext cx="5181600" cy="1097260"/>
          </a:xfrm>
          <a:prstGeom prst="roundRect">
            <a:avLst>
              <a:gd name="adj" fmla="val 9259"/>
            </a:avLst>
          </a:prstGeom>
          <a:solidFill>
            <a:srgbClr val="DDEFE4"/>
          </a:solidFill>
          <a:ln/>
        </p:spPr>
      </p:sp>
      <p:sp>
        <p:nvSpPr>
          <p:cNvPr id="18" name="Text 16"/>
          <p:cNvSpPr/>
          <p:nvPr/>
        </p:nvSpPr>
        <p:spPr>
          <a:xfrm>
            <a:off x="1016000" y="4307780"/>
            <a:ext cx="49184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B"/>
                </a:solidFill>
                <a:latin typeface="IBM Plex Sans" pitchFamily="34" charset="0"/>
                <a:ea typeface="IBM Plex Sans" pitchFamily="34" charset="-122"/>
                <a:cs typeface="IBM Plex Sans" pitchFamily="34" charset="-120"/>
              </a:rPr>
              <a:t>Safe</a:t>
            </a:r>
            <a:endParaRPr lang="en-US" sz="1500" dirty="0"/>
          </a:p>
        </p:txBody>
      </p:sp>
      <p:sp>
        <p:nvSpPr>
          <p:cNvPr id="19" name="Text 17"/>
          <p:cNvSpPr/>
          <p:nvPr/>
        </p:nvSpPr>
        <p:spPr>
          <a:xfrm>
            <a:off x="1016000" y="4587180"/>
            <a:ext cx="491845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Doesn’t change any data. </a:t>
            </a:r>
            <a:r>
              <a:rPr lang="en-US" sz="1300" b="1" dirty="0">
                <a:solidFill>
                  <a:srgbClr val="16202B"/>
                </a:solidFill>
                <a:latin typeface="IBM Plex Sans" pitchFamily="34" charset="0"/>
                <a:ea typeface="IBM Plex Sans" pitchFamily="34" charset="-122"/>
                <a:cs typeface="IBM Plex Sans" pitchFamily="34" charset="-120"/>
              </a:rPr>
              <a:t>GET</a:t>
            </a:r>
            <a:r>
              <a:rPr lang="en-US" sz="1300" dirty="0">
                <a:solidFill>
                  <a:srgbClr val="16202B"/>
                </a:solidFill>
                <a:latin typeface="IBM Plex Sans" pitchFamily="34" charset="0"/>
                <a:ea typeface="IBM Plex Sans" pitchFamily="34" charset="-122"/>
                <a:cs typeface="IBM Plex Sans" pitchFamily="34" charset="-120"/>
              </a:rPr>
              <a:t> is safe.</a:t>
            </a:r>
            <a:endParaRPr lang="en-US" sz="1300" dirty="0"/>
          </a:p>
        </p:txBody>
      </p:sp>
      <p:sp>
        <p:nvSpPr>
          <p:cNvPr id="20" name="Shape 18"/>
          <p:cNvSpPr/>
          <p:nvPr/>
        </p:nvSpPr>
        <p:spPr>
          <a:xfrm>
            <a:off x="6197600" y="4129980"/>
            <a:ext cx="5181600" cy="1097260"/>
          </a:xfrm>
          <a:prstGeom prst="roundRect">
            <a:avLst>
              <a:gd name="adj" fmla="val 9259"/>
            </a:avLst>
          </a:prstGeom>
          <a:solidFill>
            <a:srgbClr val="DDEFE4"/>
          </a:solidFill>
          <a:ln/>
        </p:spPr>
      </p:sp>
      <p:sp>
        <p:nvSpPr>
          <p:cNvPr id="21" name="Text 19"/>
          <p:cNvSpPr/>
          <p:nvPr/>
        </p:nvSpPr>
        <p:spPr>
          <a:xfrm>
            <a:off x="6400800" y="4307780"/>
            <a:ext cx="49184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B"/>
                </a:solidFill>
                <a:latin typeface="IBM Plex Sans" pitchFamily="34" charset="0"/>
                <a:ea typeface="IBM Plex Sans" pitchFamily="34" charset="-122"/>
                <a:cs typeface="IBM Plex Sans" pitchFamily="34" charset="-120"/>
              </a:rPr>
              <a:t>Idempotent</a:t>
            </a:r>
            <a:endParaRPr lang="en-US" sz="1500" dirty="0"/>
          </a:p>
        </p:txBody>
      </p:sp>
      <p:sp>
        <p:nvSpPr>
          <p:cNvPr id="22" name="Text 20"/>
          <p:cNvSpPr/>
          <p:nvPr/>
        </p:nvSpPr>
        <p:spPr>
          <a:xfrm>
            <a:off x="6400800" y="4587180"/>
            <a:ext cx="491845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Same request many times = same result: </a:t>
            </a:r>
            <a:r>
              <a:rPr lang="en-US" sz="1300" b="1" dirty="0">
                <a:solidFill>
                  <a:srgbClr val="16202B"/>
                </a:solidFill>
                <a:latin typeface="IBM Plex Sans" pitchFamily="34" charset="0"/>
                <a:ea typeface="IBM Plex Sans" pitchFamily="34" charset="-122"/>
                <a:cs typeface="IBM Plex Sans" pitchFamily="34" charset="-120"/>
              </a:rPr>
              <a:t>GET, PUT, DELETE</a:t>
            </a:r>
            <a:r>
              <a:rPr lang="en-US" sz="1300" dirty="0">
                <a:solidFill>
                  <a:srgbClr val="16202B"/>
                </a:solidFill>
                <a:latin typeface="IBM Plex Sans" pitchFamily="34" charset="0"/>
                <a:ea typeface="IBM Plex Sans" pitchFamily="34" charset="-122"/>
                <a:cs typeface="IBM Plex Sans" pitchFamily="34" charset="-120"/>
              </a:rPr>
              <a:t>. Not POST: twice creates two tasks.</a:t>
            </a:r>
            <a:endParaRPr lang="en-US" sz="13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Status codes: what happened?</a:t>
            </a:r>
            <a:endParaRPr lang="en-US" sz="3200" dirty="0"/>
          </a:p>
        </p:txBody>
      </p:sp>
      <p:sp>
        <p:nvSpPr>
          <p:cNvPr id="3" name="Text 1"/>
          <p:cNvSpPr/>
          <p:nvPr/>
        </p:nvSpPr>
        <p:spPr>
          <a:xfrm>
            <a:off x="812800" y="156463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5505C"/>
                </a:solidFill>
                <a:latin typeface="IBM Plex Sans" pitchFamily="34" charset="0"/>
                <a:ea typeface="IBM Plex Sans" pitchFamily="34" charset="-122"/>
                <a:cs typeface="IBM Plex Sans" pitchFamily="34" charset="-120"/>
              </a:rPr>
              <a:t>Every response has a 3-digit status code. The </a:t>
            </a:r>
            <a:r>
              <a:rPr lang="en-US" sz="1500" b="1" dirty="0">
                <a:solidFill>
                  <a:srgbClr val="16202B"/>
                </a:solidFill>
                <a:latin typeface="IBM Plex Sans" pitchFamily="34" charset="0"/>
                <a:ea typeface="IBM Plex Sans" pitchFamily="34" charset="-122"/>
                <a:cs typeface="IBM Plex Sans" pitchFamily="34" charset="-120"/>
              </a:rPr>
              <a:t>first digit</a:t>
            </a:r>
            <a:r>
              <a:rPr lang="en-US" sz="1500" dirty="0">
                <a:solidFill>
                  <a:srgbClr val="45505C"/>
                </a:solidFill>
                <a:latin typeface="IBM Plex Sans" pitchFamily="34" charset="0"/>
                <a:ea typeface="IBM Plex Sans" pitchFamily="34" charset="-122"/>
                <a:cs typeface="IBM Plex Sans" pitchFamily="34" charset="-120"/>
              </a:rPr>
              <a:t> tells you the kind of result.</a:t>
            </a:r>
            <a:endParaRPr lang="en-US" sz="1500" dirty="0"/>
          </a:p>
        </p:txBody>
      </p:sp>
      <p:sp>
        <p:nvSpPr>
          <p:cNvPr id="4" name="Shape 2"/>
          <p:cNvSpPr/>
          <p:nvPr/>
        </p:nvSpPr>
        <p:spPr>
          <a:xfrm>
            <a:off x="815975" y="2139305"/>
            <a:ext cx="2520950" cy="1824930"/>
          </a:xfrm>
          <a:prstGeom prst="roundRect">
            <a:avLst>
              <a:gd name="adj" fmla="val 5393"/>
            </a:avLst>
          </a:prstGeom>
          <a:solidFill>
            <a:srgbClr val="FFFEFB"/>
          </a:solidFill>
          <a:ln w="6350">
            <a:solidFill>
              <a:srgbClr val="DEDBD2"/>
            </a:solidFill>
            <a:prstDash val="solid"/>
          </a:ln>
        </p:spPr>
      </p:sp>
      <p:sp>
        <p:nvSpPr>
          <p:cNvPr id="5" name="Text 3"/>
          <p:cNvSpPr/>
          <p:nvPr/>
        </p:nvSpPr>
        <p:spPr>
          <a:xfrm>
            <a:off x="1022350" y="2345680"/>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D7A55"/>
                </a:solidFill>
                <a:latin typeface="JetBrains Mono" pitchFamily="49" charset="0"/>
                <a:ea typeface="JetBrains Mono" pitchFamily="49" charset="-122"/>
                <a:cs typeface="JetBrains Mono" pitchFamily="49" charset="-120"/>
              </a:rPr>
              <a:t>2xx</a:t>
            </a:r>
            <a:endParaRPr lang="en-US" sz="3600" dirty="0"/>
          </a:p>
        </p:txBody>
      </p:sp>
      <p:sp>
        <p:nvSpPr>
          <p:cNvPr id="6" name="Text 4"/>
          <p:cNvSpPr/>
          <p:nvPr/>
        </p:nvSpPr>
        <p:spPr>
          <a:xfrm>
            <a:off x="1022350" y="2950170"/>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Success</a:t>
            </a:r>
            <a:endParaRPr lang="en-US" sz="1600" dirty="0"/>
          </a:p>
        </p:txBody>
      </p:sp>
      <p:sp>
        <p:nvSpPr>
          <p:cNvPr id="7" name="Text 5"/>
          <p:cNvSpPr/>
          <p:nvPr/>
        </p:nvSpPr>
        <p:spPr>
          <a:xfrm>
            <a:off x="1022350" y="3295600"/>
            <a:ext cx="217144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It worked.</a:t>
            </a:r>
            <a:endParaRPr lang="en-US" sz="1300" dirty="0"/>
          </a:p>
        </p:txBody>
      </p:sp>
      <p:sp>
        <p:nvSpPr>
          <p:cNvPr id="8" name="Shape 6"/>
          <p:cNvSpPr/>
          <p:nvPr/>
        </p:nvSpPr>
        <p:spPr>
          <a:xfrm>
            <a:off x="3495675" y="2139305"/>
            <a:ext cx="2520950" cy="1824930"/>
          </a:xfrm>
          <a:prstGeom prst="roundRect">
            <a:avLst>
              <a:gd name="adj" fmla="val 5393"/>
            </a:avLst>
          </a:prstGeom>
          <a:solidFill>
            <a:srgbClr val="FFFEFB"/>
          </a:solidFill>
          <a:ln w="6350">
            <a:solidFill>
              <a:srgbClr val="DEDBD2"/>
            </a:solidFill>
            <a:prstDash val="solid"/>
          </a:ln>
        </p:spPr>
      </p:sp>
      <p:sp>
        <p:nvSpPr>
          <p:cNvPr id="9" name="Text 7"/>
          <p:cNvSpPr/>
          <p:nvPr/>
        </p:nvSpPr>
        <p:spPr>
          <a:xfrm>
            <a:off x="3702050" y="2345680"/>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5E6873"/>
                </a:solidFill>
                <a:latin typeface="JetBrains Mono" pitchFamily="49" charset="0"/>
                <a:ea typeface="JetBrains Mono" pitchFamily="49" charset="-122"/>
                <a:cs typeface="JetBrains Mono" pitchFamily="49" charset="-120"/>
              </a:rPr>
              <a:t>3xx</a:t>
            </a:r>
            <a:endParaRPr lang="en-US" sz="3600" dirty="0"/>
          </a:p>
        </p:txBody>
      </p:sp>
      <p:sp>
        <p:nvSpPr>
          <p:cNvPr id="10" name="Text 8"/>
          <p:cNvSpPr/>
          <p:nvPr/>
        </p:nvSpPr>
        <p:spPr>
          <a:xfrm>
            <a:off x="3702050" y="2950170"/>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Redirect</a:t>
            </a:r>
            <a:endParaRPr lang="en-US" sz="1600" dirty="0"/>
          </a:p>
        </p:txBody>
      </p:sp>
      <p:sp>
        <p:nvSpPr>
          <p:cNvPr id="11" name="Text 9"/>
          <p:cNvSpPr/>
          <p:nvPr/>
        </p:nvSpPr>
        <p:spPr>
          <a:xfrm>
            <a:off x="3702050" y="3295600"/>
            <a:ext cx="217144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Look somewhere else.</a:t>
            </a:r>
            <a:endParaRPr lang="en-US" sz="1300" dirty="0"/>
          </a:p>
        </p:txBody>
      </p:sp>
      <p:sp>
        <p:nvSpPr>
          <p:cNvPr id="12" name="Shape 10"/>
          <p:cNvSpPr/>
          <p:nvPr/>
        </p:nvSpPr>
        <p:spPr>
          <a:xfrm>
            <a:off x="6175375" y="2139305"/>
            <a:ext cx="2520950" cy="1824930"/>
          </a:xfrm>
          <a:prstGeom prst="roundRect">
            <a:avLst>
              <a:gd name="adj" fmla="val 5393"/>
            </a:avLst>
          </a:prstGeom>
          <a:solidFill>
            <a:srgbClr val="FFFEFB"/>
          </a:solidFill>
          <a:ln w="6350">
            <a:solidFill>
              <a:srgbClr val="DEDBD2"/>
            </a:solidFill>
            <a:prstDash val="solid"/>
          </a:ln>
        </p:spPr>
      </p:sp>
      <p:sp>
        <p:nvSpPr>
          <p:cNvPr id="13" name="Text 11"/>
          <p:cNvSpPr/>
          <p:nvPr/>
        </p:nvSpPr>
        <p:spPr>
          <a:xfrm>
            <a:off x="6381750" y="2345680"/>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A34E0E"/>
                </a:solidFill>
                <a:latin typeface="JetBrains Mono" pitchFamily="49" charset="0"/>
                <a:ea typeface="JetBrains Mono" pitchFamily="49" charset="-122"/>
                <a:cs typeface="JetBrains Mono" pitchFamily="49" charset="-120"/>
              </a:rPr>
              <a:t>4xx</a:t>
            </a:r>
            <a:endParaRPr lang="en-US" sz="3600" dirty="0"/>
          </a:p>
        </p:txBody>
      </p:sp>
      <p:sp>
        <p:nvSpPr>
          <p:cNvPr id="14" name="Text 12"/>
          <p:cNvSpPr/>
          <p:nvPr/>
        </p:nvSpPr>
        <p:spPr>
          <a:xfrm>
            <a:off x="6381750" y="2950170"/>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Client error</a:t>
            </a:r>
            <a:endParaRPr lang="en-US" sz="1600" dirty="0"/>
          </a:p>
        </p:txBody>
      </p:sp>
      <p:sp>
        <p:nvSpPr>
          <p:cNvPr id="15" name="Text 13"/>
          <p:cNvSpPr/>
          <p:nvPr/>
        </p:nvSpPr>
        <p:spPr>
          <a:xfrm>
            <a:off x="6381750" y="3295600"/>
            <a:ext cx="21714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The request was wrong. Fix it and try again.</a:t>
            </a:r>
            <a:endParaRPr lang="en-US" sz="1300" dirty="0"/>
          </a:p>
        </p:txBody>
      </p:sp>
      <p:sp>
        <p:nvSpPr>
          <p:cNvPr id="16" name="Shape 14"/>
          <p:cNvSpPr/>
          <p:nvPr/>
        </p:nvSpPr>
        <p:spPr>
          <a:xfrm>
            <a:off x="8855075" y="2139305"/>
            <a:ext cx="2520950" cy="1824930"/>
          </a:xfrm>
          <a:prstGeom prst="roundRect">
            <a:avLst>
              <a:gd name="adj" fmla="val 5393"/>
            </a:avLst>
          </a:prstGeom>
          <a:solidFill>
            <a:srgbClr val="FFFEFB"/>
          </a:solidFill>
          <a:ln w="6350">
            <a:solidFill>
              <a:srgbClr val="DEDBD2"/>
            </a:solidFill>
            <a:prstDash val="solid"/>
          </a:ln>
        </p:spPr>
      </p:sp>
      <p:sp>
        <p:nvSpPr>
          <p:cNvPr id="17" name="Text 15"/>
          <p:cNvSpPr/>
          <p:nvPr/>
        </p:nvSpPr>
        <p:spPr>
          <a:xfrm>
            <a:off x="9061450" y="2345680"/>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A33A2E"/>
                </a:solidFill>
                <a:latin typeface="JetBrains Mono" pitchFamily="49" charset="0"/>
                <a:ea typeface="JetBrains Mono" pitchFamily="49" charset="-122"/>
                <a:cs typeface="JetBrains Mono" pitchFamily="49" charset="-120"/>
              </a:rPr>
              <a:t>5xx</a:t>
            </a:r>
            <a:endParaRPr lang="en-US" sz="3600" dirty="0"/>
          </a:p>
        </p:txBody>
      </p:sp>
      <p:sp>
        <p:nvSpPr>
          <p:cNvPr id="18" name="Text 16"/>
          <p:cNvSpPr/>
          <p:nvPr/>
        </p:nvSpPr>
        <p:spPr>
          <a:xfrm>
            <a:off x="9061450" y="2950170"/>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B"/>
                </a:solidFill>
                <a:latin typeface="IBM Plex Sans" pitchFamily="34" charset="0"/>
                <a:ea typeface="IBM Plex Sans" pitchFamily="34" charset="-122"/>
                <a:cs typeface="IBM Plex Sans" pitchFamily="34" charset="-120"/>
              </a:rPr>
              <a:t>Server error</a:t>
            </a:r>
            <a:endParaRPr lang="en-US" sz="1600" dirty="0"/>
          </a:p>
        </p:txBody>
      </p:sp>
      <p:sp>
        <p:nvSpPr>
          <p:cNvPr id="19" name="Text 17"/>
          <p:cNvSpPr/>
          <p:nvPr/>
        </p:nvSpPr>
        <p:spPr>
          <a:xfrm>
            <a:off x="9061450" y="3295600"/>
            <a:ext cx="21714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5505C"/>
                </a:solidFill>
                <a:latin typeface="IBM Plex Sans" pitchFamily="34" charset="0"/>
                <a:ea typeface="IBM Plex Sans" pitchFamily="34" charset="-122"/>
                <a:cs typeface="IBM Plex Sans" pitchFamily="34" charset="-120"/>
              </a:rPr>
              <a:t>The server failed. Try again later.</a:t>
            </a:r>
            <a:endParaRPr lang="en-US" sz="1300" dirty="0"/>
          </a:p>
        </p:txBody>
      </p:sp>
      <p:sp>
        <p:nvSpPr>
          <p:cNvPr id="20" name="Shape 18"/>
          <p:cNvSpPr/>
          <p:nvPr/>
        </p:nvSpPr>
        <p:spPr>
          <a:xfrm>
            <a:off x="812800" y="4988620"/>
            <a:ext cx="10566400" cy="853380"/>
          </a:xfrm>
          <a:prstGeom prst="roundRect">
            <a:avLst>
              <a:gd name="adj" fmla="val 11906"/>
            </a:avLst>
          </a:prstGeom>
          <a:solidFill>
            <a:srgbClr val="DDEFE4"/>
          </a:solidFill>
          <a:ln/>
        </p:spPr>
      </p:sp>
      <p:pic>
        <p:nvPicPr>
          <p:cNvPr id="21" name="Image 0" descr="PaperPlane">    </p:cNvPr>
          <p:cNvPicPr>
            <a:picLocks noChangeAspect="1"/>
          </p:cNvPicPr>
          <p:nvPr/>
        </p:nvPicPr>
        <p:blipFill>
          <a:blip r:embed="rId1"/>
          <a:srcRect l="0" r="0" t="0" b="0"/>
          <a:stretch/>
        </p:blipFill>
        <p:spPr>
          <a:xfrm>
            <a:off x="1066800" y="5275610"/>
            <a:ext cx="279400" cy="279400"/>
          </a:xfrm>
          <a:prstGeom prst="rect">
            <a:avLst/>
          </a:prstGeom>
        </p:spPr>
      </p:pic>
      <p:sp>
        <p:nvSpPr>
          <p:cNvPr id="22" name="Text 19"/>
          <p:cNvSpPr/>
          <p:nvPr/>
        </p:nvSpPr>
        <p:spPr>
          <a:xfrm>
            <a:off x="1498600" y="5166420"/>
            <a:ext cx="991539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02B"/>
                </a:solidFill>
                <a:latin typeface="IBM Plex Sans" pitchFamily="34" charset="0"/>
                <a:ea typeface="IBM Plex Sans" pitchFamily="34" charset="-122"/>
                <a:cs typeface="IBM Plex Sans" pitchFamily="34" charset="-120"/>
              </a:rPr>
              <a:t>Like a delivery service:</a:t>
            </a:r>
            <a:r>
              <a:rPr lang="en-US" sz="1400" dirty="0">
                <a:solidFill>
                  <a:srgbClr val="16202B"/>
                </a:solidFill>
                <a:latin typeface="IBM Plex Sans" pitchFamily="34" charset="0"/>
                <a:ea typeface="IBM Plex Sans" pitchFamily="34" charset="-122"/>
                <a:cs typeface="IBM Plex Sans" pitchFamily="34" charset="-120"/>
              </a:rPr>
              <a:t> “delivered” (2xx), “moved, try this address” (3xx), “wrong address” (4xx), “our truck broke down” (5xx).</a:t>
            </a:r>
            <a:endParaRPr lang="en-US" sz="1400" dirty="0"/>
          </a:p>
        </p:txBody>
      </p:sp>
      <p:sp>
        <p:nvSpPr>
          <p:cNvPr id="23"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The status codes you’ll use most</a:t>
            </a:r>
            <a:endParaRPr lang="en-US" sz="3200" dirty="0"/>
          </a:p>
        </p:txBody>
      </p:sp>
      <p:sp>
        <p:nvSpPr>
          <p:cNvPr id="3" name="Shape 1"/>
          <p:cNvSpPr/>
          <p:nvPr/>
        </p:nvSpPr>
        <p:spPr>
          <a:xfrm>
            <a:off x="812800" y="1513830"/>
            <a:ext cx="10566400" cy="3612257"/>
          </a:xfrm>
          <a:prstGeom prst="rect">
            <a:avLst/>
          </a:prstGeom>
          <a:solidFill>
            <a:srgbClr val="FFFEFB"/>
          </a:solidFill>
          <a:ln/>
        </p:spPr>
      </p:sp>
      <p:sp>
        <p:nvSpPr>
          <p:cNvPr id="4" name="Shape 2"/>
          <p:cNvSpPr/>
          <p:nvPr/>
        </p:nvSpPr>
        <p:spPr>
          <a:xfrm>
            <a:off x="11376025" y="1513830"/>
            <a:ext cx="0" cy="3612257"/>
          </a:xfrm>
          <a:prstGeom prst="line">
            <a:avLst/>
          </a:prstGeom>
          <a:noFill/>
          <a:ln w="6350">
            <a:solidFill>
              <a:srgbClr val="DEDBD2"/>
            </a:solidFill>
            <a:prstDash val="solid"/>
          </a:ln>
        </p:spPr>
      </p:sp>
      <p:sp>
        <p:nvSpPr>
          <p:cNvPr id="5" name="Shape 3"/>
          <p:cNvSpPr/>
          <p:nvPr/>
        </p:nvSpPr>
        <p:spPr>
          <a:xfrm>
            <a:off x="812800" y="5122912"/>
            <a:ext cx="10566400" cy="0"/>
          </a:xfrm>
          <a:prstGeom prst="line">
            <a:avLst/>
          </a:prstGeom>
          <a:noFill/>
          <a:ln w="6350">
            <a:solidFill>
              <a:srgbClr val="DEDBD2"/>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526530"/>
          <a:ext cx="10547350" cy="3593207"/>
        </p:xfrm>
        <a:graphic>
          <a:graphicData uri="http://schemas.openxmlformats.org/drawingml/2006/table">
            <a:tbl>
              <a:tblPr/>
              <a:tblGrid>
                <a:gridCol w="1054735"/>
                <a:gridCol w="2531364"/>
                <a:gridCol w="3586099"/>
                <a:gridCol w="3375152"/>
              </a:tblGrid>
              <a:tr h="359321">
                <a:tc>
                  <a:txBody>
                    <a:bodyPr/>
                    <a:lstStyle/>
                    <a:p>
                      <a:pPr indent="0" marL="0">
                        <a:lnSpc>
                          <a:spcPts val="1820"/>
                        </a:lnSpc>
                        <a:buNone/>
                      </a:pPr>
                      <a:r>
                        <a:rPr lang="en-US" sz="1300" b="1" dirty="0">
                          <a:solidFill>
                            <a:srgbClr val="F6F5F0"/>
                          </a:solidFill>
                          <a:latin typeface="IBM Plex Sans" pitchFamily="34" charset="0"/>
                          <a:ea typeface="IBM Plex Sans" pitchFamily="34" charset="-122"/>
                          <a:cs typeface="IBM Plex Sans" pitchFamily="34" charset="-120"/>
                        </a:rPr>
                        <a:t>Code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c>
                  <a:txBody>
                    <a:bodyPr/>
                    <a:lstStyle/>
                    <a:p>
                      <a:pPr indent="0" marL="0">
                        <a:lnSpc>
                          <a:spcPts val="1820"/>
                        </a:lnSpc>
                        <a:buNone/>
                      </a:pPr>
                      <a:r>
                        <a:rPr lang="en-US" sz="1300" b="1" dirty="0">
                          <a:solidFill>
                            <a:srgbClr val="F6F5F0"/>
                          </a:solidFill>
                          <a:latin typeface="IBM Plex Sans" pitchFamily="34" charset="0"/>
                          <a:ea typeface="IBM Plex Sans" pitchFamily="34" charset="-122"/>
                          <a:cs typeface="IBM Plex Sans" pitchFamily="34" charset="-120"/>
                        </a:rPr>
                        <a:t>Name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D26"/>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c>
                  <a:txBody>
                    <a:bodyPr/>
                    <a:lstStyle/>
                    <a:p>
                      <a:pPr indent="0" marL="0">
                        <a:lnSpc>
                          <a:spcPts val="1820"/>
                        </a:lnSpc>
                        <a:buNone/>
                      </a:pPr>
                      <a:r>
                        <a:rPr lang="en-US" sz="1300" b="1" dirty="0">
                          <a:solidFill>
                            <a:srgbClr val="F6F5F0"/>
                          </a:solidFill>
                          <a:latin typeface="IBM Plex Sans" pitchFamily="34" charset="0"/>
                          <a:ea typeface="IBM Plex Sans" pitchFamily="34" charset="-122"/>
                          <a:cs typeface="IBM Plex Sans" pitchFamily="34" charset="-120"/>
                        </a:rPr>
                        <a:t>Use when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D26"/>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c>
                  <a:txBody>
                    <a:bodyPr/>
                    <a:lstStyle/>
                    <a:p>
                      <a:pPr indent="0" marL="0">
                        <a:lnSpc>
                          <a:spcPts val="1820"/>
                        </a:lnSpc>
                        <a:buNone/>
                      </a:pPr>
                      <a:r>
                        <a:rPr lang="en-US" sz="1300" b="1" dirty="0">
                          <a:solidFill>
                            <a:srgbClr val="F6F5F0"/>
                          </a:solidFill>
                          <a:latin typeface="IBM Plex Sans" pitchFamily="34" charset="0"/>
                          <a:ea typeface="IBM Plex Sans" pitchFamily="34" charset="-122"/>
                          <a:cs typeface="IBM Plex Sans" pitchFamily="34" charset="-120"/>
                        </a:rPr>
                        <a:t>Tasks API example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D26"/>
                      </a:solidFill>
                      <a:prstDash val="solid"/>
                      <a:round/>
                      <a:headEnd type="none" w="med" len="med"/>
                      <a:tailEnd type="none" w="med" len="med"/>
                    </a:lnL>
                    <a:lnR w="12700" cap="flat" cmpd="sng" algn="ctr">
                      <a:solidFill>
                        <a:srgbClr val="161D2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161D26"/>
                      </a:solidFill>
                      <a:prstDash val="solid"/>
                      <a:round/>
                      <a:headEnd type="none" w="med" len="med"/>
                      <a:tailEnd type="none" w="med" len="med"/>
                    </a:lnB>
                    <a:solidFill>
                      <a:srgbClr val="16202B"/>
                    </a:solidFill>
                  </a:tcPr>
                </a:tc>
              </a:tr>
              <a:tr h="359321">
                <a:tc>
                  <a:txBody>
                    <a:bodyPr/>
                    <a:lstStyle/>
                    <a:p>
                      <a:pPr indent="0" marL="0">
                        <a:lnSpc>
                          <a:spcPts val="1820"/>
                        </a:lnSpc>
                        <a:buNone/>
                      </a:pPr>
                      <a:r>
                        <a:rPr lang="en-US" sz="1300" dirty="0">
                          <a:solidFill>
                            <a:srgbClr val="2D7A55"/>
                          </a:solidFill>
                          <a:latin typeface="IBM Plex Sans" pitchFamily="34" charset="0"/>
                          <a:ea typeface="IBM Plex Sans" pitchFamily="34" charset="-122"/>
                          <a:cs typeface="IBM Plex Sans" pitchFamily="34" charset="-120"/>
                        </a:rPr>
                        <a:t>200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OK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Successful GET, PUT or PATCH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Get a task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61D26"/>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2D7A55"/>
                          </a:solidFill>
                          <a:latin typeface="IBM Plex Sans" pitchFamily="34" charset="0"/>
                          <a:ea typeface="IBM Plex Sans" pitchFamily="34" charset="-122"/>
                          <a:cs typeface="IBM Plex Sans" pitchFamily="34" charset="-120"/>
                        </a:rPr>
                        <a:t>201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Created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POST created something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Create a task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359321">
                <a:tc>
                  <a:txBody>
                    <a:bodyPr/>
                    <a:lstStyle/>
                    <a:p>
                      <a:pPr indent="0" marL="0">
                        <a:lnSpc>
                          <a:spcPts val="1820"/>
                        </a:lnSpc>
                        <a:buNone/>
                      </a:pPr>
                      <a:r>
                        <a:rPr lang="en-US" sz="1300" dirty="0">
                          <a:solidFill>
                            <a:srgbClr val="2D7A55"/>
                          </a:solidFill>
                          <a:latin typeface="IBM Plex Sans" pitchFamily="34" charset="0"/>
                          <a:ea typeface="IBM Plex Sans" pitchFamily="34" charset="-122"/>
                          <a:cs typeface="IBM Plex Sans" pitchFamily="34" charset="-120"/>
                        </a:rPr>
                        <a:t>204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No Content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Success, nothing to send back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Delete a task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A34E0E"/>
                          </a:solidFill>
                          <a:latin typeface="IBM Plex Sans" pitchFamily="34" charset="0"/>
                          <a:ea typeface="IBM Plex Sans" pitchFamily="34" charset="-122"/>
                          <a:cs typeface="IBM Plex Sans" pitchFamily="34" charset="-120"/>
                        </a:rPr>
                        <a:t>400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Bad Request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The request data is wrong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Broken JSON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359321">
                <a:tc>
                  <a:txBody>
                    <a:bodyPr/>
                    <a:lstStyle/>
                    <a:p>
                      <a:pPr indent="0" marL="0">
                        <a:lnSpc>
                          <a:spcPts val="1820"/>
                        </a:lnSpc>
                        <a:buNone/>
                      </a:pPr>
                      <a:r>
                        <a:rPr lang="en-US" sz="1300" dirty="0">
                          <a:solidFill>
                            <a:srgbClr val="A34E0E"/>
                          </a:solidFill>
                          <a:latin typeface="IBM Plex Sans" pitchFamily="34" charset="0"/>
                          <a:ea typeface="IBM Plex Sans" pitchFamily="34" charset="-122"/>
                          <a:cs typeface="IBM Plex Sans" pitchFamily="34" charset="-120"/>
                        </a:rPr>
                        <a:t>401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Unauthorized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Not logged 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No token sent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A34E0E"/>
                          </a:solidFill>
                          <a:latin typeface="IBM Plex Sans" pitchFamily="34" charset="0"/>
                          <a:ea typeface="IBM Plex Sans" pitchFamily="34" charset="-122"/>
                          <a:cs typeface="IBM Plex Sans" pitchFamily="34" charset="-120"/>
                        </a:rPr>
                        <a:t>403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Forbidden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Logged in, but not allowed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Delete someone else’s task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359321">
                <a:tc>
                  <a:txBody>
                    <a:bodyPr/>
                    <a:lstStyle/>
                    <a:p>
                      <a:pPr indent="0" marL="0">
                        <a:lnSpc>
                          <a:spcPts val="1820"/>
                        </a:lnSpc>
                        <a:buNone/>
                      </a:pPr>
                      <a:r>
                        <a:rPr lang="en-US" sz="1300" dirty="0">
                          <a:solidFill>
                            <a:srgbClr val="A34E0E"/>
                          </a:solidFill>
                          <a:latin typeface="IBM Plex Sans" pitchFamily="34" charset="0"/>
                          <a:ea typeface="IBM Plex Sans" pitchFamily="34" charset="-122"/>
                          <a:cs typeface="IBM Plex Sans" pitchFamily="34" charset="-120"/>
                        </a:rPr>
                        <a:t>404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Not Found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The resource doesn’t exist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Get task 999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r h="359321">
                <a:tc>
                  <a:txBody>
                    <a:bodyPr/>
                    <a:lstStyle/>
                    <a:p>
                      <a:pPr indent="0" marL="0">
                        <a:lnSpc>
                          <a:spcPts val="1820"/>
                        </a:lnSpc>
                        <a:buNone/>
                      </a:pPr>
                      <a:r>
                        <a:rPr lang="en-US" sz="1300" dirty="0">
                          <a:solidFill>
                            <a:srgbClr val="A34E0E"/>
                          </a:solidFill>
                          <a:latin typeface="IBM Plex Sans" pitchFamily="34" charset="0"/>
                          <a:ea typeface="IBM Plex Sans" pitchFamily="34" charset="-122"/>
                          <a:cs typeface="IBM Plex Sans" pitchFamily="34" charset="-120"/>
                        </a:rPr>
                        <a:t>409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Conflict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Clashes with current data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Rename a completed task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359321">
                <a:tc>
                  <a:txBody>
                    <a:bodyPr/>
                    <a:lstStyle/>
                    <a:p>
                      <a:pPr indent="0" marL="0">
                        <a:lnSpc>
                          <a:spcPts val="1820"/>
                        </a:lnSpc>
                        <a:buNone/>
                      </a:pPr>
                      <a:r>
                        <a:rPr lang="en-US" sz="1300" dirty="0">
                          <a:solidFill>
                            <a:srgbClr val="A33A2E"/>
                          </a:solidFill>
                          <a:latin typeface="IBM Plex Sans" pitchFamily="34" charset="0"/>
                          <a:ea typeface="IBM Plex Sans" pitchFamily="34" charset="-122"/>
                          <a:cs typeface="IBM Plex Sans" pitchFamily="34" charset="-120"/>
                        </a:rPr>
                        <a:t>500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Internal Server Error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A bug on the server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c>
                  <a:txBody>
                    <a:bodyPr/>
                    <a:lstStyle/>
                    <a:p>
                      <a:pPr indent="0" marL="0">
                        <a:lnSpc>
                          <a:spcPts val="1820"/>
                        </a:lnSpc>
                        <a:buNone/>
                      </a:pPr>
                      <a:r>
                        <a:rPr lang="en-US" sz="1300" dirty="0">
                          <a:solidFill>
                            <a:srgbClr val="16202B"/>
                          </a:solidFill>
                          <a:latin typeface="IBM Plex Sans" pitchFamily="34" charset="0"/>
                          <a:ea typeface="IBM Plex Sans" pitchFamily="34" charset="-122"/>
                          <a:cs typeface="IBM Plex Sans" pitchFamily="34" charset="-120"/>
                        </a:rPr>
                        <a:t>Unexpected crash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BC8"/>
                      </a:solidFill>
                      <a:prstDash val="solid"/>
                      <a:round/>
                      <a:headEnd type="none" w="med" len="med"/>
                      <a:tailEnd type="none" w="med" len="med"/>
                    </a:lnB>
                  </a:tcPr>
                </a:tc>
              </a:tr>
            </a:tbl>
          </a:graphicData>
        </a:graphic>
      </p:graphicFrame>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B"/>
                </a:solidFill>
                <a:latin typeface="IBM Plex Sans" pitchFamily="34" charset="0"/>
                <a:ea typeface="IBM Plex Sans" pitchFamily="34" charset="-122"/>
                <a:cs typeface="IBM Plex Sans" pitchFamily="34" charset="-120"/>
              </a:rPr>
              <a:t>Status codes in practice</a:t>
            </a:r>
            <a:endParaRPr lang="en-US" sz="3200" dirty="0"/>
          </a:p>
        </p:txBody>
      </p:sp>
      <p:sp>
        <p:nvSpPr>
          <p:cNvPr id="3" name="Text 1"/>
          <p:cNvSpPr/>
          <p:nvPr/>
        </p:nvSpPr>
        <p:spPr>
          <a:xfrm>
            <a:off x="812800" y="1513830"/>
            <a:ext cx="588645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B"/>
                </a:solidFill>
                <a:latin typeface="IBM Plex Sans" pitchFamily="34" charset="0"/>
                <a:ea typeface="IBM Plex Sans" pitchFamily="34" charset="-122"/>
                <a:cs typeface="IBM Plex Sans" pitchFamily="34" charset="-120"/>
              </a:rPr>
              <a:t>fetch doesn’t throw on 404 or 500.</a:t>
            </a:r>
            <a:r>
              <a:rPr lang="en-US" sz="1500" dirty="0">
                <a:solidFill>
                  <a:srgbClr val="45505C"/>
                </a:solidFill>
                <a:latin typeface="IBM Plex Sans" pitchFamily="34" charset="0"/>
                <a:ea typeface="IBM Plex Sans" pitchFamily="34" charset="-122"/>
                <a:cs typeface="IBM Plex Sans" pitchFamily="34" charset="-120"/>
              </a:rPr>
              <a:t> Your React code checks res.ok, which is true only for 200–299.</a:t>
            </a:r>
            <a:endParaRPr lang="en-US" sz="1500" dirty="0"/>
          </a:p>
        </p:txBody>
      </p:sp>
      <p:sp>
        <p:nvSpPr>
          <p:cNvPr id="4" name="Shape 2"/>
          <p:cNvSpPr/>
          <p:nvPr/>
        </p:nvSpPr>
        <p:spPr>
          <a:xfrm>
            <a:off x="812800" y="2199630"/>
            <a:ext cx="5715000" cy="2393950"/>
          </a:xfrm>
          <a:prstGeom prst="roundRect">
            <a:avLst>
              <a:gd name="adj" fmla="val 4244"/>
            </a:avLst>
          </a:prstGeom>
          <a:solidFill>
            <a:srgbClr val="16202B"/>
          </a:solidFill>
          <a:ln/>
        </p:spPr>
      </p:sp>
      <p:sp>
        <p:nvSpPr>
          <p:cNvPr id="5" name="Text 3"/>
          <p:cNvSpPr/>
          <p:nvPr/>
        </p:nvSpPr>
        <p:spPr>
          <a:xfrm>
            <a:off x="1066800" y="2453630"/>
            <a:ext cx="536321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const res = await fetch("/api/tasks/999");</a:t>
            </a:r>
            <a:endParaRPr lang="en-US" sz="1300" dirty="0"/>
          </a:p>
        </p:txBody>
      </p:sp>
      <p:sp>
        <p:nvSpPr>
          <p:cNvPr id="6" name="Text 4"/>
          <p:cNvSpPr/>
          <p:nvPr/>
        </p:nvSpPr>
        <p:spPr>
          <a:xfrm>
            <a:off x="1066800" y="2999730"/>
            <a:ext cx="536321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if (!res.ok) {</a:t>
            </a:r>
            <a:endParaRPr lang="en-US" sz="1300" dirty="0"/>
          </a:p>
        </p:txBody>
      </p:sp>
      <p:sp>
        <p:nvSpPr>
          <p:cNvPr id="7" name="Text 5"/>
          <p:cNvSpPr/>
          <p:nvPr/>
        </p:nvSpPr>
        <p:spPr>
          <a:xfrm>
            <a:off x="1066800" y="3272780"/>
            <a:ext cx="536321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  const body = await res.json();</a:t>
            </a:r>
            <a:endParaRPr lang="en-US" sz="1300" dirty="0"/>
          </a:p>
        </p:txBody>
      </p:sp>
      <p:sp>
        <p:nvSpPr>
          <p:cNvPr id="8" name="Text 6"/>
          <p:cNvSpPr/>
          <p:nvPr/>
        </p:nvSpPr>
        <p:spPr>
          <a:xfrm>
            <a:off x="1066800" y="3545830"/>
            <a:ext cx="536321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  console.log(body.message);</a:t>
            </a:r>
            <a:endParaRPr lang="en-US" sz="1300" dirty="0"/>
          </a:p>
        </p:txBody>
      </p:sp>
      <p:sp>
        <p:nvSpPr>
          <p:cNvPr id="9" name="Text 7"/>
          <p:cNvSpPr/>
          <p:nvPr/>
        </p:nvSpPr>
        <p:spPr>
          <a:xfrm>
            <a:off x="1066800" y="3818880"/>
            <a:ext cx="536321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8FD9AE"/>
                </a:solidFill>
                <a:latin typeface="JetBrains Mono" pitchFamily="49" charset="0"/>
                <a:ea typeface="JetBrains Mono" pitchFamily="49" charset="-122"/>
                <a:cs typeface="JetBrains Mono" pitchFamily="49" charset="-120"/>
              </a:rPr>
              <a:t>  // "Task not found"</a:t>
            </a:r>
            <a:endParaRPr lang="en-US" sz="1300" dirty="0"/>
          </a:p>
        </p:txBody>
      </p:sp>
      <p:sp>
        <p:nvSpPr>
          <p:cNvPr id="10" name="Text 8"/>
          <p:cNvSpPr/>
          <p:nvPr/>
        </p:nvSpPr>
        <p:spPr>
          <a:xfrm>
            <a:off x="1066800" y="4091930"/>
            <a:ext cx="5363210" cy="273050"/>
          </a:xfrm>
          <a:prstGeom prst="rect">
            <a:avLst/>
          </a:prstGeom>
          <a:noFill/>
          <a:ln/>
        </p:spPr>
        <p:txBody>
          <a:bodyPr wrap="none" lIns="0" tIns="0" rIns="0" bIns="0" rtlCol="0" anchor="t">
            <a:normAutofit/>
          </a:bodyPr>
          <a:lstStyle/>
          <a:p>
            <a:pPr algn="l" indent="0" marL="0">
              <a:lnSpc>
                <a:spcPts val="1950"/>
              </a:lnSpc>
              <a:buNone/>
            </a:pPr>
            <a:r>
              <a:rPr lang="en-US" sz="1300" dirty="0">
                <a:solidFill>
                  <a:srgbClr val="E7ECEF"/>
                </a:solidFill>
                <a:latin typeface="JetBrains Mono" pitchFamily="49" charset="0"/>
                <a:ea typeface="JetBrains Mono" pitchFamily="49" charset="-122"/>
                <a:cs typeface="JetBrains Mono" pitchFamily="49" charset="-120"/>
              </a:rPr>
              <a:t>}</a:t>
            </a:r>
            <a:endParaRPr lang="en-US" sz="1300" dirty="0"/>
          </a:p>
        </p:txBody>
      </p:sp>
      <p:sp>
        <p:nvSpPr>
          <p:cNvPr id="11" name="Text 9"/>
          <p:cNvSpPr/>
          <p:nvPr/>
        </p:nvSpPr>
        <p:spPr>
          <a:xfrm>
            <a:off x="6832600" y="1513830"/>
            <a:ext cx="468299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02B"/>
                </a:solidFill>
                <a:latin typeface="IBM Plex Sans" pitchFamily="34" charset="0"/>
                <a:ea typeface="IBM Plex Sans" pitchFamily="34" charset="-122"/>
                <a:cs typeface="IBM Plex Sans" pitchFamily="34" charset="-120"/>
              </a:rPr>
              <a:t>Avoid these mistakes</a:t>
            </a:r>
            <a:endParaRPr lang="en-US" sz="1700" dirty="0"/>
          </a:p>
        </p:txBody>
      </p:sp>
      <p:pic>
        <p:nvPicPr>
          <p:cNvPr id="12" name="Image 0" descr="Warning">    </p:cNvPr>
          <p:cNvPicPr>
            <a:picLocks noChangeAspect="1"/>
          </p:cNvPicPr>
          <p:nvPr/>
        </p:nvPicPr>
        <p:blipFill>
          <a:blip r:embed="rId1"/>
          <a:srcRect l="0" r="0" t="0" b="0"/>
          <a:stretch/>
        </p:blipFill>
        <p:spPr>
          <a:xfrm>
            <a:off x="6832600" y="1899890"/>
            <a:ext cx="228600" cy="228600"/>
          </a:xfrm>
          <a:prstGeom prst="rect">
            <a:avLst/>
          </a:prstGeom>
        </p:spPr>
      </p:pic>
      <p:sp>
        <p:nvSpPr>
          <p:cNvPr id="13" name="Text 10"/>
          <p:cNvSpPr/>
          <p:nvPr/>
        </p:nvSpPr>
        <p:spPr>
          <a:xfrm>
            <a:off x="7162800" y="1899890"/>
            <a:ext cx="4342892"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02B"/>
                </a:solidFill>
                <a:latin typeface="IBM Plex Sans" pitchFamily="34" charset="0"/>
                <a:ea typeface="IBM Plex Sans" pitchFamily="34" charset="-122"/>
                <a:cs typeface="IBM Plex Sans" pitchFamily="34" charset="-120"/>
              </a:rPr>
              <a:t>200 with an error message.</a:t>
            </a:r>
            <a:r>
              <a:rPr lang="en-US" sz="1300" dirty="0">
                <a:solidFill>
                  <a:srgbClr val="45505C"/>
                </a:solidFill>
                <a:latin typeface="IBM Plex Sans" pitchFamily="34" charset="0"/>
                <a:ea typeface="IBM Plex Sans" pitchFamily="34" charset="-122"/>
                <a:cs typeface="IBM Plex Sans" pitchFamily="34" charset="-120"/>
              </a:rPr>
              <a:t> The frontend can’t tell it failed.</a:t>
            </a:r>
            <a:endParaRPr lang="en-US" sz="1300" dirty="0"/>
          </a:p>
        </p:txBody>
      </p:sp>
      <p:pic>
        <p:nvPicPr>
          <p:cNvPr id="14" name="Image 1" descr="Warning">    </p:cNvPr>
          <p:cNvPicPr>
            <a:picLocks noChangeAspect="1"/>
          </p:cNvPicPr>
          <p:nvPr/>
        </p:nvPicPr>
        <p:blipFill>
          <a:blip r:embed="rId2"/>
          <a:srcRect l="0" r="0" t="0" b="0"/>
          <a:stretch/>
        </p:blipFill>
        <p:spPr>
          <a:xfrm>
            <a:off x="6832600" y="2489150"/>
            <a:ext cx="228600" cy="228600"/>
          </a:xfrm>
          <a:prstGeom prst="rect">
            <a:avLst/>
          </a:prstGeom>
        </p:spPr>
      </p:pic>
      <p:sp>
        <p:nvSpPr>
          <p:cNvPr id="15" name="Text 11"/>
          <p:cNvSpPr/>
          <p:nvPr/>
        </p:nvSpPr>
        <p:spPr>
          <a:xfrm>
            <a:off x="7162800" y="2489150"/>
            <a:ext cx="434289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02B"/>
                </a:solidFill>
                <a:latin typeface="IBM Plex Sans" pitchFamily="34" charset="0"/>
                <a:ea typeface="IBM Plex Sans" pitchFamily="34" charset="-122"/>
                <a:cs typeface="IBM Plex Sans" pitchFamily="34" charset="-120"/>
              </a:rPr>
              <a:t>404 for an empty list.</a:t>
            </a:r>
            <a:r>
              <a:rPr lang="en-US" sz="1300" dirty="0">
                <a:solidFill>
                  <a:srgbClr val="45505C"/>
                </a:solidFill>
                <a:latin typeface="IBM Plex Sans" pitchFamily="34" charset="0"/>
                <a:ea typeface="IBM Plex Sans" pitchFamily="34" charset="-122"/>
                <a:cs typeface="IBM Plex Sans" pitchFamily="34" charset="-120"/>
              </a:rPr>
              <a:t> It’s still a success: 200 with [].</a:t>
            </a:r>
            <a:endParaRPr lang="en-US" sz="1300" dirty="0"/>
          </a:p>
        </p:txBody>
      </p:sp>
      <p:pic>
        <p:nvPicPr>
          <p:cNvPr id="16" name="Image 2" descr="Warning">    </p:cNvPr>
          <p:cNvPicPr>
            <a:picLocks noChangeAspect="1"/>
          </p:cNvPicPr>
          <p:nvPr/>
        </p:nvPicPr>
        <p:blipFill>
          <a:blip r:embed="rId3"/>
          <a:srcRect l="0" r="0" t="0" b="0"/>
          <a:stretch/>
        </p:blipFill>
        <p:spPr>
          <a:xfrm>
            <a:off x="6832600" y="2847280"/>
            <a:ext cx="228600" cy="228600"/>
          </a:xfrm>
          <a:prstGeom prst="rect">
            <a:avLst/>
          </a:prstGeom>
        </p:spPr>
      </p:pic>
      <p:sp>
        <p:nvSpPr>
          <p:cNvPr id="17" name="Text 12"/>
          <p:cNvSpPr/>
          <p:nvPr/>
        </p:nvSpPr>
        <p:spPr>
          <a:xfrm>
            <a:off x="7162800" y="2847280"/>
            <a:ext cx="4342892"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02B"/>
                </a:solidFill>
                <a:latin typeface="IBM Plex Sans" pitchFamily="34" charset="0"/>
                <a:ea typeface="IBM Plex Sans" pitchFamily="34" charset="-122"/>
                <a:cs typeface="IBM Plex Sans" pitchFamily="34" charset="-120"/>
              </a:rPr>
              <a:t>Mixing up 401 and 403.</a:t>
            </a:r>
            <a:r>
              <a:rPr lang="en-US" sz="1300" dirty="0">
                <a:solidFill>
                  <a:srgbClr val="45505C"/>
                </a:solidFill>
                <a:latin typeface="IBM Plex Sans" pitchFamily="34" charset="0"/>
                <a:ea typeface="IBM Plex Sans" pitchFamily="34" charset="-122"/>
                <a:cs typeface="IBM Plex Sans" pitchFamily="34" charset="-120"/>
              </a:rPr>
              <a:t> 401 = not logged in; 403 = not allowed.</a:t>
            </a:r>
            <a:endParaRPr lang="en-US" sz="1300" dirty="0"/>
          </a:p>
        </p:txBody>
      </p:sp>
      <p:pic>
        <p:nvPicPr>
          <p:cNvPr id="18" name="Image 3" descr="Warning">    </p:cNvPr>
          <p:cNvPicPr>
            <a:picLocks noChangeAspect="1"/>
          </p:cNvPicPr>
          <p:nvPr/>
        </p:nvPicPr>
        <p:blipFill>
          <a:blip r:embed="rId4"/>
          <a:srcRect l="0" r="0" t="0" b="0"/>
          <a:stretch/>
        </p:blipFill>
        <p:spPr>
          <a:xfrm>
            <a:off x="6832600" y="3436541"/>
            <a:ext cx="228600" cy="228600"/>
          </a:xfrm>
          <a:prstGeom prst="rect">
            <a:avLst/>
          </a:prstGeom>
        </p:spPr>
      </p:pic>
      <p:sp>
        <p:nvSpPr>
          <p:cNvPr id="19" name="Text 13"/>
          <p:cNvSpPr/>
          <p:nvPr/>
        </p:nvSpPr>
        <p:spPr>
          <a:xfrm>
            <a:off x="7162800" y="3436541"/>
            <a:ext cx="434289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02B"/>
                </a:solidFill>
                <a:latin typeface="IBM Plex Sans" pitchFamily="34" charset="0"/>
                <a:ea typeface="IBM Plex Sans" pitchFamily="34" charset="-122"/>
                <a:cs typeface="IBM Plex Sans" pitchFamily="34" charset="-120"/>
              </a:rPr>
              <a:t>A body with 204.</a:t>
            </a:r>
            <a:r>
              <a:rPr lang="en-US" sz="1300" dirty="0">
                <a:solidFill>
                  <a:srgbClr val="45505C"/>
                </a:solidFill>
                <a:latin typeface="IBM Plex Sans" pitchFamily="34" charset="0"/>
                <a:ea typeface="IBM Plex Sans" pitchFamily="34" charset="-122"/>
                <a:cs typeface="IBM Plex Sans" pitchFamily="34" charset="-120"/>
              </a:rPr>
              <a:t> 204 means no content at all.</a:t>
            </a:r>
            <a:endParaRPr lang="en-US" sz="1300" dirty="0"/>
          </a:p>
        </p:txBody>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3"/>
                </a:solidFill>
                <a:latin typeface="IBM Plex Sans" pitchFamily="34" charset="0"/>
                <a:ea typeface="IBM Plex Sans" pitchFamily="34" charset="-122"/>
                <a:cs typeface="IBM Plex Sans" pitchFamily="34" charset="-120"/>
              </a:rPr>
              <a:t>Node.js Foundations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5F45"/>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5F0"/>
                </a:solidFill>
                <a:latin typeface="IBM Plex Sans" pitchFamily="34" charset="0"/>
                <a:ea typeface="IBM Plex Sans" pitchFamily="34" charset="-122"/>
                <a:cs typeface="IBM Plex Sans" pitchFamily="34" charset="-120"/>
              </a:rPr>
              <a:t>Key takeaways</a:t>
            </a:r>
            <a:endParaRPr lang="en-US" sz="3200" dirty="0"/>
          </a:p>
        </p:txBody>
      </p:sp>
      <p:sp>
        <p:nvSpPr>
          <p:cNvPr id="3" name="Shape 1"/>
          <p:cNvSpPr/>
          <p:nvPr/>
        </p:nvSpPr>
        <p:spPr>
          <a:xfrm>
            <a:off x="819150" y="1520180"/>
            <a:ext cx="3390900" cy="1382961"/>
          </a:xfrm>
          <a:prstGeom prst="roundRect">
            <a:avLst>
              <a:gd name="adj" fmla="val 6887"/>
            </a:avLst>
          </a:prstGeom>
          <a:noFill/>
          <a:ln w="12700">
            <a:solidFill>
              <a:srgbClr val="8FD9AE"/>
            </a:solidFill>
            <a:prstDash val="solid"/>
          </a:ln>
        </p:spPr>
      </p:sp>
      <p:sp>
        <p:nvSpPr>
          <p:cNvPr id="4" name="Text 2"/>
          <p:cNvSpPr/>
          <p:nvPr/>
        </p:nvSpPr>
        <p:spPr>
          <a:xfrm>
            <a:off x="1028700" y="1704330"/>
            <a:ext cx="306095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D9AE"/>
                </a:solidFill>
                <a:latin typeface="JetBrains Mono" pitchFamily="49" charset="0"/>
                <a:ea typeface="JetBrains Mono" pitchFamily="49" charset="-122"/>
                <a:cs typeface="JetBrains Mono" pitchFamily="49" charset="-120"/>
              </a:rPr>
              <a:t>01</a:t>
            </a:r>
            <a:endParaRPr lang="en-US" sz="1300" dirty="0"/>
          </a:p>
        </p:txBody>
      </p:sp>
      <p:sp>
        <p:nvSpPr>
          <p:cNvPr id="5" name="Text 3"/>
          <p:cNvSpPr/>
          <p:nvPr/>
        </p:nvSpPr>
        <p:spPr>
          <a:xfrm>
            <a:off x="1028700" y="1998960"/>
            <a:ext cx="306095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6F5F0"/>
                </a:solidFill>
                <a:latin typeface="IBM Plex Sans" pitchFamily="34" charset="0"/>
                <a:ea typeface="IBM Plex Sans" pitchFamily="34" charset="-122"/>
                <a:cs typeface="IBM Plex Sans" pitchFamily="34" charset="-120"/>
              </a:rPr>
              <a:t>Node.js is a </a:t>
            </a:r>
            <a:r>
              <a:rPr lang="en-US" sz="1400" b="1" dirty="0">
                <a:solidFill>
                  <a:srgbClr val="F6F5F0"/>
                </a:solidFill>
                <a:latin typeface="IBM Plex Sans" pitchFamily="34" charset="0"/>
                <a:ea typeface="IBM Plex Sans" pitchFamily="34" charset="-122"/>
                <a:cs typeface="IBM Plex Sans" pitchFamily="34" charset="-120"/>
              </a:rPr>
              <a:t>runtime</a:t>
            </a:r>
            <a:r>
              <a:rPr lang="en-US" sz="1400" dirty="0">
                <a:solidFill>
                  <a:srgbClr val="F6F5F0"/>
                </a:solidFill>
                <a:latin typeface="IBM Plex Sans" pitchFamily="34" charset="0"/>
                <a:ea typeface="IBM Plex Sans" pitchFamily="34" charset="-122"/>
                <a:cs typeface="IBM Plex Sans" pitchFamily="34" charset="-120"/>
              </a:rPr>
              <a:t>: V8 runs your code, libuv handles async I/O.</a:t>
            </a:r>
            <a:endParaRPr lang="en-US" sz="1400" dirty="0"/>
          </a:p>
        </p:txBody>
      </p:sp>
      <p:sp>
        <p:nvSpPr>
          <p:cNvPr id="6" name="Shape 4"/>
          <p:cNvSpPr/>
          <p:nvPr/>
        </p:nvSpPr>
        <p:spPr>
          <a:xfrm>
            <a:off x="4400550" y="1520180"/>
            <a:ext cx="3390900" cy="1382961"/>
          </a:xfrm>
          <a:prstGeom prst="roundRect">
            <a:avLst>
              <a:gd name="adj" fmla="val 6887"/>
            </a:avLst>
          </a:prstGeom>
          <a:noFill/>
          <a:ln w="12700">
            <a:solidFill>
              <a:srgbClr val="8FD9AE"/>
            </a:solidFill>
            <a:prstDash val="solid"/>
          </a:ln>
        </p:spPr>
      </p:sp>
      <p:sp>
        <p:nvSpPr>
          <p:cNvPr id="7" name="Text 5"/>
          <p:cNvSpPr/>
          <p:nvPr/>
        </p:nvSpPr>
        <p:spPr>
          <a:xfrm>
            <a:off x="4610100" y="1704330"/>
            <a:ext cx="306095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D9AE"/>
                </a:solidFill>
                <a:latin typeface="JetBrains Mono" pitchFamily="49" charset="0"/>
                <a:ea typeface="JetBrains Mono" pitchFamily="49" charset="-122"/>
                <a:cs typeface="JetBrains Mono" pitchFamily="49" charset="-120"/>
              </a:rPr>
              <a:t>02</a:t>
            </a:r>
            <a:endParaRPr lang="en-US" sz="1300" dirty="0"/>
          </a:p>
        </p:txBody>
      </p:sp>
      <p:sp>
        <p:nvSpPr>
          <p:cNvPr id="8" name="Text 6"/>
          <p:cNvSpPr/>
          <p:nvPr/>
        </p:nvSpPr>
        <p:spPr>
          <a:xfrm>
            <a:off x="4610100" y="1998960"/>
            <a:ext cx="3060954"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6F5F0"/>
                </a:solidFill>
                <a:latin typeface="IBM Plex Sans" pitchFamily="34" charset="0"/>
                <a:ea typeface="IBM Plex Sans" pitchFamily="34" charset="-122"/>
                <a:cs typeface="IBM Plex Sans" pitchFamily="34" charset="-120"/>
              </a:rPr>
              <a:t>Non-blocking I/O</a:t>
            </a:r>
            <a:r>
              <a:rPr lang="en-US" sz="1400" dirty="0">
                <a:solidFill>
                  <a:srgbClr val="F6F5F0"/>
                </a:solidFill>
                <a:latin typeface="IBM Plex Sans" pitchFamily="34" charset="0"/>
                <a:ea typeface="IBM Plex Sans" pitchFamily="34" charset="-122"/>
                <a:cs typeface="IBM Plex Sans" pitchFamily="34" charset="-120"/>
              </a:rPr>
              <a:t> lets one server handle many requests while it waits.</a:t>
            </a:r>
            <a:endParaRPr lang="en-US" sz="1400" dirty="0"/>
          </a:p>
        </p:txBody>
      </p:sp>
      <p:sp>
        <p:nvSpPr>
          <p:cNvPr id="9" name="Shape 7"/>
          <p:cNvSpPr/>
          <p:nvPr/>
        </p:nvSpPr>
        <p:spPr>
          <a:xfrm>
            <a:off x="7981950" y="1520180"/>
            <a:ext cx="3390900" cy="1382961"/>
          </a:xfrm>
          <a:prstGeom prst="roundRect">
            <a:avLst>
              <a:gd name="adj" fmla="val 6887"/>
            </a:avLst>
          </a:prstGeom>
          <a:noFill/>
          <a:ln w="12700">
            <a:solidFill>
              <a:srgbClr val="8FD9AE"/>
            </a:solidFill>
            <a:prstDash val="solid"/>
          </a:ln>
        </p:spPr>
      </p:sp>
      <p:sp>
        <p:nvSpPr>
          <p:cNvPr id="10" name="Text 8"/>
          <p:cNvSpPr/>
          <p:nvPr/>
        </p:nvSpPr>
        <p:spPr>
          <a:xfrm>
            <a:off x="8191500" y="1704330"/>
            <a:ext cx="306095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D9AE"/>
                </a:solidFill>
                <a:latin typeface="JetBrains Mono" pitchFamily="49" charset="0"/>
                <a:ea typeface="JetBrains Mono" pitchFamily="49" charset="-122"/>
                <a:cs typeface="JetBrains Mono" pitchFamily="49" charset="-120"/>
              </a:rPr>
              <a:t>03</a:t>
            </a:r>
            <a:endParaRPr lang="en-US" sz="1300" dirty="0"/>
          </a:p>
        </p:txBody>
      </p:sp>
      <p:sp>
        <p:nvSpPr>
          <p:cNvPr id="11" name="Text 9"/>
          <p:cNvSpPr/>
          <p:nvPr/>
        </p:nvSpPr>
        <p:spPr>
          <a:xfrm>
            <a:off x="8191500" y="1998960"/>
            <a:ext cx="3060954" cy="74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6F5F0"/>
                </a:solidFill>
                <a:latin typeface="IBM Plex Sans" pitchFamily="34" charset="0"/>
                <a:ea typeface="IBM Plex Sans" pitchFamily="34" charset="-122"/>
                <a:cs typeface="IBM Plex Sans" pitchFamily="34" charset="-120"/>
              </a:rPr>
              <a:t>Event loop</a:t>
            </a:r>
            <a:r>
              <a:rPr lang="en-US" sz="1400" dirty="0">
                <a:solidFill>
                  <a:srgbClr val="F6F5F0"/>
                </a:solidFill>
                <a:latin typeface="IBM Plex Sans" pitchFamily="34" charset="0"/>
                <a:ea typeface="IBM Plex Sans" pitchFamily="34" charset="-122"/>
                <a:cs typeface="IBM Plex Sans" pitchFamily="34" charset="-120"/>
              </a:rPr>
              <a:t> order: sync, then promises, then timers and I/O. Never block it.</a:t>
            </a:r>
            <a:endParaRPr lang="en-US" sz="1400" dirty="0"/>
          </a:p>
        </p:txBody>
      </p:sp>
      <p:sp>
        <p:nvSpPr>
          <p:cNvPr id="12" name="Shape 10"/>
          <p:cNvSpPr/>
          <p:nvPr/>
        </p:nvSpPr>
        <p:spPr>
          <a:xfrm>
            <a:off x="819150" y="3093641"/>
            <a:ext cx="3390900" cy="1382961"/>
          </a:xfrm>
          <a:prstGeom prst="roundRect">
            <a:avLst>
              <a:gd name="adj" fmla="val 6887"/>
            </a:avLst>
          </a:prstGeom>
          <a:noFill/>
          <a:ln w="12700">
            <a:solidFill>
              <a:srgbClr val="8FD9AE"/>
            </a:solidFill>
            <a:prstDash val="solid"/>
          </a:ln>
        </p:spPr>
      </p:sp>
      <p:sp>
        <p:nvSpPr>
          <p:cNvPr id="13" name="Text 11"/>
          <p:cNvSpPr/>
          <p:nvPr/>
        </p:nvSpPr>
        <p:spPr>
          <a:xfrm>
            <a:off x="1028700" y="3277791"/>
            <a:ext cx="306095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D9AE"/>
                </a:solidFill>
                <a:latin typeface="JetBrains Mono" pitchFamily="49" charset="0"/>
                <a:ea typeface="JetBrains Mono" pitchFamily="49" charset="-122"/>
                <a:cs typeface="JetBrains Mono" pitchFamily="49" charset="-120"/>
              </a:rPr>
              <a:t>04</a:t>
            </a:r>
            <a:endParaRPr lang="en-US" sz="1300" dirty="0"/>
          </a:p>
        </p:txBody>
      </p:sp>
      <p:sp>
        <p:nvSpPr>
          <p:cNvPr id="14" name="Text 12"/>
          <p:cNvSpPr/>
          <p:nvPr/>
        </p:nvSpPr>
        <p:spPr>
          <a:xfrm>
            <a:off x="1028700" y="3572421"/>
            <a:ext cx="306095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6F5F0"/>
                </a:solidFill>
                <a:latin typeface="IBM Plex Sans" pitchFamily="34" charset="0"/>
                <a:ea typeface="IBM Plex Sans" pitchFamily="34" charset="-122"/>
                <a:cs typeface="IBM Plex Sans" pitchFamily="34" charset="-120"/>
              </a:rPr>
              <a:t>Keep settings in </a:t>
            </a:r>
            <a:r>
              <a:rPr lang="en-US" sz="1400" b="1" dirty="0">
                <a:solidFill>
                  <a:srgbClr val="F6F5F0"/>
                </a:solidFill>
                <a:latin typeface="IBM Plex Sans" pitchFamily="34" charset="0"/>
                <a:ea typeface="IBM Plex Sans" pitchFamily="34" charset="-122"/>
                <a:cs typeface="IBM Plex Sans" pitchFamily="34" charset="-120"/>
              </a:rPr>
              <a:t>environment variables</a:t>
            </a:r>
            <a:r>
              <a:rPr lang="en-US" sz="1400" dirty="0">
                <a:solidFill>
                  <a:srgbClr val="F6F5F0"/>
                </a:solidFill>
                <a:latin typeface="IBM Plex Sans" pitchFamily="34" charset="0"/>
                <a:ea typeface="IBM Plex Sans" pitchFamily="34" charset="-122"/>
                <a:cs typeface="IBM Plex Sans" pitchFamily="34" charset="-120"/>
              </a:rPr>
              <a:t>, read once in config/env.ts.</a:t>
            </a:r>
            <a:endParaRPr lang="en-US" sz="1400" dirty="0"/>
          </a:p>
        </p:txBody>
      </p:sp>
      <p:sp>
        <p:nvSpPr>
          <p:cNvPr id="15" name="Shape 13"/>
          <p:cNvSpPr/>
          <p:nvPr/>
        </p:nvSpPr>
        <p:spPr>
          <a:xfrm>
            <a:off x="4400550" y="3093641"/>
            <a:ext cx="3390900" cy="1382961"/>
          </a:xfrm>
          <a:prstGeom prst="roundRect">
            <a:avLst>
              <a:gd name="adj" fmla="val 6887"/>
            </a:avLst>
          </a:prstGeom>
          <a:noFill/>
          <a:ln w="12700">
            <a:solidFill>
              <a:srgbClr val="8FD9AE"/>
            </a:solidFill>
            <a:prstDash val="solid"/>
          </a:ln>
        </p:spPr>
      </p:sp>
      <p:sp>
        <p:nvSpPr>
          <p:cNvPr id="16" name="Text 14"/>
          <p:cNvSpPr/>
          <p:nvPr/>
        </p:nvSpPr>
        <p:spPr>
          <a:xfrm>
            <a:off x="4610100" y="3277791"/>
            <a:ext cx="306095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D9AE"/>
                </a:solidFill>
                <a:latin typeface="JetBrains Mono" pitchFamily="49" charset="0"/>
                <a:ea typeface="JetBrains Mono" pitchFamily="49" charset="-122"/>
                <a:cs typeface="JetBrains Mono" pitchFamily="49" charset="-120"/>
              </a:rPr>
              <a:t>05</a:t>
            </a:r>
            <a:endParaRPr lang="en-US" sz="1300" dirty="0"/>
          </a:p>
        </p:txBody>
      </p:sp>
      <p:sp>
        <p:nvSpPr>
          <p:cNvPr id="17" name="Text 15"/>
          <p:cNvSpPr/>
          <p:nvPr/>
        </p:nvSpPr>
        <p:spPr>
          <a:xfrm>
            <a:off x="4610100" y="3572421"/>
            <a:ext cx="3060954" cy="74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6F5F0"/>
                </a:solidFill>
                <a:latin typeface="IBM Plex Sans" pitchFamily="34" charset="0"/>
                <a:ea typeface="IBM Plex Sans" pitchFamily="34" charset="-122"/>
                <a:cs typeface="IBM Plex Sans" pitchFamily="34" charset="-120"/>
              </a:rPr>
              <a:t>Methods</a:t>
            </a:r>
            <a:r>
              <a:rPr lang="en-US" sz="1400" dirty="0">
                <a:solidFill>
                  <a:srgbClr val="F6F5F0"/>
                </a:solidFill>
                <a:latin typeface="IBM Plex Sans" pitchFamily="34" charset="0"/>
                <a:ea typeface="IBM Plex Sans" pitchFamily="34" charset="-122"/>
                <a:cs typeface="IBM Plex Sans" pitchFamily="34" charset="-120"/>
              </a:rPr>
              <a:t> say the action: GET reads, POST creates, PATCH updates, DELETE removes.</a:t>
            </a:r>
            <a:endParaRPr lang="en-US" sz="1400" dirty="0"/>
          </a:p>
        </p:txBody>
      </p:sp>
      <p:sp>
        <p:nvSpPr>
          <p:cNvPr id="18" name="Shape 16"/>
          <p:cNvSpPr/>
          <p:nvPr/>
        </p:nvSpPr>
        <p:spPr>
          <a:xfrm>
            <a:off x="7981950" y="3093641"/>
            <a:ext cx="3390900" cy="1382961"/>
          </a:xfrm>
          <a:prstGeom prst="roundRect">
            <a:avLst>
              <a:gd name="adj" fmla="val 6887"/>
            </a:avLst>
          </a:prstGeom>
          <a:noFill/>
          <a:ln w="12700">
            <a:solidFill>
              <a:srgbClr val="8FD9AE"/>
            </a:solidFill>
            <a:prstDash val="solid"/>
          </a:ln>
        </p:spPr>
      </p:sp>
      <p:sp>
        <p:nvSpPr>
          <p:cNvPr id="19" name="Text 17"/>
          <p:cNvSpPr/>
          <p:nvPr/>
        </p:nvSpPr>
        <p:spPr>
          <a:xfrm>
            <a:off x="8191500" y="3277791"/>
            <a:ext cx="306095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D9AE"/>
                </a:solidFill>
                <a:latin typeface="JetBrains Mono" pitchFamily="49" charset="0"/>
                <a:ea typeface="JetBrains Mono" pitchFamily="49" charset="-122"/>
                <a:cs typeface="JetBrains Mono" pitchFamily="49" charset="-120"/>
              </a:rPr>
              <a:t>06</a:t>
            </a:r>
            <a:endParaRPr lang="en-US" sz="1300" dirty="0"/>
          </a:p>
        </p:txBody>
      </p:sp>
      <p:sp>
        <p:nvSpPr>
          <p:cNvPr id="20" name="Text 18"/>
          <p:cNvSpPr/>
          <p:nvPr/>
        </p:nvSpPr>
        <p:spPr>
          <a:xfrm>
            <a:off x="8191500" y="3572421"/>
            <a:ext cx="3060954" cy="74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6F5F0"/>
                </a:solidFill>
                <a:latin typeface="IBM Plex Sans" pitchFamily="34" charset="0"/>
                <a:ea typeface="IBM Plex Sans" pitchFamily="34" charset="-122"/>
                <a:cs typeface="IBM Plex Sans" pitchFamily="34" charset="-120"/>
              </a:rPr>
              <a:t>Status codes</a:t>
            </a:r>
            <a:r>
              <a:rPr lang="en-US" sz="1400" dirty="0">
                <a:solidFill>
                  <a:srgbClr val="F6F5F0"/>
                </a:solidFill>
                <a:latin typeface="IBM Plex Sans" pitchFamily="34" charset="0"/>
                <a:ea typeface="IBM Plex Sans" pitchFamily="34" charset="-122"/>
                <a:cs typeface="IBM Plex Sans" pitchFamily="34" charset="-120"/>
              </a:rPr>
              <a:t> say the result: 2xx success, 4xx client mistake, 5xx server problem.</a:t>
            </a:r>
            <a:endParaRPr lang="en-US" sz="1400" dirty="0"/>
          </a:p>
        </p:txBody>
      </p:sp>
      <p:sp>
        <p:nvSpPr>
          <p:cNvPr id="21" name="Text 19"/>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FE8DA"/>
                </a:solidFill>
                <a:latin typeface="IBM Plex Sans" pitchFamily="34" charset="0"/>
                <a:ea typeface="IBM Plex Sans" pitchFamily="34" charset="-122"/>
                <a:cs typeface="IBM Plex Sans" pitchFamily="34" charset="-120"/>
              </a:rPr>
              <a:t>Next: building an API with Express →</a:t>
            </a:r>
            <a:endParaRPr lang="en-US" sz="16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8DA"/>
                </a:solidFill>
                <a:latin typeface="IBM Plex Sans" pitchFamily="34" charset="0"/>
                <a:ea typeface="IBM Plex Sans" pitchFamily="34" charset="-122"/>
                <a:cs typeface="IBM Plex Sans" pitchFamily="34" charset="-120"/>
              </a:rPr>
              <a:t>Node.js Foundations · 18</a:t>
            </a:r>
            <a:endParaRPr lang="en-US" sz="1200" dirty="0"/>
          </a:p>
        </p:txBody>
      </p:sp>
    </p:spTree>
  </p:cSld>
  <p:clrMapOvr>
    <a:masterClrMapping/>
  </p:clrMapOvr>
</p:sld>
</file>

<file path=ppt/theme/theme1.xml><?xml version="1.0" encoding="utf-8"?>
<a:theme xmlns:a="http://schemas.openxmlformats.org/drawingml/2006/main" name="Node.js Runtime &amp; Event Loop">
  <a:themeElements>
    <a:clrScheme name="Node.js Runtime &amp; Event Loop">
      <a:dk1>
        <a:srgbClr val="16202B"/>
      </a:dk1>
      <a:lt1>
        <a:srgbClr val="F6F5F0"/>
      </a:lt1>
      <a:dk2>
        <a:srgbClr val="4E555C"/>
      </a:dk2>
      <a:lt2>
        <a:srgbClr val="E0E0DC"/>
      </a:lt2>
      <a:accent1>
        <a:srgbClr val="2D7A55"/>
      </a:accent1>
      <a:accent2>
        <a:srgbClr val="8FD9AE"/>
      </a:accent2>
      <a:accent3>
        <a:srgbClr val="A34E0E"/>
      </a:accent3>
      <a:accent4>
        <a:srgbClr val="F2A766"/>
      </a:accent4>
      <a:accent5>
        <a:srgbClr val="1F5F45"/>
      </a:accent5>
      <a:accent6>
        <a:srgbClr val="A33A2E"/>
      </a:accent6>
      <a:hlink>
        <a:srgbClr val="0563C1"/>
      </a:hlink>
      <a:folHlink>
        <a:srgbClr val="954F72"/>
      </a:folHlink>
    </a:clrScheme>
    <a:fontScheme name="Node.js Runtime &amp; Event Loo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Node.js Runtime &amp; Event Loop</dc:title>
  <dc:subject/>
  <dc:creator/>
  <cp:lastModifiedBy/>
  <cp:revision>1</cp:revision>
  <dcterms:created xsi:type="dcterms:W3CDTF">2026-10-18T22:23:37Z</dcterms:created>
  <dcterms:modified xsi:type="dcterms:W3CDTF">2026-10-18T22:23:37Z</dcterms:modified>
</cp:coreProperties>
</file>